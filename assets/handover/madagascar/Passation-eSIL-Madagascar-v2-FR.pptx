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slideMasters/slideMaster34.xml" ContentType="application/vnd.openxmlformats-officedocument.presentationml.slideMaster+xml"/>
  <Override PartName="/ppt/slides/slide34.xml" ContentType="application/vnd.openxmlformats-officedocument.presentationml.slide+xml"/>
  <Override PartName="/ppt/slideMasters/slideMaster35.xml" ContentType="application/vnd.openxmlformats-officedocument.presentationml.slideMaster+xml"/>
  <Override PartName="/ppt/slides/slide35.xml" ContentType="application/vnd.openxmlformats-officedocument.presentationml.slide+xml"/>
  <Override PartName="/ppt/slideMasters/slideMaster36.xml" ContentType="application/vnd.openxmlformats-officedocument.presentationml.slideMaster+xml"/>
  <Override PartName="/ppt/slides/slide3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Lst>
  <p:notesMasterIdLst>
    <p:notesMasterId r:id="rId38"/>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notesMaster" Target="notesMasters/notesMaster1.xml"/><Relationship Id="rId39" Type="http://schemas.openxmlformats.org/officeDocument/2006/relationships/presProps" Target="presProps.xml"/><Relationship Id="rId40" Type="http://schemas.openxmlformats.org/officeDocument/2006/relationships/viewProps" Target="viewProps.xml"/><Relationship Id="rId41" Type="http://schemas.openxmlformats.org/officeDocument/2006/relationships/theme" Target="theme/theme1.xml"/><Relationship Id="rId42"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_rels/notesSlide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xml"/>
		</Relationships>
</file>

<file path=ppt/notesSlides/_rels/notesSlide3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6.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Bonjour à tous, et merci d'être là. Aujourd'hui, nous clôturons le projet formel eSIL. Le logiciel, lui, ne s'arrête pas ici. Cette réunion porte sur la façon de faire fonctionner eSIL, de continuer à l'améliorer, et d'obtenir de l'aide quand vous en avez besoin.</a:t>
            </a:r>
          </a:p>
          <a:p>
            <a:endParaRPr lang="en-US" dirty="0"/>
          </a:p>
          <a:p>
            <a:r>
              <a:rPr lang="en-US" dirty="0"/>
              <a:t>Note : Photo tiles are placeholders. Replace with square-cropped Madagascar photos before the meeting.</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Nous avons cinq objectifs. Le premier regarde en arrière : ce qui a été livré. Les quatre autres regardent vers l'avant : comment fonctionne la communauté, comment suivre la feuille de route, où envoyer un bogue ou une demande, et comment garder eSIL à jour. La plus grande partie du temps ira aux points deux à cinq.</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Voici le plan pour quatre-vingt-dix minutes. La section un est un bilan rapide. Les sections deux à six sont le sujet principal. Nous terminons par une liste de décisions pour le Ministère. Posez vos questions à tout moment. Pas besoin d'attendre la fin.</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Commençons par un bref retour sur le projet.</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Une année, en quatre trimestres. Au premier trimestre, nous avons revu les besoins, lancé le développement et connecté les analyseurs. Au deuxième, nous avons formé les super-utilisateurs et les utilisateurs des neuf laboratoires pilotes, et déployé les pilotes. Le troisième trimestre était la période de garantie, avec trois versions. La quatrième colonne est le sujet d'aujourd'hui : Madagascar rejoint la communauté OpenELIS Global.</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Pendant la garantie, nous avons utilisé trois mots. Un bogue : quelque chose ne fonctionne pas comme écrit dans les besoins. C'était couvert. Une demande de modification : cela fonctionne comme écrit, mais le besoin a changé. Une demande de fonctionnalité : quelque chose de nouveau. Ces deux-là n'étaient pas couverts, et les demandes de fonctionnalité sont allées dans la feuille de route. Gardez ces trois mots en tête. Dans la section quatre, la communauté utilise presque les mêmes définitions.</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Voici la liste des bogues que vous avez signalés. Chacun a été corrigé et validé par l'assurance qualité. Je veux souligner la première ligne : les problèmes de traduction. Nous les avons corrigés en connectant eSIL à Transifex. C'est important, car votre équipe pourra corriger les traductions vous-mêmes. Nous y reviendrons dans la section six.</a:t>
            </a:r>
          </a:p>
          <a:p>
            <a:endParaRPr lang="en-US" dirty="0"/>
          </a:p>
          <a:p>
            <a:r>
              <a:rPr lang="en-US" dirty="0"/>
              <a:t>Note : Herbert: fill in the ESIL-31 status line before the meeting.</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Les demandes de modification : les programmes peuvent maintenant être activés et désactivés, et le nouveau catalogue de tests avec résultats à plusieurs composantes est terminé. Vous le verrez dans la démonstration. Puis les trois demandes de fonctionnalité. Les trois sont dans la feuille de route partagée d'OpenELIS. C'est important. Les besoins de Madagascar façonnent déjà le produit pour tout le monde. Dans la section trois, je vous montrerai où se trouvent ces conceptions et comment les suivre.</a:t>
            </a:r>
          </a:p>
          <a:p>
            <a:endParaRPr lang="en-US" dirty="0"/>
          </a:p>
          <a:p>
            <a:r>
              <a:rPr lang="en-US" dirty="0"/>
              <a:t>Note : Confirm the status of "Reporting updates".</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Maintenant, une courte démonstration en direct. Trois choses : Transifex et comment une correction de traduction arrive dans eSIL ; les résultats à plusieurs composantes dans le nouveau catalogue de tests ; et le nouvel écran de saisie des résultats. Environ trois minutes chacune.</a:t>
            </a:r>
          </a:p>
          <a:p>
            <a:endParaRPr lang="en-US" dirty="0"/>
          </a:p>
          <a:p>
            <a:r>
              <a:rPr lang="en-US" dirty="0"/>
              <a:t>Note : Casey demo. For Transifex, show the loop: change a string, publish, see it in eSIL. Say: this is a task your team can own.</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Tout ce dont vous avez besoin est au même endroit : le dossier de gestion eSIL. Les documents du projet, les supports de formation, le wiki OpenELIS Global et les notes de version. Le wiki est en cours de traduction en français. La plupart des pages sont déjà disponibles. Le reste suivra à mesure que les nouvelles sections du manuel seront terminées. C'est le premier endroit où regarder avant de poser une question.</a:t>
            </a:r>
          </a:p>
          <a:p>
            <a:endParaRPr lang="en-US" dirty="0"/>
          </a:p>
          <a:p>
            <a:r>
              <a:rPr lang="en-US" dirty="0"/>
              <a:t>Note : Taib: show the wiki in French and how to switch language. Show where the release notes live.</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Section deux : comment fonctionne la communauté OpenELIS Global, et comment vous y participez.</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L'idée la plus importante de cette section : OpenELIS Global est piloté en public, sur le forum. Le support, les signalements de bogues, les discussions sur les fonctionnalités et les décisions de feuille de route commencent tous par un message sur talk.openelis-global.org. Il n'y a pas de service d'assistance privé derrière. Le forum est la porte d'entrée pour tout le monde, y compris d'autres ministères de la santé. Madagascar y entre comme membre à part entière. Trois choses à savoir : où aller, à qui demander, et comment influencer la suite.</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 forum a quatre catégories. Community, pour les annonces et la discussion générale. Development, pour les signalements de bogues, les propositions de fonctionnalités et la conception technique. Ask OpenELIS, pour le support : comment configurer ceci, que signifie cette erreur. Et GSoC, le Google Summer of Code, où des étudiants développent des fonctionnalités avec des mentors. La plupart de vos messages iront à deux endroits : Ask OpenELIS pour les questions, et Development pour les bogues et les idées.</a:t>
            </a:r>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Deux canaux plus rapides. Slack, pour les questions courtes et les échanges rapides. Et l'appel hebdomadaire, chaque jeudi à 17 h GMT, sur Google Meet, soit 20 h à Madagascar. Retenez la règle : le forum est la trace écrite. Slack et l'appel servent à aller vite. Quand une décision est prise en appel, quelqu'un l'écrit sur le forum. J'encourage une ou deux personnes désignées du Ministère à participer à l'appel au moins une fois par mois. C'est le meilleur moyen de savoir ce qui arrive, et d'être entendu.</a:t>
            </a:r>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Comment un message devient-il un changement ? Quatre étapes. Quelqu'un le signale sur le forum. Les mainteneurs le voient, ou il est discuté à l'appel du jeudi. Il est suivi comme ticket GitHub ou Jira. Puis il est développé, relu et livré dans une version mensuelle. Voici un exemple réel. Avant le Sommet OpenELIS 2026, un contributeur a publié une liste de problèmes de processus en nommant les mainteneurs. Ce message a servi de base à l'ordre du jour du Sommet. Même les critiques sur le processus sont bienvenues, si elles sont publiques et précises.</a:t>
            </a:r>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Alors, quelle est la place de Madagascar ? Cinq façons. Posez vos questions dans Ask OpenELIS, en indiquant toujours votre version de la Distribution Madagascar. Signalez les bogues et proposez des fonctionnalités dans Development. Participez à l'appel du jeudi. Partagez ce que vous apprenez : vos traductions, vos supports de formation et vos configurations d'analyseurs aideront d'autres pays, surtout francophones. Et dites ce qui ne fonctionne pas dans le processus. Les mainteneurs le lisent. Donner en retour renforce votre place dans la communauté.</a:t>
            </a:r>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Section trois : la feuille de route et la galerie de conception.</a:t>
            </a:r>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 galerie de conception est un site public avec toutes les conceptions OpenELIS : des maquettes que vous pouvez parcourir, les spécifications à partir desquelles les développeurs travaillent, et un lien vers le ticket Jira de chacune. Tout ce qui est ici a été demandé par un vrai laboratoire quelque part. Avant de demander une fonctionnalité, regardez ici d'abord. Elle est peut-être déjà conçue ou prévue.</a:t>
            </a:r>
          </a:p>
          <a:p>
            <a:endParaRPr lang="en-US" dirty="0"/>
          </a:p>
          <a:p>
            <a:r>
              <a:rPr lang="en-US" dirty="0"/>
              <a:t>Note : Casey: live demo, 3 minutes. Open the gallery, show the categories, open one mockup, show the Jira link.</a:t>
            </a:r>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Vos trois demandes de fonctionnalité de la période de garantie sont déjà ici. La désactivation des services de test fait partie des conceptions du catalogue de tests. La section Informations supplémentaires, c'est le constructeur d'informations supplémentaires. Conserver les échantillons sélectionnés entre les tests, c'est la saisie multi-échantillons de la refonte du prélèvement. Vous pouvez ouvrir chaque conception, la lire et la commenter. Dire « cela correspond à notre besoin » ou « il manque quelque chose » est un retour réel et utile. Les retours se font sur le forum, dans Development, avec le lien de la galerie.</a:t>
            </a:r>
          </a:p>
          <a:p>
            <a:endParaRPr lang="en-US" dirty="0"/>
          </a:p>
          <a:p>
            <a:r>
              <a:rPr lang="en-US" dirty="0"/>
              <a:t>Note : Show one of the three designs live from the gallery links on the slide.</a:t>
            </a:r>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Voici pourquoi les mises à jour comptent. Des travaux sont en cours pour d'autres pays, et ils arrivent à Madagascar par les versions normales. Un module de microbiologie et de résistance aux antimicrobiens. Des notifications par SMS et courriel aux cliniciens. Le rapportage national par FHIR. Des tableaux de bord et l'export de données pour les responsables de laboratoire. Le contrôle d'accès par rôle. Le suivi du contrôle de qualité. Le suivi des non-conformités et des CAPA. Vous bénéficiez de ce travail parce que vous êtes sur le produit partagé. Si l'un de ces sujets compte pour Madagascar, dites-le maintenant, en public. Un retour précoce façonne la conception.</a:t>
            </a:r>
          </a:p>
          <a:p>
            <a:endParaRPr lang="en-US" dirty="0"/>
          </a:p>
          <a:p>
            <a:r>
              <a:rPr lang="en-US" dirty="0"/>
              <a:t>Note : Do not mention prices or funders.</a:t>
            </a:r>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Section quatre : bogue, demande de fonctionnalité ou question. Choisir le bon canal.</a:t>
            </a:r>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 même message au mauvais endroit n'aboutit pas. Un bogue publié comme question générale obtient un contournement, pas une correction. Une idée de fonctionnalité perdue dans un fil de support n'atteint jamais la feuille de route. Alors posez-vous ces questions, dans l'ordre : quelque chose est cassé ? C'est un bogue. Cela fonctionne, mais vous voulez plus ? C'est une demande de fonctionnalité. Vous voulez simplement comprendre ? C'est une question. Ce sont les mêmes trois mots que pendant la garantie. Et si vous n'êtes pas sûr, publiez dans Ask OpenELIS. La communauté vous redirigera.</a:t>
            </a:r>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C'est la diapositive à imprimer et à afficher au mur. Pour chaque type : où cela va, quoi inclure, et ce qui se passe ensuite. Un bogue va dans Development ou GitHub, avec votre version, les étapes et les preuves. Une demande de fonctionnalité va dans Development sous forme de proposition, avec le problème, à qui cela sert, et un lien de la galerie s'il existe. Une question va dans Ask OpenELIS, ou sur Slack pour quelque chose de rapide, et reçoit en général une réponse directe, sans ticket.</a:t>
            </a:r>
          </a:p>
          <a:p>
            <a:endParaRPr lang="en-US" dirty="0"/>
          </a:p>
          <a:p>
            <a:r>
              <a:rPr lang="en-US" dirty="0"/>
              <a:t>Note : Consider a one-page French handout of this slide.</a:t>
            </a:r>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Comment bien signaler un bogue. Un bogue par message ; en regrouper plusieurs ralentit tout. Dites ce que vous attendiez et ce qui s'est passé à la place. Indiquez votre version de la Distribution Madagascar et d'OpenELIS Global. Donnez les étapes pour reproduire. Et joignez le message d'erreur exact, une capture d'écran ou le journal. Le texte exact compte plus qu'une description. Un bon signalement est corrigé plus vite.</a:t>
            </a:r>
          </a:p>
          <a:p>
            <a:endParaRPr lang="en-US" dirty="0"/>
          </a:p>
          <a:p>
            <a:r>
              <a:rPr lang="en-US" dirty="0"/>
              <a:t>Note : If possible, show one real, good bug report from the forum.</a:t>
            </a:r>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Comment bien proposer une fonctionnalité. D'abord, consultez la galerie de conception. Si une conception existe déjà pour votre besoin, commentez-la là plutôt que d'ouvrir une nouvelle demande. Vos commentaires façonnent ce qui est construit pour tout le monde. Décrivez le problème avant la solution. Dites à qui cela sert : à Madagascar, les laboratoires en ont besoin parce que. Attendez-vous à une discussion ; les fonctionnalités sont débattues, pas approuvées automatiquement. Un ticket suit l'accord. Et une chose de plus : pour les fonctionnalités qui entreront dans OpenELIS Global, et pas seulement dans eSIL, l'équipe produit de DIGI peut aider à la conception. Publiez le besoin dans Development et dites que vous souhaitez un appui à la conception.</a:t>
            </a:r>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C'est la diapositive la plus importante pour la pérennité. Si le Ministère engage un développeur ou une entreprise, voici comment cela fonctionne. Le développeur publie son plan dans Development avant d'écrire du code, pour que personne ne fasse deux fois le même travail. Il pose ses questions techniques sur le forum, sur Slack et à l'appel du jeudi. Le code est soumis sous forme de pull request sur le dépôt OpenELIS Global sur GitHub. Les mainteneurs de la communauté le relisent, et cela peut prendre plusieurs tours. Une fois fusionné, il est dans la prochaine version pour tout le monde, et il reste maintenu. Demandez à votre développeur de travailler sur le produit partagé, pas sur une copie privée. Une copie privée semble plus rapide. Au bout d'un an, elle ne peut plus recevoir les mises à jour et personne d'autre ne la maintient.</a:t>
            </a:r>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Un exemple réel. Maurice avait besoin de changements dans le module d'anatomopathologie. Ils ont décrit leur besoin et partagé une conception. L'équipe produit de DIGI a ajusté la conception aux normes d'interface d'OpenELIS. La conception est entrée dans la galerie et dans la file de travail de la communauté, et un membre de la communauté s'est porté volontaire pour la développer. Soyons honnêtes : un bénévole ne termine pas toujours. C'est pourquoi les partenariats entre votre équipe et des membres de la communauté fonctionnent bien. Et le forum est aussi une place de marché : vous pouvez publier un appel d'offres, une offre d'emploi, ou une proposition de partenariat sur une fonctionnalité. D'autres pays l'ont fait.</a:t>
            </a:r>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Section cinq : comment fonctionnent les versions d'OpenELIS Global.</a:t>
            </a:r>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D'une idée à quelque chose que vous pouvez installer, en cinq étapes. Un besoin devient un ticket Jira. Les développeurs ouvrent des pull requests et les relecteurs les fusionnent. Transifex apporte les textes de l'interface dans chaque langue. Une version numérotée est publiée avec ses notes de version. Et la Distribution Madagascar empaquette la nouvelle version avec l'Analyzer Bridge et les paramètres de Madagascar. Rappelez-vous la section deux : n'importe qui peut lancer l'étape un avec un message sur le forum.</a:t>
            </a:r>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Un numéro de version est un ensemble, pas un seul programme. Ce que Madagascar installe est une version de distribution en trois parties, chacune avec sa propre version. La Distribution Madagascar : le paquet installable avec la configuration Docker, les paramètres d'environnement et les corrections propres à Madagascar. OpenELIS Global : le système de laboratoire central. Et l'Analyzer Bridge, qui connecte les instruments via HL7 et ASTM. Lisez donc les notes de la distribution et celles d'OpenELIS Global. Une correction peut être dans l'une ou l'autre.</a:t>
            </a:r>
          </a:p>
          <a:p>
            <a:endParaRPr lang="en-US" dirty="0"/>
          </a:p>
          <a:p>
            <a:r>
              <a:rPr lang="en-US" dirty="0"/>
              <a:t>Note : Update version numbers to 3.2.2.1 if the final release is out.</a:t>
            </a:r>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OpenELIS Global publie environ une version par mois. Voici les trois de la période de garantie. Mettre à jour souvent, c'est de petits changements à chaque fois. Attendre un an, c'est beaucoup de changements d'un coup, ce qui est plus difficile pour les utilisateurs et pour votre équipe technique. Vous n'êtes pas obligés de prendre chaque version. Visez au moins une mise à jour par trimestre.</a:t>
            </a:r>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Section six : comment maintenir eSIL Madagascar. Les traductions et les mises à jour, les deux tâches que votre équipe fera le plus souvent.</a:t>
            </a:r>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Tous les textes d'écran d'OpenELIS Global sont traduits dans Transifex, et eSIL y charge ses traductions. Il existe deux traductions françaises. Le français, code fr, est le français principal partagé par tous les pays francophones. Si un mot français est faux, corrigez-le là, et tout le monde en profite. Le français Madagascar, code fr tiret bas MG, est uniquement pour les mots propres à Madagascar. Il remplace le français principal pour eSIL seulement. Gardez cette liste courte. Donc la règle : français incorrect, corrigez dans fr. Différent à Madagascar, mettez-le dans fr_MG. Le malgache pourra être ajouté plus tard comme nouvelle langue. Pour cela, demandez l'accès au projet OpenELIS Global dans Transifex, cherchez le texte et modifiez-le. Les traductions sont récupérées chaque jour et livrées avec la version suivante, et la Distribution Madagascar a aussi un dossier de remplacement des traductions, actif dès le rechargement de la page.</a:t>
            </a:r>
          </a:p>
          <a:p>
            <a:endParaRPr lang="en-US" dirty="0"/>
          </a:p>
          <a:p>
            <a:r>
              <a:rPr lang="en-US" dirty="0"/>
              <a:t>Note : Casey demo, 4 minutes: show one string in fr and fr_MG on explore.transifex.com/openmrs/openelis-1. Core translations are pulled to develop daily at 20:30 UTC; the distro also has configs/translation overrides (OVERRIDE_DEFAULT_TRANSLATION is on). Name who should have Transifex access.</a:t>
            </a:r>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Comment une correction arrive-t-elle dans la Distribution Madagascar ? La correction est fusionnée sur la branche develop d'OpenELIS Global. Une nouvelle version est étiquetée sur GitHub Releases. La distribution Madagascar met à jour sa version d'OpenELIS Global vers la nouvelle étiquette. Les images Docker sont reconstruites avec les paramètres de Madagascar. Et une nouvelle version de la Distribution Madagascar est publiée. Vous pouvez suivre tout cela sur GitHub. La question clé pour l'après-projet est : qui fait les étapes trois à cinq ? Soit l'équipe technique du Ministère, en suivant la page du wiki, soit un développeur engagé. Dans les deux cas, la page du wiki est la procédure.</a:t>
            </a:r>
          </a:p>
          <a:p>
            <a:endParaRPr lang="en-US" dirty="0"/>
          </a:p>
          <a:p>
            <a:r>
              <a:rPr lang="en-US" dirty="0"/>
              <a:t>Note : Herbert presents. Distro repo: github.com/DIGI-UW/openelis-madagascar-distro (main branch).</a:t>
            </a:r>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 procédure complète est sur le wiki. Voici la liste de contrôle avant de mettre à jour la production. Lisez les notes de version, surtout les notes de mise à jour et les problèmes connus. Vérifiez les nouveaux paramètres à définir. Vérifiez quelles configurations sont touchées. Sauvegardez la base de données. Mettez d'abord à jour un serveur de test, car les migrations de base de données sont irréversibles. Testez les flux principaux sur le serveur de test. Puis mettez à jour la production ; les migrations s'exécutent automatiquement au premier démarrage. Et informez les utilisateurs de ce qui a changé. Trois choses bonnes à savoir : les changements de base de données sont automatiques, les données existantes sont conservées et migrées, et anciens et nouveaux écrans peuvent coexister, donc vous adoptez les nouveaux outils à votre rythme. Si la mise à jour du serveur de test échoue, publiez dans Ask OpenELIS avec le journal. Ne touchez pas à la production.</a:t>
            </a:r>
          </a:p>
          <a:p>
            <a:endParaRPr lang="en-US" dirty="0"/>
          </a:p>
          <a:p>
            <a:r>
              <a:rPr lang="en-US" dirty="0"/>
              <a:t>Note : Taib: screenshot of the wiki page in French. Stress steps 4 and 5.</a:t>
            </a:r>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Pour terminer, une liste de choses que le Ministère doit décider. Nous n'y répondrons pas ici. Lisez-les, réagissez si vous le souhaitez, et emportez la liste avec vous. Personnes et rôles : qui est le point focal eSIL pour la communauté, qui participe à l'appel du jeudi, qui est responsable des traductions. Opérations techniques : qui fait les mises à jour, où est le serveur de test, qui garde les sauvegardes, qui suit les notes de version. Nouveaux besoins : comment les neuf laboratoires font remonter leurs demandes au Ministère, qui décide de ce qui va à la communauté, et si un développeur engagé contribuera au produit partagé. De la part de DIGI, avant la clôture, vous recevrez la version 3.2.2.1 avec ses notes de version, la procédure de mise à jour sur le wiki en français, et le dossier de gestion eSIL complet. Je vous suggère de répondre à ces questions d'ici un mois et de partager les réponses sur le forum dans un message de présentation. Merci.</a:t>
            </a:r>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image" Target="../media/image-1-1.png"/><Relationship Id="rId3" Type="http://schemas.openxmlformats.org/officeDocument/2006/relationships/image" Target="../media/image-1-3.png"/><Relationship Id="rId4" Type="http://schemas.openxmlformats.org/officeDocument/2006/relationships/slideLayout" Target="../slideLayouts/slideLayout1.xml"/><Relationship Id="rId5"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6.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38150" y="219075"/>
            <a:ext cx="1132114" cy="1047750"/>
          </a:xfrm>
          <a:prstGeom prst="rect">
            <a:avLst/>
          </a:prstGeom>
          <a:solidFill>
            <a:srgbClr val="FFC000"/>
          </a:solidFill>
          <a:ln w="12700">
            <a:solidFill>
              <a:srgbClr val="FFC000"/>
            </a:solidFill>
            <a:prstDash val="solid"/>
          </a:ln>
        </p:spPr>
      </p:sp>
      <p:sp>
        <p:nvSpPr>
          <p:cNvPr id="3" name="Shape 1"/>
          <p:cNvSpPr/>
          <p:nvPr/>
        </p:nvSpPr>
        <p:spPr>
          <a:xfrm>
            <a:off x="1627414" y="219075"/>
            <a:ext cx="1132114" cy="1047750"/>
          </a:xfrm>
          <a:prstGeom prst="rect">
            <a:avLst/>
          </a:prstGeom>
          <a:solidFill>
            <a:srgbClr val="FFFFFF"/>
          </a:solidFill>
          <a:ln w="12700">
            <a:solidFill>
              <a:srgbClr val="FFFFFF"/>
            </a:solidFill>
            <a:prstDash val="solid"/>
          </a:ln>
        </p:spPr>
      </p:sp>
      <p:pic>
        <p:nvPicPr>
          <p:cNvPr id="4" name="Image 0" descr="/tmp/claude-0/-home-claude/e8dfe543-e454-530d-92ae-78dc841464ce/scratchpad/deck/assets/logo-digi.png">    </p:cNvPr>
          <p:cNvPicPr>
            <a:picLocks noChangeAspect="1"/>
          </p:cNvPicPr>
          <p:nvPr/>
        </p:nvPicPr>
        <p:blipFill>
          <a:blip r:embed="rId1"/>
          <a:stretch>
            <a:fillRect/>
          </a:stretch>
        </p:blipFill>
        <p:spPr>
          <a:xfrm>
            <a:off x="1665514" y="632959"/>
            <a:ext cx="1055914" cy="219982"/>
          </a:xfrm>
          <a:prstGeom prst="rect">
            <a:avLst/>
          </a:prstGeom>
        </p:spPr>
      </p:pic>
      <p:sp>
        <p:nvSpPr>
          <p:cNvPr id="5" name="Shape 2"/>
          <p:cNvSpPr/>
          <p:nvPr/>
        </p:nvSpPr>
        <p:spPr>
          <a:xfrm>
            <a:off x="2816679" y="219075"/>
            <a:ext cx="1132114" cy="1047750"/>
          </a:xfrm>
          <a:prstGeom prst="rect">
            <a:avLst/>
          </a:prstGeom>
          <a:solidFill>
            <a:srgbClr val="33006F"/>
          </a:solidFill>
          <a:ln w="12700">
            <a:solidFill>
              <a:srgbClr val="33006F"/>
            </a:solidFill>
            <a:prstDash val="solid"/>
          </a:ln>
        </p:spPr>
      </p:sp>
      <p:sp>
        <p:nvSpPr>
          <p:cNvPr id="6" name="Shape 3"/>
          <p:cNvSpPr/>
          <p:nvPr/>
        </p:nvSpPr>
        <p:spPr>
          <a:xfrm>
            <a:off x="4005943" y="219075"/>
            <a:ext cx="1132114" cy="1047750"/>
          </a:xfrm>
          <a:prstGeom prst="rect">
            <a:avLst/>
          </a:prstGeom>
          <a:solidFill>
            <a:srgbClr val="33006F"/>
          </a:solidFill>
          <a:ln w="12700">
            <a:solidFill>
              <a:srgbClr val="33006F"/>
            </a:solidFill>
            <a:prstDash val="solid"/>
          </a:ln>
        </p:spPr>
      </p:sp>
      <p:sp>
        <p:nvSpPr>
          <p:cNvPr id="7" name="Shape 4"/>
          <p:cNvSpPr/>
          <p:nvPr/>
        </p:nvSpPr>
        <p:spPr>
          <a:xfrm>
            <a:off x="5195207" y="219075"/>
            <a:ext cx="1132114" cy="1047750"/>
          </a:xfrm>
          <a:prstGeom prst="rect">
            <a:avLst/>
          </a:prstGeom>
          <a:solidFill>
            <a:srgbClr val="917B4C"/>
          </a:solidFill>
          <a:ln w="12700">
            <a:solidFill>
              <a:srgbClr val="917B4C"/>
            </a:solidFill>
            <a:prstDash val="solid"/>
          </a:ln>
        </p:spPr>
      </p:sp>
      <p:sp>
        <p:nvSpPr>
          <p:cNvPr id="8" name="Shape 5"/>
          <p:cNvSpPr/>
          <p:nvPr/>
        </p:nvSpPr>
        <p:spPr>
          <a:xfrm>
            <a:off x="6384471" y="219075"/>
            <a:ext cx="1132114" cy="1047750"/>
          </a:xfrm>
          <a:prstGeom prst="rect">
            <a:avLst/>
          </a:prstGeom>
          <a:solidFill>
            <a:srgbClr val="33006F"/>
          </a:solidFill>
          <a:ln w="12700">
            <a:solidFill>
              <a:srgbClr val="33006F"/>
            </a:solidFill>
            <a:prstDash val="solid"/>
          </a:ln>
        </p:spPr>
      </p:sp>
      <p:sp>
        <p:nvSpPr>
          <p:cNvPr id="9" name="Shape 6"/>
          <p:cNvSpPr/>
          <p:nvPr/>
        </p:nvSpPr>
        <p:spPr>
          <a:xfrm>
            <a:off x="7573736" y="219075"/>
            <a:ext cx="1132114" cy="1047750"/>
          </a:xfrm>
          <a:prstGeom prst="rect">
            <a:avLst/>
          </a:prstGeom>
          <a:solidFill>
            <a:srgbClr val="33006F"/>
          </a:solidFill>
          <a:ln w="12700">
            <a:solidFill>
              <a:srgbClr val="33006F"/>
            </a:solidFill>
            <a:prstDash val="solid"/>
          </a:ln>
        </p:spPr>
      </p:sp>
      <p:sp>
        <p:nvSpPr>
          <p:cNvPr id="10" name="Text 7"/>
          <p:cNvSpPr txBox="1"/>
          <p:nvPr/>
        </p:nvSpPr>
        <p:spPr>
          <a:xfrm>
            <a:off x="676275" y="1447800"/>
            <a:ext cx="7810500" cy="1295400"/>
          </a:xfrm>
          <a:prstGeom prst="rect">
            <a:avLst/>
          </a:prstGeom>
          <a:noFill/>
          <a:ln/>
        </p:spPr>
        <p:txBody>
          <a:bodyPr wrap="square" lIns="0" tIns="0" rIns="0" bIns="0" rtlCol="0" anchor="ctr"/>
          <a:lstStyle/>
          <a:p>
            <a:pPr algn="ctr" indent="0" marL="0">
              <a:buNone/>
            </a:pPr>
            <a:r>
              <a:rPr lang="fr-FR" sz="3050" b="1" dirty="0">
                <a:solidFill>
                  <a:srgbClr val="33006F"/>
                </a:solidFill>
                <a:latin typeface="Source Sans 3" pitchFamily="34" charset="0"/>
                <a:ea typeface="Source Sans 3" pitchFamily="34" charset="-122"/>
                <a:cs typeface="Source Sans 3" pitchFamily="34" charset="-120"/>
              </a:rPr>
              <a:t>Passation eSIL Madagascar</a:t>
            </a:r>
            <a:endParaRPr lang="fr-FR" sz="3050" dirty="0"/>
          </a:p>
        </p:txBody>
      </p:sp>
      <p:sp>
        <p:nvSpPr>
          <p:cNvPr id="11" name="Shape 8"/>
          <p:cNvSpPr/>
          <p:nvPr/>
        </p:nvSpPr>
        <p:spPr>
          <a:xfrm>
            <a:off x="1095375" y="2771775"/>
            <a:ext cx="6962775" cy="38100"/>
          </a:xfrm>
          <a:prstGeom prst="parallelogram">
            <a:avLst/>
          </a:prstGeom>
          <a:solidFill>
            <a:srgbClr val="BFBFBF"/>
          </a:solidFill>
          <a:ln w="12700">
            <a:solidFill>
              <a:srgbClr val="BFBFBF"/>
            </a:solidFill>
            <a:prstDash val="solid"/>
          </a:ln>
        </p:spPr>
      </p:sp>
      <p:sp>
        <p:nvSpPr>
          <p:cNvPr id="12" name="Text 9"/>
          <p:cNvSpPr txBox="1"/>
          <p:nvPr/>
        </p:nvSpPr>
        <p:spPr>
          <a:xfrm>
            <a:off x="952500" y="2981325"/>
            <a:ext cx="7239000" cy="381000"/>
          </a:xfrm>
          <a:prstGeom prst="rect">
            <a:avLst/>
          </a:prstGeom>
          <a:noFill/>
          <a:ln/>
        </p:spPr>
        <p:txBody>
          <a:bodyPr wrap="square" lIns="0" tIns="0" rIns="0" bIns="0" rtlCol="0" anchor="t"/>
          <a:lstStyle/>
          <a:p>
            <a:pPr algn="ctr" indent="0" marL="0">
              <a:buNone/>
            </a:pPr>
            <a:r>
              <a:rPr lang="fr-FR" sz="1950" dirty="0">
                <a:solidFill>
                  <a:srgbClr val="917B4C"/>
                </a:solidFill>
                <a:latin typeface="Source Sans 3" pitchFamily="34" charset="0"/>
                <a:ea typeface="Source Sans 3" pitchFamily="34" charset="-122"/>
                <a:cs typeface="Source Sans 3" pitchFamily="34" charset="-120"/>
              </a:rPr>
              <a:t>Travailler avec la communauté OpenELIS Global après le projet</a:t>
            </a:r>
            <a:endParaRPr lang="fr-FR" sz="1950" dirty="0"/>
          </a:p>
        </p:txBody>
      </p:sp>
      <p:sp>
        <p:nvSpPr>
          <p:cNvPr id="13" name="Text 10"/>
          <p:cNvSpPr txBox="1"/>
          <p:nvPr/>
        </p:nvSpPr>
        <p:spPr>
          <a:xfrm>
            <a:off x="952500" y="3390900"/>
            <a:ext cx="7239000" cy="285750"/>
          </a:xfrm>
          <a:prstGeom prst="rect">
            <a:avLst/>
          </a:prstGeom>
          <a:noFill/>
          <a:ln/>
        </p:spPr>
        <p:txBody>
          <a:bodyPr wrap="square" lIns="0" tIns="0" rIns="0" bIns="0" rtlCol="0" anchor="t"/>
          <a:lstStyle/>
          <a:p>
            <a:pPr algn="ctr" indent="0" marL="0">
              <a:buNone/>
            </a:pPr>
            <a:r>
              <a:rPr lang="fr-FR" sz="1500" dirty="0">
                <a:solidFill>
                  <a:srgbClr val="5B5670"/>
                </a:solidFill>
                <a:latin typeface="Source Sans 3" pitchFamily="34" charset="0"/>
                <a:ea typeface="Source Sans 3" pitchFamily="34" charset="-122"/>
                <a:cs typeface="Source Sans 3" pitchFamily="34" charset="-120"/>
              </a:rPr>
              <a:t>Ministère de la Santé Publique, Madagascar  |  DIGI, Université de Washington  |  [Date]</a:t>
            </a:r>
            <a:endParaRPr lang="fr-FR" sz="1500" dirty="0"/>
          </a:p>
        </p:txBody>
      </p:sp>
      <p:pic>
        <p:nvPicPr>
          <p:cNvPr id="14" name="Image 1" descr="/tmp/claude-0/-home-claude/e8dfe543-e454-530d-92ae-78dc841464ce/scratchpad/deck/assets/logo-digi.png">    </p:cNvPr>
          <p:cNvPicPr>
            <a:picLocks noChangeAspect="1"/>
          </p:cNvPicPr>
          <p:nvPr/>
        </p:nvPicPr>
        <p:blipFill>
          <a:blip r:embed="rId2"/>
          <a:stretch>
            <a:fillRect/>
          </a:stretch>
        </p:blipFill>
        <p:spPr>
          <a:xfrm>
            <a:off x="2790825" y="4429125"/>
            <a:ext cx="1828800" cy="381000"/>
          </a:xfrm>
          <a:prstGeom prst="rect">
            <a:avLst/>
          </a:prstGeom>
        </p:spPr>
      </p:pic>
      <p:pic>
        <p:nvPicPr>
          <p:cNvPr id="15" name="Image 2" descr="/tmp/claude-0/-home-claude/e8dfe543-e454-530d-92ae-78dc841464ce/scratchpad/deck/assets/logo-uw-global-health.png">    </p:cNvPr>
          <p:cNvPicPr>
            <a:picLocks noChangeAspect="1"/>
          </p:cNvPicPr>
          <p:nvPr/>
        </p:nvPicPr>
        <p:blipFill>
          <a:blip r:embed="rId3"/>
          <a:stretch>
            <a:fillRect/>
          </a:stretch>
        </p:blipFill>
        <p:spPr>
          <a:xfrm>
            <a:off x="5000625" y="4410075"/>
            <a:ext cx="1362075" cy="419100"/>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171450" y="180975"/>
            <a:ext cx="8648700" cy="742950"/>
          </a:xfrm>
          <a:prstGeom prst="rect">
            <a:avLst/>
          </a:prstGeom>
          <a:noFill/>
          <a:ln/>
        </p:spPr>
        <p:txBody>
          <a:bodyPr wrap="square" lIns="0" tIns="0" rIns="0" bIns="0" rtlCol="0" anchor="ctr"/>
          <a:lstStyle/>
          <a:p>
            <a:pPr indent="0" marL="0">
              <a:buNone/>
            </a:pPr>
            <a:r>
              <a:rPr lang="fr-FR" sz="2800" b="1" dirty="0">
                <a:solidFill>
                  <a:srgbClr val="33006F"/>
                </a:solidFill>
                <a:latin typeface="Source Sans 3" pitchFamily="34" charset="0"/>
                <a:ea typeface="Source Sans 3" pitchFamily="34" charset="-122"/>
                <a:cs typeface="Source Sans 3" pitchFamily="34" charset="-120"/>
              </a:rPr>
              <a:t>Objectifs de la réunion</a:t>
            </a:r>
            <a:endParaRPr lang="fr-FR" sz="2800" dirty="0"/>
          </a:p>
        </p:txBody>
      </p:sp>
      <p:sp>
        <p:nvSpPr>
          <p:cNvPr id="3" name="Text 1"/>
          <p:cNvSpPr txBox="1"/>
          <p:nvPr/>
        </p:nvSpPr>
        <p:spPr>
          <a:xfrm>
            <a:off x="457200" y="990600"/>
            <a:ext cx="8172450" cy="381000"/>
          </a:xfrm>
          <a:prstGeom prst="rect">
            <a:avLst/>
          </a:prstGeom>
          <a:noFill/>
          <a:ln/>
        </p:spPr>
        <p:txBody>
          <a:bodyPr wrap="square" lIns="0" tIns="0" rIns="0" bIns="0" rtlCol="0" anchor="t"/>
          <a:lstStyle/>
          <a:p>
            <a:pPr indent="0" marL="0">
              <a:buNone/>
            </a:pPr>
            <a:r>
              <a:rPr lang="fr-FR" sz="1650" dirty="0">
                <a:solidFill>
                  <a:srgbClr val="5B5670"/>
                </a:solidFill>
                <a:latin typeface="Source Sans 3" pitchFamily="34" charset="0"/>
                <a:ea typeface="Source Sans 3" pitchFamily="34" charset="-122"/>
                <a:cs typeface="Source Sans 3" pitchFamily="34" charset="-120"/>
              </a:rPr>
              <a:t>À la fin de cette réunion, vous saurez :</a:t>
            </a:r>
            <a:endParaRPr lang="fr-FR" sz="1650" dirty="0"/>
          </a:p>
        </p:txBody>
      </p:sp>
      <p:sp>
        <p:nvSpPr>
          <p:cNvPr id="4" name="Shape 2"/>
          <p:cNvSpPr/>
          <p:nvPr/>
        </p:nvSpPr>
        <p:spPr>
          <a:xfrm>
            <a:off x="457200" y="1524000"/>
            <a:ext cx="323850" cy="323850"/>
          </a:xfrm>
          <a:prstGeom prst="rect">
            <a:avLst/>
          </a:prstGeom>
          <a:solidFill>
            <a:srgbClr val="33006F"/>
          </a:solidFill>
          <a:ln w="12700">
            <a:solidFill>
              <a:srgbClr val="33006F"/>
            </a:solidFill>
            <a:prstDash val="solid"/>
          </a:ln>
        </p:spPr>
      </p:sp>
      <p:sp>
        <p:nvSpPr>
          <p:cNvPr id="5" name="Text 3"/>
          <p:cNvSpPr txBox="1"/>
          <p:nvPr/>
        </p:nvSpPr>
        <p:spPr>
          <a:xfrm>
            <a:off x="457200" y="1524000"/>
            <a:ext cx="323850" cy="323850"/>
          </a:xfrm>
          <a:prstGeom prst="rect">
            <a:avLst/>
          </a:prstGeom>
          <a:noFill/>
          <a:ln/>
        </p:spPr>
        <p:txBody>
          <a:bodyPr wrap="square" lIns="0" tIns="0" rIns="0" bIns="0" rtlCol="0" anchor="ctr"/>
          <a:lstStyle/>
          <a:p>
            <a:pPr algn="ctr" indent="0" marL="0">
              <a:buNone/>
            </a:pPr>
            <a:r>
              <a:rPr lang="fr-FR" sz="1400" b="1" dirty="0">
                <a:solidFill>
                  <a:srgbClr val="FFFFFF"/>
                </a:solidFill>
                <a:latin typeface="Source Sans 3" pitchFamily="34" charset="0"/>
                <a:ea typeface="Source Sans 3" pitchFamily="34" charset="-122"/>
                <a:cs typeface="Source Sans 3" pitchFamily="34" charset="-120"/>
              </a:rPr>
              <a:t>1</a:t>
            </a:r>
            <a:endParaRPr lang="fr-FR" sz="1400" dirty="0"/>
          </a:p>
        </p:txBody>
      </p:sp>
      <p:sp>
        <p:nvSpPr>
          <p:cNvPr id="6" name="Text 4"/>
          <p:cNvSpPr txBox="1"/>
          <p:nvPr/>
        </p:nvSpPr>
        <p:spPr>
          <a:xfrm>
            <a:off x="971550" y="1504950"/>
            <a:ext cx="7658100" cy="552450"/>
          </a:xfrm>
          <a:prstGeom prst="rect">
            <a:avLst/>
          </a:prstGeom>
          <a:noFill/>
          <a:ln/>
        </p:spPr>
        <p:txBody>
          <a:bodyPr wrap="square" lIns="0" tIns="0" rIns="0" bIns="0" rtlCol="0" anchor="t">
            <a:normAutofit/>
          </a:bodyPr>
          <a:lstStyle/>
          <a:p>
            <a:pPr indent="0" marL="0">
              <a:buNone/>
            </a:pPr>
            <a:r>
              <a:rPr lang="fr-FR" sz="1750" dirty="0">
                <a:solidFill>
                  <a:srgbClr val="434343"/>
                </a:solidFill>
                <a:latin typeface="Source Sans 3" pitchFamily="34" charset="0"/>
                <a:ea typeface="Source Sans 3" pitchFamily="34" charset="-122"/>
                <a:cs typeface="Source Sans 3" pitchFamily="34" charset="-120"/>
              </a:rPr>
              <a:t>Ce qui a été livré pendant le projet et la période de garantie</a:t>
            </a:r>
            <a:endParaRPr lang="fr-FR" sz="1750" dirty="0"/>
          </a:p>
        </p:txBody>
      </p:sp>
      <p:sp>
        <p:nvSpPr>
          <p:cNvPr id="7" name="Shape 5"/>
          <p:cNvSpPr/>
          <p:nvPr/>
        </p:nvSpPr>
        <p:spPr>
          <a:xfrm>
            <a:off x="457200" y="2114550"/>
            <a:ext cx="323850" cy="323850"/>
          </a:xfrm>
          <a:prstGeom prst="rect">
            <a:avLst/>
          </a:prstGeom>
          <a:solidFill>
            <a:srgbClr val="33006F"/>
          </a:solidFill>
          <a:ln w="12700">
            <a:solidFill>
              <a:srgbClr val="33006F"/>
            </a:solidFill>
            <a:prstDash val="solid"/>
          </a:ln>
        </p:spPr>
      </p:sp>
      <p:sp>
        <p:nvSpPr>
          <p:cNvPr id="8" name="Text 6"/>
          <p:cNvSpPr txBox="1"/>
          <p:nvPr/>
        </p:nvSpPr>
        <p:spPr>
          <a:xfrm>
            <a:off x="457200" y="2114550"/>
            <a:ext cx="323850" cy="323850"/>
          </a:xfrm>
          <a:prstGeom prst="rect">
            <a:avLst/>
          </a:prstGeom>
          <a:noFill/>
          <a:ln/>
        </p:spPr>
        <p:txBody>
          <a:bodyPr wrap="square" lIns="0" tIns="0" rIns="0" bIns="0" rtlCol="0" anchor="ctr"/>
          <a:lstStyle/>
          <a:p>
            <a:pPr algn="ctr" indent="0" marL="0">
              <a:buNone/>
            </a:pPr>
            <a:r>
              <a:rPr lang="fr-FR" sz="1400" b="1" dirty="0">
                <a:solidFill>
                  <a:srgbClr val="FFFFFF"/>
                </a:solidFill>
                <a:latin typeface="Source Sans 3" pitchFamily="34" charset="0"/>
                <a:ea typeface="Source Sans 3" pitchFamily="34" charset="-122"/>
                <a:cs typeface="Source Sans 3" pitchFamily="34" charset="-120"/>
              </a:rPr>
              <a:t>2</a:t>
            </a:r>
            <a:endParaRPr lang="fr-FR" sz="1400" dirty="0"/>
          </a:p>
        </p:txBody>
      </p:sp>
      <p:sp>
        <p:nvSpPr>
          <p:cNvPr id="9" name="Text 7"/>
          <p:cNvSpPr txBox="1"/>
          <p:nvPr/>
        </p:nvSpPr>
        <p:spPr>
          <a:xfrm>
            <a:off x="971550" y="2095500"/>
            <a:ext cx="7658100" cy="552450"/>
          </a:xfrm>
          <a:prstGeom prst="rect">
            <a:avLst/>
          </a:prstGeom>
          <a:noFill/>
          <a:ln/>
        </p:spPr>
        <p:txBody>
          <a:bodyPr wrap="square" lIns="0" tIns="0" rIns="0" bIns="0" rtlCol="0" anchor="t">
            <a:normAutofit/>
          </a:bodyPr>
          <a:lstStyle/>
          <a:p>
            <a:pPr indent="0" marL="0">
              <a:buNone/>
            </a:pPr>
            <a:r>
              <a:rPr lang="fr-FR" sz="1750" dirty="0">
                <a:solidFill>
                  <a:srgbClr val="434343"/>
                </a:solidFill>
                <a:latin typeface="Source Sans 3" pitchFamily="34" charset="0"/>
                <a:ea typeface="Source Sans 3" pitchFamily="34" charset="-122"/>
                <a:cs typeface="Source Sans 3" pitchFamily="34" charset="-120"/>
              </a:rPr>
              <a:t>Comment fonctionne la communauté OpenELIS Global, et comment y participer</a:t>
            </a:r>
            <a:endParaRPr lang="fr-FR" sz="1750" dirty="0"/>
          </a:p>
        </p:txBody>
      </p:sp>
      <p:sp>
        <p:nvSpPr>
          <p:cNvPr id="10" name="Shape 8"/>
          <p:cNvSpPr/>
          <p:nvPr/>
        </p:nvSpPr>
        <p:spPr>
          <a:xfrm>
            <a:off x="457200" y="2705100"/>
            <a:ext cx="323850" cy="323850"/>
          </a:xfrm>
          <a:prstGeom prst="rect">
            <a:avLst/>
          </a:prstGeom>
          <a:solidFill>
            <a:srgbClr val="33006F"/>
          </a:solidFill>
          <a:ln w="12700">
            <a:solidFill>
              <a:srgbClr val="33006F"/>
            </a:solidFill>
            <a:prstDash val="solid"/>
          </a:ln>
        </p:spPr>
      </p:sp>
      <p:sp>
        <p:nvSpPr>
          <p:cNvPr id="11" name="Text 9"/>
          <p:cNvSpPr txBox="1"/>
          <p:nvPr/>
        </p:nvSpPr>
        <p:spPr>
          <a:xfrm>
            <a:off x="457200" y="2705100"/>
            <a:ext cx="323850" cy="323850"/>
          </a:xfrm>
          <a:prstGeom prst="rect">
            <a:avLst/>
          </a:prstGeom>
          <a:noFill/>
          <a:ln/>
        </p:spPr>
        <p:txBody>
          <a:bodyPr wrap="square" lIns="0" tIns="0" rIns="0" bIns="0" rtlCol="0" anchor="ctr"/>
          <a:lstStyle/>
          <a:p>
            <a:pPr algn="ctr" indent="0" marL="0">
              <a:buNone/>
            </a:pPr>
            <a:r>
              <a:rPr lang="fr-FR" sz="1400" b="1" dirty="0">
                <a:solidFill>
                  <a:srgbClr val="FFFFFF"/>
                </a:solidFill>
                <a:latin typeface="Source Sans 3" pitchFamily="34" charset="0"/>
                <a:ea typeface="Source Sans 3" pitchFamily="34" charset="-122"/>
                <a:cs typeface="Source Sans 3" pitchFamily="34" charset="-120"/>
              </a:rPr>
              <a:t>3</a:t>
            </a:r>
            <a:endParaRPr lang="fr-FR" sz="1400" dirty="0"/>
          </a:p>
        </p:txBody>
      </p:sp>
      <p:sp>
        <p:nvSpPr>
          <p:cNvPr id="12" name="Text 10"/>
          <p:cNvSpPr txBox="1"/>
          <p:nvPr/>
        </p:nvSpPr>
        <p:spPr>
          <a:xfrm>
            <a:off x="971550" y="2686050"/>
            <a:ext cx="7658100" cy="552450"/>
          </a:xfrm>
          <a:prstGeom prst="rect">
            <a:avLst/>
          </a:prstGeom>
          <a:noFill/>
          <a:ln/>
        </p:spPr>
        <p:txBody>
          <a:bodyPr wrap="square" lIns="0" tIns="0" rIns="0" bIns="0" rtlCol="0" anchor="t">
            <a:normAutofit/>
          </a:bodyPr>
          <a:lstStyle/>
          <a:p>
            <a:pPr indent="0" marL="0">
              <a:buNone/>
            </a:pPr>
            <a:r>
              <a:rPr lang="fr-FR" sz="1750" dirty="0">
                <a:solidFill>
                  <a:srgbClr val="434343"/>
                </a:solidFill>
                <a:latin typeface="Source Sans 3" pitchFamily="34" charset="0"/>
                <a:ea typeface="Source Sans 3" pitchFamily="34" charset="-122"/>
                <a:cs typeface="Source Sans 3" pitchFamily="34" charset="-120"/>
              </a:rPr>
              <a:t>Comment consulter la feuille de route et donner votre avis sur les conceptions</a:t>
            </a:r>
            <a:endParaRPr lang="fr-FR" sz="1750" dirty="0"/>
          </a:p>
        </p:txBody>
      </p:sp>
      <p:sp>
        <p:nvSpPr>
          <p:cNvPr id="13" name="Shape 11"/>
          <p:cNvSpPr/>
          <p:nvPr/>
        </p:nvSpPr>
        <p:spPr>
          <a:xfrm>
            <a:off x="457200" y="3295650"/>
            <a:ext cx="323850" cy="323850"/>
          </a:xfrm>
          <a:prstGeom prst="rect">
            <a:avLst/>
          </a:prstGeom>
          <a:solidFill>
            <a:srgbClr val="33006F"/>
          </a:solidFill>
          <a:ln w="12700">
            <a:solidFill>
              <a:srgbClr val="33006F"/>
            </a:solidFill>
            <a:prstDash val="solid"/>
          </a:ln>
        </p:spPr>
      </p:sp>
      <p:sp>
        <p:nvSpPr>
          <p:cNvPr id="14" name="Text 12"/>
          <p:cNvSpPr txBox="1"/>
          <p:nvPr/>
        </p:nvSpPr>
        <p:spPr>
          <a:xfrm>
            <a:off x="457200" y="3295650"/>
            <a:ext cx="323850" cy="323850"/>
          </a:xfrm>
          <a:prstGeom prst="rect">
            <a:avLst/>
          </a:prstGeom>
          <a:noFill/>
          <a:ln/>
        </p:spPr>
        <p:txBody>
          <a:bodyPr wrap="square" lIns="0" tIns="0" rIns="0" bIns="0" rtlCol="0" anchor="ctr"/>
          <a:lstStyle/>
          <a:p>
            <a:pPr algn="ctr" indent="0" marL="0">
              <a:buNone/>
            </a:pPr>
            <a:r>
              <a:rPr lang="fr-FR" sz="1400" b="1" dirty="0">
                <a:solidFill>
                  <a:srgbClr val="FFFFFF"/>
                </a:solidFill>
                <a:latin typeface="Source Sans 3" pitchFamily="34" charset="0"/>
                <a:ea typeface="Source Sans 3" pitchFamily="34" charset="-122"/>
                <a:cs typeface="Source Sans 3" pitchFamily="34" charset="-120"/>
              </a:rPr>
              <a:t>4</a:t>
            </a:r>
            <a:endParaRPr lang="fr-FR" sz="1400" dirty="0"/>
          </a:p>
        </p:txBody>
      </p:sp>
      <p:sp>
        <p:nvSpPr>
          <p:cNvPr id="15" name="Text 13"/>
          <p:cNvSpPr txBox="1"/>
          <p:nvPr/>
        </p:nvSpPr>
        <p:spPr>
          <a:xfrm>
            <a:off x="971550" y="3276600"/>
            <a:ext cx="7658100" cy="552450"/>
          </a:xfrm>
          <a:prstGeom prst="rect">
            <a:avLst/>
          </a:prstGeom>
          <a:noFill/>
          <a:ln/>
        </p:spPr>
        <p:txBody>
          <a:bodyPr wrap="square" lIns="0" tIns="0" rIns="0" bIns="0" rtlCol="0" anchor="t">
            <a:normAutofit/>
          </a:bodyPr>
          <a:lstStyle/>
          <a:p>
            <a:pPr indent="0" marL="0">
              <a:buNone/>
            </a:pPr>
            <a:r>
              <a:rPr lang="fr-FR" sz="1750" dirty="0">
                <a:solidFill>
                  <a:srgbClr val="434343"/>
                </a:solidFill>
                <a:latin typeface="Source Sans 3" pitchFamily="34" charset="0"/>
                <a:ea typeface="Source Sans 3" pitchFamily="34" charset="-122"/>
                <a:cs typeface="Source Sans 3" pitchFamily="34" charset="-120"/>
              </a:rPr>
              <a:t>Où envoyer un bogue, une demande de fonctionnalité ou une question</a:t>
            </a:r>
            <a:endParaRPr lang="fr-FR" sz="1750" dirty="0"/>
          </a:p>
        </p:txBody>
      </p:sp>
      <p:sp>
        <p:nvSpPr>
          <p:cNvPr id="16" name="Shape 14"/>
          <p:cNvSpPr/>
          <p:nvPr/>
        </p:nvSpPr>
        <p:spPr>
          <a:xfrm>
            <a:off x="457200" y="3886200"/>
            <a:ext cx="323850" cy="323850"/>
          </a:xfrm>
          <a:prstGeom prst="rect">
            <a:avLst/>
          </a:prstGeom>
          <a:solidFill>
            <a:srgbClr val="33006F"/>
          </a:solidFill>
          <a:ln w="12700">
            <a:solidFill>
              <a:srgbClr val="33006F"/>
            </a:solidFill>
            <a:prstDash val="solid"/>
          </a:ln>
        </p:spPr>
      </p:sp>
      <p:sp>
        <p:nvSpPr>
          <p:cNvPr id="17" name="Text 15"/>
          <p:cNvSpPr txBox="1"/>
          <p:nvPr/>
        </p:nvSpPr>
        <p:spPr>
          <a:xfrm>
            <a:off x="457200" y="3886200"/>
            <a:ext cx="323850" cy="323850"/>
          </a:xfrm>
          <a:prstGeom prst="rect">
            <a:avLst/>
          </a:prstGeom>
          <a:noFill/>
          <a:ln/>
        </p:spPr>
        <p:txBody>
          <a:bodyPr wrap="square" lIns="0" tIns="0" rIns="0" bIns="0" rtlCol="0" anchor="ctr"/>
          <a:lstStyle/>
          <a:p>
            <a:pPr algn="ctr" indent="0" marL="0">
              <a:buNone/>
            </a:pPr>
            <a:r>
              <a:rPr lang="fr-FR" sz="1400" b="1" dirty="0">
                <a:solidFill>
                  <a:srgbClr val="FFFFFF"/>
                </a:solidFill>
                <a:latin typeface="Source Sans 3" pitchFamily="34" charset="0"/>
                <a:ea typeface="Source Sans 3" pitchFamily="34" charset="-122"/>
                <a:cs typeface="Source Sans 3" pitchFamily="34" charset="-120"/>
              </a:rPr>
              <a:t>5</a:t>
            </a:r>
            <a:endParaRPr lang="fr-FR" sz="1400" dirty="0"/>
          </a:p>
        </p:txBody>
      </p:sp>
      <p:sp>
        <p:nvSpPr>
          <p:cNvPr id="18" name="Text 16"/>
          <p:cNvSpPr txBox="1"/>
          <p:nvPr/>
        </p:nvSpPr>
        <p:spPr>
          <a:xfrm>
            <a:off x="971550" y="3867150"/>
            <a:ext cx="7658100" cy="552450"/>
          </a:xfrm>
          <a:prstGeom prst="rect">
            <a:avLst/>
          </a:prstGeom>
          <a:noFill/>
          <a:ln/>
        </p:spPr>
        <p:txBody>
          <a:bodyPr wrap="square" lIns="0" tIns="0" rIns="0" bIns="0" rtlCol="0" anchor="t">
            <a:normAutofit/>
          </a:bodyPr>
          <a:lstStyle/>
          <a:p>
            <a:pPr indent="0" marL="0">
              <a:buNone/>
            </a:pPr>
            <a:r>
              <a:rPr lang="fr-FR" sz="1750" dirty="0">
                <a:solidFill>
                  <a:srgbClr val="434343"/>
                </a:solidFill>
                <a:latin typeface="Source Sans 3" pitchFamily="34" charset="0"/>
                <a:ea typeface="Source Sans 3" pitchFamily="34" charset="-122"/>
                <a:cs typeface="Source Sans 3" pitchFamily="34" charset="-120"/>
              </a:rPr>
              <a:t>Comment fonctionnent les versions, comment corriger les traductions, et comment mettre à jour eSIL en toute sécurité</a:t>
            </a:r>
            <a:endParaRPr lang="fr-FR" sz="1750" dirty="0"/>
          </a:p>
        </p:txBody>
      </p:sp>
      <p:sp>
        <p:nvSpPr>
          <p:cNvPr id="19" name="Text 17"/>
          <p:cNvSpPr txBox="1"/>
          <p:nvPr/>
        </p:nvSpPr>
        <p:spPr>
          <a:xfrm>
            <a:off x="7953375" y="4743450"/>
            <a:ext cx="952500" cy="228600"/>
          </a:xfrm>
          <a:prstGeom prst="rect">
            <a:avLst/>
          </a:prstGeom>
          <a:noFill/>
          <a:ln/>
        </p:spPr>
        <p:txBody>
          <a:bodyPr wrap="square" lIns="0" tIns="0" rIns="0" bIns="0" rtlCol="0" anchor="t"/>
          <a:lstStyle/>
          <a:p>
            <a:pPr algn="r" indent="0" marL="0">
              <a:buNone/>
            </a:pPr>
            <a:r>
              <a:rPr lang="fr-FR" sz="1000" dirty="0">
                <a:solidFill>
                  <a:srgbClr val="888888"/>
                </a:solidFill>
                <a:latin typeface="Source Sans 3" pitchFamily="34" charset="0"/>
                <a:ea typeface="Source Sans 3" pitchFamily="34" charset="-122"/>
                <a:cs typeface="Source Sans 3" pitchFamily="34" charset="-120"/>
              </a:rPr>
              <a:t>2</a:t>
            </a:r>
            <a:endParaRPr lang="fr-FR" sz="1000" dirty="0"/>
          </a:p>
        </p:txBody>
      </p:sp>
      <p:sp>
        <p:nvSpPr>
          <p:cNvPr id="20" name="Text 18"/>
          <p:cNvSpPr txBox="1"/>
          <p:nvPr/>
        </p:nvSpPr>
        <p:spPr>
          <a:xfrm>
            <a:off x="457200" y="4743450"/>
            <a:ext cx="3810000" cy="228600"/>
          </a:xfrm>
          <a:prstGeom prst="rect">
            <a:avLst/>
          </a:prstGeom>
          <a:noFill/>
          <a:ln/>
        </p:spPr>
        <p:txBody>
          <a:bodyPr wrap="square" lIns="0" tIns="0" rIns="0" bIns="0" rtlCol="0" anchor="t"/>
          <a:lstStyle/>
          <a:p>
            <a:pPr algn="l" indent="0" marL="0">
              <a:buNone/>
            </a:pPr>
            <a:r>
              <a:rPr lang="fr-FR" sz="1000" dirty="0">
                <a:solidFill>
                  <a:srgbClr val="888888"/>
                </a:solidFill>
                <a:latin typeface="Source Sans 3" pitchFamily="34" charset="0"/>
                <a:ea typeface="Source Sans 3" pitchFamily="34" charset="-122"/>
                <a:cs typeface="Source Sans 3" pitchFamily="34" charset="-120"/>
              </a:rPr>
              <a:t>Passation eSIL Madagascar</a:t>
            </a:r>
            <a:endParaRPr lang="fr-FR" sz="10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171450" y="180975"/>
            <a:ext cx="8648700" cy="742950"/>
          </a:xfrm>
          <a:prstGeom prst="rect">
            <a:avLst/>
          </a:prstGeom>
          <a:noFill/>
          <a:ln/>
        </p:spPr>
        <p:txBody>
          <a:bodyPr wrap="square" lIns="0" tIns="0" rIns="0" bIns="0" rtlCol="0" anchor="ctr"/>
          <a:lstStyle/>
          <a:p>
            <a:pPr indent="0" marL="0">
              <a:buNone/>
            </a:pPr>
            <a:r>
              <a:rPr lang="fr-FR" sz="2800" b="1" dirty="0">
                <a:solidFill>
                  <a:srgbClr val="33006F"/>
                </a:solidFill>
                <a:latin typeface="Source Sans 3" pitchFamily="34" charset="0"/>
                <a:ea typeface="Source Sans 3" pitchFamily="34" charset="-122"/>
                <a:cs typeface="Source Sans 3" pitchFamily="34" charset="-120"/>
              </a:rPr>
              <a:t>Ordre du jour</a:t>
            </a:r>
            <a:endParaRPr lang="fr-FR" sz="2800" dirty="0"/>
          </a:p>
        </p:txBody>
      </p:sp>
      <p:sp>
        <p:nvSpPr>
          <p:cNvPr id="3" name="Text 1"/>
          <p:cNvSpPr txBox="1"/>
          <p:nvPr/>
        </p:nvSpPr>
        <p:spPr>
          <a:xfrm>
            <a:off x="6667500" y="381000"/>
            <a:ext cx="1981200" cy="381000"/>
          </a:xfrm>
          <a:prstGeom prst="rect">
            <a:avLst/>
          </a:prstGeom>
          <a:noFill/>
          <a:ln/>
        </p:spPr>
        <p:txBody>
          <a:bodyPr wrap="square" lIns="0" tIns="0" rIns="0" bIns="0" rtlCol="0" anchor="t"/>
          <a:lstStyle/>
          <a:p>
            <a:pPr algn="r" indent="0" marL="0">
              <a:buNone/>
            </a:pPr>
            <a:r>
              <a:rPr lang="fr-FR" sz="1500" dirty="0">
                <a:solidFill>
                  <a:srgbClr val="888888"/>
                </a:solidFill>
                <a:latin typeface="Source Sans 3" pitchFamily="34" charset="0"/>
                <a:ea typeface="Source Sans 3" pitchFamily="34" charset="-122"/>
                <a:cs typeface="Source Sans 3" pitchFamily="34" charset="-120"/>
              </a:rPr>
              <a:t>90 minutes</a:t>
            </a:r>
            <a:endParaRPr lang="fr-FR" sz="150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457200" y="1028700"/>
          <a:ext cx="8229600" cy="914400"/>
        </p:xfrm>
        <a:graphic>
          <a:graphicData uri="http://schemas.openxmlformats.org/drawingml/2006/table">
            <a:tbl>
              <a:tblPr/>
              <a:tblGrid>
                <a:gridCol w="7086600"/>
                <a:gridCol w="1143000"/>
              </a:tblGrid>
              <a:tr h="361950">
                <a:tc>
                  <a:txBody>
                    <a:bodyPr/>
                    <a:lstStyle/>
                    <a:p>
                      <a:pPr indent="0" marL="0">
                        <a:buNone/>
                      </a:pPr>
                      <a:r>
                        <a:rPr lang="fr-FR" sz="1209" b="1" dirty="0">
                          <a:solidFill>
                            <a:srgbClr val="FFFFFF"/>
                          </a:solidFill>
                          <a:latin typeface="Source Sans 3" pitchFamily="34" charset="0"/>
                          <a:ea typeface="Source Sans 3" pitchFamily="34" charset="-122"/>
                          <a:cs typeface="Source Sans 3" pitchFamily="34" charset="-120"/>
                        </a:rPr>
                        <a:t>Section</a:t>
                      </a:r>
                      <a:endParaRPr lang="fr-FR" sz="1209" dirty="0">
                        <a:latin typeface="Source Sans 3" charset="0"/>
                        <a:ea typeface="Source Sans 3" charset="0"/>
                        <a:cs typeface="Source Sans 3" charset="0"/>
                      </a:endParaRPr>
                    </a:p>
                  </a:txBody>
                  <a:tcPr marL="76200" marR="76200" marT="47625" marB="47625"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rgbClr val="33006F"/>
                    </a:solidFill>
                  </a:tcPr>
                </a:tc>
                <a:tc>
                  <a:txBody>
                    <a:bodyPr/>
                    <a:lstStyle/>
                    <a:p>
                      <a:pPr indent="0" marL="0">
                        <a:buNone/>
                      </a:pPr>
                      <a:r>
                        <a:rPr lang="fr-FR" sz="1209" b="1" dirty="0">
                          <a:solidFill>
                            <a:srgbClr val="FFFFFF"/>
                          </a:solidFill>
                          <a:latin typeface="Source Sans 3" pitchFamily="34" charset="0"/>
                          <a:ea typeface="Source Sans 3" pitchFamily="34" charset="-122"/>
                          <a:cs typeface="Source Sans 3" pitchFamily="34" charset="-120"/>
                        </a:rPr>
                        <a:t>Durée</a:t>
                      </a:r>
                      <a:endParaRPr lang="fr-FR" sz="1209" dirty="0">
                        <a:latin typeface="Source Sans 3" charset="0"/>
                        <a:ea typeface="Source Sans 3" charset="0"/>
                        <a:cs typeface="Source Sans 3" charset="0"/>
                      </a:endParaRPr>
                    </a:p>
                  </a:txBody>
                  <a:tcPr marL="76200" marR="76200" marT="47625" marB="47625"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rgbClr val="33006F"/>
                    </a:solidFill>
                  </a:tcPr>
                </a:tc>
              </a:tr>
              <a:tr h="361950">
                <a:tc>
                  <a:txBody>
                    <a:bodyPr/>
                    <a:lstStyle/>
                    <a:p>
                      <a:pPr indent="0" marL="0">
                        <a:buNone/>
                      </a:pPr>
                      <a:r>
                        <a:rPr lang="fr-FR" sz="1209" dirty="0">
                          <a:solidFill>
                            <a:srgbClr val="434343"/>
                          </a:solidFill>
                          <a:latin typeface="Source Sans 3" pitchFamily="34" charset="0"/>
                          <a:ea typeface="Source Sans 3" pitchFamily="34" charset="-122"/>
                          <a:cs typeface="Source Sans 3" pitchFamily="34" charset="-120"/>
                        </a:rPr>
                        <a:t>Accueil et objectifs</a:t>
                      </a:r>
                      <a:endParaRPr lang="fr-FR" sz="1209" dirty="0">
                        <a:latin typeface="Source Sans 3" charset="0"/>
                        <a:ea typeface="Source Sans 3" charset="0"/>
                        <a:cs typeface="Source Sans 3" charset="0"/>
                      </a:endParaRPr>
                    </a:p>
                  </a:txBody>
                  <a:tcPr marL="76200" marR="76200" marT="47625" marB="47625"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c>
                  <a:txBody>
                    <a:bodyPr/>
                    <a:lstStyle/>
                    <a:p>
                      <a:pPr indent="0" marL="0">
                        <a:buNone/>
                      </a:pPr>
                      <a:r>
                        <a:rPr lang="fr-FR" sz="1209" dirty="0">
                          <a:solidFill>
                            <a:srgbClr val="434343"/>
                          </a:solidFill>
                          <a:latin typeface="Source Sans 3" pitchFamily="34" charset="0"/>
                          <a:ea typeface="Source Sans 3" pitchFamily="34" charset="-122"/>
                          <a:cs typeface="Source Sans 3" pitchFamily="34" charset="-120"/>
                        </a:rPr>
                        <a:t>5 min</a:t>
                      </a:r>
                      <a:endParaRPr lang="fr-FR" sz="1209" dirty="0">
                        <a:latin typeface="Source Sans 3" charset="0"/>
                        <a:ea typeface="Source Sans 3" charset="0"/>
                        <a:cs typeface="Source Sans 3" charset="0"/>
                      </a:endParaRPr>
                    </a:p>
                  </a:txBody>
                  <a:tcPr marL="76200" marR="76200" marT="47625" marB="47625"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r>
              <a:tr h="361950">
                <a:tc>
                  <a:txBody>
                    <a:bodyPr/>
                    <a:lstStyle/>
                    <a:p>
                      <a:pPr indent="0" marL="0">
                        <a:buNone/>
                      </a:pPr>
                      <a:r>
                        <a:rPr lang="fr-FR" sz="1209" dirty="0">
                          <a:solidFill>
                            <a:srgbClr val="434343"/>
                          </a:solidFill>
                          <a:latin typeface="Source Sans 3" pitchFamily="34" charset="0"/>
                          <a:ea typeface="Source Sans 3" pitchFamily="34" charset="-122"/>
                          <a:cs typeface="Source Sans 3" pitchFamily="34" charset="-120"/>
                        </a:rPr>
                        <a:t>1. Bilan du projet et période de garantie</a:t>
                      </a:r>
                      <a:endParaRPr lang="fr-FR" sz="1209" dirty="0">
                        <a:latin typeface="Source Sans 3" charset="0"/>
                        <a:ea typeface="Source Sans 3" charset="0"/>
                        <a:cs typeface="Source Sans 3" charset="0"/>
                      </a:endParaRPr>
                    </a:p>
                  </a:txBody>
                  <a:tcPr marL="76200" marR="76200" marT="47625" marB="47625"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c>
                  <a:txBody>
                    <a:bodyPr/>
                    <a:lstStyle/>
                    <a:p>
                      <a:pPr indent="0" marL="0">
                        <a:buNone/>
                      </a:pPr>
                      <a:r>
                        <a:rPr lang="fr-FR" sz="1209" dirty="0">
                          <a:solidFill>
                            <a:srgbClr val="434343"/>
                          </a:solidFill>
                          <a:latin typeface="Source Sans 3" pitchFamily="34" charset="0"/>
                          <a:ea typeface="Source Sans 3" pitchFamily="34" charset="-122"/>
                          <a:cs typeface="Source Sans 3" pitchFamily="34" charset="-120"/>
                        </a:rPr>
                        <a:t>15 min</a:t>
                      </a:r>
                      <a:endParaRPr lang="fr-FR" sz="1209" dirty="0">
                        <a:latin typeface="Source Sans 3" charset="0"/>
                        <a:ea typeface="Source Sans 3" charset="0"/>
                        <a:cs typeface="Source Sans 3" charset="0"/>
                      </a:endParaRPr>
                    </a:p>
                  </a:txBody>
                  <a:tcPr marL="76200" marR="76200" marT="47625" marB="47625"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r>
              <a:tr h="361950">
                <a:tc>
                  <a:txBody>
                    <a:bodyPr/>
                    <a:lstStyle/>
                    <a:p>
                      <a:pPr indent="0" marL="0">
                        <a:buNone/>
                      </a:pPr>
                      <a:r>
                        <a:rPr lang="fr-FR" sz="1209" dirty="0">
                          <a:solidFill>
                            <a:srgbClr val="434343"/>
                          </a:solidFill>
                          <a:latin typeface="Source Sans 3" pitchFamily="34" charset="0"/>
                          <a:ea typeface="Source Sans 3" pitchFamily="34" charset="-122"/>
                          <a:cs typeface="Source Sans 3" pitchFamily="34" charset="-120"/>
                        </a:rPr>
                        <a:t>2. Comment fonctionne la communauté OpenELIS Global</a:t>
                      </a:r>
                      <a:endParaRPr lang="fr-FR" sz="1209" dirty="0">
                        <a:latin typeface="Source Sans 3" charset="0"/>
                        <a:ea typeface="Source Sans 3" charset="0"/>
                        <a:cs typeface="Source Sans 3" charset="0"/>
                      </a:endParaRPr>
                    </a:p>
                  </a:txBody>
                  <a:tcPr marL="76200" marR="76200" marT="47625" marB="47625"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c>
                  <a:txBody>
                    <a:bodyPr/>
                    <a:lstStyle/>
                    <a:p>
                      <a:pPr indent="0" marL="0">
                        <a:buNone/>
                      </a:pPr>
                      <a:r>
                        <a:rPr lang="fr-FR" sz="1209" dirty="0">
                          <a:solidFill>
                            <a:srgbClr val="434343"/>
                          </a:solidFill>
                          <a:latin typeface="Source Sans 3" pitchFamily="34" charset="0"/>
                          <a:ea typeface="Source Sans 3" pitchFamily="34" charset="-122"/>
                          <a:cs typeface="Source Sans 3" pitchFamily="34" charset="-120"/>
                        </a:rPr>
                        <a:t>15 min</a:t>
                      </a:r>
                      <a:endParaRPr lang="fr-FR" sz="1209" dirty="0">
                        <a:latin typeface="Source Sans 3" charset="0"/>
                        <a:ea typeface="Source Sans 3" charset="0"/>
                        <a:cs typeface="Source Sans 3" charset="0"/>
                      </a:endParaRPr>
                    </a:p>
                  </a:txBody>
                  <a:tcPr marL="76200" marR="76200" marT="47625" marB="47625"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r>
              <a:tr h="361950">
                <a:tc>
                  <a:txBody>
                    <a:bodyPr/>
                    <a:lstStyle/>
                    <a:p>
                      <a:pPr indent="0" marL="0">
                        <a:buNone/>
                      </a:pPr>
                      <a:r>
                        <a:rPr lang="fr-FR" sz="1209" dirty="0">
                          <a:solidFill>
                            <a:srgbClr val="434343"/>
                          </a:solidFill>
                          <a:latin typeface="Source Sans 3" pitchFamily="34" charset="0"/>
                          <a:ea typeface="Source Sans 3" pitchFamily="34" charset="-122"/>
                          <a:cs typeface="Source Sans 3" pitchFamily="34" charset="-120"/>
                        </a:rPr>
                        <a:t>3. La feuille de route et la galerie de conception</a:t>
                      </a:r>
                      <a:endParaRPr lang="fr-FR" sz="1209" dirty="0">
                        <a:latin typeface="Source Sans 3" charset="0"/>
                        <a:ea typeface="Source Sans 3" charset="0"/>
                        <a:cs typeface="Source Sans 3" charset="0"/>
                      </a:endParaRPr>
                    </a:p>
                  </a:txBody>
                  <a:tcPr marL="76200" marR="76200" marT="47625" marB="47625"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c>
                  <a:txBody>
                    <a:bodyPr/>
                    <a:lstStyle/>
                    <a:p>
                      <a:pPr indent="0" marL="0">
                        <a:buNone/>
                      </a:pPr>
                      <a:r>
                        <a:rPr lang="fr-FR" sz="1209" dirty="0">
                          <a:solidFill>
                            <a:srgbClr val="434343"/>
                          </a:solidFill>
                          <a:latin typeface="Source Sans 3" pitchFamily="34" charset="0"/>
                          <a:ea typeface="Source Sans 3" pitchFamily="34" charset="-122"/>
                          <a:cs typeface="Source Sans 3" pitchFamily="34" charset="-120"/>
                        </a:rPr>
                        <a:t>10 min</a:t>
                      </a:r>
                      <a:endParaRPr lang="fr-FR" sz="1209" dirty="0">
                        <a:latin typeface="Source Sans 3" charset="0"/>
                        <a:ea typeface="Source Sans 3" charset="0"/>
                        <a:cs typeface="Source Sans 3" charset="0"/>
                      </a:endParaRPr>
                    </a:p>
                  </a:txBody>
                  <a:tcPr marL="76200" marR="76200" marT="47625" marB="47625"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r>
              <a:tr h="361950">
                <a:tc>
                  <a:txBody>
                    <a:bodyPr/>
                    <a:lstStyle/>
                    <a:p>
                      <a:pPr indent="0" marL="0">
                        <a:buNone/>
                      </a:pPr>
                      <a:r>
                        <a:rPr lang="fr-FR" sz="1209" dirty="0">
                          <a:solidFill>
                            <a:srgbClr val="434343"/>
                          </a:solidFill>
                          <a:latin typeface="Source Sans 3" pitchFamily="34" charset="0"/>
                          <a:ea typeface="Source Sans 3" pitchFamily="34" charset="-122"/>
                          <a:cs typeface="Source Sans 3" pitchFamily="34" charset="-120"/>
                        </a:rPr>
                        <a:t>4. Bogue, demande de fonctionnalité ou question : choisir le bon canal</a:t>
                      </a:r>
                      <a:endParaRPr lang="fr-FR" sz="1209" dirty="0">
                        <a:latin typeface="Source Sans 3" charset="0"/>
                        <a:ea typeface="Source Sans 3" charset="0"/>
                        <a:cs typeface="Source Sans 3" charset="0"/>
                      </a:endParaRPr>
                    </a:p>
                  </a:txBody>
                  <a:tcPr marL="76200" marR="76200" marT="47625" marB="47625"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c>
                  <a:txBody>
                    <a:bodyPr/>
                    <a:lstStyle/>
                    <a:p>
                      <a:pPr indent="0" marL="0">
                        <a:buNone/>
                      </a:pPr>
                      <a:r>
                        <a:rPr lang="fr-FR" sz="1209" dirty="0">
                          <a:solidFill>
                            <a:srgbClr val="434343"/>
                          </a:solidFill>
                          <a:latin typeface="Source Sans 3" pitchFamily="34" charset="0"/>
                          <a:ea typeface="Source Sans 3" pitchFamily="34" charset="-122"/>
                          <a:cs typeface="Source Sans 3" pitchFamily="34" charset="-120"/>
                        </a:rPr>
                        <a:t>15 min</a:t>
                      </a:r>
                      <a:endParaRPr lang="fr-FR" sz="1209" dirty="0">
                        <a:latin typeface="Source Sans 3" charset="0"/>
                        <a:ea typeface="Source Sans 3" charset="0"/>
                        <a:cs typeface="Source Sans 3" charset="0"/>
                      </a:endParaRPr>
                    </a:p>
                  </a:txBody>
                  <a:tcPr marL="76200" marR="76200" marT="47625" marB="47625"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r>
              <a:tr h="361950">
                <a:tc>
                  <a:txBody>
                    <a:bodyPr/>
                    <a:lstStyle/>
                    <a:p>
                      <a:pPr indent="0" marL="0">
                        <a:buNone/>
                      </a:pPr>
                      <a:r>
                        <a:rPr lang="fr-FR" sz="1209" dirty="0">
                          <a:solidFill>
                            <a:srgbClr val="434343"/>
                          </a:solidFill>
                          <a:latin typeface="Source Sans 3" pitchFamily="34" charset="0"/>
                          <a:ea typeface="Source Sans 3" pitchFamily="34" charset="-122"/>
                          <a:cs typeface="Source Sans 3" pitchFamily="34" charset="-120"/>
                        </a:rPr>
                        <a:t>5. Comment fonctionnent les versions</a:t>
                      </a:r>
                      <a:endParaRPr lang="fr-FR" sz="1209" dirty="0">
                        <a:latin typeface="Source Sans 3" charset="0"/>
                        <a:ea typeface="Source Sans 3" charset="0"/>
                        <a:cs typeface="Source Sans 3" charset="0"/>
                      </a:endParaRPr>
                    </a:p>
                  </a:txBody>
                  <a:tcPr marL="76200" marR="76200" marT="47625" marB="47625"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c>
                  <a:txBody>
                    <a:bodyPr/>
                    <a:lstStyle/>
                    <a:p>
                      <a:pPr indent="0" marL="0">
                        <a:buNone/>
                      </a:pPr>
                      <a:r>
                        <a:rPr lang="fr-FR" sz="1209" dirty="0">
                          <a:solidFill>
                            <a:srgbClr val="434343"/>
                          </a:solidFill>
                          <a:latin typeface="Source Sans 3" pitchFamily="34" charset="0"/>
                          <a:ea typeface="Source Sans 3" pitchFamily="34" charset="-122"/>
                          <a:cs typeface="Source Sans 3" pitchFamily="34" charset="-120"/>
                        </a:rPr>
                        <a:t>10 min</a:t>
                      </a:r>
                      <a:endParaRPr lang="fr-FR" sz="1209" dirty="0">
                        <a:latin typeface="Source Sans 3" charset="0"/>
                        <a:ea typeface="Source Sans 3" charset="0"/>
                        <a:cs typeface="Source Sans 3" charset="0"/>
                      </a:endParaRPr>
                    </a:p>
                  </a:txBody>
                  <a:tcPr marL="76200" marR="76200" marT="47625" marB="47625"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r>
              <a:tr h="361950">
                <a:tc>
                  <a:txBody>
                    <a:bodyPr/>
                    <a:lstStyle/>
                    <a:p>
                      <a:pPr indent="0" marL="0">
                        <a:buNone/>
                      </a:pPr>
                      <a:r>
                        <a:rPr lang="fr-FR" sz="1209" dirty="0">
                          <a:solidFill>
                            <a:srgbClr val="434343"/>
                          </a:solidFill>
                          <a:latin typeface="Source Sans 3" pitchFamily="34" charset="0"/>
                          <a:ea typeface="Source Sans 3" pitchFamily="34" charset="-122"/>
                          <a:cs typeface="Source Sans 3" pitchFamily="34" charset="-120"/>
                        </a:rPr>
                        <a:t>6. Comment maintenir eSIL Madagascar : traductions et mises à jour</a:t>
                      </a:r>
                      <a:endParaRPr lang="fr-FR" sz="1209" dirty="0">
                        <a:latin typeface="Source Sans 3" charset="0"/>
                        <a:ea typeface="Source Sans 3" charset="0"/>
                        <a:cs typeface="Source Sans 3" charset="0"/>
                      </a:endParaRPr>
                    </a:p>
                  </a:txBody>
                  <a:tcPr marL="76200" marR="76200" marT="47625" marB="47625"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c>
                  <a:txBody>
                    <a:bodyPr/>
                    <a:lstStyle/>
                    <a:p>
                      <a:pPr indent="0" marL="0">
                        <a:buNone/>
                      </a:pPr>
                      <a:r>
                        <a:rPr lang="fr-FR" sz="1209" dirty="0">
                          <a:solidFill>
                            <a:srgbClr val="434343"/>
                          </a:solidFill>
                          <a:latin typeface="Source Sans 3" pitchFamily="34" charset="0"/>
                          <a:ea typeface="Source Sans 3" pitchFamily="34" charset="-122"/>
                          <a:cs typeface="Source Sans 3" pitchFamily="34" charset="-120"/>
                        </a:rPr>
                        <a:t>15 min</a:t>
                      </a:r>
                      <a:endParaRPr lang="fr-FR" sz="1209" dirty="0">
                        <a:latin typeface="Source Sans 3" charset="0"/>
                        <a:ea typeface="Source Sans 3" charset="0"/>
                        <a:cs typeface="Source Sans 3" charset="0"/>
                      </a:endParaRPr>
                    </a:p>
                  </a:txBody>
                  <a:tcPr marL="76200" marR="76200" marT="47625" marB="47625"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r>
              <a:tr h="361950">
                <a:tc>
                  <a:txBody>
                    <a:bodyPr/>
                    <a:lstStyle/>
                    <a:p>
                      <a:pPr indent="0" marL="0">
                        <a:buNone/>
                      </a:pPr>
                      <a:r>
                        <a:rPr lang="fr-FR" sz="1209" dirty="0">
                          <a:solidFill>
                            <a:srgbClr val="434343"/>
                          </a:solidFill>
                          <a:latin typeface="Source Sans 3" pitchFamily="34" charset="0"/>
                          <a:ea typeface="Source Sans 3" pitchFamily="34" charset="-122"/>
                          <a:cs typeface="Source Sans 3" pitchFamily="34" charset="-120"/>
                        </a:rPr>
                        <a:t>7. Décisions pour le Ministère, et questions</a:t>
                      </a:r>
                      <a:endParaRPr lang="fr-FR" sz="1209" dirty="0">
                        <a:latin typeface="Source Sans 3" charset="0"/>
                        <a:ea typeface="Source Sans 3" charset="0"/>
                        <a:cs typeface="Source Sans 3" charset="0"/>
                      </a:endParaRPr>
                    </a:p>
                  </a:txBody>
                  <a:tcPr marL="76200" marR="76200" marT="47625" marB="47625"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c>
                  <a:txBody>
                    <a:bodyPr/>
                    <a:lstStyle/>
                    <a:p>
                      <a:pPr indent="0" marL="0">
                        <a:buNone/>
                      </a:pPr>
                      <a:r>
                        <a:rPr lang="fr-FR" sz="1209" dirty="0">
                          <a:solidFill>
                            <a:srgbClr val="434343"/>
                          </a:solidFill>
                          <a:latin typeface="Source Sans 3" pitchFamily="34" charset="0"/>
                          <a:ea typeface="Source Sans 3" pitchFamily="34" charset="-122"/>
                          <a:cs typeface="Source Sans 3" pitchFamily="34" charset="-120"/>
                        </a:rPr>
                        <a:t>5 min</a:t>
                      </a:r>
                      <a:endParaRPr lang="fr-FR" sz="1209" dirty="0">
                        <a:latin typeface="Source Sans 3" charset="0"/>
                        <a:ea typeface="Source Sans 3" charset="0"/>
                        <a:cs typeface="Source Sans 3" charset="0"/>
                      </a:endParaRPr>
                    </a:p>
                  </a:txBody>
                  <a:tcPr marL="76200" marR="76200" marT="47625" marB="47625"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r>
            </a:tbl>
          </a:graphicData>
        </a:graphic>
      </p:graphicFrame>
      <p:sp>
        <p:nvSpPr>
          <p:cNvPr id="5" name="Text 2"/>
          <p:cNvSpPr txBox="1"/>
          <p:nvPr/>
        </p:nvSpPr>
        <p:spPr>
          <a:xfrm>
            <a:off x="457200" y="4438650"/>
            <a:ext cx="5715000" cy="228600"/>
          </a:xfrm>
          <a:prstGeom prst="rect">
            <a:avLst/>
          </a:prstGeom>
          <a:noFill/>
          <a:ln/>
        </p:spPr>
        <p:txBody>
          <a:bodyPr wrap="square" lIns="0" tIns="0" rIns="0" bIns="0" rtlCol="0" anchor="t"/>
          <a:lstStyle/>
          <a:p>
            <a:pPr indent="0" marL="0">
              <a:buNone/>
            </a:pPr>
            <a:r>
              <a:rPr lang="fr-FR" sz="1200" dirty="0">
                <a:solidFill>
                  <a:srgbClr val="888888"/>
                </a:solidFill>
                <a:latin typeface="Source Sans 3" pitchFamily="34" charset="0"/>
                <a:ea typeface="Source Sans 3" pitchFamily="34" charset="-122"/>
                <a:cs typeface="Source Sans 3" pitchFamily="34" charset="-120"/>
              </a:rPr>
              <a:t>Les questions sont bienvenues à tout moment.</a:t>
            </a:r>
            <a:endParaRPr lang="fr-FR" sz="1200" dirty="0"/>
          </a:p>
        </p:txBody>
      </p:sp>
      <p:sp>
        <p:nvSpPr>
          <p:cNvPr id="6" name="Text 3"/>
          <p:cNvSpPr txBox="1"/>
          <p:nvPr/>
        </p:nvSpPr>
        <p:spPr>
          <a:xfrm>
            <a:off x="7953375" y="4743450"/>
            <a:ext cx="952500" cy="228600"/>
          </a:xfrm>
          <a:prstGeom prst="rect">
            <a:avLst/>
          </a:prstGeom>
          <a:noFill/>
          <a:ln/>
        </p:spPr>
        <p:txBody>
          <a:bodyPr wrap="square" lIns="0" tIns="0" rIns="0" bIns="0" rtlCol="0" anchor="t"/>
          <a:lstStyle/>
          <a:p>
            <a:pPr algn="r" indent="0" marL="0">
              <a:buNone/>
            </a:pPr>
            <a:r>
              <a:rPr lang="fr-FR" sz="1000" dirty="0">
                <a:solidFill>
                  <a:srgbClr val="888888"/>
                </a:solidFill>
                <a:latin typeface="Source Sans 3" pitchFamily="34" charset="0"/>
                <a:ea typeface="Source Sans 3" pitchFamily="34" charset="-122"/>
                <a:cs typeface="Source Sans 3" pitchFamily="34" charset="-120"/>
              </a:rPr>
              <a:t>3</a:t>
            </a:r>
            <a:endParaRPr lang="fr-FR" sz="1000" dirty="0"/>
          </a:p>
        </p:txBody>
      </p:sp>
      <p:sp>
        <p:nvSpPr>
          <p:cNvPr id="7" name="Text 4"/>
          <p:cNvSpPr txBox="1"/>
          <p:nvPr/>
        </p:nvSpPr>
        <p:spPr>
          <a:xfrm>
            <a:off x="457200" y="4743450"/>
            <a:ext cx="3810000" cy="228600"/>
          </a:xfrm>
          <a:prstGeom prst="rect">
            <a:avLst/>
          </a:prstGeom>
          <a:noFill/>
          <a:ln/>
        </p:spPr>
        <p:txBody>
          <a:bodyPr wrap="square" lIns="0" tIns="0" rIns="0" bIns="0" rtlCol="0" anchor="t"/>
          <a:lstStyle/>
          <a:p>
            <a:pPr algn="l" indent="0" marL="0">
              <a:buNone/>
            </a:pPr>
            <a:r>
              <a:rPr lang="fr-FR" sz="1000" dirty="0">
                <a:solidFill>
                  <a:srgbClr val="888888"/>
                </a:solidFill>
                <a:latin typeface="Source Sans 3" pitchFamily="34" charset="0"/>
                <a:ea typeface="Source Sans 3" pitchFamily="34" charset="-122"/>
                <a:cs typeface="Source Sans 3" pitchFamily="34" charset="-120"/>
              </a:rPr>
              <a:t>Passation eSIL Madagascar</a:t>
            </a:r>
            <a:endParaRPr lang="fr-FR" sz="10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086350" y="-1381125"/>
            <a:ext cx="8124825" cy="8124825"/>
          </a:xfrm>
          <a:prstGeom prst="ellipse">
            <a:avLst/>
          </a:prstGeom>
          <a:solidFill>
            <a:srgbClr val="33006F"/>
          </a:solidFill>
          <a:ln w="12700">
            <a:solidFill>
              <a:srgbClr val="33006F"/>
            </a:solidFill>
            <a:prstDash val="solid"/>
          </a:ln>
        </p:spPr>
      </p:sp>
      <p:sp>
        <p:nvSpPr>
          <p:cNvPr id="3" name="Text 1"/>
          <p:cNvSpPr txBox="1"/>
          <p:nvPr/>
        </p:nvSpPr>
        <p:spPr>
          <a:xfrm>
            <a:off x="857250" y="1428750"/>
            <a:ext cx="3619500" cy="1238250"/>
          </a:xfrm>
          <a:prstGeom prst="rect">
            <a:avLst/>
          </a:prstGeom>
          <a:noFill/>
          <a:ln/>
        </p:spPr>
        <p:txBody>
          <a:bodyPr wrap="square" lIns="0" tIns="0" rIns="0" bIns="0" rtlCol="0" anchor="b">
            <a:normAutofit/>
          </a:bodyPr>
          <a:lstStyle/>
          <a:p>
            <a:pPr indent="0" marL="0">
              <a:buNone/>
            </a:pPr>
            <a:r>
              <a:rPr lang="fr-FR" sz="2600" b="1" dirty="0">
                <a:solidFill>
                  <a:srgbClr val="33006F"/>
                </a:solidFill>
                <a:latin typeface="Source Sans 3" pitchFamily="34" charset="0"/>
                <a:ea typeface="Source Sans 3" pitchFamily="34" charset="-122"/>
                <a:cs typeface="Source Sans 3" pitchFamily="34" charset="-120"/>
              </a:rPr>
              <a:t>1. Bilan du projet et période de garantie</a:t>
            </a:r>
            <a:endParaRPr lang="fr-FR" sz="2600" dirty="0"/>
          </a:p>
        </p:txBody>
      </p:sp>
      <p:sp>
        <p:nvSpPr>
          <p:cNvPr id="4" name="Text 2"/>
          <p:cNvSpPr txBox="1"/>
          <p:nvPr/>
        </p:nvSpPr>
        <p:spPr>
          <a:xfrm>
            <a:off x="857250" y="2781300"/>
            <a:ext cx="3619500" cy="1143000"/>
          </a:xfrm>
          <a:prstGeom prst="rect">
            <a:avLst/>
          </a:prstGeom>
          <a:noFill/>
          <a:ln/>
        </p:spPr>
        <p:txBody>
          <a:bodyPr wrap="square" lIns="0" tIns="0" rIns="0" bIns="0" rtlCol="0" anchor="t"/>
          <a:lstStyle/>
          <a:p>
            <a:pPr indent="0" marL="0">
              <a:buNone/>
            </a:pPr>
            <a:r>
              <a:rPr lang="fr-FR" sz="1650" dirty="0">
                <a:solidFill>
                  <a:srgbClr val="434343"/>
                </a:solidFill>
                <a:latin typeface="Source Sans 3" pitchFamily="34" charset="0"/>
                <a:ea typeface="Source Sans 3" pitchFamily="34" charset="-122"/>
                <a:cs typeface="Source Sans 3" pitchFamily="34" charset="-120"/>
              </a:rPr>
              <a:t>Ce qui a été construit, ce qui a été corrigé, et où se trouvent les documents.</a:t>
            </a:r>
            <a:endParaRPr lang="fr-FR" sz="1650" dirty="0"/>
          </a:p>
        </p:txBody>
      </p:sp>
      <p:sp>
        <p:nvSpPr>
          <p:cNvPr id="5" name="Text 3"/>
          <p:cNvSpPr txBox="1"/>
          <p:nvPr/>
        </p:nvSpPr>
        <p:spPr>
          <a:xfrm>
            <a:off x="7953375" y="4743450"/>
            <a:ext cx="952500" cy="228600"/>
          </a:xfrm>
          <a:prstGeom prst="rect">
            <a:avLst/>
          </a:prstGeom>
          <a:noFill/>
          <a:ln/>
        </p:spPr>
        <p:txBody>
          <a:bodyPr wrap="square" lIns="0" tIns="0" rIns="0" bIns="0" rtlCol="0" anchor="t"/>
          <a:lstStyle/>
          <a:p>
            <a:pPr algn="r" indent="0" marL="0">
              <a:buNone/>
            </a:pPr>
            <a:r>
              <a:rPr lang="fr-FR" sz="1000" dirty="0">
                <a:solidFill>
                  <a:srgbClr val="FFFFFF"/>
                </a:solidFill>
                <a:latin typeface="Source Sans 3" pitchFamily="34" charset="0"/>
                <a:ea typeface="Source Sans 3" pitchFamily="34" charset="-122"/>
                <a:cs typeface="Source Sans 3" pitchFamily="34" charset="-120"/>
              </a:rPr>
              <a:t>4</a:t>
            </a:r>
            <a:endParaRPr lang="fr-FR" sz="1000" dirty="0"/>
          </a:p>
        </p:txBody>
      </p:sp>
      <p:sp>
        <p:nvSpPr>
          <p:cNvPr id="6" name="Text 4"/>
          <p:cNvSpPr txBox="1"/>
          <p:nvPr/>
        </p:nvSpPr>
        <p:spPr>
          <a:xfrm>
            <a:off x="457200" y="4743450"/>
            <a:ext cx="3810000" cy="228600"/>
          </a:xfrm>
          <a:prstGeom prst="rect">
            <a:avLst/>
          </a:prstGeom>
          <a:noFill/>
          <a:ln/>
        </p:spPr>
        <p:txBody>
          <a:bodyPr wrap="square" lIns="0" tIns="0" rIns="0" bIns="0" rtlCol="0" anchor="t"/>
          <a:lstStyle/>
          <a:p>
            <a:pPr algn="l" indent="0" marL="0">
              <a:buNone/>
            </a:pPr>
            <a:r>
              <a:rPr lang="fr-FR" sz="1000" dirty="0">
                <a:solidFill>
                  <a:srgbClr val="888888"/>
                </a:solidFill>
                <a:latin typeface="Source Sans 3" pitchFamily="34" charset="0"/>
                <a:ea typeface="Source Sans 3" pitchFamily="34" charset="-122"/>
                <a:cs typeface="Source Sans 3" pitchFamily="34" charset="-120"/>
              </a:rPr>
              <a:t>Passation eSIL Madagascar</a:t>
            </a:r>
            <a:endParaRPr lang="fr-FR" sz="10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247650"/>
            <a:ext cx="8229600" cy="209550"/>
          </a:xfrm>
          <a:prstGeom prst="rect">
            <a:avLst/>
          </a:prstGeom>
          <a:noFill/>
          <a:ln/>
        </p:spPr>
        <p:txBody>
          <a:bodyPr wrap="square" lIns="0" tIns="0" rIns="0" bIns="0" rtlCol="0" anchor="t"/>
          <a:lstStyle/>
          <a:p>
            <a:pPr indent="0" marL="0">
              <a:buNone/>
            </a:pPr>
            <a:r>
              <a:rPr lang="fr-FR" sz="1200" b="1" spc="150" kern="0" dirty="0">
                <a:solidFill>
                  <a:srgbClr val="00707F"/>
                </a:solidFill>
                <a:latin typeface="Source Sans 3" pitchFamily="34" charset="0"/>
                <a:ea typeface="Source Sans 3" pitchFamily="34" charset="-122"/>
                <a:cs typeface="Source Sans 3" pitchFamily="34" charset="-120"/>
              </a:rPr>
              <a:t>BILAN DU PROJET</a:t>
            </a:r>
            <a:pPr indent="0" marL="0">
              <a:buNone/>
            </a:pPr>
            <a:r>
              <a:rPr lang="fr-FR" sz="1200" dirty="0">
                <a:solidFill>
                  <a:srgbClr val="888888"/>
                </a:solidFill>
                <a:latin typeface="Source Sans 3" pitchFamily="34" charset="0"/>
                <a:ea typeface="Source Sans 3" pitchFamily="34" charset="-122"/>
                <a:cs typeface="Source Sans 3" pitchFamily="34" charset="-120"/>
              </a:rPr>
              <a:t>    Section 1 sur 7</a:t>
            </a:r>
            <a:endParaRPr lang="fr-FR" sz="1200" dirty="0"/>
          </a:p>
        </p:txBody>
      </p:sp>
      <p:sp>
        <p:nvSpPr>
          <p:cNvPr id="3" name="Shape 1"/>
          <p:cNvSpPr/>
          <p:nvPr/>
        </p:nvSpPr>
        <p:spPr>
          <a:xfrm>
            <a:off x="457200" y="533400"/>
            <a:ext cx="685800" cy="57150"/>
          </a:xfrm>
          <a:prstGeom prst="rect">
            <a:avLst/>
          </a:prstGeom>
          <a:solidFill>
            <a:srgbClr val="00707F"/>
          </a:solidFill>
          <a:ln w="12700">
            <a:solidFill>
              <a:srgbClr val="00707F"/>
            </a:solidFill>
            <a:prstDash val="solid"/>
          </a:ln>
        </p:spPr>
      </p:sp>
      <p:sp>
        <p:nvSpPr>
          <p:cNvPr id="4" name="Text 2"/>
          <p:cNvSpPr txBox="1"/>
          <p:nvPr/>
        </p:nvSpPr>
        <p:spPr>
          <a:xfrm>
            <a:off x="457200" y="704850"/>
            <a:ext cx="8229600" cy="800100"/>
          </a:xfrm>
          <a:prstGeom prst="rect">
            <a:avLst/>
          </a:prstGeom>
          <a:noFill/>
          <a:ln/>
        </p:spPr>
        <p:txBody>
          <a:bodyPr wrap="square" lIns="0" tIns="0" rIns="0" bIns="0" rtlCol="0" anchor="t">
            <a:normAutofit/>
          </a:bodyPr>
          <a:lstStyle/>
          <a:p>
            <a:pPr indent="0" marL="0">
              <a:buNone/>
            </a:pPr>
            <a:r>
              <a:rPr lang="fr-FR" sz="2350" b="1" dirty="0">
                <a:solidFill>
                  <a:srgbClr val="33006F"/>
                </a:solidFill>
                <a:latin typeface="Source Sans 3" pitchFamily="34" charset="0"/>
                <a:ea typeface="Source Sans 3" pitchFamily="34" charset="-122"/>
                <a:cs typeface="Source Sans 3" pitchFamily="34" charset="-120"/>
              </a:rPr>
              <a:t>Une année en quatre trimestres</a:t>
            </a:r>
            <a:endParaRPr lang="fr-FR" sz="2350" dirty="0"/>
          </a:p>
        </p:txBody>
      </p:sp>
      <p:sp>
        <p:nvSpPr>
          <p:cNvPr id="5" name="Shape 3"/>
          <p:cNvSpPr/>
          <p:nvPr/>
        </p:nvSpPr>
        <p:spPr>
          <a:xfrm>
            <a:off x="457200" y="1562100"/>
            <a:ext cx="1943100" cy="3028950"/>
          </a:xfrm>
          <a:prstGeom prst="rect">
            <a:avLst/>
          </a:prstGeom>
          <a:solidFill>
            <a:srgbClr val="F0F0FF"/>
          </a:solidFill>
          <a:ln w="12700">
            <a:solidFill>
              <a:srgbClr val="F0F0FF"/>
            </a:solidFill>
            <a:prstDash val="solid"/>
          </a:ln>
        </p:spPr>
      </p:sp>
      <p:sp>
        <p:nvSpPr>
          <p:cNvPr id="6" name="Shape 4"/>
          <p:cNvSpPr/>
          <p:nvPr/>
        </p:nvSpPr>
        <p:spPr>
          <a:xfrm>
            <a:off x="457200" y="1562100"/>
            <a:ext cx="1943100" cy="38100"/>
          </a:xfrm>
          <a:prstGeom prst="rect">
            <a:avLst/>
          </a:prstGeom>
          <a:solidFill>
            <a:srgbClr val="00707F"/>
          </a:solidFill>
          <a:ln w="12700">
            <a:solidFill>
              <a:srgbClr val="00707F"/>
            </a:solidFill>
            <a:prstDash val="solid"/>
          </a:ln>
        </p:spPr>
      </p:sp>
      <p:sp>
        <p:nvSpPr>
          <p:cNvPr id="7" name="Text 5"/>
          <p:cNvSpPr txBox="1"/>
          <p:nvPr/>
        </p:nvSpPr>
        <p:spPr>
          <a:xfrm>
            <a:off x="590550" y="1714500"/>
            <a:ext cx="1676400" cy="171450"/>
          </a:xfrm>
          <a:prstGeom prst="rect">
            <a:avLst/>
          </a:prstGeom>
          <a:noFill/>
          <a:ln/>
        </p:spPr>
        <p:txBody>
          <a:bodyPr wrap="square" lIns="0" tIns="0" rIns="0" bIns="0" rtlCol="0" anchor="t"/>
          <a:lstStyle/>
          <a:p>
            <a:pPr indent="0" marL="0">
              <a:buNone/>
            </a:pPr>
            <a:r>
              <a:rPr lang="fr-FR" sz="950" b="1" spc="100" kern="0" dirty="0">
                <a:solidFill>
                  <a:srgbClr val="00707F"/>
                </a:solidFill>
                <a:latin typeface="Source Sans 3" pitchFamily="34" charset="0"/>
                <a:ea typeface="Source Sans 3" pitchFamily="34" charset="-122"/>
                <a:cs typeface="Source Sans 3" pitchFamily="34" charset="-120"/>
              </a:rPr>
              <a:t>DÉVELOPPEMENT</a:t>
            </a:r>
            <a:endParaRPr lang="fr-FR" sz="950" dirty="0"/>
          </a:p>
        </p:txBody>
      </p:sp>
      <p:sp>
        <p:nvSpPr>
          <p:cNvPr id="8" name="Text 6"/>
          <p:cNvSpPr txBox="1"/>
          <p:nvPr/>
        </p:nvSpPr>
        <p:spPr>
          <a:xfrm>
            <a:off x="590550" y="1905000"/>
            <a:ext cx="1676400" cy="419100"/>
          </a:xfrm>
          <a:prstGeom prst="rect">
            <a:avLst/>
          </a:prstGeom>
          <a:noFill/>
          <a:ln/>
        </p:spPr>
        <p:txBody>
          <a:bodyPr wrap="square" lIns="0" tIns="0" rIns="0" bIns="0" rtlCol="0" anchor="t">
            <a:normAutofit/>
          </a:bodyPr>
          <a:lstStyle/>
          <a:p>
            <a:pPr indent="0" marL="0">
              <a:buNone/>
            </a:pPr>
            <a:r>
              <a:rPr lang="fr-FR" sz="1300" b="1" dirty="0">
                <a:solidFill>
                  <a:srgbClr val="33006F"/>
                </a:solidFill>
                <a:latin typeface="Source Sans 3" pitchFamily="34" charset="0"/>
                <a:ea typeface="Source Sans 3" pitchFamily="34" charset="-122"/>
                <a:cs typeface="Source Sans 3" pitchFamily="34" charset="-120"/>
              </a:rPr>
              <a:t>Trimestre 1 : janvier à mars</a:t>
            </a:r>
            <a:endParaRPr lang="fr-FR" sz="1300" dirty="0"/>
          </a:p>
        </p:txBody>
      </p:sp>
      <p:sp>
        <p:nvSpPr>
          <p:cNvPr id="9" name="Text 7"/>
          <p:cNvSpPr txBox="1"/>
          <p:nvPr/>
        </p:nvSpPr>
        <p:spPr>
          <a:xfrm>
            <a:off x="590550" y="2362200"/>
            <a:ext cx="1676400" cy="2114550"/>
          </a:xfrm>
          <a:prstGeom prst="rect">
            <a:avLst/>
          </a:prstGeom>
          <a:noFill/>
          <a:ln/>
        </p:spPr>
        <p:txBody>
          <a:bodyPr wrap="square" lIns="0" tIns="0" rIns="0" bIns="0" rtlCol="0" anchor="t">
            <a:normAutofit/>
          </a:bodyPr>
          <a:lstStyle/>
          <a:p>
            <a:pPr marL="127000" indent="-127000">
              <a:spcAft>
                <a:spcPts val="600"/>
              </a:spcAft>
              <a:buSzPct val="100000"/>
              <a:buChar char="•"/>
            </a:pPr>
            <a:r>
              <a:rPr lang="fr-FR" sz="1023" dirty="0">
                <a:solidFill>
                  <a:srgbClr val="434343"/>
                </a:solidFill>
                <a:latin typeface="Source Sans 3" pitchFamily="34" charset="0"/>
                <a:ea typeface="Source Sans 3" pitchFamily="34" charset="-122"/>
                <a:cs typeface="Source Sans 3" pitchFamily="34" charset="-120"/>
              </a:rPr>
              <a:t>Revue des besoins, premiers sprints</a:t>
            </a:r>
            <a:endParaRPr lang="fr-FR" sz="1023" dirty="0"/>
          </a:p>
          <a:p>
            <a:pPr marL="127000" indent="-127000">
              <a:spcAft>
                <a:spcPts val="600"/>
              </a:spcAft>
              <a:buSzPct val="100000"/>
              <a:buChar char="•"/>
            </a:pPr>
            <a:r>
              <a:rPr lang="fr-FR" sz="1023" dirty="0">
                <a:solidFill>
                  <a:srgbClr val="434343"/>
                </a:solidFill>
                <a:latin typeface="Source Sans 3" pitchFamily="34" charset="0"/>
                <a:ea typeface="Source Sans 3" pitchFamily="34" charset="-122"/>
                <a:cs typeface="Source Sans 3" pitchFamily="34" charset="-120"/>
              </a:rPr>
              <a:t>Liste finale des analyseurs reçue (3 mars)</a:t>
            </a:r>
            <a:endParaRPr lang="fr-FR" sz="1023" dirty="0"/>
          </a:p>
          <a:p>
            <a:pPr marL="127000" indent="-127000">
              <a:spcAft>
                <a:spcPts val="600"/>
              </a:spcAft>
              <a:buSzPct val="100000"/>
              <a:buChar char="•"/>
            </a:pPr>
            <a:r>
              <a:rPr lang="fr-FR" sz="1023" dirty="0">
                <a:solidFill>
                  <a:srgbClr val="434343"/>
                </a:solidFill>
                <a:latin typeface="Source Sans 3" pitchFamily="34" charset="0"/>
                <a:ea typeface="Source Sans 3" pitchFamily="34" charset="-122"/>
                <a:cs typeface="Source Sans 3" pitchFamily="34" charset="-120"/>
              </a:rPr>
              <a:t>Connexions des analyseurs terminées (ASTM, HL7, import de fichiers)</a:t>
            </a:r>
            <a:endParaRPr lang="fr-FR" sz="1023" dirty="0"/>
          </a:p>
          <a:p>
            <a:pPr marL="127000" indent="-127000">
              <a:spcAft>
                <a:spcPts val="600"/>
              </a:spcAft>
              <a:buSzPct val="100000"/>
              <a:buChar char="•"/>
            </a:pPr>
            <a:r>
              <a:rPr lang="fr-FR" sz="1023" dirty="0">
                <a:solidFill>
                  <a:srgbClr val="434343"/>
                </a:solidFill>
                <a:latin typeface="Source Sans 3" pitchFamily="34" charset="0"/>
                <a:ea typeface="Source Sans 3" pitchFamily="34" charset="-122"/>
                <a:cs typeface="Source Sans 3" pitchFamily="34" charset="-120"/>
              </a:rPr>
              <a:t>Formation des formateurs avec Ingenoysa</a:t>
            </a:r>
            <a:endParaRPr lang="fr-FR" sz="1023" dirty="0"/>
          </a:p>
          <a:p>
            <a:pPr marL="127000" indent="-127000">
              <a:spcAft>
                <a:spcPts val="600"/>
              </a:spcAft>
              <a:buSzPct val="100000"/>
              <a:buChar char="•"/>
            </a:pPr>
            <a:r>
              <a:rPr lang="fr-FR" sz="1023" dirty="0">
                <a:solidFill>
                  <a:srgbClr val="434343"/>
                </a:solidFill>
                <a:latin typeface="Source Sans 3" pitchFamily="34" charset="0"/>
                <a:ea typeface="Source Sans 3" pitchFamily="34" charset="-122"/>
                <a:cs typeface="Source Sans 3" pitchFamily="34" charset="-120"/>
              </a:rPr>
              <a:t>Début des tests d'acceptation utilisateur</a:t>
            </a:r>
            <a:endParaRPr lang="fr-FR" sz="1023" dirty="0"/>
          </a:p>
        </p:txBody>
      </p:sp>
      <p:sp>
        <p:nvSpPr>
          <p:cNvPr id="10" name="Shape 8"/>
          <p:cNvSpPr/>
          <p:nvPr/>
        </p:nvSpPr>
        <p:spPr>
          <a:xfrm>
            <a:off x="2552700" y="1562100"/>
            <a:ext cx="1943100" cy="3028950"/>
          </a:xfrm>
          <a:prstGeom prst="rect">
            <a:avLst/>
          </a:prstGeom>
          <a:solidFill>
            <a:srgbClr val="F0F0FF"/>
          </a:solidFill>
          <a:ln w="12700">
            <a:solidFill>
              <a:srgbClr val="F0F0FF"/>
            </a:solidFill>
            <a:prstDash val="solid"/>
          </a:ln>
        </p:spPr>
      </p:sp>
      <p:sp>
        <p:nvSpPr>
          <p:cNvPr id="11" name="Shape 9"/>
          <p:cNvSpPr/>
          <p:nvPr/>
        </p:nvSpPr>
        <p:spPr>
          <a:xfrm>
            <a:off x="2552700" y="1562100"/>
            <a:ext cx="1943100" cy="38100"/>
          </a:xfrm>
          <a:prstGeom prst="rect">
            <a:avLst/>
          </a:prstGeom>
          <a:solidFill>
            <a:srgbClr val="00707F"/>
          </a:solidFill>
          <a:ln w="12700">
            <a:solidFill>
              <a:srgbClr val="00707F"/>
            </a:solidFill>
            <a:prstDash val="solid"/>
          </a:ln>
        </p:spPr>
      </p:sp>
      <p:sp>
        <p:nvSpPr>
          <p:cNvPr id="12" name="Text 10"/>
          <p:cNvSpPr txBox="1"/>
          <p:nvPr/>
        </p:nvSpPr>
        <p:spPr>
          <a:xfrm>
            <a:off x="2686050" y="1714500"/>
            <a:ext cx="1676400" cy="171450"/>
          </a:xfrm>
          <a:prstGeom prst="rect">
            <a:avLst/>
          </a:prstGeom>
          <a:noFill/>
          <a:ln/>
        </p:spPr>
        <p:txBody>
          <a:bodyPr wrap="square" lIns="0" tIns="0" rIns="0" bIns="0" rtlCol="0" anchor="t"/>
          <a:lstStyle/>
          <a:p>
            <a:pPr indent="0" marL="0">
              <a:buNone/>
            </a:pPr>
            <a:r>
              <a:rPr lang="fr-FR" sz="950" b="1" spc="100" kern="0" dirty="0">
                <a:solidFill>
                  <a:srgbClr val="00707F"/>
                </a:solidFill>
                <a:latin typeface="Source Sans 3" pitchFamily="34" charset="0"/>
                <a:ea typeface="Source Sans 3" pitchFamily="34" charset="-122"/>
                <a:cs typeface="Source Sans 3" pitchFamily="34" charset="-120"/>
              </a:rPr>
              <a:t>FORMATION</a:t>
            </a:r>
            <a:endParaRPr lang="fr-FR" sz="950" dirty="0"/>
          </a:p>
        </p:txBody>
      </p:sp>
      <p:sp>
        <p:nvSpPr>
          <p:cNvPr id="13" name="Text 11"/>
          <p:cNvSpPr txBox="1"/>
          <p:nvPr/>
        </p:nvSpPr>
        <p:spPr>
          <a:xfrm>
            <a:off x="2686050" y="1905000"/>
            <a:ext cx="1676400" cy="419100"/>
          </a:xfrm>
          <a:prstGeom prst="rect">
            <a:avLst/>
          </a:prstGeom>
          <a:noFill/>
          <a:ln/>
        </p:spPr>
        <p:txBody>
          <a:bodyPr wrap="square" lIns="0" tIns="0" rIns="0" bIns="0" rtlCol="0" anchor="t">
            <a:normAutofit/>
          </a:bodyPr>
          <a:lstStyle/>
          <a:p>
            <a:pPr indent="0" marL="0">
              <a:buNone/>
            </a:pPr>
            <a:r>
              <a:rPr lang="fr-FR" sz="1300" b="1" dirty="0">
                <a:solidFill>
                  <a:srgbClr val="33006F"/>
                </a:solidFill>
                <a:latin typeface="Source Sans 3" pitchFamily="34" charset="0"/>
                <a:ea typeface="Source Sans 3" pitchFamily="34" charset="-122"/>
                <a:cs typeface="Source Sans 3" pitchFamily="34" charset="-120"/>
              </a:rPr>
              <a:t>Trimestre 2 : avril à juin</a:t>
            </a:r>
            <a:endParaRPr lang="fr-FR" sz="1300" dirty="0"/>
          </a:p>
        </p:txBody>
      </p:sp>
      <p:sp>
        <p:nvSpPr>
          <p:cNvPr id="14" name="Text 12"/>
          <p:cNvSpPr txBox="1"/>
          <p:nvPr/>
        </p:nvSpPr>
        <p:spPr>
          <a:xfrm>
            <a:off x="2686050" y="2362200"/>
            <a:ext cx="1676400" cy="2114550"/>
          </a:xfrm>
          <a:prstGeom prst="rect">
            <a:avLst/>
          </a:prstGeom>
          <a:noFill/>
          <a:ln/>
        </p:spPr>
        <p:txBody>
          <a:bodyPr wrap="square" lIns="0" tIns="0" rIns="0" bIns="0" rtlCol="0" anchor="t">
            <a:normAutofit/>
          </a:bodyPr>
          <a:lstStyle/>
          <a:p>
            <a:pPr marL="127000" indent="-127000">
              <a:spcAft>
                <a:spcPts val="600"/>
              </a:spcAft>
              <a:buSzPct val="100000"/>
              <a:buChar char="•"/>
            </a:pPr>
            <a:r>
              <a:rPr lang="fr-FR" sz="1023" dirty="0">
                <a:solidFill>
                  <a:srgbClr val="434343"/>
                </a:solidFill>
                <a:latin typeface="Source Sans 3" pitchFamily="34" charset="0"/>
                <a:ea typeface="Source Sans 3" pitchFamily="34" charset="-122"/>
                <a:cs typeface="Source Sans 3" pitchFamily="34" charset="-120"/>
              </a:rPr>
              <a:t>Formation des super-utilisateurs (deux sessions)</a:t>
            </a:r>
            <a:endParaRPr lang="fr-FR" sz="1023" dirty="0"/>
          </a:p>
          <a:p>
            <a:pPr marL="127000" indent="-127000">
              <a:spcAft>
                <a:spcPts val="600"/>
              </a:spcAft>
              <a:buSzPct val="100000"/>
              <a:buChar char="•"/>
            </a:pPr>
            <a:r>
              <a:rPr lang="fr-FR" sz="1023" dirty="0">
                <a:solidFill>
                  <a:srgbClr val="434343"/>
                </a:solidFill>
                <a:latin typeface="Source Sans 3" pitchFamily="34" charset="0"/>
                <a:ea typeface="Source Sans 3" pitchFamily="34" charset="-122"/>
                <a:cs typeface="Source Sans 3" pitchFamily="34" charset="-120"/>
              </a:rPr>
              <a:t>Formation des utilisateurs dans les 9 laboratoires pilotes</a:t>
            </a:r>
            <a:endParaRPr lang="fr-FR" sz="1023" dirty="0"/>
          </a:p>
          <a:p>
            <a:pPr marL="127000" indent="-127000">
              <a:spcAft>
                <a:spcPts val="600"/>
              </a:spcAft>
              <a:buSzPct val="100000"/>
              <a:buChar char="•"/>
            </a:pPr>
            <a:r>
              <a:rPr lang="fr-FR" sz="1023" dirty="0">
                <a:solidFill>
                  <a:srgbClr val="434343"/>
                </a:solidFill>
                <a:latin typeface="Source Sans 3" pitchFamily="34" charset="0"/>
                <a:ea typeface="Source Sans 3" pitchFamily="34" charset="-122"/>
                <a:cs typeface="Source Sans 3" pitchFamily="34" charset="-120"/>
              </a:rPr>
              <a:t>Déploiements pilotes</a:t>
            </a:r>
            <a:endParaRPr lang="fr-FR" sz="1023" dirty="0"/>
          </a:p>
          <a:p>
            <a:pPr marL="127000" indent="-127000">
              <a:spcAft>
                <a:spcPts val="600"/>
              </a:spcAft>
              <a:buSzPct val="100000"/>
              <a:buChar char="•"/>
            </a:pPr>
            <a:r>
              <a:rPr lang="fr-FR" sz="1023" dirty="0">
                <a:solidFill>
                  <a:srgbClr val="434343"/>
                </a:solidFill>
                <a:latin typeface="Source Sans 3" pitchFamily="34" charset="0"/>
                <a:ea typeface="Source Sans 3" pitchFamily="34" charset="-122"/>
                <a:cs typeface="Source Sans 3" pitchFamily="34" charset="-120"/>
              </a:rPr>
              <a:t>Tests d'acceptation utilisateur terminés</a:t>
            </a:r>
            <a:endParaRPr lang="fr-FR" sz="1023" dirty="0"/>
          </a:p>
        </p:txBody>
      </p:sp>
      <p:sp>
        <p:nvSpPr>
          <p:cNvPr id="15" name="Shape 13"/>
          <p:cNvSpPr/>
          <p:nvPr/>
        </p:nvSpPr>
        <p:spPr>
          <a:xfrm>
            <a:off x="4648200" y="1562100"/>
            <a:ext cx="1943100" cy="3028950"/>
          </a:xfrm>
          <a:prstGeom prst="rect">
            <a:avLst/>
          </a:prstGeom>
          <a:solidFill>
            <a:srgbClr val="F0F0FF"/>
          </a:solidFill>
          <a:ln w="12700">
            <a:solidFill>
              <a:srgbClr val="F0F0FF"/>
            </a:solidFill>
            <a:prstDash val="solid"/>
          </a:ln>
        </p:spPr>
      </p:sp>
      <p:sp>
        <p:nvSpPr>
          <p:cNvPr id="16" name="Shape 14"/>
          <p:cNvSpPr/>
          <p:nvPr/>
        </p:nvSpPr>
        <p:spPr>
          <a:xfrm>
            <a:off x="4648200" y="1562100"/>
            <a:ext cx="1943100" cy="38100"/>
          </a:xfrm>
          <a:prstGeom prst="rect">
            <a:avLst/>
          </a:prstGeom>
          <a:solidFill>
            <a:srgbClr val="00707F"/>
          </a:solidFill>
          <a:ln w="12700">
            <a:solidFill>
              <a:srgbClr val="00707F"/>
            </a:solidFill>
            <a:prstDash val="solid"/>
          </a:ln>
        </p:spPr>
      </p:sp>
      <p:sp>
        <p:nvSpPr>
          <p:cNvPr id="17" name="Text 15"/>
          <p:cNvSpPr txBox="1"/>
          <p:nvPr/>
        </p:nvSpPr>
        <p:spPr>
          <a:xfrm>
            <a:off x="4781550" y="1714500"/>
            <a:ext cx="1676400" cy="171450"/>
          </a:xfrm>
          <a:prstGeom prst="rect">
            <a:avLst/>
          </a:prstGeom>
          <a:noFill/>
          <a:ln/>
        </p:spPr>
        <p:txBody>
          <a:bodyPr wrap="square" lIns="0" tIns="0" rIns="0" bIns="0" rtlCol="0" anchor="t"/>
          <a:lstStyle/>
          <a:p>
            <a:pPr indent="0" marL="0">
              <a:buNone/>
            </a:pPr>
            <a:r>
              <a:rPr lang="fr-FR" sz="950" b="1" spc="100" kern="0" dirty="0">
                <a:solidFill>
                  <a:srgbClr val="00707F"/>
                </a:solidFill>
                <a:latin typeface="Source Sans 3" pitchFamily="34" charset="0"/>
                <a:ea typeface="Source Sans 3" pitchFamily="34" charset="-122"/>
                <a:cs typeface="Source Sans 3" pitchFamily="34" charset="-120"/>
              </a:rPr>
              <a:t>GARANTIE</a:t>
            </a:r>
            <a:endParaRPr lang="fr-FR" sz="950" dirty="0"/>
          </a:p>
        </p:txBody>
      </p:sp>
      <p:sp>
        <p:nvSpPr>
          <p:cNvPr id="18" name="Text 16"/>
          <p:cNvSpPr txBox="1"/>
          <p:nvPr/>
        </p:nvSpPr>
        <p:spPr>
          <a:xfrm>
            <a:off x="4781550" y="1905000"/>
            <a:ext cx="1676400" cy="419100"/>
          </a:xfrm>
          <a:prstGeom prst="rect">
            <a:avLst/>
          </a:prstGeom>
          <a:noFill/>
          <a:ln/>
        </p:spPr>
        <p:txBody>
          <a:bodyPr wrap="square" lIns="0" tIns="0" rIns="0" bIns="0" rtlCol="0" anchor="t">
            <a:normAutofit/>
          </a:bodyPr>
          <a:lstStyle/>
          <a:p>
            <a:pPr indent="0" marL="0">
              <a:buNone/>
            </a:pPr>
            <a:r>
              <a:rPr lang="fr-FR" sz="1300" b="1" dirty="0">
                <a:solidFill>
                  <a:srgbClr val="33006F"/>
                </a:solidFill>
                <a:latin typeface="Source Sans 3" pitchFamily="34" charset="0"/>
                <a:ea typeface="Source Sans 3" pitchFamily="34" charset="-122"/>
                <a:cs typeface="Source Sans 3" pitchFamily="34" charset="-120"/>
              </a:rPr>
              <a:t>Trimestre 3 : juillet à septembre</a:t>
            </a:r>
            <a:endParaRPr lang="fr-FR" sz="1300" dirty="0"/>
          </a:p>
        </p:txBody>
      </p:sp>
      <p:sp>
        <p:nvSpPr>
          <p:cNvPr id="19" name="Text 17"/>
          <p:cNvSpPr txBox="1"/>
          <p:nvPr/>
        </p:nvSpPr>
        <p:spPr>
          <a:xfrm>
            <a:off x="4781550" y="2362200"/>
            <a:ext cx="1676400" cy="2114550"/>
          </a:xfrm>
          <a:prstGeom prst="rect">
            <a:avLst/>
          </a:prstGeom>
          <a:noFill/>
          <a:ln/>
        </p:spPr>
        <p:txBody>
          <a:bodyPr wrap="square" lIns="0" tIns="0" rIns="0" bIns="0" rtlCol="0" anchor="t">
            <a:normAutofit/>
          </a:bodyPr>
          <a:lstStyle/>
          <a:p>
            <a:pPr marL="127000" indent="-127000">
              <a:spcAft>
                <a:spcPts val="600"/>
              </a:spcAft>
              <a:buSzPct val="100000"/>
              <a:buChar char="•"/>
            </a:pPr>
            <a:r>
              <a:rPr lang="fr-FR" sz="1023" dirty="0">
                <a:solidFill>
                  <a:srgbClr val="434343"/>
                </a:solidFill>
                <a:latin typeface="Source Sans 3" pitchFamily="34" charset="0"/>
                <a:ea typeface="Source Sans 3" pitchFamily="34" charset="-122"/>
                <a:cs typeface="Source Sans 3" pitchFamily="34" charset="-120"/>
              </a:rPr>
              <a:t>14 juillet : version 3.2.1.11 (nouveau catalogue de tests, nouvelle saisie des résultats)</a:t>
            </a:r>
            <a:endParaRPr lang="fr-FR" sz="1023" dirty="0"/>
          </a:p>
          <a:p>
            <a:pPr marL="127000" indent="-127000">
              <a:spcAft>
                <a:spcPts val="600"/>
              </a:spcAft>
              <a:buSzPct val="100000"/>
              <a:buChar char="•"/>
            </a:pPr>
            <a:r>
              <a:rPr lang="fr-FR" sz="1023" dirty="0">
                <a:solidFill>
                  <a:srgbClr val="434343"/>
                </a:solidFill>
                <a:latin typeface="Source Sans 3" pitchFamily="34" charset="0"/>
                <a:ea typeface="Source Sans 3" pitchFamily="34" charset="-122"/>
                <a:cs typeface="Source Sans 3" pitchFamily="34" charset="-120"/>
              </a:rPr>
              <a:t>18 août : version 3.2.2.0 (nouvelle gestion des échantillons)</a:t>
            </a:r>
            <a:endParaRPr lang="fr-FR" sz="1023" dirty="0"/>
          </a:p>
          <a:p>
            <a:pPr marL="127000" indent="-127000">
              <a:spcAft>
                <a:spcPts val="600"/>
              </a:spcAft>
              <a:buSzPct val="100000"/>
              <a:buChar char="•"/>
            </a:pPr>
            <a:r>
              <a:rPr lang="fr-FR" sz="1023" dirty="0">
                <a:solidFill>
                  <a:srgbClr val="434343"/>
                </a:solidFill>
                <a:latin typeface="Source Sans 3" pitchFamily="34" charset="0"/>
                <a:ea typeface="Source Sans 3" pitchFamily="34" charset="-122"/>
                <a:cs typeface="Source Sans 3" pitchFamily="34" charset="-120"/>
              </a:rPr>
              <a:t>Vers le 20 septembre : version 3.2.2.1 (version finale du projet)</a:t>
            </a:r>
            <a:endParaRPr lang="fr-FR" sz="1023" dirty="0"/>
          </a:p>
        </p:txBody>
      </p:sp>
      <p:sp>
        <p:nvSpPr>
          <p:cNvPr id="20" name="Shape 18"/>
          <p:cNvSpPr/>
          <p:nvPr/>
        </p:nvSpPr>
        <p:spPr>
          <a:xfrm>
            <a:off x="6743700" y="1562100"/>
            <a:ext cx="1943100" cy="3028950"/>
          </a:xfrm>
          <a:prstGeom prst="rect">
            <a:avLst/>
          </a:prstGeom>
          <a:solidFill>
            <a:srgbClr val="33006F"/>
          </a:solidFill>
          <a:ln w="12700">
            <a:solidFill>
              <a:srgbClr val="33006F"/>
            </a:solidFill>
            <a:prstDash val="solid"/>
          </a:ln>
        </p:spPr>
      </p:sp>
      <p:sp>
        <p:nvSpPr>
          <p:cNvPr id="21" name="Text 19"/>
          <p:cNvSpPr txBox="1"/>
          <p:nvPr/>
        </p:nvSpPr>
        <p:spPr>
          <a:xfrm>
            <a:off x="6877050" y="1714500"/>
            <a:ext cx="1676400" cy="171450"/>
          </a:xfrm>
          <a:prstGeom prst="rect">
            <a:avLst/>
          </a:prstGeom>
          <a:noFill/>
          <a:ln/>
        </p:spPr>
        <p:txBody>
          <a:bodyPr wrap="square" lIns="0" tIns="0" rIns="0" bIns="0" rtlCol="0" anchor="t"/>
          <a:lstStyle/>
          <a:p>
            <a:pPr indent="0" marL="0">
              <a:buNone/>
            </a:pPr>
            <a:r>
              <a:rPr lang="fr-FR" sz="950" b="1" spc="100" kern="0" dirty="0">
                <a:solidFill>
                  <a:srgbClr val="FFC000"/>
                </a:solidFill>
                <a:latin typeface="Source Sans 3" pitchFamily="34" charset="0"/>
                <a:ea typeface="Source Sans 3" pitchFamily="34" charset="-122"/>
                <a:cs typeface="Source Sans 3" pitchFamily="34" charset="-120"/>
              </a:rPr>
              <a:t>SUJET DU JOUR</a:t>
            </a:r>
            <a:endParaRPr lang="fr-FR" sz="950" dirty="0"/>
          </a:p>
        </p:txBody>
      </p:sp>
      <p:sp>
        <p:nvSpPr>
          <p:cNvPr id="22" name="Text 20"/>
          <p:cNvSpPr txBox="1"/>
          <p:nvPr/>
        </p:nvSpPr>
        <p:spPr>
          <a:xfrm>
            <a:off x="6877050" y="1905000"/>
            <a:ext cx="1676400" cy="419100"/>
          </a:xfrm>
          <a:prstGeom prst="rect">
            <a:avLst/>
          </a:prstGeom>
          <a:noFill/>
          <a:ln/>
        </p:spPr>
        <p:txBody>
          <a:bodyPr wrap="square" lIns="0" tIns="0" rIns="0" bIns="0" rtlCol="0" anchor="t">
            <a:normAutofit/>
          </a:bodyPr>
          <a:lstStyle/>
          <a:p>
            <a:pPr indent="0" marL="0">
              <a:buNone/>
            </a:pPr>
            <a:r>
              <a:rPr lang="fr-FR" sz="1300" b="1" dirty="0">
                <a:solidFill>
                  <a:srgbClr val="FFFFFF"/>
                </a:solidFill>
                <a:latin typeface="Source Sans 3" pitchFamily="34" charset="0"/>
                <a:ea typeface="Source Sans 3" pitchFamily="34" charset="-122"/>
                <a:cs typeface="Source Sans 3" pitchFamily="34" charset="-120"/>
              </a:rPr>
              <a:t>Octobre et après</a:t>
            </a:r>
            <a:endParaRPr lang="fr-FR" sz="1300" dirty="0"/>
          </a:p>
        </p:txBody>
      </p:sp>
      <p:sp>
        <p:nvSpPr>
          <p:cNvPr id="23" name="Text 21"/>
          <p:cNvSpPr txBox="1"/>
          <p:nvPr/>
        </p:nvSpPr>
        <p:spPr>
          <a:xfrm>
            <a:off x="6877050" y="2362200"/>
            <a:ext cx="1676400" cy="2114550"/>
          </a:xfrm>
          <a:prstGeom prst="rect">
            <a:avLst/>
          </a:prstGeom>
          <a:noFill/>
          <a:ln/>
        </p:spPr>
        <p:txBody>
          <a:bodyPr wrap="square" lIns="0" tIns="0" rIns="0" bIns="0" rtlCol="0" anchor="t">
            <a:normAutofit/>
          </a:bodyPr>
          <a:lstStyle/>
          <a:p>
            <a:pPr marL="127000" indent="-127000">
              <a:spcAft>
                <a:spcPts val="600"/>
              </a:spcAft>
              <a:buSzPct val="100000"/>
              <a:buChar char="•"/>
            </a:pPr>
            <a:r>
              <a:rPr lang="fr-FR" sz="1023" dirty="0">
                <a:solidFill>
                  <a:srgbClr val="FFFFFF"/>
                </a:solidFill>
                <a:latin typeface="Source Sans 3" pitchFamily="34" charset="0"/>
                <a:ea typeface="Source Sans 3" pitchFamily="34" charset="-122"/>
                <a:cs typeface="Source Sans 3" pitchFamily="34" charset="-120"/>
              </a:rPr>
              <a:t>Madagascar rejoint la communauté OpenELIS Global</a:t>
            </a:r>
            <a:endParaRPr lang="fr-FR" sz="1023" dirty="0"/>
          </a:p>
          <a:p>
            <a:pPr marL="127000" indent="-127000">
              <a:spcAft>
                <a:spcPts val="600"/>
              </a:spcAft>
              <a:buSzPct val="100000"/>
              <a:buChar char="•"/>
            </a:pPr>
            <a:r>
              <a:rPr lang="fr-FR" sz="1023" dirty="0">
                <a:solidFill>
                  <a:srgbClr val="FFFFFF"/>
                </a:solidFill>
                <a:latin typeface="Source Sans 3" pitchFamily="34" charset="0"/>
                <a:ea typeface="Source Sans 3" pitchFamily="34" charset="-122"/>
                <a:cs typeface="Source Sans 3" pitchFamily="34" charset="-120"/>
              </a:rPr>
              <a:t>Le Ministère gère eSIL, demande de l'aide et influence la feuille de route</a:t>
            </a:r>
            <a:endParaRPr lang="fr-FR" sz="1023" dirty="0"/>
          </a:p>
        </p:txBody>
      </p:sp>
      <p:sp>
        <p:nvSpPr>
          <p:cNvPr id="24" name="Text 22"/>
          <p:cNvSpPr txBox="1"/>
          <p:nvPr/>
        </p:nvSpPr>
        <p:spPr>
          <a:xfrm>
            <a:off x="7953375" y="4743450"/>
            <a:ext cx="952500" cy="228600"/>
          </a:xfrm>
          <a:prstGeom prst="rect">
            <a:avLst/>
          </a:prstGeom>
          <a:noFill/>
          <a:ln/>
        </p:spPr>
        <p:txBody>
          <a:bodyPr wrap="square" lIns="0" tIns="0" rIns="0" bIns="0" rtlCol="0" anchor="t"/>
          <a:lstStyle/>
          <a:p>
            <a:pPr algn="r" indent="0" marL="0">
              <a:buNone/>
            </a:pPr>
            <a:r>
              <a:rPr lang="fr-FR" sz="1000" dirty="0">
                <a:solidFill>
                  <a:srgbClr val="888888"/>
                </a:solidFill>
                <a:latin typeface="Source Sans 3" pitchFamily="34" charset="0"/>
                <a:ea typeface="Source Sans 3" pitchFamily="34" charset="-122"/>
                <a:cs typeface="Source Sans 3" pitchFamily="34" charset="-120"/>
              </a:rPr>
              <a:t>5</a:t>
            </a:r>
            <a:endParaRPr lang="fr-FR" sz="1000" dirty="0"/>
          </a:p>
        </p:txBody>
      </p:sp>
      <p:sp>
        <p:nvSpPr>
          <p:cNvPr id="25" name="Text 23"/>
          <p:cNvSpPr txBox="1"/>
          <p:nvPr/>
        </p:nvSpPr>
        <p:spPr>
          <a:xfrm>
            <a:off x="457200" y="4743450"/>
            <a:ext cx="3810000" cy="228600"/>
          </a:xfrm>
          <a:prstGeom prst="rect">
            <a:avLst/>
          </a:prstGeom>
          <a:noFill/>
          <a:ln/>
        </p:spPr>
        <p:txBody>
          <a:bodyPr wrap="square" lIns="0" tIns="0" rIns="0" bIns="0" rtlCol="0" anchor="t"/>
          <a:lstStyle/>
          <a:p>
            <a:pPr algn="l" indent="0" marL="0">
              <a:buNone/>
            </a:pPr>
            <a:r>
              <a:rPr lang="fr-FR" sz="1000" dirty="0">
                <a:solidFill>
                  <a:srgbClr val="888888"/>
                </a:solidFill>
                <a:latin typeface="Source Sans 3" pitchFamily="34" charset="0"/>
                <a:ea typeface="Source Sans 3" pitchFamily="34" charset="-122"/>
                <a:cs typeface="Source Sans 3" pitchFamily="34" charset="-120"/>
              </a:rPr>
              <a:t>Passation eSIL Madagascar</a:t>
            </a:r>
            <a:endParaRPr lang="fr-FR" sz="10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247650"/>
            <a:ext cx="8229600" cy="209550"/>
          </a:xfrm>
          <a:prstGeom prst="rect">
            <a:avLst/>
          </a:prstGeom>
          <a:noFill/>
          <a:ln/>
        </p:spPr>
        <p:txBody>
          <a:bodyPr wrap="square" lIns="0" tIns="0" rIns="0" bIns="0" rtlCol="0" anchor="t"/>
          <a:lstStyle/>
          <a:p>
            <a:pPr indent="0" marL="0">
              <a:buNone/>
            </a:pPr>
            <a:r>
              <a:rPr lang="fr-FR" sz="1200" b="1" spc="150" kern="0" dirty="0">
                <a:solidFill>
                  <a:srgbClr val="00707F"/>
                </a:solidFill>
                <a:latin typeface="Source Sans 3" pitchFamily="34" charset="0"/>
                <a:ea typeface="Source Sans 3" pitchFamily="34" charset="-122"/>
                <a:cs typeface="Source Sans 3" pitchFamily="34" charset="-120"/>
              </a:rPr>
              <a:t>BILAN DU PROJET</a:t>
            </a:r>
            <a:pPr indent="0" marL="0">
              <a:buNone/>
            </a:pPr>
            <a:r>
              <a:rPr lang="fr-FR" sz="1200" dirty="0">
                <a:solidFill>
                  <a:srgbClr val="888888"/>
                </a:solidFill>
                <a:latin typeface="Source Sans 3" pitchFamily="34" charset="0"/>
                <a:ea typeface="Source Sans 3" pitchFamily="34" charset="-122"/>
                <a:cs typeface="Source Sans 3" pitchFamily="34" charset="-120"/>
              </a:rPr>
              <a:t>    Section 1 sur 7</a:t>
            </a:r>
            <a:endParaRPr lang="fr-FR" sz="1200" dirty="0"/>
          </a:p>
        </p:txBody>
      </p:sp>
      <p:sp>
        <p:nvSpPr>
          <p:cNvPr id="3" name="Shape 1"/>
          <p:cNvSpPr/>
          <p:nvPr/>
        </p:nvSpPr>
        <p:spPr>
          <a:xfrm>
            <a:off x="457200" y="533400"/>
            <a:ext cx="685800" cy="57150"/>
          </a:xfrm>
          <a:prstGeom prst="rect">
            <a:avLst/>
          </a:prstGeom>
          <a:solidFill>
            <a:srgbClr val="00707F"/>
          </a:solidFill>
          <a:ln w="12700">
            <a:solidFill>
              <a:srgbClr val="00707F"/>
            </a:solidFill>
            <a:prstDash val="solid"/>
          </a:ln>
        </p:spPr>
      </p:sp>
      <p:sp>
        <p:nvSpPr>
          <p:cNvPr id="4" name="Text 2"/>
          <p:cNvSpPr txBox="1"/>
          <p:nvPr/>
        </p:nvSpPr>
        <p:spPr>
          <a:xfrm>
            <a:off x="457200" y="704850"/>
            <a:ext cx="8229600" cy="800100"/>
          </a:xfrm>
          <a:prstGeom prst="rect">
            <a:avLst/>
          </a:prstGeom>
          <a:noFill/>
          <a:ln/>
        </p:spPr>
        <p:txBody>
          <a:bodyPr wrap="square" lIns="0" tIns="0" rIns="0" bIns="0" rtlCol="0" anchor="t">
            <a:normAutofit/>
          </a:bodyPr>
          <a:lstStyle/>
          <a:p>
            <a:pPr indent="0" marL="0">
              <a:buNone/>
            </a:pPr>
            <a:r>
              <a:rPr lang="fr-FR" sz="2350" b="1" dirty="0">
                <a:solidFill>
                  <a:srgbClr val="33006F"/>
                </a:solidFill>
                <a:latin typeface="Source Sans 3" pitchFamily="34" charset="0"/>
                <a:ea typeface="Source Sans 3" pitchFamily="34" charset="-122"/>
                <a:cs typeface="Source Sans 3" pitchFamily="34" charset="-120"/>
              </a:rPr>
              <a:t>Bogue, demande de modification ou demande de fonctionnalité : les définitions de la garantie</a:t>
            </a:r>
            <a:endParaRPr lang="fr-FR" sz="2350" dirty="0"/>
          </a:p>
        </p:txBody>
      </p:sp>
      <p:sp>
        <p:nvSpPr>
          <p:cNvPr id="5" name="Shape 3"/>
          <p:cNvSpPr/>
          <p:nvPr/>
        </p:nvSpPr>
        <p:spPr>
          <a:xfrm>
            <a:off x="457200" y="1619250"/>
            <a:ext cx="2590800" cy="2571750"/>
          </a:xfrm>
          <a:prstGeom prst="rect">
            <a:avLst/>
          </a:prstGeom>
          <a:solidFill>
            <a:srgbClr val="F0F0FF"/>
          </a:solidFill>
          <a:ln w="12700">
            <a:solidFill>
              <a:srgbClr val="F0F0FF"/>
            </a:solidFill>
            <a:prstDash val="solid"/>
          </a:ln>
        </p:spPr>
      </p:sp>
      <p:sp>
        <p:nvSpPr>
          <p:cNvPr id="6" name="Shape 4"/>
          <p:cNvSpPr/>
          <p:nvPr/>
        </p:nvSpPr>
        <p:spPr>
          <a:xfrm>
            <a:off x="457200" y="1619250"/>
            <a:ext cx="2590800" cy="38100"/>
          </a:xfrm>
          <a:prstGeom prst="rect">
            <a:avLst/>
          </a:prstGeom>
          <a:solidFill>
            <a:srgbClr val="00707F"/>
          </a:solidFill>
          <a:ln w="12700">
            <a:solidFill>
              <a:srgbClr val="00707F"/>
            </a:solidFill>
            <a:prstDash val="solid"/>
          </a:ln>
        </p:spPr>
      </p:sp>
      <p:sp>
        <p:nvSpPr>
          <p:cNvPr id="7" name="Text 5"/>
          <p:cNvSpPr txBox="1"/>
          <p:nvPr/>
        </p:nvSpPr>
        <p:spPr>
          <a:xfrm>
            <a:off x="685800" y="1828800"/>
            <a:ext cx="2133600" cy="571500"/>
          </a:xfrm>
          <a:prstGeom prst="rect">
            <a:avLst/>
          </a:prstGeom>
          <a:noFill/>
          <a:ln/>
        </p:spPr>
        <p:txBody>
          <a:bodyPr wrap="square" lIns="0" tIns="0" rIns="0" bIns="0" rtlCol="0" anchor="t">
            <a:normAutofit/>
          </a:bodyPr>
          <a:lstStyle/>
          <a:p>
            <a:pPr indent="0" marL="0">
              <a:buNone/>
            </a:pPr>
            <a:r>
              <a:rPr lang="fr-FR" sz="2050" b="1" dirty="0">
                <a:solidFill>
                  <a:srgbClr val="33006F"/>
                </a:solidFill>
                <a:latin typeface="Source Sans 3" pitchFamily="34" charset="0"/>
                <a:ea typeface="Source Sans 3" pitchFamily="34" charset="-122"/>
                <a:cs typeface="Source Sans 3" pitchFamily="34" charset="-120"/>
              </a:rPr>
              <a:t>Bogue</a:t>
            </a:r>
            <a:endParaRPr lang="fr-FR" sz="2050" dirty="0"/>
          </a:p>
        </p:txBody>
      </p:sp>
      <p:sp>
        <p:nvSpPr>
          <p:cNvPr id="8" name="Text 6"/>
          <p:cNvSpPr txBox="1"/>
          <p:nvPr/>
        </p:nvSpPr>
        <p:spPr>
          <a:xfrm>
            <a:off x="685800" y="2457450"/>
            <a:ext cx="2133600" cy="1047750"/>
          </a:xfrm>
          <a:prstGeom prst="rect">
            <a:avLst/>
          </a:prstGeom>
          <a:noFill/>
          <a:ln/>
        </p:spPr>
        <p:txBody>
          <a:bodyPr wrap="square" lIns="0" tIns="0" rIns="0" bIns="0" rtlCol="0" anchor="t"/>
          <a:lstStyle/>
          <a:p>
            <a:pPr indent="0" marL="0">
              <a:buNone/>
            </a:pPr>
            <a:r>
              <a:rPr lang="fr-FR" sz="1500" dirty="0">
                <a:solidFill>
                  <a:srgbClr val="434343"/>
                </a:solidFill>
                <a:latin typeface="Source Sans 3" pitchFamily="34" charset="0"/>
                <a:ea typeface="Source Sans 3" pitchFamily="34" charset="-122"/>
                <a:cs typeface="Source Sans 3" pitchFamily="34" charset="-120"/>
              </a:rPr>
              <a:t>Quelque chose ne fonctionne pas comme écrit dans les besoins initiaux.</a:t>
            </a:r>
            <a:endParaRPr lang="fr-FR" sz="1500" dirty="0"/>
          </a:p>
        </p:txBody>
      </p:sp>
      <p:sp>
        <p:nvSpPr>
          <p:cNvPr id="9" name="Shape 7"/>
          <p:cNvSpPr/>
          <p:nvPr/>
        </p:nvSpPr>
        <p:spPr>
          <a:xfrm>
            <a:off x="685800" y="3524250"/>
            <a:ext cx="2133600" cy="9525"/>
          </a:xfrm>
          <a:prstGeom prst="rect">
            <a:avLst/>
          </a:prstGeom>
          <a:solidFill>
            <a:srgbClr val="BFBFBF"/>
          </a:solidFill>
          <a:ln w="12700">
            <a:solidFill>
              <a:srgbClr val="BFBFBF"/>
            </a:solidFill>
            <a:prstDash val="solid"/>
          </a:ln>
        </p:spPr>
      </p:sp>
      <p:sp>
        <p:nvSpPr>
          <p:cNvPr id="10" name="Text 8"/>
          <p:cNvSpPr txBox="1"/>
          <p:nvPr/>
        </p:nvSpPr>
        <p:spPr>
          <a:xfrm>
            <a:off x="685800" y="3657600"/>
            <a:ext cx="2133600" cy="381000"/>
          </a:xfrm>
          <a:prstGeom prst="rect">
            <a:avLst/>
          </a:prstGeom>
          <a:noFill/>
          <a:ln/>
        </p:spPr>
        <p:txBody>
          <a:bodyPr wrap="square" lIns="0" tIns="0" rIns="0" bIns="0" rtlCol="0" anchor="t"/>
          <a:lstStyle/>
          <a:p>
            <a:pPr indent="0" marL="0">
              <a:buNone/>
            </a:pPr>
            <a:r>
              <a:rPr lang="fr-FR" sz="1200" b="1" dirty="0">
                <a:solidFill>
                  <a:srgbClr val="006838"/>
                </a:solidFill>
                <a:latin typeface="Source Sans 3" pitchFamily="34" charset="0"/>
                <a:ea typeface="Source Sans 3" pitchFamily="34" charset="-122"/>
                <a:cs typeface="Source Sans 3" pitchFamily="34" charset="-120"/>
              </a:rPr>
              <a:t>Couvert par la garantie</a:t>
            </a:r>
            <a:endParaRPr lang="fr-FR" sz="1200" dirty="0"/>
          </a:p>
        </p:txBody>
      </p:sp>
      <p:sp>
        <p:nvSpPr>
          <p:cNvPr id="11" name="Shape 9"/>
          <p:cNvSpPr/>
          <p:nvPr/>
        </p:nvSpPr>
        <p:spPr>
          <a:xfrm>
            <a:off x="3276600" y="1619250"/>
            <a:ext cx="2590800" cy="2571750"/>
          </a:xfrm>
          <a:prstGeom prst="rect">
            <a:avLst/>
          </a:prstGeom>
          <a:solidFill>
            <a:srgbClr val="F0F0FF"/>
          </a:solidFill>
          <a:ln w="12700">
            <a:solidFill>
              <a:srgbClr val="F0F0FF"/>
            </a:solidFill>
            <a:prstDash val="solid"/>
          </a:ln>
        </p:spPr>
      </p:sp>
      <p:sp>
        <p:nvSpPr>
          <p:cNvPr id="12" name="Shape 10"/>
          <p:cNvSpPr/>
          <p:nvPr/>
        </p:nvSpPr>
        <p:spPr>
          <a:xfrm>
            <a:off x="3276600" y="1619250"/>
            <a:ext cx="2590800" cy="38100"/>
          </a:xfrm>
          <a:prstGeom prst="rect">
            <a:avLst/>
          </a:prstGeom>
          <a:solidFill>
            <a:srgbClr val="00707F"/>
          </a:solidFill>
          <a:ln w="12700">
            <a:solidFill>
              <a:srgbClr val="00707F"/>
            </a:solidFill>
            <a:prstDash val="solid"/>
          </a:ln>
        </p:spPr>
      </p:sp>
      <p:sp>
        <p:nvSpPr>
          <p:cNvPr id="13" name="Text 11"/>
          <p:cNvSpPr txBox="1"/>
          <p:nvPr/>
        </p:nvSpPr>
        <p:spPr>
          <a:xfrm>
            <a:off x="3505200" y="1828800"/>
            <a:ext cx="2133600" cy="571500"/>
          </a:xfrm>
          <a:prstGeom prst="rect">
            <a:avLst/>
          </a:prstGeom>
          <a:noFill/>
          <a:ln/>
        </p:spPr>
        <p:txBody>
          <a:bodyPr wrap="square" lIns="0" tIns="0" rIns="0" bIns="0" rtlCol="0" anchor="t">
            <a:normAutofit/>
          </a:bodyPr>
          <a:lstStyle/>
          <a:p>
            <a:pPr indent="0" marL="0">
              <a:buNone/>
            </a:pPr>
            <a:r>
              <a:rPr lang="fr-FR" sz="2050" b="1" dirty="0">
                <a:solidFill>
                  <a:srgbClr val="33006F"/>
                </a:solidFill>
                <a:latin typeface="Source Sans 3" pitchFamily="34" charset="0"/>
                <a:ea typeface="Source Sans 3" pitchFamily="34" charset="-122"/>
                <a:cs typeface="Source Sans 3" pitchFamily="34" charset="-120"/>
              </a:rPr>
              <a:t>Demande de modification</a:t>
            </a:r>
            <a:endParaRPr lang="fr-FR" sz="2050" dirty="0"/>
          </a:p>
        </p:txBody>
      </p:sp>
      <p:sp>
        <p:nvSpPr>
          <p:cNvPr id="14" name="Text 12"/>
          <p:cNvSpPr txBox="1"/>
          <p:nvPr/>
        </p:nvSpPr>
        <p:spPr>
          <a:xfrm>
            <a:off x="3505200" y="2457450"/>
            <a:ext cx="2133600" cy="1047750"/>
          </a:xfrm>
          <a:prstGeom prst="rect">
            <a:avLst/>
          </a:prstGeom>
          <a:noFill/>
          <a:ln/>
        </p:spPr>
        <p:txBody>
          <a:bodyPr wrap="square" lIns="0" tIns="0" rIns="0" bIns="0" rtlCol="0" anchor="t"/>
          <a:lstStyle/>
          <a:p>
            <a:pPr indent="0" marL="0">
              <a:buNone/>
            </a:pPr>
            <a:r>
              <a:rPr lang="fr-FR" sz="1500" dirty="0">
                <a:solidFill>
                  <a:srgbClr val="434343"/>
                </a:solidFill>
                <a:latin typeface="Source Sans 3" pitchFamily="34" charset="0"/>
                <a:ea typeface="Source Sans 3" pitchFamily="34" charset="-122"/>
                <a:cs typeface="Source Sans 3" pitchFamily="34" charset="-120"/>
              </a:rPr>
              <a:t>Quelque chose fonctionne comme écrit, mais le besoin a changé.</a:t>
            </a:r>
            <a:endParaRPr lang="fr-FR" sz="1500" dirty="0"/>
          </a:p>
        </p:txBody>
      </p:sp>
      <p:sp>
        <p:nvSpPr>
          <p:cNvPr id="15" name="Shape 13"/>
          <p:cNvSpPr/>
          <p:nvPr/>
        </p:nvSpPr>
        <p:spPr>
          <a:xfrm>
            <a:off x="3505200" y="3524250"/>
            <a:ext cx="2133600" cy="9525"/>
          </a:xfrm>
          <a:prstGeom prst="rect">
            <a:avLst/>
          </a:prstGeom>
          <a:solidFill>
            <a:srgbClr val="BFBFBF"/>
          </a:solidFill>
          <a:ln w="12700">
            <a:solidFill>
              <a:srgbClr val="BFBFBF"/>
            </a:solidFill>
            <a:prstDash val="solid"/>
          </a:ln>
        </p:spPr>
      </p:sp>
      <p:sp>
        <p:nvSpPr>
          <p:cNvPr id="16" name="Text 14"/>
          <p:cNvSpPr txBox="1"/>
          <p:nvPr/>
        </p:nvSpPr>
        <p:spPr>
          <a:xfrm>
            <a:off x="3505200" y="3657600"/>
            <a:ext cx="2133600" cy="381000"/>
          </a:xfrm>
          <a:prstGeom prst="rect">
            <a:avLst/>
          </a:prstGeom>
          <a:noFill/>
          <a:ln/>
        </p:spPr>
        <p:txBody>
          <a:bodyPr wrap="square" lIns="0" tIns="0" rIns="0" bIns="0" rtlCol="0" anchor="t"/>
          <a:lstStyle/>
          <a:p>
            <a:pPr indent="0" marL="0">
              <a:buNone/>
            </a:pPr>
            <a:r>
              <a:rPr lang="fr-FR" sz="1200" b="1" dirty="0">
                <a:solidFill>
                  <a:srgbClr val="917B4C"/>
                </a:solidFill>
                <a:latin typeface="Source Sans 3" pitchFamily="34" charset="0"/>
                <a:ea typeface="Source Sans 3" pitchFamily="34" charset="-122"/>
                <a:cs typeface="Source Sans 3" pitchFamily="34" charset="-120"/>
              </a:rPr>
              <a:t>Non couvert par la garantie</a:t>
            </a:r>
            <a:endParaRPr lang="fr-FR" sz="1200" dirty="0"/>
          </a:p>
        </p:txBody>
      </p:sp>
      <p:sp>
        <p:nvSpPr>
          <p:cNvPr id="17" name="Shape 15"/>
          <p:cNvSpPr/>
          <p:nvPr/>
        </p:nvSpPr>
        <p:spPr>
          <a:xfrm>
            <a:off x="6096000" y="1619250"/>
            <a:ext cx="2590800" cy="2571750"/>
          </a:xfrm>
          <a:prstGeom prst="rect">
            <a:avLst/>
          </a:prstGeom>
          <a:solidFill>
            <a:srgbClr val="F0F0FF"/>
          </a:solidFill>
          <a:ln w="12700">
            <a:solidFill>
              <a:srgbClr val="F0F0FF"/>
            </a:solidFill>
            <a:prstDash val="solid"/>
          </a:ln>
        </p:spPr>
      </p:sp>
      <p:sp>
        <p:nvSpPr>
          <p:cNvPr id="18" name="Shape 16"/>
          <p:cNvSpPr/>
          <p:nvPr/>
        </p:nvSpPr>
        <p:spPr>
          <a:xfrm>
            <a:off x="6096000" y="1619250"/>
            <a:ext cx="2590800" cy="38100"/>
          </a:xfrm>
          <a:prstGeom prst="rect">
            <a:avLst/>
          </a:prstGeom>
          <a:solidFill>
            <a:srgbClr val="00707F"/>
          </a:solidFill>
          <a:ln w="12700">
            <a:solidFill>
              <a:srgbClr val="00707F"/>
            </a:solidFill>
            <a:prstDash val="solid"/>
          </a:ln>
        </p:spPr>
      </p:sp>
      <p:sp>
        <p:nvSpPr>
          <p:cNvPr id="19" name="Text 17"/>
          <p:cNvSpPr txBox="1"/>
          <p:nvPr/>
        </p:nvSpPr>
        <p:spPr>
          <a:xfrm>
            <a:off x="6324600" y="1828800"/>
            <a:ext cx="2133600" cy="571500"/>
          </a:xfrm>
          <a:prstGeom prst="rect">
            <a:avLst/>
          </a:prstGeom>
          <a:noFill/>
          <a:ln/>
        </p:spPr>
        <p:txBody>
          <a:bodyPr wrap="square" lIns="0" tIns="0" rIns="0" bIns="0" rtlCol="0" anchor="t">
            <a:normAutofit/>
          </a:bodyPr>
          <a:lstStyle/>
          <a:p>
            <a:pPr indent="0" marL="0">
              <a:buNone/>
            </a:pPr>
            <a:r>
              <a:rPr lang="fr-FR" sz="2050" b="1" dirty="0">
                <a:solidFill>
                  <a:srgbClr val="33006F"/>
                </a:solidFill>
                <a:latin typeface="Source Sans 3" pitchFamily="34" charset="0"/>
                <a:ea typeface="Source Sans 3" pitchFamily="34" charset="-122"/>
                <a:cs typeface="Source Sans 3" pitchFamily="34" charset="-120"/>
              </a:rPr>
              <a:t>Demande de fonctionnalité</a:t>
            </a:r>
            <a:endParaRPr lang="fr-FR" sz="2050" dirty="0"/>
          </a:p>
        </p:txBody>
      </p:sp>
      <p:sp>
        <p:nvSpPr>
          <p:cNvPr id="20" name="Text 18"/>
          <p:cNvSpPr txBox="1"/>
          <p:nvPr/>
        </p:nvSpPr>
        <p:spPr>
          <a:xfrm>
            <a:off x="6324600" y="2457450"/>
            <a:ext cx="2133600" cy="1047750"/>
          </a:xfrm>
          <a:prstGeom prst="rect">
            <a:avLst/>
          </a:prstGeom>
          <a:noFill/>
          <a:ln/>
        </p:spPr>
        <p:txBody>
          <a:bodyPr wrap="square" lIns="0" tIns="0" rIns="0" bIns="0" rtlCol="0" anchor="t"/>
          <a:lstStyle/>
          <a:p>
            <a:pPr indent="0" marL="0">
              <a:buNone/>
            </a:pPr>
            <a:r>
              <a:rPr lang="fr-FR" sz="1500" dirty="0">
                <a:solidFill>
                  <a:srgbClr val="434343"/>
                </a:solidFill>
                <a:latin typeface="Source Sans 3" pitchFamily="34" charset="0"/>
                <a:ea typeface="Source Sans 3" pitchFamily="34" charset="-122"/>
                <a:cs typeface="Source Sans 3" pitchFamily="34" charset="-120"/>
              </a:rPr>
              <a:t>Une nouvelle capacité qui n'existe pas encore.</a:t>
            </a:r>
            <a:endParaRPr lang="fr-FR" sz="1500" dirty="0"/>
          </a:p>
        </p:txBody>
      </p:sp>
      <p:sp>
        <p:nvSpPr>
          <p:cNvPr id="21" name="Shape 19"/>
          <p:cNvSpPr/>
          <p:nvPr/>
        </p:nvSpPr>
        <p:spPr>
          <a:xfrm>
            <a:off x="6324600" y="3524250"/>
            <a:ext cx="2133600" cy="9525"/>
          </a:xfrm>
          <a:prstGeom prst="rect">
            <a:avLst/>
          </a:prstGeom>
          <a:solidFill>
            <a:srgbClr val="BFBFBF"/>
          </a:solidFill>
          <a:ln w="12700">
            <a:solidFill>
              <a:srgbClr val="BFBFBF"/>
            </a:solidFill>
            <a:prstDash val="solid"/>
          </a:ln>
        </p:spPr>
      </p:sp>
      <p:sp>
        <p:nvSpPr>
          <p:cNvPr id="22" name="Text 20"/>
          <p:cNvSpPr txBox="1"/>
          <p:nvPr/>
        </p:nvSpPr>
        <p:spPr>
          <a:xfrm>
            <a:off x="6324600" y="3657600"/>
            <a:ext cx="2133600" cy="381000"/>
          </a:xfrm>
          <a:prstGeom prst="rect">
            <a:avLst/>
          </a:prstGeom>
          <a:noFill/>
          <a:ln/>
        </p:spPr>
        <p:txBody>
          <a:bodyPr wrap="square" lIns="0" tIns="0" rIns="0" bIns="0" rtlCol="0" anchor="t"/>
          <a:lstStyle/>
          <a:p>
            <a:pPr indent="0" marL="0">
              <a:buNone/>
            </a:pPr>
            <a:r>
              <a:rPr lang="fr-FR" sz="1200" b="1" dirty="0">
                <a:solidFill>
                  <a:srgbClr val="917B4C"/>
                </a:solidFill>
                <a:latin typeface="Source Sans 3" pitchFamily="34" charset="0"/>
                <a:ea typeface="Source Sans 3" pitchFamily="34" charset="-122"/>
                <a:cs typeface="Source Sans 3" pitchFamily="34" charset="-120"/>
              </a:rPr>
              <a:t>Non couvert. Va dans la feuille de route</a:t>
            </a:r>
            <a:endParaRPr lang="fr-FR" sz="1200" dirty="0"/>
          </a:p>
        </p:txBody>
      </p:sp>
      <p:sp>
        <p:nvSpPr>
          <p:cNvPr id="23" name="Text 21"/>
          <p:cNvSpPr txBox="1"/>
          <p:nvPr/>
        </p:nvSpPr>
        <p:spPr>
          <a:xfrm>
            <a:off x="7953375" y="4743450"/>
            <a:ext cx="952500" cy="228600"/>
          </a:xfrm>
          <a:prstGeom prst="rect">
            <a:avLst/>
          </a:prstGeom>
          <a:noFill/>
          <a:ln/>
        </p:spPr>
        <p:txBody>
          <a:bodyPr wrap="square" lIns="0" tIns="0" rIns="0" bIns="0" rtlCol="0" anchor="t"/>
          <a:lstStyle/>
          <a:p>
            <a:pPr algn="r" indent="0" marL="0">
              <a:buNone/>
            </a:pPr>
            <a:r>
              <a:rPr lang="fr-FR" sz="1000" dirty="0">
                <a:solidFill>
                  <a:srgbClr val="888888"/>
                </a:solidFill>
                <a:latin typeface="Source Sans 3" pitchFamily="34" charset="0"/>
                <a:ea typeface="Source Sans 3" pitchFamily="34" charset="-122"/>
                <a:cs typeface="Source Sans 3" pitchFamily="34" charset="-120"/>
              </a:rPr>
              <a:t>6</a:t>
            </a:r>
            <a:endParaRPr lang="fr-FR" sz="1000" dirty="0"/>
          </a:p>
        </p:txBody>
      </p:sp>
      <p:sp>
        <p:nvSpPr>
          <p:cNvPr id="24" name="Text 22"/>
          <p:cNvSpPr txBox="1"/>
          <p:nvPr/>
        </p:nvSpPr>
        <p:spPr>
          <a:xfrm>
            <a:off x="457200" y="4743450"/>
            <a:ext cx="3810000" cy="228600"/>
          </a:xfrm>
          <a:prstGeom prst="rect">
            <a:avLst/>
          </a:prstGeom>
          <a:noFill/>
          <a:ln/>
        </p:spPr>
        <p:txBody>
          <a:bodyPr wrap="square" lIns="0" tIns="0" rIns="0" bIns="0" rtlCol="0" anchor="t"/>
          <a:lstStyle/>
          <a:p>
            <a:pPr algn="l" indent="0" marL="0">
              <a:buNone/>
            </a:pPr>
            <a:r>
              <a:rPr lang="fr-FR" sz="1000" dirty="0">
                <a:solidFill>
                  <a:srgbClr val="888888"/>
                </a:solidFill>
                <a:latin typeface="Source Sans 3" pitchFamily="34" charset="0"/>
                <a:ea typeface="Source Sans 3" pitchFamily="34" charset="-122"/>
                <a:cs typeface="Source Sans 3" pitchFamily="34" charset="-120"/>
              </a:rPr>
              <a:t>Passation eSIL Madagascar</a:t>
            </a:r>
            <a:endParaRPr lang="fr-FR" sz="10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247650"/>
            <a:ext cx="8229600" cy="209550"/>
          </a:xfrm>
          <a:prstGeom prst="rect">
            <a:avLst/>
          </a:prstGeom>
          <a:noFill/>
          <a:ln/>
        </p:spPr>
        <p:txBody>
          <a:bodyPr wrap="square" lIns="0" tIns="0" rIns="0" bIns="0" rtlCol="0" anchor="t"/>
          <a:lstStyle/>
          <a:p>
            <a:pPr indent="0" marL="0">
              <a:buNone/>
            </a:pPr>
            <a:r>
              <a:rPr lang="fr-FR" sz="1200" b="1" spc="150" kern="0" dirty="0">
                <a:solidFill>
                  <a:srgbClr val="00707F"/>
                </a:solidFill>
                <a:latin typeface="Source Sans 3" pitchFamily="34" charset="0"/>
                <a:ea typeface="Source Sans 3" pitchFamily="34" charset="-122"/>
                <a:cs typeface="Source Sans 3" pitchFamily="34" charset="-120"/>
              </a:rPr>
              <a:t>BILAN DU PROJET</a:t>
            </a:r>
            <a:pPr indent="0" marL="0">
              <a:buNone/>
            </a:pPr>
            <a:r>
              <a:rPr lang="fr-FR" sz="1200" dirty="0">
                <a:solidFill>
                  <a:srgbClr val="888888"/>
                </a:solidFill>
                <a:latin typeface="Source Sans 3" pitchFamily="34" charset="0"/>
                <a:ea typeface="Source Sans 3" pitchFamily="34" charset="-122"/>
                <a:cs typeface="Source Sans 3" pitchFamily="34" charset="-120"/>
              </a:rPr>
              <a:t>    Section 1 sur 7</a:t>
            </a:r>
            <a:endParaRPr lang="fr-FR" sz="1200" dirty="0"/>
          </a:p>
        </p:txBody>
      </p:sp>
      <p:sp>
        <p:nvSpPr>
          <p:cNvPr id="3" name="Shape 1"/>
          <p:cNvSpPr/>
          <p:nvPr/>
        </p:nvSpPr>
        <p:spPr>
          <a:xfrm>
            <a:off x="457200" y="533400"/>
            <a:ext cx="685800" cy="57150"/>
          </a:xfrm>
          <a:prstGeom prst="rect">
            <a:avLst/>
          </a:prstGeom>
          <a:solidFill>
            <a:srgbClr val="00707F"/>
          </a:solidFill>
          <a:ln w="12700">
            <a:solidFill>
              <a:srgbClr val="00707F"/>
            </a:solidFill>
            <a:prstDash val="solid"/>
          </a:ln>
        </p:spPr>
      </p:sp>
      <p:sp>
        <p:nvSpPr>
          <p:cNvPr id="4" name="Text 2"/>
          <p:cNvSpPr txBox="1"/>
          <p:nvPr/>
        </p:nvSpPr>
        <p:spPr>
          <a:xfrm>
            <a:off x="457200" y="704850"/>
            <a:ext cx="8229600" cy="800100"/>
          </a:xfrm>
          <a:prstGeom prst="rect">
            <a:avLst/>
          </a:prstGeom>
          <a:noFill/>
          <a:ln/>
        </p:spPr>
        <p:txBody>
          <a:bodyPr wrap="square" lIns="0" tIns="0" rIns="0" bIns="0" rtlCol="0" anchor="t">
            <a:normAutofit/>
          </a:bodyPr>
          <a:lstStyle/>
          <a:p>
            <a:pPr indent="0" marL="0">
              <a:buNone/>
            </a:pPr>
            <a:r>
              <a:rPr lang="fr-FR" sz="2350" b="1" dirty="0">
                <a:solidFill>
                  <a:srgbClr val="33006F"/>
                </a:solidFill>
                <a:latin typeface="Source Sans 3" pitchFamily="34" charset="0"/>
                <a:ea typeface="Source Sans 3" pitchFamily="34" charset="-122"/>
                <a:cs typeface="Source Sans 3" pitchFamily="34" charset="-120"/>
              </a:rPr>
              <a:t>Période de garantie : ce qui a été corrigé</a:t>
            </a:r>
            <a:endParaRPr lang="fr-FR" sz="2350" dirty="0"/>
          </a:p>
        </p:txBody>
      </p:sp>
      <p:graphicFrame>
        <p:nvGraphicFramePr>
          <p:cNvPr id="8" name="Table 0"/>
          <p:cNvGraphicFramePr>
            <a:graphicFrameLocks noGrp="1"/>
          </p:cNvGraphicFramePr>
          <p:nvPr>
            <p:extLst>
              <p:ext uri="{D42A27DB-BD31-4B8C-83A1-F6EECF244321}">
                <p14:modId xmlns:p14="http://schemas.microsoft.com/office/powerpoint/2010/main" val="1579011935"/>
              </p:ext>
            </p:extLst>
          </p:nvPr>
        </p:nvGraphicFramePr>
        <p:xfrm>
          <a:off x="457200" y="1485900"/>
          <a:ext cx="8229600" cy="914400"/>
        </p:xfrm>
        <a:graphic>
          <a:graphicData uri="http://schemas.openxmlformats.org/drawingml/2006/table">
            <a:tbl>
              <a:tblPr/>
              <a:tblGrid>
                <a:gridCol w="4953000"/>
                <a:gridCol w="3276600"/>
              </a:tblGrid>
              <a:tr h="257175">
                <a:tc>
                  <a:txBody>
                    <a:bodyPr/>
                    <a:lstStyle/>
                    <a:p>
                      <a:pPr indent="0" marL="0">
                        <a:buNone/>
                      </a:pPr>
                      <a:r>
                        <a:rPr lang="fr-FR" sz="977" b="1" dirty="0">
                          <a:solidFill>
                            <a:srgbClr val="FFFFFF"/>
                          </a:solidFill>
                          <a:latin typeface="Source Sans 3" pitchFamily="34" charset="0"/>
                          <a:ea typeface="Source Sans 3" pitchFamily="34" charset="-122"/>
                          <a:cs typeface="Source Sans 3" pitchFamily="34" charset="-120"/>
                        </a:rPr>
                        <a:t>Bogue signalé</a:t>
                      </a:r>
                      <a:endParaRPr lang="fr-FR" sz="977" dirty="0">
                        <a:latin typeface="Source Sans 3" charset="0"/>
                        <a:ea typeface="Source Sans 3" charset="0"/>
                        <a:cs typeface="Source Sans 3" charset="0"/>
                      </a:endParaRPr>
                    </a:p>
                  </a:txBody>
                  <a:tcPr marL="76200" marR="76200" marT="47625" marB="47625"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rgbClr val="33006F"/>
                    </a:solidFill>
                  </a:tcPr>
                </a:tc>
                <a:tc>
                  <a:txBody>
                    <a:bodyPr/>
                    <a:lstStyle/>
                    <a:p>
                      <a:pPr indent="0" marL="0">
                        <a:buNone/>
                      </a:pPr>
                      <a:r>
                        <a:rPr lang="fr-FR" sz="977" b="1" dirty="0">
                          <a:solidFill>
                            <a:srgbClr val="FFFFFF"/>
                          </a:solidFill>
                          <a:latin typeface="Source Sans 3" pitchFamily="34" charset="0"/>
                          <a:ea typeface="Source Sans 3" pitchFamily="34" charset="-122"/>
                          <a:cs typeface="Source Sans 3" pitchFamily="34" charset="-120"/>
                        </a:rPr>
                        <a:t>Statut</a:t>
                      </a:r>
                      <a:endParaRPr lang="fr-FR" sz="977" dirty="0">
                        <a:latin typeface="Source Sans 3" charset="0"/>
                        <a:ea typeface="Source Sans 3" charset="0"/>
                        <a:cs typeface="Source Sans 3" charset="0"/>
                      </a:endParaRPr>
                    </a:p>
                  </a:txBody>
                  <a:tcPr marL="76200" marR="76200" marT="47625" marB="47625"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rgbClr val="33006F"/>
                    </a:solidFill>
                  </a:tcPr>
                </a:tc>
              </a:tr>
              <a:tr h="257175">
                <a:tc>
                  <a:txBody>
                    <a:bodyPr/>
                    <a:lstStyle/>
                    <a:p>
                      <a:pPr indent="0" marL="0">
                        <a:buNone/>
                      </a:pPr>
                      <a:r>
                        <a:rPr lang="fr-FR" sz="977" dirty="0">
                          <a:solidFill>
                            <a:srgbClr val="434343"/>
                          </a:solidFill>
                          <a:latin typeface="Source Sans 3" pitchFamily="34" charset="0"/>
                          <a:ea typeface="Source Sans 3" pitchFamily="34" charset="-122"/>
                          <a:cs typeface="Source Sans 3" pitchFamily="34" charset="-120"/>
                        </a:rPr>
                        <a:t>Traductions françaises incorrectes</a:t>
                      </a:r>
                      <a:endParaRPr lang="fr-FR" sz="977" dirty="0">
                        <a:latin typeface="Source Sans 3" charset="0"/>
                        <a:ea typeface="Source Sans 3" charset="0"/>
                        <a:cs typeface="Source Sans 3" charset="0"/>
                      </a:endParaRPr>
                    </a:p>
                  </a:txBody>
                  <a:tcPr marL="76200" marR="76200" marT="47625" marB="47625"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c>
                  <a:txBody>
                    <a:bodyPr/>
                    <a:lstStyle/>
                    <a:p>
                      <a:pPr indent="0" marL="0">
                        <a:buNone/>
                      </a:pPr>
                      <a:r>
                        <a:rPr lang="fr-FR" sz="977" dirty="0">
                          <a:solidFill>
                            <a:srgbClr val="434343"/>
                          </a:solidFill>
                          <a:latin typeface="Source Sans 3" pitchFamily="34" charset="0"/>
                          <a:ea typeface="Source Sans 3" pitchFamily="34" charset="-122"/>
                          <a:cs typeface="Source Sans 3" pitchFamily="34" charset="-120"/>
                        </a:rPr>
                        <a:t>Corrigé. eSIL est connecté à Transifex. Votre équipe pourra ajouter le malgache plus tard.</a:t>
                      </a:r>
                      <a:endParaRPr lang="fr-FR" sz="977" dirty="0">
                        <a:latin typeface="Source Sans 3" charset="0"/>
                        <a:ea typeface="Source Sans 3" charset="0"/>
                        <a:cs typeface="Source Sans 3" charset="0"/>
                      </a:endParaRPr>
                    </a:p>
                  </a:txBody>
                  <a:tcPr marL="76200" marR="76200" marT="47625" marB="47625"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r>
              <a:tr h="257175">
                <a:tc>
                  <a:txBody>
                    <a:bodyPr/>
                    <a:lstStyle/>
                    <a:p>
                      <a:pPr indent="0" marL="0">
                        <a:buNone/>
                      </a:pPr>
                      <a:r>
                        <a:rPr lang="fr-FR" sz="977" dirty="0">
                          <a:solidFill>
                            <a:srgbClr val="434343"/>
                          </a:solidFill>
                          <a:latin typeface="Source Sans 3" pitchFamily="34" charset="0"/>
                          <a:ea typeface="Source Sans 3" pitchFamily="34" charset="-122"/>
                          <a:cs typeface="Source Sans 3" pitchFamily="34" charset="-120"/>
                        </a:rPr>
                        <a:t>La liste Service / Département / Unité n'affichait pas les services existants</a:t>
                      </a:r>
                      <a:endParaRPr lang="fr-FR" sz="977" dirty="0">
                        <a:latin typeface="Source Sans 3" charset="0"/>
                        <a:ea typeface="Source Sans 3" charset="0"/>
                        <a:cs typeface="Source Sans 3" charset="0"/>
                      </a:endParaRPr>
                    </a:p>
                  </a:txBody>
                  <a:tcPr marL="76200" marR="76200" marT="47625" marB="47625"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c>
                  <a:txBody>
                    <a:bodyPr/>
                    <a:lstStyle/>
                    <a:p>
                      <a:pPr indent="0" marL="0">
                        <a:buNone/>
                      </a:pPr>
                      <a:r>
                        <a:rPr lang="fr-FR" sz="977" dirty="0">
                          <a:solidFill>
                            <a:srgbClr val="434343"/>
                          </a:solidFill>
                          <a:latin typeface="Source Sans 3" pitchFamily="34" charset="0"/>
                          <a:ea typeface="Source Sans 3" pitchFamily="34" charset="-122"/>
                          <a:cs typeface="Source Sans 3" pitchFamily="34" charset="-120"/>
                        </a:rPr>
                        <a:t>Corrigé et validé par l'AQ</a:t>
                      </a:r>
                      <a:endParaRPr lang="fr-FR" sz="977" dirty="0">
                        <a:latin typeface="Source Sans 3" charset="0"/>
                        <a:ea typeface="Source Sans 3" charset="0"/>
                        <a:cs typeface="Source Sans 3" charset="0"/>
                      </a:endParaRPr>
                    </a:p>
                  </a:txBody>
                  <a:tcPr marL="76200" marR="76200" marT="47625" marB="47625"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r>
              <a:tr h="257175">
                <a:tc>
                  <a:txBody>
                    <a:bodyPr/>
                    <a:lstStyle/>
                    <a:p>
                      <a:pPr indent="0" marL="0">
                        <a:buNone/>
                      </a:pPr>
                      <a:r>
                        <a:rPr lang="fr-FR" sz="977" dirty="0">
                          <a:solidFill>
                            <a:srgbClr val="434343"/>
                          </a:solidFill>
                          <a:latin typeface="Source Sans 3" pitchFamily="34" charset="0"/>
                          <a:ea typeface="Source Sans 3" pitchFamily="34" charset="-122"/>
                          <a:cs typeface="Source Sans 3" pitchFamily="34" charset="-120"/>
                        </a:rPr>
                        <a:t>Valeurs de référence : tranches d'âge manuelles (par exemple « prématuré »)</a:t>
                      </a:r>
                      <a:endParaRPr lang="fr-FR" sz="977" dirty="0">
                        <a:latin typeface="Source Sans 3" charset="0"/>
                        <a:ea typeface="Source Sans 3" charset="0"/>
                        <a:cs typeface="Source Sans 3" charset="0"/>
                      </a:endParaRPr>
                    </a:p>
                  </a:txBody>
                  <a:tcPr marL="76200" marR="76200" marT="47625" marB="47625"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c>
                  <a:txBody>
                    <a:bodyPr/>
                    <a:lstStyle/>
                    <a:p>
                      <a:pPr indent="0" marL="0">
                        <a:buNone/>
                      </a:pPr>
                      <a:r>
                        <a:rPr lang="fr-FR" sz="977" dirty="0">
                          <a:solidFill>
                            <a:srgbClr val="434343"/>
                          </a:solidFill>
                          <a:latin typeface="Source Sans 3" pitchFamily="34" charset="0"/>
                          <a:ea typeface="Source Sans 3" pitchFamily="34" charset="-122"/>
                          <a:cs typeface="Source Sans 3" pitchFamily="34" charset="-120"/>
                        </a:rPr>
                        <a:t>Corrigé et validé par l'AQ</a:t>
                      </a:r>
                      <a:endParaRPr lang="fr-FR" sz="977" dirty="0">
                        <a:latin typeface="Source Sans 3" charset="0"/>
                        <a:ea typeface="Source Sans 3" charset="0"/>
                        <a:cs typeface="Source Sans 3" charset="0"/>
                      </a:endParaRPr>
                    </a:p>
                  </a:txBody>
                  <a:tcPr marL="76200" marR="76200" marT="47625" marB="47625"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r>
              <a:tr h="257175">
                <a:tc>
                  <a:txBody>
                    <a:bodyPr/>
                    <a:lstStyle/>
                    <a:p>
                      <a:pPr indent="0" marL="0">
                        <a:buNone/>
                      </a:pPr>
                      <a:r>
                        <a:rPr lang="fr-FR" sz="977" dirty="0">
                          <a:solidFill>
                            <a:srgbClr val="434343"/>
                          </a:solidFill>
                          <a:latin typeface="Source Sans 3" pitchFamily="34" charset="0"/>
                          <a:ea typeface="Source Sans 3" pitchFamily="34" charset="-122"/>
                          <a:cs typeface="Source Sans 3" pitchFamily="34" charset="-120"/>
                        </a:rPr>
                        <a:t>« Accepter » renommé « Valider » ; bouton passé en vert</a:t>
                      </a:r>
                      <a:endParaRPr lang="fr-FR" sz="977" dirty="0">
                        <a:latin typeface="Source Sans 3" charset="0"/>
                        <a:ea typeface="Source Sans 3" charset="0"/>
                        <a:cs typeface="Source Sans 3" charset="0"/>
                      </a:endParaRPr>
                    </a:p>
                  </a:txBody>
                  <a:tcPr marL="76200" marR="76200" marT="47625" marB="47625"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c>
                  <a:txBody>
                    <a:bodyPr/>
                    <a:lstStyle/>
                    <a:p>
                      <a:pPr indent="0" marL="0">
                        <a:buNone/>
                      </a:pPr>
                      <a:r>
                        <a:rPr lang="fr-FR" sz="977" dirty="0">
                          <a:solidFill>
                            <a:srgbClr val="434343"/>
                          </a:solidFill>
                          <a:latin typeface="Source Sans 3" pitchFamily="34" charset="0"/>
                          <a:ea typeface="Source Sans 3" pitchFamily="34" charset="-122"/>
                          <a:cs typeface="Source Sans 3" pitchFamily="34" charset="-120"/>
                        </a:rPr>
                        <a:t>Corrigé et validé par l'AQ</a:t>
                      </a:r>
                      <a:endParaRPr lang="fr-FR" sz="977" dirty="0">
                        <a:latin typeface="Source Sans 3" charset="0"/>
                        <a:ea typeface="Source Sans 3" charset="0"/>
                        <a:cs typeface="Source Sans 3" charset="0"/>
                      </a:endParaRPr>
                    </a:p>
                  </a:txBody>
                  <a:tcPr marL="76200" marR="76200" marT="47625" marB="47625"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r>
              <a:tr h="257175">
                <a:tc>
                  <a:txBody>
                    <a:bodyPr/>
                    <a:lstStyle/>
                    <a:p>
                      <a:pPr indent="0" marL="0">
                        <a:buNone/>
                      </a:pPr>
                      <a:r>
                        <a:rPr lang="fr-FR" sz="977" dirty="0">
                          <a:solidFill>
                            <a:srgbClr val="434343"/>
                          </a:solidFill>
                          <a:latin typeface="Source Sans 3" pitchFamily="34" charset="0"/>
                          <a:ea typeface="Source Sans 3" pitchFamily="34" charset="-122"/>
                          <a:cs typeface="Source Sans 3" pitchFamily="34" charset="-120"/>
                        </a:rPr>
                        <a:t>Le délai de rendu moyen n'était pas arrondi</a:t>
                      </a:r>
                      <a:endParaRPr lang="fr-FR" sz="977" dirty="0">
                        <a:latin typeface="Source Sans 3" charset="0"/>
                        <a:ea typeface="Source Sans 3" charset="0"/>
                        <a:cs typeface="Source Sans 3" charset="0"/>
                      </a:endParaRPr>
                    </a:p>
                  </a:txBody>
                  <a:tcPr marL="76200" marR="76200" marT="47625" marB="47625"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c>
                  <a:txBody>
                    <a:bodyPr/>
                    <a:lstStyle/>
                    <a:p>
                      <a:pPr indent="0" marL="0">
                        <a:buNone/>
                      </a:pPr>
                      <a:r>
                        <a:rPr lang="fr-FR" sz="977" dirty="0">
                          <a:solidFill>
                            <a:srgbClr val="434343"/>
                          </a:solidFill>
                          <a:latin typeface="Source Sans 3" pitchFamily="34" charset="0"/>
                          <a:ea typeface="Source Sans 3" pitchFamily="34" charset="-122"/>
                          <a:cs typeface="Source Sans 3" pitchFamily="34" charset="-120"/>
                        </a:rPr>
                        <a:t>Corrigé et validé par l'AQ</a:t>
                      </a:r>
                      <a:endParaRPr lang="fr-FR" sz="977" dirty="0">
                        <a:latin typeface="Source Sans 3" charset="0"/>
                        <a:ea typeface="Source Sans 3" charset="0"/>
                        <a:cs typeface="Source Sans 3" charset="0"/>
                      </a:endParaRPr>
                    </a:p>
                  </a:txBody>
                  <a:tcPr marL="76200" marR="76200" marT="47625" marB="47625"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r>
              <a:tr h="257175">
                <a:tc>
                  <a:txBody>
                    <a:bodyPr/>
                    <a:lstStyle/>
                    <a:p>
                      <a:pPr indent="0" marL="0">
                        <a:buNone/>
                      </a:pPr>
                      <a:r>
                        <a:rPr lang="fr-FR" sz="977" dirty="0">
                          <a:solidFill>
                            <a:srgbClr val="434343"/>
                          </a:solidFill>
                          <a:latin typeface="Source Sans 3" pitchFamily="34" charset="0"/>
                          <a:ea typeface="Source Sans 3" pitchFamily="34" charset="-122"/>
                          <a:cs typeface="Source Sans 3" pitchFamily="34" charset="-120"/>
                        </a:rPr>
                        <a:t>Les échantillons rejetés manquaient dans le rapport imprimé</a:t>
                      </a:r>
                      <a:endParaRPr lang="fr-FR" sz="977" dirty="0">
                        <a:latin typeface="Source Sans 3" charset="0"/>
                        <a:ea typeface="Source Sans 3" charset="0"/>
                        <a:cs typeface="Source Sans 3" charset="0"/>
                      </a:endParaRPr>
                    </a:p>
                  </a:txBody>
                  <a:tcPr marL="76200" marR="76200" marT="47625" marB="47625"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c>
                  <a:txBody>
                    <a:bodyPr/>
                    <a:lstStyle/>
                    <a:p>
                      <a:pPr indent="0" marL="0">
                        <a:buNone/>
                      </a:pPr>
                      <a:r>
                        <a:rPr lang="fr-FR" sz="977" dirty="0">
                          <a:solidFill>
                            <a:srgbClr val="434343"/>
                          </a:solidFill>
                          <a:latin typeface="Source Sans 3" pitchFamily="34" charset="0"/>
                          <a:ea typeface="Source Sans 3" pitchFamily="34" charset="-122"/>
                          <a:cs typeface="Source Sans 3" pitchFamily="34" charset="-120"/>
                        </a:rPr>
                        <a:t>Corrigé et validé par l'AQ</a:t>
                      </a:r>
                      <a:endParaRPr lang="fr-FR" sz="977" dirty="0">
                        <a:latin typeface="Source Sans 3" charset="0"/>
                        <a:ea typeface="Source Sans 3" charset="0"/>
                        <a:cs typeface="Source Sans 3" charset="0"/>
                      </a:endParaRPr>
                    </a:p>
                  </a:txBody>
                  <a:tcPr marL="76200" marR="76200" marT="47625" marB="47625"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r>
              <a:tr h="257175">
                <a:tc>
                  <a:txBody>
                    <a:bodyPr/>
                    <a:lstStyle/>
                    <a:p>
                      <a:pPr indent="0" marL="0">
                        <a:buNone/>
                      </a:pPr>
                      <a:r>
                        <a:rPr lang="fr-FR" sz="977" dirty="0">
                          <a:solidFill>
                            <a:srgbClr val="434343"/>
                          </a:solidFill>
                          <a:latin typeface="Source Sans 3" pitchFamily="34" charset="0"/>
                          <a:ea typeface="Source Sans 3" pitchFamily="34" charset="-122"/>
                          <a:cs typeface="Source Sans 3" pitchFamily="34" charset="-120"/>
                        </a:rPr>
                        <a:t>Nom et prénom du prescripteur rendus facultatifs</a:t>
                      </a:r>
                      <a:endParaRPr lang="fr-FR" sz="977" dirty="0">
                        <a:latin typeface="Source Sans 3" charset="0"/>
                        <a:ea typeface="Source Sans 3" charset="0"/>
                        <a:cs typeface="Source Sans 3" charset="0"/>
                      </a:endParaRPr>
                    </a:p>
                  </a:txBody>
                  <a:tcPr marL="76200" marR="76200" marT="47625" marB="47625"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c>
                  <a:txBody>
                    <a:bodyPr/>
                    <a:lstStyle/>
                    <a:p>
                      <a:pPr indent="0" marL="0">
                        <a:buNone/>
                      </a:pPr>
                      <a:r>
                        <a:rPr lang="fr-FR" sz="977" dirty="0">
                          <a:solidFill>
                            <a:srgbClr val="434343"/>
                          </a:solidFill>
                          <a:latin typeface="Source Sans 3" pitchFamily="34" charset="0"/>
                          <a:ea typeface="Source Sans 3" pitchFamily="34" charset="-122"/>
                          <a:cs typeface="Source Sans 3" pitchFamily="34" charset="-120"/>
                        </a:rPr>
                        <a:t>Corrigé et validé par l'AQ</a:t>
                      </a:r>
                      <a:endParaRPr lang="fr-FR" sz="977" dirty="0">
                        <a:latin typeface="Source Sans 3" charset="0"/>
                        <a:ea typeface="Source Sans 3" charset="0"/>
                        <a:cs typeface="Source Sans 3" charset="0"/>
                      </a:endParaRPr>
                    </a:p>
                  </a:txBody>
                  <a:tcPr marL="76200" marR="76200" marT="47625" marB="47625"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r>
              <a:tr h="257175">
                <a:tc>
                  <a:txBody>
                    <a:bodyPr/>
                    <a:lstStyle/>
                    <a:p>
                      <a:pPr indent="0" marL="0">
                        <a:buNone/>
                      </a:pPr>
                      <a:r>
                        <a:rPr lang="fr-FR" sz="977" dirty="0">
                          <a:solidFill>
                            <a:srgbClr val="434343"/>
                          </a:solidFill>
                          <a:latin typeface="Source Sans 3" pitchFamily="34" charset="0"/>
                          <a:ea typeface="Source Sans 3" pitchFamily="34" charset="-122"/>
                          <a:cs typeface="Source Sans 3" pitchFamily="34" charset="-120"/>
                        </a:rPr>
                        <a:t>Unités de test renommées « Service » dans la gestion des tests</a:t>
                      </a:r>
                      <a:endParaRPr lang="fr-FR" sz="977" dirty="0">
                        <a:latin typeface="Source Sans 3" charset="0"/>
                        <a:ea typeface="Source Sans 3" charset="0"/>
                        <a:cs typeface="Source Sans 3" charset="0"/>
                      </a:endParaRPr>
                    </a:p>
                  </a:txBody>
                  <a:tcPr marL="76200" marR="76200" marT="47625" marB="47625"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c>
                  <a:txBody>
                    <a:bodyPr/>
                    <a:lstStyle/>
                    <a:p>
                      <a:pPr indent="0" marL="0">
                        <a:buNone/>
                      </a:pPr>
                      <a:r>
                        <a:rPr lang="fr-FR" sz="977" dirty="0">
                          <a:solidFill>
                            <a:srgbClr val="434343"/>
                          </a:solidFill>
                          <a:latin typeface="Source Sans 3" pitchFamily="34" charset="0"/>
                          <a:ea typeface="Source Sans 3" pitchFamily="34" charset="-122"/>
                          <a:cs typeface="Source Sans 3" pitchFamily="34" charset="-120"/>
                        </a:rPr>
                        <a:t>Corrigé et validé par l'AQ</a:t>
                      </a:r>
                      <a:endParaRPr lang="fr-FR" sz="977" dirty="0">
                        <a:latin typeface="Source Sans 3" charset="0"/>
                        <a:ea typeface="Source Sans 3" charset="0"/>
                        <a:cs typeface="Source Sans 3" charset="0"/>
                      </a:endParaRPr>
                    </a:p>
                  </a:txBody>
                  <a:tcPr marL="76200" marR="76200" marT="47625" marB="47625"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r>
              <a:tr h="257175">
                <a:tc>
                  <a:txBody>
                    <a:bodyPr/>
                    <a:lstStyle/>
                    <a:p>
                      <a:pPr indent="0" marL="0">
                        <a:buNone/>
                      </a:pPr>
                      <a:r>
                        <a:rPr lang="fr-FR" sz="977" dirty="0">
                          <a:solidFill>
                            <a:srgbClr val="434343"/>
                          </a:solidFill>
                          <a:latin typeface="Source Sans 3" pitchFamily="34" charset="0"/>
                          <a:ea typeface="Source Sans 3" pitchFamily="34" charset="-122"/>
                          <a:cs typeface="Source Sans 3" pitchFamily="34" charset="-120"/>
                        </a:rPr>
                        <a:t>« Date de rendez-vous » renommé « Rendez-vous pour le retrait des résultats »</a:t>
                      </a:r>
                      <a:endParaRPr lang="fr-FR" sz="977" dirty="0">
                        <a:latin typeface="Source Sans 3" charset="0"/>
                        <a:ea typeface="Source Sans 3" charset="0"/>
                        <a:cs typeface="Source Sans 3" charset="0"/>
                      </a:endParaRPr>
                    </a:p>
                  </a:txBody>
                  <a:tcPr marL="76200" marR="76200" marT="47625" marB="47625"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c>
                  <a:txBody>
                    <a:bodyPr/>
                    <a:lstStyle/>
                    <a:p>
                      <a:pPr indent="0" marL="0">
                        <a:buNone/>
                      </a:pPr>
                      <a:r>
                        <a:rPr lang="fr-FR" sz="977" dirty="0">
                          <a:solidFill>
                            <a:srgbClr val="434343"/>
                          </a:solidFill>
                          <a:latin typeface="Source Sans 3" pitchFamily="34" charset="0"/>
                          <a:ea typeface="Source Sans 3" pitchFamily="34" charset="-122"/>
                          <a:cs typeface="Source Sans 3" pitchFamily="34" charset="-120"/>
                        </a:rPr>
                        <a:t>Corrigé et validé par l'AQ</a:t>
                      </a:r>
                      <a:endParaRPr lang="fr-FR" sz="977" dirty="0">
                        <a:latin typeface="Source Sans 3" charset="0"/>
                        <a:ea typeface="Source Sans 3" charset="0"/>
                        <a:cs typeface="Source Sans 3" charset="0"/>
                      </a:endParaRPr>
                    </a:p>
                  </a:txBody>
                  <a:tcPr marL="76200" marR="76200" marT="47625" marB="47625"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r>
              <a:tr h="257175">
                <a:tc>
                  <a:txBody>
                    <a:bodyPr/>
                    <a:lstStyle/>
                    <a:p>
                      <a:pPr indent="0" marL="0">
                        <a:buNone/>
                      </a:pPr>
                      <a:r>
                        <a:rPr lang="fr-FR" sz="977" dirty="0">
                          <a:solidFill>
                            <a:srgbClr val="434343"/>
                          </a:solidFill>
                          <a:latin typeface="Source Sans 3" pitchFamily="34" charset="0"/>
                          <a:ea typeface="Source Sans 3" pitchFamily="34" charset="-122"/>
                          <a:cs typeface="Source Sans 3" pitchFamily="34" charset="-120"/>
                        </a:rPr>
                        <a:t>Mises à jour des rapports (ESIL-31)</a:t>
                      </a:r>
                      <a:endParaRPr lang="fr-FR" sz="977" dirty="0">
                        <a:latin typeface="Source Sans 3" charset="0"/>
                        <a:ea typeface="Source Sans 3" charset="0"/>
                        <a:cs typeface="Source Sans 3" charset="0"/>
                      </a:endParaRPr>
                    </a:p>
                  </a:txBody>
                  <a:tcPr marL="76200" marR="76200" marT="47625" marB="47625"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c>
                  <a:txBody>
                    <a:bodyPr/>
                    <a:lstStyle/>
                    <a:p>
                      <a:pPr indent="0" marL="0">
                        <a:buNone/>
                      </a:pPr>
                      <a:r>
                        <a:rPr lang="fr-FR" sz="977" dirty="0">
                          <a:solidFill>
                            <a:srgbClr val="434343"/>
                          </a:solidFill>
                          <a:latin typeface="Source Sans 3" pitchFamily="34" charset="0"/>
                          <a:ea typeface="Source Sans 3" pitchFamily="34" charset="-122"/>
                          <a:cs typeface="Source Sans 3" pitchFamily="34" charset="-120"/>
                        </a:rPr>
                        <a:t>[Herbert : une ligne sur ce qui a été livré]</a:t>
                      </a:r>
                      <a:endParaRPr lang="fr-FR" sz="977" dirty="0">
                        <a:latin typeface="Source Sans 3" charset="0"/>
                        <a:ea typeface="Source Sans 3" charset="0"/>
                        <a:cs typeface="Source Sans 3" charset="0"/>
                      </a:endParaRPr>
                    </a:p>
                  </a:txBody>
                  <a:tcPr marL="76200" marR="76200" marT="47625" marB="47625"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r>
            </a:tbl>
          </a:graphicData>
        </a:graphic>
      </p:graphicFrame>
      <p:sp>
        <p:nvSpPr>
          <p:cNvPr id="6" name="Text 3"/>
          <p:cNvSpPr txBox="1"/>
          <p:nvPr/>
        </p:nvSpPr>
        <p:spPr>
          <a:xfrm>
            <a:off x="7953375" y="4743450"/>
            <a:ext cx="952500" cy="228600"/>
          </a:xfrm>
          <a:prstGeom prst="rect">
            <a:avLst/>
          </a:prstGeom>
          <a:noFill/>
          <a:ln/>
        </p:spPr>
        <p:txBody>
          <a:bodyPr wrap="square" lIns="0" tIns="0" rIns="0" bIns="0" rtlCol="0" anchor="t"/>
          <a:lstStyle/>
          <a:p>
            <a:pPr algn="r" indent="0" marL="0">
              <a:buNone/>
            </a:pPr>
            <a:r>
              <a:rPr lang="fr-FR" sz="1000" dirty="0">
                <a:solidFill>
                  <a:srgbClr val="888888"/>
                </a:solidFill>
                <a:latin typeface="Source Sans 3" pitchFamily="34" charset="0"/>
                <a:ea typeface="Source Sans 3" pitchFamily="34" charset="-122"/>
                <a:cs typeface="Source Sans 3" pitchFamily="34" charset="-120"/>
              </a:rPr>
              <a:t>7</a:t>
            </a:r>
            <a:endParaRPr lang="fr-FR" sz="1000" dirty="0"/>
          </a:p>
        </p:txBody>
      </p:sp>
      <p:sp>
        <p:nvSpPr>
          <p:cNvPr id="7" name="Text 4"/>
          <p:cNvSpPr txBox="1"/>
          <p:nvPr/>
        </p:nvSpPr>
        <p:spPr>
          <a:xfrm>
            <a:off x="457200" y="4743450"/>
            <a:ext cx="3810000" cy="228600"/>
          </a:xfrm>
          <a:prstGeom prst="rect">
            <a:avLst/>
          </a:prstGeom>
          <a:noFill/>
          <a:ln/>
        </p:spPr>
        <p:txBody>
          <a:bodyPr wrap="square" lIns="0" tIns="0" rIns="0" bIns="0" rtlCol="0" anchor="t"/>
          <a:lstStyle/>
          <a:p>
            <a:pPr algn="l" indent="0" marL="0">
              <a:buNone/>
            </a:pPr>
            <a:r>
              <a:rPr lang="fr-FR" sz="1000" dirty="0">
                <a:solidFill>
                  <a:srgbClr val="888888"/>
                </a:solidFill>
                <a:latin typeface="Source Sans 3" pitchFamily="34" charset="0"/>
                <a:ea typeface="Source Sans 3" pitchFamily="34" charset="-122"/>
                <a:cs typeface="Source Sans 3" pitchFamily="34" charset="-120"/>
              </a:rPr>
              <a:t>Passation eSIL Madagascar</a:t>
            </a:r>
            <a:endParaRPr lang="fr-FR" sz="10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247650"/>
            <a:ext cx="8229600" cy="209550"/>
          </a:xfrm>
          <a:prstGeom prst="rect">
            <a:avLst/>
          </a:prstGeom>
          <a:noFill/>
          <a:ln/>
        </p:spPr>
        <p:txBody>
          <a:bodyPr wrap="square" lIns="0" tIns="0" rIns="0" bIns="0" rtlCol="0" anchor="t"/>
          <a:lstStyle/>
          <a:p>
            <a:pPr indent="0" marL="0">
              <a:buNone/>
            </a:pPr>
            <a:r>
              <a:rPr lang="fr-FR" sz="1200" b="1" spc="150" kern="0" dirty="0">
                <a:solidFill>
                  <a:srgbClr val="00707F"/>
                </a:solidFill>
                <a:latin typeface="Source Sans 3" pitchFamily="34" charset="0"/>
                <a:ea typeface="Source Sans 3" pitchFamily="34" charset="-122"/>
                <a:cs typeface="Source Sans 3" pitchFamily="34" charset="-120"/>
              </a:rPr>
              <a:t>BILAN DU PROJET</a:t>
            </a:r>
            <a:pPr indent="0" marL="0">
              <a:buNone/>
            </a:pPr>
            <a:r>
              <a:rPr lang="fr-FR" sz="1200" dirty="0">
                <a:solidFill>
                  <a:srgbClr val="888888"/>
                </a:solidFill>
                <a:latin typeface="Source Sans 3" pitchFamily="34" charset="0"/>
                <a:ea typeface="Source Sans 3" pitchFamily="34" charset="-122"/>
                <a:cs typeface="Source Sans 3" pitchFamily="34" charset="-120"/>
              </a:rPr>
              <a:t>    Section 1 sur 7</a:t>
            </a:r>
            <a:endParaRPr lang="fr-FR" sz="1200" dirty="0"/>
          </a:p>
        </p:txBody>
      </p:sp>
      <p:sp>
        <p:nvSpPr>
          <p:cNvPr id="3" name="Shape 1"/>
          <p:cNvSpPr/>
          <p:nvPr/>
        </p:nvSpPr>
        <p:spPr>
          <a:xfrm>
            <a:off x="457200" y="533400"/>
            <a:ext cx="685800" cy="57150"/>
          </a:xfrm>
          <a:prstGeom prst="rect">
            <a:avLst/>
          </a:prstGeom>
          <a:solidFill>
            <a:srgbClr val="00707F"/>
          </a:solidFill>
          <a:ln w="12700">
            <a:solidFill>
              <a:srgbClr val="00707F"/>
            </a:solidFill>
            <a:prstDash val="solid"/>
          </a:ln>
        </p:spPr>
      </p:sp>
      <p:sp>
        <p:nvSpPr>
          <p:cNvPr id="4" name="Text 2"/>
          <p:cNvSpPr txBox="1"/>
          <p:nvPr/>
        </p:nvSpPr>
        <p:spPr>
          <a:xfrm>
            <a:off x="457200" y="704850"/>
            <a:ext cx="8229600" cy="800100"/>
          </a:xfrm>
          <a:prstGeom prst="rect">
            <a:avLst/>
          </a:prstGeom>
          <a:noFill/>
          <a:ln/>
        </p:spPr>
        <p:txBody>
          <a:bodyPr wrap="square" lIns="0" tIns="0" rIns="0" bIns="0" rtlCol="0" anchor="t">
            <a:normAutofit/>
          </a:bodyPr>
          <a:lstStyle/>
          <a:p>
            <a:pPr indent="0" marL="0">
              <a:buNone/>
            </a:pPr>
            <a:r>
              <a:rPr lang="fr-FR" sz="2350" b="1" dirty="0">
                <a:solidFill>
                  <a:srgbClr val="33006F"/>
                </a:solidFill>
                <a:latin typeface="Source Sans 3" pitchFamily="34" charset="0"/>
                <a:ea typeface="Source Sans 3" pitchFamily="34" charset="-122"/>
                <a:cs typeface="Source Sans 3" pitchFamily="34" charset="-120"/>
              </a:rPr>
              <a:t>Période de garantie : demandes de modification et de fonctionnalité</a:t>
            </a:r>
            <a:endParaRPr lang="fr-FR" sz="2350" dirty="0"/>
          </a:p>
        </p:txBody>
      </p:sp>
      <p:graphicFrame>
        <p:nvGraphicFramePr>
          <p:cNvPr id="9" name="Table 0"/>
          <p:cNvGraphicFramePr>
            <a:graphicFrameLocks noGrp="1"/>
          </p:cNvGraphicFramePr>
          <p:nvPr>
            <p:extLst>
              <p:ext uri="{D42A27DB-BD31-4B8C-83A1-F6EECF244321}">
                <p14:modId xmlns:p14="http://schemas.microsoft.com/office/powerpoint/2010/main" val="1579011935"/>
              </p:ext>
            </p:extLst>
          </p:nvPr>
        </p:nvGraphicFramePr>
        <p:xfrm>
          <a:off x="457200" y="1562100"/>
          <a:ext cx="8229600" cy="914400"/>
        </p:xfrm>
        <a:graphic>
          <a:graphicData uri="http://schemas.openxmlformats.org/drawingml/2006/table">
            <a:tbl>
              <a:tblPr/>
              <a:tblGrid>
                <a:gridCol w="4762500"/>
                <a:gridCol w="3467100"/>
              </a:tblGrid>
              <a:tr h="304800">
                <a:tc>
                  <a:txBody>
                    <a:bodyPr/>
                    <a:lstStyle/>
                    <a:p>
                      <a:pPr indent="0" marL="0">
                        <a:buNone/>
                      </a:pPr>
                      <a:r>
                        <a:rPr lang="fr-FR" sz="1116" b="1" dirty="0">
                          <a:solidFill>
                            <a:srgbClr val="FFFFFF"/>
                          </a:solidFill>
                          <a:latin typeface="Source Sans 3" pitchFamily="34" charset="0"/>
                          <a:ea typeface="Source Sans 3" pitchFamily="34" charset="-122"/>
                          <a:cs typeface="Source Sans 3" pitchFamily="34" charset="-120"/>
                        </a:rPr>
                        <a:t>Demande de modification</a:t>
                      </a:r>
                      <a:endParaRPr lang="fr-FR" sz="1116" dirty="0">
                        <a:latin typeface="Source Sans 3" charset="0"/>
                        <a:ea typeface="Source Sans 3" charset="0"/>
                        <a:cs typeface="Source Sans 3" charset="0"/>
                      </a:endParaRPr>
                    </a:p>
                  </a:txBody>
                  <a:tcPr marL="76200" marR="76200" marT="47625" marB="47625"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rgbClr val="33006F"/>
                    </a:solidFill>
                  </a:tcPr>
                </a:tc>
                <a:tc>
                  <a:txBody>
                    <a:bodyPr/>
                    <a:lstStyle/>
                    <a:p>
                      <a:pPr indent="0" marL="0">
                        <a:buNone/>
                      </a:pPr>
                      <a:r>
                        <a:rPr lang="fr-FR" sz="1116" b="1" dirty="0">
                          <a:solidFill>
                            <a:srgbClr val="FFFFFF"/>
                          </a:solidFill>
                          <a:latin typeface="Source Sans 3" pitchFamily="34" charset="0"/>
                          <a:ea typeface="Source Sans 3" pitchFamily="34" charset="-122"/>
                          <a:cs typeface="Source Sans 3" pitchFamily="34" charset="-120"/>
                        </a:rPr>
                        <a:t>Statut</a:t>
                      </a:r>
                      <a:endParaRPr lang="fr-FR" sz="1116" dirty="0">
                        <a:latin typeface="Source Sans 3" charset="0"/>
                        <a:ea typeface="Source Sans 3" charset="0"/>
                        <a:cs typeface="Source Sans 3" charset="0"/>
                      </a:endParaRPr>
                    </a:p>
                  </a:txBody>
                  <a:tcPr marL="76200" marR="76200" marT="47625" marB="47625"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rgbClr val="33006F"/>
                    </a:solidFill>
                  </a:tcPr>
                </a:tc>
              </a:tr>
              <a:tr h="304800">
                <a:tc>
                  <a:txBody>
                    <a:bodyPr/>
                    <a:lstStyle/>
                    <a:p>
                      <a:pPr indent="0" marL="0">
                        <a:buNone/>
                      </a:pPr>
                      <a:r>
                        <a:rPr lang="fr-FR" sz="1116" dirty="0">
                          <a:solidFill>
                            <a:srgbClr val="434343"/>
                          </a:solidFill>
                          <a:latin typeface="Source Sans 3" pitchFamily="34" charset="0"/>
                          <a:ea typeface="Source Sans 3" pitchFamily="34" charset="-122"/>
                          <a:cs typeface="Source Sans 3" pitchFamily="34" charset="-120"/>
                        </a:rPr>
                        <a:t>Activer et désactiver des programmes</a:t>
                      </a:r>
                      <a:endParaRPr lang="fr-FR" sz="1116" dirty="0">
                        <a:latin typeface="Source Sans 3" charset="0"/>
                        <a:ea typeface="Source Sans 3" charset="0"/>
                        <a:cs typeface="Source Sans 3" charset="0"/>
                      </a:endParaRPr>
                    </a:p>
                  </a:txBody>
                  <a:tcPr marL="76200" marR="76200" marT="47625" marB="47625"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c>
                  <a:txBody>
                    <a:bodyPr/>
                    <a:lstStyle/>
                    <a:p>
                      <a:pPr indent="0" marL="0">
                        <a:buNone/>
                      </a:pPr>
                      <a:r>
                        <a:rPr lang="fr-FR" sz="1116" dirty="0">
                          <a:solidFill>
                            <a:srgbClr val="434343"/>
                          </a:solidFill>
                          <a:latin typeface="Source Sans 3" pitchFamily="34" charset="0"/>
                          <a:ea typeface="Source Sans 3" pitchFamily="34" charset="-122"/>
                          <a:cs typeface="Source Sans 3" pitchFamily="34" charset="-120"/>
                        </a:rPr>
                        <a:t>Fait. Dans la version 3.2.2.1.</a:t>
                      </a:r>
                      <a:endParaRPr lang="fr-FR" sz="1116" dirty="0">
                        <a:latin typeface="Source Sans 3" charset="0"/>
                        <a:ea typeface="Source Sans 3" charset="0"/>
                        <a:cs typeface="Source Sans 3" charset="0"/>
                      </a:endParaRPr>
                    </a:p>
                  </a:txBody>
                  <a:tcPr marL="76200" marR="76200" marT="47625" marB="47625"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r>
              <a:tr h="304800">
                <a:tc>
                  <a:txBody>
                    <a:bodyPr/>
                    <a:lstStyle/>
                    <a:p>
                      <a:pPr indent="0" marL="0">
                        <a:buNone/>
                      </a:pPr>
                      <a:r>
                        <a:rPr lang="fr-FR" sz="1116" dirty="0">
                          <a:solidFill>
                            <a:srgbClr val="434343"/>
                          </a:solidFill>
                          <a:latin typeface="Source Sans 3" pitchFamily="34" charset="0"/>
                          <a:ea typeface="Source Sans 3" pitchFamily="34" charset="-122"/>
                          <a:cs typeface="Source Sans 3" pitchFamily="34" charset="-120"/>
                        </a:rPr>
                        <a:t>Mises à jour des rapports</a:t>
                      </a:r>
                      <a:endParaRPr lang="fr-FR" sz="1116" dirty="0">
                        <a:latin typeface="Source Sans 3" charset="0"/>
                        <a:ea typeface="Source Sans 3" charset="0"/>
                        <a:cs typeface="Source Sans 3" charset="0"/>
                      </a:endParaRPr>
                    </a:p>
                  </a:txBody>
                  <a:tcPr marL="76200" marR="76200" marT="47625" marB="47625"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c>
                  <a:txBody>
                    <a:bodyPr/>
                    <a:lstStyle/>
                    <a:p>
                      <a:pPr indent="0" marL="0">
                        <a:buNone/>
                      </a:pPr>
                      <a:r>
                        <a:rPr lang="fr-FR" sz="1116" dirty="0">
                          <a:solidFill>
                            <a:srgbClr val="434343"/>
                          </a:solidFill>
                          <a:latin typeface="Source Sans 3" pitchFamily="34" charset="0"/>
                          <a:ea typeface="Source Sans 3" pitchFamily="34" charset="-122"/>
                          <a:cs typeface="Source Sans 3" pitchFamily="34" charset="-120"/>
                        </a:rPr>
                        <a:t>[Statut]</a:t>
                      </a:r>
                      <a:endParaRPr lang="fr-FR" sz="1116" dirty="0">
                        <a:latin typeface="Source Sans 3" charset="0"/>
                        <a:ea typeface="Source Sans 3" charset="0"/>
                        <a:cs typeface="Source Sans 3" charset="0"/>
                      </a:endParaRPr>
                    </a:p>
                  </a:txBody>
                  <a:tcPr marL="76200" marR="76200" marT="47625" marB="47625"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r>
              <a:tr h="304800">
                <a:tc>
                  <a:txBody>
                    <a:bodyPr/>
                    <a:lstStyle/>
                    <a:p>
                      <a:pPr indent="0" marL="0">
                        <a:buNone/>
                      </a:pPr>
                      <a:r>
                        <a:rPr lang="fr-FR" sz="1116" dirty="0">
                          <a:solidFill>
                            <a:srgbClr val="434343"/>
                          </a:solidFill>
                          <a:latin typeface="Source Sans 3" pitchFamily="34" charset="0"/>
                          <a:ea typeface="Source Sans 3" pitchFamily="34" charset="-122"/>
                          <a:cs typeface="Source Sans 3" pitchFamily="34" charset="-120"/>
                        </a:rPr>
                        <a:t>Nouveau catalogue de tests, avec résultats à plusieurs composantes</a:t>
                      </a:r>
                      <a:endParaRPr lang="fr-FR" sz="1116" dirty="0">
                        <a:latin typeface="Source Sans 3" charset="0"/>
                        <a:ea typeface="Source Sans 3" charset="0"/>
                        <a:cs typeface="Source Sans 3" charset="0"/>
                      </a:endParaRPr>
                    </a:p>
                  </a:txBody>
                  <a:tcPr marL="76200" marR="76200" marT="47625" marB="47625"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c>
                  <a:txBody>
                    <a:bodyPr/>
                    <a:lstStyle/>
                    <a:p>
                      <a:pPr indent="0" marL="0">
                        <a:buNone/>
                      </a:pPr>
                      <a:r>
                        <a:rPr lang="fr-FR" sz="1116" dirty="0">
                          <a:solidFill>
                            <a:srgbClr val="434343"/>
                          </a:solidFill>
                          <a:latin typeface="Source Sans 3" pitchFamily="34" charset="0"/>
                          <a:ea typeface="Source Sans 3" pitchFamily="34" charset="-122"/>
                          <a:cs typeface="Source Sans 3" pitchFamily="34" charset="-120"/>
                        </a:rPr>
                        <a:t>Fait. Démonstration aujourd'hui.</a:t>
                      </a:r>
                      <a:endParaRPr lang="fr-FR" sz="1116" dirty="0">
                        <a:latin typeface="Source Sans 3" charset="0"/>
                        <a:ea typeface="Source Sans 3" charset="0"/>
                        <a:cs typeface="Source Sans 3" charset="0"/>
                      </a:endParaRPr>
                    </a:p>
                  </a:txBody>
                  <a:tcPr marL="76200" marR="76200" marT="47625" marB="47625"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r>
            </a:tbl>
          </a:graphicData>
        </a:graphic>
      </p:graphicFrame>
      <p:graphicFrame>
        <p:nvGraphicFramePr>
          <p:cNvPr id="17" name="Table 1"/>
          <p:cNvGraphicFramePr>
            <a:graphicFrameLocks noGrp="1"/>
          </p:cNvGraphicFramePr>
          <p:nvPr>
            <p:extLst>
              <p:ext uri="{D42A27DB-BD31-4B8C-83A1-F6EECF244321}">
                <p14:modId xmlns:p14="http://schemas.microsoft.com/office/powerpoint/2010/main" val="1579011935"/>
              </p:ext>
            </p:extLst>
          </p:nvPr>
        </p:nvGraphicFramePr>
        <p:xfrm>
          <a:off x="457200" y="2933700"/>
          <a:ext cx="8229600" cy="914400"/>
        </p:xfrm>
        <a:graphic>
          <a:graphicData uri="http://schemas.openxmlformats.org/drawingml/2006/table">
            <a:tbl>
              <a:tblPr/>
              <a:tblGrid>
                <a:gridCol w="4762500"/>
                <a:gridCol w="3467100"/>
              </a:tblGrid>
              <a:tr h="304800">
                <a:tc>
                  <a:txBody>
                    <a:bodyPr/>
                    <a:lstStyle/>
                    <a:p>
                      <a:pPr indent="0" marL="0">
                        <a:buNone/>
                      </a:pPr>
                      <a:r>
                        <a:rPr lang="fr-FR" sz="1116" b="1" dirty="0">
                          <a:solidFill>
                            <a:srgbClr val="FFFFFF"/>
                          </a:solidFill>
                          <a:latin typeface="Source Sans 3" pitchFamily="34" charset="0"/>
                          <a:ea typeface="Source Sans 3" pitchFamily="34" charset="-122"/>
                          <a:cs typeface="Source Sans 3" pitchFamily="34" charset="-120"/>
                        </a:rPr>
                        <a:t>Demande de fonctionnalité</a:t>
                      </a:r>
                      <a:endParaRPr lang="fr-FR" sz="1116" dirty="0">
                        <a:latin typeface="Source Sans 3" charset="0"/>
                        <a:ea typeface="Source Sans 3" charset="0"/>
                        <a:cs typeface="Source Sans 3" charset="0"/>
                      </a:endParaRPr>
                    </a:p>
                  </a:txBody>
                  <a:tcPr marL="76200" marR="76200" marT="47625" marB="47625"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rgbClr val="006838"/>
                    </a:solidFill>
                  </a:tcPr>
                </a:tc>
                <a:tc>
                  <a:txBody>
                    <a:bodyPr/>
                    <a:lstStyle/>
                    <a:p>
                      <a:pPr indent="0" marL="0">
                        <a:buNone/>
                      </a:pPr>
                      <a:r>
                        <a:rPr lang="fr-FR" sz="1116" b="1" dirty="0">
                          <a:solidFill>
                            <a:srgbClr val="FFFFFF"/>
                          </a:solidFill>
                          <a:latin typeface="Source Sans 3" pitchFamily="34" charset="0"/>
                          <a:ea typeface="Source Sans 3" pitchFamily="34" charset="-122"/>
                          <a:cs typeface="Source Sans 3" pitchFamily="34" charset="-120"/>
                        </a:rPr>
                        <a:t>Statut</a:t>
                      </a:r>
                      <a:endParaRPr lang="fr-FR" sz="1116" dirty="0">
                        <a:latin typeface="Source Sans 3" charset="0"/>
                        <a:ea typeface="Source Sans 3" charset="0"/>
                        <a:cs typeface="Source Sans 3" charset="0"/>
                      </a:endParaRPr>
                    </a:p>
                  </a:txBody>
                  <a:tcPr marL="76200" marR="76200" marT="47625" marB="47625"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rgbClr val="006838"/>
                    </a:solidFill>
                  </a:tcPr>
                </a:tc>
              </a:tr>
              <a:tr h="304800">
                <a:tc>
                  <a:txBody>
                    <a:bodyPr/>
                    <a:lstStyle/>
                    <a:p>
                      <a:pPr indent="0" marL="0">
                        <a:buNone/>
                      </a:pPr>
                      <a:r>
                        <a:rPr lang="fr-FR" sz="1116" dirty="0">
                          <a:solidFill>
                            <a:srgbClr val="434343"/>
                          </a:solidFill>
                          <a:latin typeface="Source Sans 3" pitchFamily="34" charset="0"/>
                          <a:ea typeface="Source Sans 3" pitchFamily="34" charset="-122"/>
                          <a:cs typeface="Source Sans 3" pitchFamily="34" charset="-120"/>
                        </a:rPr>
                        <a:t>Supprimer ou désactiver des services de test existants</a:t>
                      </a:r>
                      <a:endParaRPr lang="fr-FR" sz="1116" dirty="0">
                        <a:latin typeface="Source Sans 3" charset="0"/>
                        <a:ea typeface="Source Sans 3" charset="0"/>
                        <a:cs typeface="Source Sans 3" charset="0"/>
                      </a:endParaRPr>
                    </a:p>
                  </a:txBody>
                  <a:tcPr marL="76200" marR="76200" marT="47625" marB="47625"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c>
                  <a:txBody>
                    <a:bodyPr/>
                    <a:lstStyle/>
                    <a:p>
                      <a:pPr indent="0" marL="0">
                        <a:buNone/>
                      </a:pPr>
                      <a:r>
                        <a:rPr lang="fr-FR" sz="1116" dirty="0">
                          <a:solidFill>
                            <a:srgbClr val="434343"/>
                          </a:solidFill>
                          <a:latin typeface="Source Sans 3" pitchFamily="34" charset="0"/>
                          <a:ea typeface="Source Sans 3" pitchFamily="34" charset="-122"/>
                          <a:cs typeface="Source Sans 3" pitchFamily="34" charset="-120"/>
                        </a:rPr>
                        <a:t>Ajouté à la feuille de route OpenELIS</a:t>
                      </a:r>
                      <a:endParaRPr lang="fr-FR" sz="1116" dirty="0">
                        <a:latin typeface="Source Sans 3" charset="0"/>
                        <a:ea typeface="Source Sans 3" charset="0"/>
                        <a:cs typeface="Source Sans 3" charset="0"/>
                      </a:endParaRPr>
                    </a:p>
                  </a:txBody>
                  <a:tcPr marL="76200" marR="76200" marT="47625" marB="47625"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r>
              <a:tr h="304800">
                <a:tc>
                  <a:txBody>
                    <a:bodyPr/>
                    <a:lstStyle/>
                    <a:p>
                      <a:pPr indent="0" marL="0">
                        <a:buNone/>
                      </a:pPr>
                      <a:r>
                        <a:rPr lang="fr-FR" sz="1116" dirty="0">
                          <a:solidFill>
                            <a:srgbClr val="434343"/>
                          </a:solidFill>
                          <a:latin typeface="Source Sans 3" pitchFamily="34" charset="0"/>
                          <a:ea typeface="Source Sans 3" pitchFamily="34" charset="-122"/>
                          <a:cs typeface="Source Sans 3" pitchFamily="34" charset="-120"/>
                        </a:rPr>
                        <a:t>Afficher ces informations dans la section « Informations supplémentaires »</a:t>
                      </a:r>
                      <a:endParaRPr lang="fr-FR" sz="1116" dirty="0">
                        <a:latin typeface="Source Sans 3" charset="0"/>
                        <a:ea typeface="Source Sans 3" charset="0"/>
                        <a:cs typeface="Source Sans 3" charset="0"/>
                      </a:endParaRPr>
                    </a:p>
                  </a:txBody>
                  <a:tcPr marL="76200" marR="76200" marT="47625" marB="47625"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c>
                  <a:txBody>
                    <a:bodyPr/>
                    <a:lstStyle/>
                    <a:p>
                      <a:pPr indent="0" marL="0">
                        <a:buNone/>
                      </a:pPr>
                      <a:r>
                        <a:rPr lang="fr-FR" sz="1116" dirty="0">
                          <a:solidFill>
                            <a:srgbClr val="434343"/>
                          </a:solidFill>
                          <a:latin typeface="Source Sans 3" pitchFamily="34" charset="0"/>
                          <a:ea typeface="Source Sans 3" pitchFamily="34" charset="-122"/>
                          <a:cs typeface="Source Sans 3" pitchFamily="34" charset="-120"/>
                        </a:rPr>
                        <a:t>Ajouté à la feuille de route OpenELIS</a:t>
                      </a:r>
                      <a:endParaRPr lang="fr-FR" sz="1116" dirty="0">
                        <a:latin typeface="Source Sans 3" charset="0"/>
                        <a:ea typeface="Source Sans 3" charset="0"/>
                        <a:cs typeface="Source Sans 3" charset="0"/>
                      </a:endParaRPr>
                    </a:p>
                  </a:txBody>
                  <a:tcPr marL="76200" marR="76200" marT="47625" marB="47625"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r>
              <a:tr h="304800">
                <a:tc>
                  <a:txBody>
                    <a:bodyPr/>
                    <a:lstStyle/>
                    <a:p>
                      <a:pPr indent="0" marL="0">
                        <a:buNone/>
                      </a:pPr>
                      <a:r>
                        <a:rPr lang="fr-FR" sz="1116" dirty="0">
                          <a:solidFill>
                            <a:srgbClr val="434343"/>
                          </a:solidFill>
                          <a:latin typeface="Source Sans 3" pitchFamily="34" charset="0"/>
                          <a:ea typeface="Source Sans 3" pitchFamily="34" charset="-122"/>
                          <a:cs typeface="Source Sans 3" pitchFamily="34" charset="-120"/>
                        </a:rPr>
                        <a:t>Conserver les échantillons sélectionnés quand un test en demande plusieurs</a:t>
                      </a:r>
                      <a:endParaRPr lang="fr-FR" sz="1116" dirty="0">
                        <a:latin typeface="Source Sans 3" charset="0"/>
                        <a:ea typeface="Source Sans 3" charset="0"/>
                        <a:cs typeface="Source Sans 3" charset="0"/>
                      </a:endParaRPr>
                    </a:p>
                  </a:txBody>
                  <a:tcPr marL="76200" marR="76200" marT="47625" marB="47625"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c>
                  <a:txBody>
                    <a:bodyPr/>
                    <a:lstStyle/>
                    <a:p>
                      <a:pPr indent="0" marL="0">
                        <a:buNone/>
                      </a:pPr>
                      <a:r>
                        <a:rPr lang="fr-FR" sz="1116" dirty="0">
                          <a:solidFill>
                            <a:srgbClr val="434343"/>
                          </a:solidFill>
                          <a:latin typeface="Source Sans 3" pitchFamily="34" charset="0"/>
                          <a:ea typeface="Source Sans 3" pitchFamily="34" charset="-122"/>
                          <a:cs typeface="Source Sans 3" pitchFamily="34" charset="-120"/>
                        </a:rPr>
                        <a:t>Ajouté à la feuille de route OpenELIS</a:t>
                      </a:r>
                      <a:endParaRPr lang="fr-FR" sz="1116" dirty="0">
                        <a:latin typeface="Source Sans 3" charset="0"/>
                        <a:ea typeface="Source Sans 3" charset="0"/>
                        <a:cs typeface="Source Sans 3" charset="0"/>
                      </a:endParaRPr>
                    </a:p>
                  </a:txBody>
                  <a:tcPr marL="76200" marR="76200" marT="47625" marB="47625"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r>
            </a:tbl>
          </a:graphicData>
        </a:graphic>
      </p:graphicFrame>
      <p:sp>
        <p:nvSpPr>
          <p:cNvPr id="7" name="Text 3"/>
          <p:cNvSpPr txBox="1"/>
          <p:nvPr/>
        </p:nvSpPr>
        <p:spPr>
          <a:xfrm>
            <a:off x="457200" y="4343400"/>
            <a:ext cx="8229600" cy="342900"/>
          </a:xfrm>
          <a:prstGeom prst="rect">
            <a:avLst/>
          </a:prstGeom>
          <a:noFill/>
          <a:ln/>
        </p:spPr>
        <p:txBody>
          <a:bodyPr wrap="square" lIns="0" tIns="0" rIns="0" bIns="0" rtlCol="0" anchor="t"/>
          <a:lstStyle/>
          <a:p>
            <a:pPr indent="0" marL="0">
              <a:buNone/>
            </a:pPr>
            <a:r>
              <a:rPr lang="fr-FR" sz="1100" dirty="0">
                <a:solidFill>
                  <a:srgbClr val="888888"/>
                </a:solidFill>
                <a:latin typeface="Source Sans 3" pitchFamily="34" charset="0"/>
                <a:ea typeface="Source Sans 3" pitchFamily="34" charset="-122"/>
                <a:cs typeface="Source Sans 3" pitchFamily="34" charset="-120"/>
              </a:rPr>
              <a:t>Trois demandes de Madagascar sont maintenant dans la feuille de route partagée d'OpenELIS. La section 3 montre où les suivre.</a:t>
            </a:r>
            <a:endParaRPr lang="fr-FR" sz="1100" dirty="0"/>
          </a:p>
        </p:txBody>
      </p:sp>
      <p:sp>
        <p:nvSpPr>
          <p:cNvPr id="8" name="Text 4"/>
          <p:cNvSpPr txBox="1"/>
          <p:nvPr/>
        </p:nvSpPr>
        <p:spPr>
          <a:xfrm>
            <a:off x="7953375" y="4743450"/>
            <a:ext cx="952500" cy="228600"/>
          </a:xfrm>
          <a:prstGeom prst="rect">
            <a:avLst/>
          </a:prstGeom>
          <a:noFill/>
          <a:ln/>
        </p:spPr>
        <p:txBody>
          <a:bodyPr wrap="square" lIns="0" tIns="0" rIns="0" bIns="0" rtlCol="0" anchor="t"/>
          <a:lstStyle/>
          <a:p>
            <a:pPr algn="r" indent="0" marL="0">
              <a:buNone/>
            </a:pPr>
            <a:r>
              <a:rPr lang="fr-FR" sz="1000" dirty="0">
                <a:solidFill>
                  <a:srgbClr val="888888"/>
                </a:solidFill>
                <a:latin typeface="Source Sans 3" pitchFamily="34" charset="0"/>
                <a:ea typeface="Source Sans 3" pitchFamily="34" charset="-122"/>
                <a:cs typeface="Source Sans 3" pitchFamily="34" charset="-120"/>
              </a:rPr>
              <a:t>8</a:t>
            </a:r>
            <a:endParaRPr lang="fr-FR" sz="1000" dirty="0"/>
          </a:p>
        </p:txBody>
      </p:sp>
      <p:sp>
        <p:nvSpPr>
          <p:cNvPr id="9" name="Text 5"/>
          <p:cNvSpPr txBox="1"/>
          <p:nvPr/>
        </p:nvSpPr>
        <p:spPr>
          <a:xfrm>
            <a:off x="457200" y="4743450"/>
            <a:ext cx="3810000" cy="228600"/>
          </a:xfrm>
          <a:prstGeom prst="rect">
            <a:avLst/>
          </a:prstGeom>
          <a:noFill/>
          <a:ln/>
        </p:spPr>
        <p:txBody>
          <a:bodyPr wrap="square" lIns="0" tIns="0" rIns="0" bIns="0" rtlCol="0" anchor="t"/>
          <a:lstStyle/>
          <a:p>
            <a:pPr algn="l" indent="0" marL="0">
              <a:buNone/>
            </a:pPr>
            <a:r>
              <a:rPr lang="fr-FR" sz="1000" dirty="0">
                <a:solidFill>
                  <a:srgbClr val="888888"/>
                </a:solidFill>
                <a:latin typeface="Source Sans 3" pitchFamily="34" charset="0"/>
                <a:ea typeface="Source Sans 3" pitchFamily="34" charset="-122"/>
                <a:cs typeface="Source Sans 3" pitchFamily="34" charset="-120"/>
              </a:rPr>
              <a:t>Passation eSIL Madagascar</a:t>
            </a:r>
            <a:endParaRPr lang="fr-FR" sz="10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247650"/>
            <a:ext cx="8229600" cy="209550"/>
          </a:xfrm>
          <a:prstGeom prst="rect">
            <a:avLst/>
          </a:prstGeom>
          <a:noFill/>
          <a:ln/>
        </p:spPr>
        <p:txBody>
          <a:bodyPr wrap="square" lIns="0" tIns="0" rIns="0" bIns="0" rtlCol="0" anchor="t"/>
          <a:lstStyle/>
          <a:p>
            <a:pPr indent="0" marL="0">
              <a:buNone/>
            </a:pPr>
            <a:r>
              <a:rPr lang="fr-FR" sz="1200" b="1" spc="150" kern="0" dirty="0">
                <a:solidFill>
                  <a:srgbClr val="00707F"/>
                </a:solidFill>
                <a:latin typeface="Source Sans 3" pitchFamily="34" charset="0"/>
                <a:ea typeface="Source Sans 3" pitchFamily="34" charset="-122"/>
                <a:cs typeface="Source Sans 3" pitchFamily="34" charset="-120"/>
              </a:rPr>
              <a:t>BILAN DU PROJET</a:t>
            </a:r>
            <a:pPr indent="0" marL="0">
              <a:buNone/>
            </a:pPr>
            <a:r>
              <a:rPr lang="fr-FR" sz="1200" dirty="0">
                <a:solidFill>
                  <a:srgbClr val="888888"/>
                </a:solidFill>
                <a:latin typeface="Source Sans 3" pitchFamily="34" charset="0"/>
                <a:ea typeface="Source Sans 3" pitchFamily="34" charset="-122"/>
                <a:cs typeface="Source Sans 3" pitchFamily="34" charset="-120"/>
              </a:rPr>
              <a:t>    Section 1 sur 7</a:t>
            </a:r>
            <a:endParaRPr lang="fr-FR" sz="1200" dirty="0"/>
          </a:p>
        </p:txBody>
      </p:sp>
      <p:sp>
        <p:nvSpPr>
          <p:cNvPr id="3" name="Shape 1"/>
          <p:cNvSpPr/>
          <p:nvPr/>
        </p:nvSpPr>
        <p:spPr>
          <a:xfrm>
            <a:off x="457200" y="533400"/>
            <a:ext cx="685800" cy="57150"/>
          </a:xfrm>
          <a:prstGeom prst="rect">
            <a:avLst/>
          </a:prstGeom>
          <a:solidFill>
            <a:srgbClr val="00707F"/>
          </a:solidFill>
          <a:ln w="12700">
            <a:solidFill>
              <a:srgbClr val="00707F"/>
            </a:solidFill>
            <a:prstDash val="solid"/>
          </a:ln>
        </p:spPr>
      </p:sp>
      <p:sp>
        <p:nvSpPr>
          <p:cNvPr id="4" name="Text 2"/>
          <p:cNvSpPr txBox="1"/>
          <p:nvPr/>
        </p:nvSpPr>
        <p:spPr>
          <a:xfrm>
            <a:off x="457200" y="704850"/>
            <a:ext cx="8229600" cy="800100"/>
          </a:xfrm>
          <a:prstGeom prst="rect">
            <a:avLst/>
          </a:prstGeom>
          <a:noFill/>
          <a:ln/>
        </p:spPr>
        <p:txBody>
          <a:bodyPr wrap="square" lIns="0" tIns="0" rIns="0" bIns="0" rtlCol="0" anchor="t">
            <a:normAutofit/>
          </a:bodyPr>
          <a:lstStyle/>
          <a:p>
            <a:pPr indent="0" marL="0">
              <a:buNone/>
            </a:pPr>
            <a:r>
              <a:rPr lang="fr-FR" sz="2350" b="1" dirty="0">
                <a:solidFill>
                  <a:srgbClr val="33006F"/>
                </a:solidFill>
                <a:latin typeface="Source Sans 3" pitchFamily="34" charset="0"/>
                <a:ea typeface="Source Sans 3" pitchFamily="34" charset="-122"/>
                <a:cs typeface="Source Sans 3" pitchFamily="34" charset="-120"/>
              </a:rPr>
              <a:t>Démonstration</a:t>
            </a:r>
            <a:endParaRPr lang="fr-FR" sz="2350" dirty="0"/>
          </a:p>
        </p:txBody>
      </p:sp>
      <p:sp>
        <p:nvSpPr>
          <p:cNvPr id="5" name="Text 3"/>
          <p:cNvSpPr txBox="1"/>
          <p:nvPr/>
        </p:nvSpPr>
        <p:spPr>
          <a:xfrm>
            <a:off x="457200" y="1562100"/>
            <a:ext cx="4953000" cy="285750"/>
          </a:xfrm>
          <a:prstGeom prst="rect">
            <a:avLst/>
          </a:prstGeom>
          <a:noFill/>
          <a:ln/>
        </p:spPr>
        <p:txBody>
          <a:bodyPr wrap="square" lIns="0" tIns="0" rIns="0" bIns="0" rtlCol="0" anchor="t"/>
          <a:lstStyle/>
          <a:p>
            <a:pPr indent="0" marL="0">
              <a:buNone/>
            </a:pPr>
            <a:r>
              <a:rPr lang="fr-FR" sz="1500" dirty="0">
                <a:solidFill>
                  <a:srgbClr val="5B5670"/>
                </a:solidFill>
                <a:latin typeface="Source Sans 3" pitchFamily="34" charset="0"/>
                <a:ea typeface="Source Sans 3" pitchFamily="34" charset="-122"/>
                <a:cs typeface="Source Sans 3" pitchFamily="34" charset="-120"/>
              </a:rPr>
              <a:t>Démonstration en direct, environ 10 minutes</a:t>
            </a:r>
            <a:endParaRPr lang="fr-FR" sz="1500" dirty="0"/>
          </a:p>
        </p:txBody>
      </p:sp>
      <p:sp>
        <p:nvSpPr>
          <p:cNvPr id="6" name="Shape 4"/>
          <p:cNvSpPr/>
          <p:nvPr/>
        </p:nvSpPr>
        <p:spPr>
          <a:xfrm>
            <a:off x="457200" y="2000250"/>
            <a:ext cx="323850" cy="323850"/>
          </a:xfrm>
          <a:prstGeom prst="rect">
            <a:avLst/>
          </a:prstGeom>
          <a:solidFill>
            <a:srgbClr val="00707F"/>
          </a:solidFill>
          <a:ln w="12700">
            <a:solidFill>
              <a:srgbClr val="00707F"/>
            </a:solidFill>
            <a:prstDash val="solid"/>
          </a:ln>
        </p:spPr>
      </p:sp>
      <p:sp>
        <p:nvSpPr>
          <p:cNvPr id="7" name="Text 5"/>
          <p:cNvSpPr txBox="1"/>
          <p:nvPr/>
        </p:nvSpPr>
        <p:spPr>
          <a:xfrm>
            <a:off x="457200" y="2000250"/>
            <a:ext cx="323850" cy="323850"/>
          </a:xfrm>
          <a:prstGeom prst="rect">
            <a:avLst/>
          </a:prstGeom>
          <a:noFill/>
          <a:ln/>
        </p:spPr>
        <p:txBody>
          <a:bodyPr wrap="square" lIns="0" tIns="0" rIns="0" bIns="0" rtlCol="0" anchor="ctr"/>
          <a:lstStyle/>
          <a:p>
            <a:pPr algn="ctr" indent="0" marL="0">
              <a:buNone/>
            </a:pPr>
            <a:r>
              <a:rPr lang="fr-FR" sz="1400" b="1" dirty="0">
                <a:solidFill>
                  <a:srgbClr val="FFFFFF"/>
                </a:solidFill>
                <a:latin typeface="Source Sans 3" pitchFamily="34" charset="0"/>
                <a:ea typeface="Source Sans 3" pitchFamily="34" charset="-122"/>
                <a:cs typeface="Source Sans 3" pitchFamily="34" charset="-120"/>
              </a:rPr>
              <a:t>1</a:t>
            </a:r>
            <a:endParaRPr lang="fr-FR" sz="1400" dirty="0"/>
          </a:p>
        </p:txBody>
      </p:sp>
      <p:sp>
        <p:nvSpPr>
          <p:cNvPr id="8" name="Text 6"/>
          <p:cNvSpPr txBox="1"/>
          <p:nvPr/>
        </p:nvSpPr>
        <p:spPr>
          <a:xfrm>
            <a:off x="971550" y="1981200"/>
            <a:ext cx="4438650" cy="628650"/>
          </a:xfrm>
          <a:prstGeom prst="rect">
            <a:avLst/>
          </a:prstGeom>
          <a:noFill/>
          <a:ln/>
        </p:spPr>
        <p:txBody>
          <a:bodyPr wrap="square" lIns="0" tIns="0" rIns="0" bIns="0" rtlCol="0" anchor="t">
            <a:normAutofit/>
          </a:bodyPr>
          <a:lstStyle/>
          <a:p>
            <a:pPr indent="0" marL="0">
              <a:buNone/>
            </a:pPr>
            <a:r>
              <a:rPr lang="fr-FR" sz="1750" dirty="0">
                <a:solidFill>
                  <a:srgbClr val="434343"/>
                </a:solidFill>
                <a:latin typeface="Source Sans 3" pitchFamily="34" charset="0"/>
                <a:ea typeface="Source Sans 3" pitchFamily="34" charset="-122"/>
                <a:cs typeface="Source Sans 3" pitchFamily="34" charset="-120"/>
              </a:rPr>
              <a:t>Transifex : comment une correction de traduction arrive dans eSIL</a:t>
            </a:r>
            <a:endParaRPr lang="fr-FR" sz="1750" dirty="0"/>
          </a:p>
        </p:txBody>
      </p:sp>
      <p:sp>
        <p:nvSpPr>
          <p:cNvPr id="9" name="Shape 7"/>
          <p:cNvSpPr/>
          <p:nvPr/>
        </p:nvSpPr>
        <p:spPr>
          <a:xfrm>
            <a:off x="457200" y="2667000"/>
            <a:ext cx="323850" cy="323850"/>
          </a:xfrm>
          <a:prstGeom prst="rect">
            <a:avLst/>
          </a:prstGeom>
          <a:solidFill>
            <a:srgbClr val="00707F"/>
          </a:solidFill>
          <a:ln w="12700">
            <a:solidFill>
              <a:srgbClr val="00707F"/>
            </a:solidFill>
            <a:prstDash val="solid"/>
          </a:ln>
        </p:spPr>
      </p:sp>
      <p:sp>
        <p:nvSpPr>
          <p:cNvPr id="10" name="Text 8"/>
          <p:cNvSpPr txBox="1"/>
          <p:nvPr/>
        </p:nvSpPr>
        <p:spPr>
          <a:xfrm>
            <a:off x="457200" y="2667000"/>
            <a:ext cx="323850" cy="323850"/>
          </a:xfrm>
          <a:prstGeom prst="rect">
            <a:avLst/>
          </a:prstGeom>
          <a:noFill/>
          <a:ln/>
        </p:spPr>
        <p:txBody>
          <a:bodyPr wrap="square" lIns="0" tIns="0" rIns="0" bIns="0" rtlCol="0" anchor="ctr"/>
          <a:lstStyle/>
          <a:p>
            <a:pPr algn="ctr" indent="0" marL="0">
              <a:buNone/>
            </a:pPr>
            <a:r>
              <a:rPr lang="fr-FR" sz="1400" b="1" dirty="0">
                <a:solidFill>
                  <a:srgbClr val="FFFFFF"/>
                </a:solidFill>
                <a:latin typeface="Source Sans 3" pitchFamily="34" charset="0"/>
                <a:ea typeface="Source Sans 3" pitchFamily="34" charset="-122"/>
                <a:cs typeface="Source Sans 3" pitchFamily="34" charset="-120"/>
              </a:rPr>
              <a:t>2</a:t>
            </a:r>
            <a:endParaRPr lang="fr-FR" sz="1400" dirty="0"/>
          </a:p>
        </p:txBody>
      </p:sp>
      <p:sp>
        <p:nvSpPr>
          <p:cNvPr id="11" name="Text 9"/>
          <p:cNvSpPr txBox="1"/>
          <p:nvPr/>
        </p:nvSpPr>
        <p:spPr>
          <a:xfrm>
            <a:off x="971550" y="2647950"/>
            <a:ext cx="4438650" cy="628650"/>
          </a:xfrm>
          <a:prstGeom prst="rect">
            <a:avLst/>
          </a:prstGeom>
          <a:noFill/>
          <a:ln/>
        </p:spPr>
        <p:txBody>
          <a:bodyPr wrap="square" lIns="0" tIns="0" rIns="0" bIns="0" rtlCol="0" anchor="t">
            <a:normAutofit/>
          </a:bodyPr>
          <a:lstStyle/>
          <a:p>
            <a:pPr indent="0" marL="0">
              <a:buNone/>
            </a:pPr>
            <a:r>
              <a:rPr lang="fr-FR" sz="1750" dirty="0">
                <a:solidFill>
                  <a:srgbClr val="434343"/>
                </a:solidFill>
                <a:latin typeface="Source Sans 3" pitchFamily="34" charset="0"/>
                <a:ea typeface="Source Sans 3" pitchFamily="34" charset="-122"/>
                <a:cs typeface="Source Sans 3" pitchFamily="34" charset="-120"/>
              </a:rPr>
              <a:t>Résultats à plusieurs composantes dans le nouveau catalogue de tests</a:t>
            </a:r>
            <a:endParaRPr lang="fr-FR" sz="1750" dirty="0"/>
          </a:p>
        </p:txBody>
      </p:sp>
      <p:sp>
        <p:nvSpPr>
          <p:cNvPr id="12" name="Shape 10"/>
          <p:cNvSpPr/>
          <p:nvPr/>
        </p:nvSpPr>
        <p:spPr>
          <a:xfrm>
            <a:off x="457200" y="3333750"/>
            <a:ext cx="323850" cy="323850"/>
          </a:xfrm>
          <a:prstGeom prst="rect">
            <a:avLst/>
          </a:prstGeom>
          <a:solidFill>
            <a:srgbClr val="00707F"/>
          </a:solidFill>
          <a:ln w="12700">
            <a:solidFill>
              <a:srgbClr val="00707F"/>
            </a:solidFill>
            <a:prstDash val="solid"/>
          </a:ln>
        </p:spPr>
      </p:sp>
      <p:sp>
        <p:nvSpPr>
          <p:cNvPr id="13" name="Text 11"/>
          <p:cNvSpPr txBox="1"/>
          <p:nvPr/>
        </p:nvSpPr>
        <p:spPr>
          <a:xfrm>
            <a:off x="457200" y="3333750"/>
            <a:ext cx="323850" cy="323850"/>
          </a:xfrm>
          <a:prstGeom prst="rect">
            <a:avLst/>
          </a:prstGeom>
          <a:noFill/>
          <a:ln/>
        </p:spPr>
        <p:txBody>
          <a:bodyPr wrap="square" lIns="0" tIns="0" rIns="0" bIns="0" rtlCol="0" anchor="ctr"/>
          <a:lstStyle/>
          <a:p>
            <a:pPr algn="ctr" indent="0" marL="0">
              <a:buNone/>
            </a:pPr>
            <a:r>
              <a:rPr lang="fr-FR" sz="1400" b="1" dirty="0">
                <a:solidFill>
                  <a:srgbClr val="FFFFFF"/>
                </a:solidFill>
                <a:latin typeface="Source Sans 3" pitchFamily="34" charset="0"/>
                <a:ea typeface="Source Sans 3" pitchFamily="34" charset="-122"/>
                <a:cs typeface="Source Sans 3" pitchFamily="34" charset="-120"/>
              </a:rPr>
              <a:t>3</a:t>
            </a:r>
            <a:endParaRPr lang="fr-FR" sz="1400" dirty="0"/>
          </a:p>
        </p:txBody>
      </p:sp>
      <p:sp>
        <p:nvSpPr>
          <p:cNvPr id="14" name="Text 12"/>
          <p:cNvSpPr txBox="1"/>
          <p:nvPr/>
        </p:nvSpPr>
        <p:spPr>
          <a:xfrm>
            <a:off x="971550" y="3314700"/>
            <a:ext cx="4438650" cy="628650"/>
          </a:xfrm>
          <a:prstGeom prst="rect">
            <a:avLst/>
          </a:prstGeom>
          <a:noFill/>
          <a:ln/>
        </p:spPr>
        <p:txBody>
          <a:bodyPr wrap="square" lIns="0" tIns="0" rIns="0" bIns="0" rtlCol="0" anchor="t">
            <a:normAutofit/>
          </a:bodyPr>
          <a:lstStyle/>
          <a:p>
            <a:pPr indent="0" marL="0">
              <a:buNone/>
            </a:pPr>
            <a:r>
              <a:rPr lang="fr-FR" sz="1750" dirty="0">
                <a:solidFill>
                  <a:srgbClr val="434343"/>
                </a:solidFill>
                <a:latin typeface="Source Sans 3" pitchFamily="34" charset="0"/>
                <a:ea typeface="Source Sans 3" pitchFamily="34" charset="-122"/>
                <a:cs typeface="Source Sans 3" pitchFamily="34" charset="-120"/>
              </a:rPr>
              <a:t>Le nouvel écran de saisie des résultats</a:t>
            </a:r>
            <a:endParaRPr lang="fr-FR" sz="1750" dirty="0"/>
          </a:p>
        </p:txBody>
      </p:sp>
      <p:sp>
        <p:nvSpPr>
          <p:cNvPr id="15" name="Shape 13"/>
          <p:cNvSpPr/>
          <p:nvPr/>
        </p:nvSpPr>
        <p:spPr>
          <a:xfrm>
            <a:off x="5829300" y="1562100"/>
            <a:ext cx="2857500" cy="3028950"/>
          </a:xfrm>
          <a:prstGeom prst="rect">
            <a:avLst/>
          </a:prstGeom>
          <a:solidFill>
            <a:srgbClr val="33006F"/>
          </a:solidFill>
          <a:ln w="12700">
            <a:solidFill>
              <a:srgbClr val="33006F"/>
            </a:solidFill>
            <a:prstDash val="solid"/>
          </a:ln>
        </p:spPr>
      </p:sp>
      <p:sp>
        <p:nvSpPr>
          <p:cNvPr id="16" name="Text 14"/>
          <p:cNvSpPr txBox="1"/>
          <p:nvPr/>
        </p:nvSpPr>
        <p:spPr>
          <a:xfrm>
            <a:off x="5829300" y="1562100"/>
            <a:ext cx="2857500" cy="3028950"/>
          </a:xfrm>
          <a:prstGeom prst="rect">
            <a:avLst/>
          </a:prstGeom>
          <a:noFill/>
          <a:ln/>
        </p:spPr>
        <p:txBody>
          <a:bodyPr wrap="square" lIns="0" tIns="0" rIns="0" bIns="0" rtlCol="0" anchor="ctr"/>
          <a:lstStyle/>
          <a:p>
            <a:pPr algn="ctr" indent="0" marL="0">
              <a:buNone/>
            </a:pPr>
            <a:r>
              <a:rPr lang="fr-FR" sz="1500" dirty="0">
                <a:solidFill>
                  <a:srgbClr val="FFFFFF"/>
                </a:solidFill>
                <a:latin typeface="Source Sans 3" pitchFamily="34" charset="0"/>
                <a:ea typeface="Source Sans 3" pitchFamily="34" charset="-122"/>
                <a:cs typeface="Source Sans 3" pitchFamily="34" charset="-120"/>
              </a:rPr>
              <a:t>Démo en direct</a:t>
            </a:r>
            <a:endParaRPr lang="fr-FR" sz="1500" dirty="0"/>
          </a:p>
        </p:txBody>
      </p:sp>
      <p:sp>
        <p:nvSpPr>
          <p:cNvPr id="17" name="Text 15"/>
          <p:cNvSpPr txBox="1"/>
          <p:nvPr/>
        </p:nvSpPr>
        <p:spPr>
          <a:xfrm>
            <a:off x="7953375" y="4743450"/>
            <a:ext cx="952500" cy="228600"/>
          </a:xfrm>
          <a:prstGeom prst="rect">
            <a:avLst/>
          </a:prstGeom>
          <a:noFill/>
          <a:ln/>
        </p:spPr>
        <p:txBody>
          <a:bodyPr wrap="square" lIns="0" tIns="0" rIns="0" bIns="0" rtlCol="0" anchor="t"/>
          <a:lstStyle/>
          <a:p>
            <a:pPr algn="r" indent="0" marL="0">
              <a:buNone/>
            </a:pPr>
            <a:r>
              <a:rPr lang="fr-FR" sz="1000" dirty="0">
                <a:solidFill>
                  <a:srgbClr val="888888"/>
                </a:solidFill>
                <a:latin typeface="Source Sans 3" pitchFamily="34" charset="0"/>
                <a:ea typeface="Source Sans 3" pitchFamily="34" charset="-122"/>
                <a:cs typeface="Source Sans 3" pitchFamily="34" charset="-120"/>
              </a:rPr>
              <a:t>9</a:t>
            </a:r>
            <a:endParaRPr lang="fr-FR" sz="1000" dirty="0"/>
          </a:p>
        </p:txBody>
      </p:sp>
      <p:sp>
        <p:nvSpPr>
          <p:cNvPr id="18" name="Text 16"/>
          <p:cNvSpPr txBox="1"/>
          <p:nvPr/>
        </p:nvSpPr>
        <p:spPr>
          <a:xfrm>
            <a:off x="457200" y="4743450"/>
            <a:ext cx="3810000" cy="228600"/>
          </a:xfrm>
          <a:prstGeom prst="rect">
            <a:avLst/>
          </a:prstGeom>
          <a:noFill/>
          <a:ln/>
        </p:spPr>
        <p:txBody>
          <a:bodyPr wrap="square" lIns="0" tIns="0" rIns="0" bIns="0" rtlCol="0" anchor="t"/>
          <a:lstStyle/>
          <a:p>
            <a:pPr algn="l" indent="0" marL="0">
              <a:buNone/>
            </a:pPr>
            <a:r>
              <a:rPr lang="fr-FR" sz="1000" dirty="0">
                <a:solidFill>
                  <a:srgbClr val="888888"/>
                </a:solidFill>
                <a:latin typeface="Source Sans 3" pitchFamily="34" charset="0"/>
                <a:ea typeface="Source Sans 3" pitchFamily="34" charset="-122"/>
                <a:cs typeface="Source Sans 3" pitchFamily="34" charset="-120"/>
              </a:rPr>
              <a:t>Passation eSIL Madagascar</a:t>
            </a:r>
            <a:endParaRPr lang="fr-FR" sz="10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247650"/>
            <a:ext cx="8229600" cy="209550"/>
          </a:xfrm>
          <a:prstGeom prst="rect">
            <a:avLst/>
          </a:prstGeom>
          <a:noFill/>
          <a:ln/>
        </p:spPr>
        <p:txBody>
          <a:bodyPr wrap="square" lIns="0" tIns="0" rIns="0" bIns="0" rtlCol="0" anchor="t"/>
          <a:lstStyle/>
          <a:p>
            <a:pPr indent="0" marL="0">
              <a:buNone/>
            </a:pPr>
            <a:r>
              <a:rPr lang="fr-FR" sz="1200" b="1" spc="150" kern="0" dirty="0">
                <a:solidFill>
                  <a:srgbClr val="00707F"/>
                </a:solidFill>
                <a:latin typeface="Source Sans 3" pitchFamily="34" charset="0"/>
                <a:ea typeface="Source Sans 3" pitchFamily="34" charset="-122"/>
                <a:cs typeface="Source Sans 3" pitchFamily="34" charset="-120"/>
              </a:rPr>
              <a:t>BILAN DU PROJET</a:t>
            </a:r>
            <a:pPr indent="0" marL="0">
              <a:buNone/>
            </a:pPr>
            <a:r>
              <a:rPr lang="fr-FR" sz="1200" dirty="0">
                <a:solidFill>
                  <a:srgbClr val="888888"/>
                </a:solidFill>
                <a:latin typeface="Source Sans 3" pitchFamily="34" charset="0"/>
                <a:ea typeface="Source Sans 3" pitchFamily="34" charset="-122"/>
                <a:cs typeface="Source Sans 3" pitchFamily="34" charset="-120"/>
              </a:rPr>
              <a:t>    Section 1 sur 7</a:t>
            </a:r>
            <a:endParaRPr lang="fr-FR" sz="1200" dirty="0"/>
          </a:p>
        </p:txBody>
      </p:sp>
      <p:sp>
        <p:nvSpPr>
          <p:cNvPr id="3" name="Shape 1"/>
          <p:cNvSpPr/>
          <p:nvPr/>
        </p:nvSpPr>
        <p:spPr>
          <a:xfrm>
            <a:off x="457200" y="533400"/>
            <a:ext cx="685800" cy="57150"/>
          </a:xfrm>
          <a:prstGeom prst="rect">
            <a:avLst/>
          </a:prstGeom>
          <a:solidFill>
            <a:srgbClr val="00707F"/>
          </a:solidFill>
          <a:ln w="12700">
            <a:solidFill>
              <a:srgbClr val="00707F"/>
            </a:solidFill>
            <a:prstDash val="solid"/>
          </a:ln>
        </p:spPr>
      </p:sp>
      <p:sp>
        <p:nvSpPr>
          <p:cNvPr id="4" name="Text 2"/>
          <p:cNvSpPr txBox="1"/>
          <p:nvPr/>
        </p:nvSpPr>
        <p:spPr>
          <a:xfrm>
            <a:off x="457200" y="704850"/>
            <a:ext cx="8229600" cy="800100"/>
          </a:xfrm>
          <a:prstGeom prst="rect">
            <a:avLst/>
          </a:prstGeom>
          <a:noFill/>
          <a:ln/>
        </p:spPr>
        <p:txBody>
          <a:bodyPr wrap="square" lIns="0" tIns="0" rIns="0" bIns="0" rtlCol="0" anchor="t">
            <a:normAutofit/>
          </a:bodyPr>
          <a:lstStyle/>
          <a:p>
            <a:pPr indent="0" marL="0">
              <a:buNone/>
            </a:pPr>
            <a:r>
              <a:rPr lang="fr-FR" sz="2350" b="1" dirty="0">
                <a:solidFill>
                  <a:srgbClr val="33006F"/>
                </a:solidFill>
                <a:latin typeface="Source Sans 3" pitchFamily="34" charset="0"/>
                <a:ea typeface="Source Sans 3" pitchFamily="34" charset="-122"/>
                <a:cs typeface="Source Sans 3" pitchFamily="34" charset="-120"/>
              </a:rPr>
              <a:t>Ressources clés : tout au même endroit</a:t>
            </a:r>
            <a:endParaRPr lang="fr-FR" sz="2350" dirty="0"/>
          </a:p>
        </p:txBody>
      </p:sp>
      <p:sp>
        <p:nvSpPr>
          <p:cNvPr id="5" name="Text 3"/>
          <p:cNvSpPr txBox="1"/>
          <p:nvPr/>
        </p:nvSpPr>
        <p:spPr>
          <a:xfrm>
            <a:off x="457200" y="1562100"/>
            <a:ext cx="4953000" cy="266700"/>
          </a:xfrm>
          <a:prstGeom prst="rect">
            <a:avLst/>
          </a:prstGeom>
          <a:noFill/>
          <a:ln/>
        </p:spPr>
        <p:txBody>
          <a:bodyPr wrap="square" lIns="0" tIns="0" rIns="0" bIns="0" rtlCol="0" anchor="t"/>
          <a:lstStyle/>
          <a:p>
            <a:pPr indent="0" marL="0">
              <a:buNone/>
            </a:pPr>
            <a:r>
              <a:rPr lang="fr-FR" sz="1650" b="1" dirty="0">
                <a:solidFill>
                  <a:srgbClr val="33006F"/>
                </a:solidFill>
                <a:latin typeface="Source Sans 3" pitchFamily="34" charset="0"/>
                <a:ea typeface="Source Sans 3" pitchFamily="34" charset="-122"/>
                <a:cs typeface="Source Sans 3" pitchFamily="34" charset="-120"/>
              </a:rPr>
              <a:t>Dossier de gestion eSIL</a:t>
            </a:r>
            <a:endParaRPr lang="fr-FR" sz="1650" dirty="0"/>
          </a:p>
        </p:txBody>
      </p:sp>
      <p:sp>
        <p:nvSpPr>
          <p:cNvPr id="6" name="Text 4"/>
          <p:cNvSpPr txBox="1"/>
          <p:nvPr/>
        </p:nvSpPr>
        <p:spPr>
          <a:xfrm>
            <a:off x="457200" y="1828800"/>
            <a:ext cx="4953000" cy="190500"/>
          </a:xfrm>
          <a:prstGeom prst="rect">
            <a:avLst/>
          </a:prstGeom>
          <a:noFill/>
          <a:ln/>
        </p:spPr>
        <p:txBody>
          <a:bodyPr wrap="square" lIns="0" tIns="0" rIns="0" bIns="0" rtlCol="0" anchor="t"/>
          <a:lstStyle/>
          <a:p>
            <a:pPr indent="0" marL="0">
              <a:buNone/>
            </a:pPr>
            <a:r>
              <a:rPr lang="fr-FR" sz="1000" dirty="0">
                <a:solidFill>
                  <a:srgbClr val="01458E"/>
                </a:solidFill>
                <a:latin typeface="Source Sans 3" pitchFamily="34" charset="0"/>
                <a:ea typeface="Source Sans 3" pitchFamily="34" charset="-122"/>
                <a:cs typeface="Source Sans 3" pitchFamily="34" charset="-120"/>
              </a:rPr>
              <a:t>drive.google.com/drive/folders/1NVSJlD1si1R8bIrHWDNO6e56cMmw5FSU</a:t>
            </a:r>
            <a:endParaRPr lang="fr-FR" sz="1000" dirty="0"/>
          </a:p>
        </p:txBody>
      </p:sp>
      <p:sp>
        <p:nvSpPr>
          <p:cNvPr id="7" name="Text 5"/>
          <p:cNvSpPr txBox="1"/>
          <p:nvPr/>
        </p:nvSpPr>
        <p:spPr>
          <a:xfrm>
            <a:off x="457200" y="2133600"/>
            <a:ext cx="152400" cy="272987"/>
          </a:xfrm>
          <a:prstGeom prst="rect">
            <a:avLst/>
          </a:prstGeom>
          <a:noFill/>
          <a:ln/>
        </p:spPr>
        <p:txBody>
          <a:bodyPr wrap="square" lIns="0" tIns="0" rIns="0" bIns="0" rtlCol="0" anchor="t"/>
          <a:lstStyle/>
          <a:p>
            <a:pPr indent="0" marL="0">
              <a:buNone/>
            </a:pPr>
            <a:r>
              <a:rPr lang="fr-FR" sz="1500" b="1" dirty="0">
                <a:solidFill>
                  <a:srgbClr val="33006F"/>
                </a:solidFill>
                <a:latin typeface="Source Sans 3" pitchFamily="34" charset="0"/>
                <a:ea typeface="Source Sans 3" pitchFamily="34" charset="-122"/>
                <a:cs typeface="Source Sans 3" pitchFamily="34" charset="-120"/>
              </a:rPr>
              <a:t>•</a:t>
            </a:r>
            <a:endParaRPr lang="fr-FR" sz="1500" dirty="0"/>
          </a:p>
        </p:txBody>
      </p:sp>
      <p:sp>
        <p:nvSpPr>
          <p:cNvPr id="8" name="Text 6"/>
          <p:cNvSpPr txBox="1"/>
          <p:nvPr/>
        </p:nvSpPr>
        <p:spPr>
          <a:xfrm>
            <a:off x="647700" y="2133600"/>
            <a:ext cx="4762500" cy="272987"/>
          </a:xfrm>
          <a:prstGeom prst="rect">
            <a:avLst/>
          </a:prstGeom>
          <a:noFill/>
          <a:ln/>
        </p:spPr>
        <p:txBody>
          <a:bodyPr wrap="square" lIns="0" tIns="0" rIns="0" bIns="0" rtlCol="0" anchor="t"/>
          <a:lstStyle/>
          <a:p>
            <a:pPr indent="0" marL="0">
              <a:buNone/>
            </a:pPr>
            <a:r>
              <a:rPr lang="fr-FR" sz="1500" dirty="0">
                <a:solidFill>
                  <a:srgbClr val="434343"/>
                </a:solidFill>
                <a:latin typeface="Source Sans 3" pitchFamily="34" charset="0"/>
                <a:ea typeface="Source Sans 3" pitchFamily="34" charset="-122"/>
                <a:cs typeface="Source Sans 3" pitchFamily="34" charset="-120"/>
              </a:rPr>
              <a:t>Documents du projet et besoins</a:t>
            </a:r>
            <a:endParaRPr lang="fr-FR" sz="1500" dirty="0"/>
          </a:p>
        </p:txBody>
      </p:sp>
      <p:sp>
        <p:nvSpPr>
          <p:cNvPr id="9" name="Text 7"/>
          <p:cNvSpPr txBox="1"/>
          <p:nvPr/>
        </p:nvSpPr>
        <p:spPr>
          <a:xfrm>
            <a:off x="457200" y="2520886"/>
            <a:ext cx="152400" cy="272987"/>
          </a:xfrm>
          <a:prstGeom prst="rect">
            <a:avLst/>
          </a:prstGeom>
          <a:noFill/>
          <a:ln/>
        </p:spPr>
        <p:txBody>
          <a:bodyPr wrap="square" lIns="0" tIns="0" rIns="0" bIns="0" rtlCol="0" anchor="t"/>
          <a:lstStyle/>
          <a:p>
            <a:pPr indent="0" marL="0">
              <a:buNone/>
            </a:pPr>
            <a:r>
              <a:rPr lang="fr-FR" sz="1500" b="1" dirty="0">
                <a:solidFill>
                  <a:srgbClr val="33006F"/>
                </a:solidFill>
                <a:latin typeface="Source Sans 3" pitchFamily="34" charset="0"/>
                <a:ea typeface="Source Sans 3" pitchFamily="34" charset="-122"/>
                <a:cs typeface="Source Sans 3" pitchFamily="34" charset="-120"/>
              </a:rPr>
              <a:t>•</a:t>
            </a:r>
            <a:endParaRPr lang="fr-FR" sz="1500" dirty="0"/>
          </a:p>
        </p:txBody>
      </p:sp>
      <p:sp>
        <p:nvSpPr>
          <p:cNvPr id="10" name="Text 8"/>
          <p:cNvSpPr txBox="1"/>
          <p:nvPr/>
        </p:nvSpPr>
        <p:spPr>
          <a:xfrm>
            <a:off x="647700" y="2520886"/>
            <a:ext cx="4762500" cy="272987"/>
          </a:xfrm>
          <a:prstGeom prst="rect">
            <a:avLst/>
          </a:prstGeom>
          <a:noFill/>
          <a:ln/>
        </p:spPr>
        <p:txBody>
          <a:bodyPr wrap="square" lIns="0" tIns="0" rIns="0" bIns="0" rtlCol="0" anchor="t"/>
          <a:lstStyle/>
          <a:p>
            <a:pPr indent="0" marL="0">
              <a:buNone/>
            </a:pPr>
            <a:r>
              <a:rPr lang="fr-FR" sz="1500" dirty="0">
                <a:solidFill>
                  <a:srgbClr val="434343"/>
                </a:solidFill>
                <a:latin typeface="Source Sans 3" pitchFamily="34" charset="0"/>
                <a:ea typeface="Source Sans 3" pitchFamily="34" charset="-122"/>
                <a:cs typeface="Source Sans 3" pitchFamily="34" charset="-120"/>
              </a:rPr>
              <a:t>Supports de formation</a:t>
            </a:r>
            <a:endParaRPr lang="fr-FR" sz="1500" dirty="0"/>
          </a:p>
        </p:txBody>
      </p:sp>
      <p:sp>
        <p:nvSpPr>
          <p:cNvPr id="11" name="Text 9"/>
          <p:cNvSpPr txBox="1"/>
          <p:nvPr/>
        </p:nvSpPr>
        <p:spPr>
          <a:xfrm>
            <a:off x="457200" y="2908173"/>
            <a:ext cx="152400" cy="1288733"/>
          </a:xfrm>
          <a:prstGeom prst="rect">
            <a:avLst/>
          </a:prstGeom>
          <a:noFill/>
          <a:ln/>
        </p:spPr>
        <p:txBody>
          <a:bodyPr wrap="square" lIns="0" tIns="0" rIns="0" bIns="0" rtlCol="0" anchor="t"/>
          <a:lstStyle/>
          <a:p>
            <a:pPr indent="0" marL="0">
              <a:buNone/>
            </a:pPr>
            <a:r>
              <a:rPr lang="fr-FR" sz="1500" b="1" dirty="0">
                <a:solidFill>
                  <a:srgbClr val="33006F"/>
                </a:solidFill>
                <a:latin typeface="Source Sans 3" pitchFamily="34" charset="0"/>
                <a:ea typeface="Source Sans 3" pitchFamily="34" charset="-122"/>
                <a:cs typeface="Source Sans 3" pitchFamily="34" charset="-120"/>
              </a:rPr>
              <a:t>•</a:t>
            </a:r>
            <a:endParaRPr lang="fr-FR" sz="1500" dirty="0"/>
          </a:p>
        </p:txBody>
      </p:sp>
      <p:sp>
        <p:nvSpPr>
          <p:cNvPr id="12" name="Text 10"/>
          <p:cNvSpPr txBox="1"/>
          <p:nvPr/>
        </p:nvSpPr>
        <p:spPr>
          <a:xfrm>
            <a:off x="647700" y="2908173"/>
            <a:ext cx="4762500" cy="1288733"/>
          </a:xfrm>
          <a:prstGeom prst="rect">
            <a:avLst/>
          </a:prstGeom>
          <a:noFill/>
          <a:ln/>
        </p:spPr>
        <p:txBody>
          <a:bodyPr wrap="square" lIns="0" tIns="0" rIns="0" bIns="0" rtlCol="0" anchor="t"/>
          <a:lstStyle/>
          <a:p>
            <a:pPr indent="0" marL="0">
              <a:buNone/>
            </a:pPr>
            <a:r>
              <a:rPr lang="fr-FR" sz="1500" dirty="0">
                <a:solidFill>
                  <a:srgbClr val="434343"/>
                </a:solidFill>
                <a:latin typeface="Source Sans 3" pitchFamily="34" charset="0"/>
                <a:ea typeface="Source Sans 3" pitchFamily="34" charset="-122"/>
                <a:cs typeface="Source Sans 3" pitchFamily="34" charset="-120"/>
              </a:rPr>
              <a:t>Documentation OpenELIS Global (le wiki). La plupart des pages sont maintenant en français. D'autres pages suivront à mesure que les nouvelles sections du manuel seront terminées.</a:t>
            </a:r>
            <a:endParaRPr lang="fr-FR" sz="1500" dirty="0"/>
          </a:p>
        </p:txBody>
      </p:sp>
      <p:sp>
        <p:nvSpPr>
          <p:cNvPr id="13" name="Text 11"/>
          <p:cNvSpPr txBox="1"/>
          <p:nvPr/>
        </p:nvSpPr>
        <p:spPr>
          <a:xfrm>
            <a:off x="457200" y="4311205"/>
            <a:ext cx="152400" cy="272987"/>
          </a:xfrm>
          <a:prstGeom prst="rect">
            <a:avLst/>
          </a:prstGeom>
          <a:noFill/>
          <a:ln/>
        </p:spPr>
        <p:txBody>
          <a:bodyPr wrap="square" lIns="0" tIns="0" rIns="0" bIns="0" rtlCol="0" anchor="t"/>
          <a:lstStyle/>
          <a:p>
            <a:pPr indent="0" marL="0">
              <a:buNone/>
            </a:pPr>
            <a:r>
              <a:rPr lang="fr-FR" sz="1500" b="1" dirty="0">
                <a:solidFill>
                  <a:srgbClr val="33006F"/>
                </a:solidFill>
                <a:latin typeface="Source Sans 3" pitchFamily="34" charset="0"/>
                <a:ea typeface="Source Sans 3" pitchFamily="34" charset="-122"/>
                <a:cs typeface="Source Sans 3" pitchFamily="34" charset="-120"/>
              </a:rPr>
              <a:t>•</a:t>
            </a:r>
            <a:endParaRPr lang="fr-FR" sz="1500" dirty="0"/>
          </a:p>
        </p:txBody>
      </p:sp>
      <p:sp>
        <p:nvSpPr>
          <p:cNvPr id="14" name="Text 12"/>
          <p:cNvSpPr txBox="1"/>
          <p:nvPr/>
        </p:nvSpPr>
        <p:spPr>
          <a:xfrm>
            <a:off x="647700" y="4311205"/>
            <a:ext cx="4762500" cy="272987"/>
          </a:xfrm>
          <a:prstGeom prst="rect">
            <a:avLst/>
          </a:prstGeom>
          <a:noFill/>
          <a:ln/>
        </p:spPr>
        <p:txBody>
          <a:bodyPr wrap="square" lIns="0" tIns="0" rIns="0" bIns="0" rtlCol="0" anchor="t"/>
          <a:lstStyle/>
          <a:p>
            <a:pPr indent="0" marL="0">
              <a:buNone/>
            </a:pPr>
            <a:r>
              <a:rPr lang="fr-FR" sz="1500" dirty="0">
                <a:solidFill>
                  <a:srgbClr val="434343"/>
                </a:solidFill>
                <a:latin typeface="Source Sans 3" pitchFamily="34" charset="0"/>
                <a:ea typeface="Source Sans 3" pitchFamily="34" charset="-122"/>
                <a:cs typeface="Source Sans 3" pitchFamily="34" charset="-120"/>
              </a:rPr>
              <a:t>Notes de version pour chaque version</a:t>
            </a:r>
            <a:endParaRPr lang="fr-FR" sz="1500" dirty="0"/>
          </a:p>
        </p:txBody>
      </p:sp>
      <p:sp>
        <p:nvSpPr>
          <p:cNvPr id="15" name="Shape 13"/>
          <p:cNvSpPr/>
          <p:nvPr/>
        </p:nvSpPr>
        <p:spPr>
          <a:xfrm>
            <a:off x="5829300" y="1562100"/>
            <a:ext cx="2857500" cy="3028950"/>
          </a:xfrm>
          <a:prstGeom prst="rect">
            <a:avLst/>
          </a:prstGeom>
          <a:solidFill>
            <a:srgbClr val="F0F0FF"/>
          </a:solidFill>
          <a:ln w="19050">
            <a:solidFill>
              <a:srgbClr val="BFBFBF"/>
            </a:solidFill>
            <a:prstDash val="dash"/>
          </a:ln>
        </p:spPr>
      </p:sp>
      <p:sp>
        <p:nvSpPr>
          <p:cNvPr id="16" name="Text 14"/>
          <p:cNvSpPr txBox="1"/>
          <p:nvPr/>
        </p:nvSpPr>
        <p:spPr>
          <a:xfrm>
            <a:off x="6019800" y="1562100"/>
            <a:ext cx="2476500" cy="3028950"/>
          </a:xfrm>
          <a:prstGeom prst="rect">
            <a:avLst/>
          </a:prstGeom>
          <a:noFill/>
          <a:ln/>
        </p:spPr>
        <p:txBody>
          <a:bodyPr wrap="square" lIns="0" tIns="0" rIns="0" bIns="0" rtlCol="0" anchor="ctr"/>
          <a:lstStyle/>
          <a:p>
            <a:pPr algn="ctr" indent="0" marL="0">
              <a:buNone/>
            </a:pPr>
            <a:r>
              <a:rPr lang="fr-FR" sz="1400" b="1" dirty="0">
                <a:solidFill>
                  <a:srgbClr val="01458E"/>
                </a:solidFill>
                <a:latin typeface="Source Sans 3" pitchFamily="34" charset="0"/>
                <a:ea typeface="Source Sans 3" pitchFamily="34" charset="-122"/>
                <a:cs typeface="Source Sans 3" pitchFamily="34" charset="-120"/>
              </a:rPr>
              <a:t>Emplacement : </a:t>
            </a:r>
            <a:pPr algn="ctr" indent="0" marL="0">
              <a:buNone/>
            </a:pPr>
            <a:r>
              <a:rPr lang="fr-FR" sz="1400" dirty="0">
                <a:solidFill>
                  <a:srgbClr val="434343"/>
                </a:solidFill>
                <a:latin typeface="Source Sans 3" pitchFamily="34" charset="0"/>
                <a:ea typeface="Source Sans 3" pitchFamily="34" charset="-122"/>
                <a:cs typeface="Source Sans 3" pitchFamily="34" charset="-120"/>
              </a:rPr>
              <a:t>Capture d'écran du wiki en français, montrant le changement de langue (Taib)</a:t>
            </a:r>
            <a:endParaRPr lang="fr-FR" sz="1400" dirty="0"/>
          </a:p>
        </p:txBody>
      </p:sp>
      <p:sp>
        <p:nvSpPr>
          <p:cNvPr id="17" name="Text 15"/>
          <p:cNvSpPr txBox="1"/>
          <p:nvPr/>
        </p:nvSpPr>
        <p:spPr>
          <a:xfrm>
            <a:off x="7953375" y="4743450"/>
            <a:ext cx="952500" cy="228600"/>
          </a:xfrm>
          <a:prstGeom prst="rect">
            <a:avLst/>
          </a:prstGeom>
          <a:noFill/>
          <a:ln/>
        </p:spPr>
        <p:txBody>
          <a:bodyPr wrap="square" lIns="0" tIns="0" rIns="0" bIns="0" rtlCol="0" anchor="t"/>
          <a:lstStyle/>
          <a:p>
            <a:pPr algn="r" indent="0" marL="0">
              <a:buNone/>
            </a:pPr>
            <a:r>
              <a:rPr lang="fr-FR" sz="1000" dirty="0">
                <a:solidFill>
                  <a:srgbClr val="888888"/>
                </a:solidFill>
                <a:latin typeface="Source Sans 3" pitchFamily="34" charset="0"/>
                <a:ea typeface="Source Sans 3" pitchFamily="34" charset="-122"/>
                <a:cs typeface="Source Sans 3" pitchFamily="34" charset="-120"/>
              </a:rPr>
              <a:t>10</a:t>
            </a:r>
            <a:endParaRPr lang="fr-FR" sz="1000" dirty="0"/>
          </a:p>
        </p:txBody>
      </p:sp>
      <p:sp>
        <p:nvSpPr>
          <p:cNvPr id="18" name="Text 16"/>
          <p:cNvSpPr txBox="1"/>
          <p:nvPr/>
        </p:nvSpPr>
        <p:spPr>
          <a:xfrm>
            <a:off x="457200" y="4743450"/>
            <a:ext cx="3810000" cy="228600"/>
          </a:xfrm>
          <a:prstGeom prst="rect">
            <a:avLst/>
          </a:prstGeom>
          <a:noFill/>
          <a:ln/>
        </p:spPr>
        <p:txBody>
          <a:bodyPr wrap="square" lIns="0" tIns="0" rIns="0" bIns="0" rtlCol="0" anchor="t"/>
          <a:lstStyle/>
          <a:p>
            <a:pPr algn="l" indent="0" marL="0">
              <a:buNone/>
            </a:pPr>
            <a:r>
              <a:rPr lang="fr-FR" sz="1000" dirty="0">
                <a:solidFill>
                  <a:srgbClr val="888888"/>
                </a:solidFill>
                <a:latin typeface="Source Sans 3" pitchFamily="34" charset="0"/>
                <a:ea typeface="Source Sans 3" pitchFamily="34" charset="-122"/>
                <a:cs typeface="Source Sans 3" pitchFamily="34" charset="-120"/>
              </a:rPr>
              <a:t>Passation eSIL Madagascar</a:t>
            </a:r>
            <a:endParaRPr lang="fr-FR" sz="10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067175" y="-1381125"/>
            <a:ext cx="8124825" cy="8124825"/>
          </a:xfrm>
          <a:prstGeom prst="ellipse">
            <a:avLst/>
          </a:prstGeom>
          <a:solidFill>
            <a:srgbClr val="33006F"/>
          </a:solidFill>
          <a:ln w="12700">
            <a:solidFill>
              <a:srgbClr val="33006F"/>
            </a:solidFill>
            <a:prstDash val="solid"/>
          </a:ln>
        </p:spPr>
      </p:sp>
      <p:sp>
        <p:nvSpPr>
          <p:cNvPr id="3" name="Text 1"/>
          <p:cNvSpPr txBox="1"/>
          <p:nvPr/>
        </p:nvSpPr>
        <p:spPr>
          <a:xfrm>
            <a:off x="4762500" y="1428750"/>
            <a:ext cx="3810000" cy="1238250"/>
          </a:xfrm>
          <a:prstGeom prst="rect">
            <a:avLst/>
          </a:prstGeom>
          <a:noFill/>
          <a:ln/>
        </p:spPr>
        <p:txBody>
          <a:bodyPr wrap="square" lIns="0" tIns="0" rIns="0" bIns="0" rtlCol="0" anchor="b">
            <a:normAutofit/>
          </a:bodyPr>
          <a:lstStyle/>
          <a:p>
            <a:pPr indent="0" marL="0">
              <a:buNone/>
            </a:pPr>
            <a:r>
              <a:rPr lang="fr-FR" sz="2600" b="1" dirty="0">
                <a:solidFill>
                  <a:srgbClr val="33006F"/>
                </a:solidFill>
                <a:latin typeface="Source Sans 3" pitchFamily="34" charset="0"/>
                <a:ea typeface="Source Sans 3" pitchFamily="34" charset="-122"/>
                <a:cs typeface="Source Sans 3" pitchFamily="34" charset="-120"/>
              </a:rPr>
              <a:t>2. Comment fonctionne la communauté OpenELIS Global</a:t>
            </a:r>
            <a:endParaRPr lang="fr-FR" sz="2600" dirty="0"/>
          </a:p>
        </p:txBody>
      </p:sp>
      <p:sp>
        <p:nvSpPr>
          <p:cNvPr id="4" name="Text 2"/>
          <p:cNvSpPr txBox="1"/>
          <p:nvPr/>
        </p:nvSpPr>
        <p:spPr>
          <a:xfrm>
            <a:off x="4762500" y="2781300"/>
            <a:ext cx="3810000" cy="1143000"/>
          </a:xfrm>
          <a:prstGeom prst="rect">
            <a:avLst/>
          </a:prstGeom>
          <a:noFill/>
          <a:ln/>
        </p:spPr>
        <p:txBody>
          <a:bodyPr wrap="square" lIns="0" tIns="0" rIns="0" bIns="0" rtlCol="0" anchor="t"/>
          <a:lstStyle/>
          <a:p>
            <a:pPr indent="0" marL="0">
              <a:buNone/>
            </a:pPr>
            <a:r>
              <a:rPr lang="fr-FR" sz="1650" dirty="0">
                <a:solidFill>
                  <a:srgbClr val="434343"/>
                </a:solidFill>
                <a:latin typeface="Source Sans 3" pitchFamily="34" charset="0"/>
                <a:ea typeface="Source Sans 3" pitchFamily="34" charset="-122"/>
                <a:cs typeface="Source Sans 3" pitchFamily="34" charset="-120"/>
              </a:rPr>
              <a:t>Un forum, un appel hebdomadaire, et un chemin clair d'un message à un changement.</a:t>
            </a:r>
            <a:endParaRPr lang="fr-FR" sz="1650" dirty="0"/>
          </a:p>
        </p:txBody>
      </p:sp>
      <p:sp>
        <p:nvSpPr>
          <p:cNvPr id="5" name="Text 3"/>
          <p:cNvSpPr txBox="1"/>
          <p:nvPr/>
        </p:nvSpPr>
        <p:spPr>
          <a:xfrm>
            <a:off x="7953375" y="4743450"/>
            <a:ext cx="952500" cy="228600"/>
          </a:xfrm>
          <a:prstGeom prst="rect">
            <a:avLst/>
          </a:prstGeom>
          <a:noFill/>
          <a:ln/>
        </p:spPr>
        <p:txBody>
          <a:bodyPr wrap="square" lIns="0" tIns="0" rIns="0" bIns="0" rtlCol="0" anchor="t"/>
          <a:lstStyle/>
          <a:p>
            <a:pPr algn="r" indent="0" marL="0">
              <a:buNone/>
            </a:pPr>
            <a:r>
              <a:rPr lang="fr-FR" sz="1000" dirty="0">
                <a:solidFill>
                  <a:srgbClr val="888888"/>
                </a:solidFill>
                <a:latin typeface="Source Sans 3" pitchFamily="34" charset="0"/>
                <a:ea typeface="Source Sans 3" pitchFamily="34" charset="-122"/>
                <a:cs typeface="Source Sans 3" pitchFamily="34" charset="-120"/>
              </a:rPr>
              <a:t>11</a:t>
            </a:r>
            <a:endParaRPr lang="fr-FR" sz="1000" dirty="0"/>
          </a:p>
        </p:txBody>
      </p:sp>
      <p:sp>
        <p:nvSpPr>
          <p:cNvPr id="6" name="Text 4"/>
          <p:cNvSpPr txBox="1"/>
          <p:nvPr/>
        </p:nvSpPr>
        <p:spPr>
          <a:xfrm>
            <a:off x="457200" y="4743450"/>
            <a:ext cx="3810000" cy="228600"/>
          </a:xfrm>
          <a:prstGeom prst="rect">
            <a:avLst/>
          </a:prstGeom>
          <a:noFill/>
          <a:ln/>
        </p:spPr>
        <p:txBody>
          <a:bodyPr wrap="square" lIns="0" tIns="0" rIns="0" bIns="0" rtlCol="0" anchor="t"/>
          <a:lstStyle/>
          <a:p>
            <a:pPr algn="l" indent="0" marL="0">
              <a:buNone/>
            </a:pPr>
            <a:r>
              <a:rPr lang="fr-FR" sz="1000" dirty="0">
                <a:solidFill>
                  <a:srgbClr val="FFFFFF"/>
                </a:solidFill>
                <a:latin typeface="Source Sans 3" pitchFamily="34" charset="0"/>
                <a:ea typeface="Source Sans 3" pitchFamily="34" charset="-122"/>
                <a:cs typeface="Source Sans 3" pitchFamily="34" charset="-120"/>
              </a:rPr>
              <a:t>Passation eSIL Madagascar</a:t>
            </a:r>
            <a:endParaRPr lang="fr-FR" sz="10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5010150" cy="5143500"/>
          </a:xfrm>
          <a:prstGeom prst="rect">
            <a:avLst/>
          </a:prstGeom>
          <a:solidFill>
            <a:srgbClr val="33006F"/>
          </a:solidFill>
          <a:ln w="12700">
            <a:solidFill>
              <a:srgbClr val="33006F"/>
            </a:solidFill>
            <a:prstDash val="solid"/>
          </a:ln>
        </p:spPr>
      </p:sp>
      <p:sp>
        <p:nvSpPr>
          <p:cNvPr id="3" name="Text 1"/>
          <p:cNvSpPr txBox="1"/>
          <p:nvPr/>
        </p:nvSpPr>
        <p:spPr>
          <a:xfrm>
            <a:off x="581025" y="876300"/>
            <a:ext cx="4057650" cy="1238250"/>
          </a:xfrm>
          <a:prstGeom prst="rect">
            <a:avLst/>
          </a:prstGeom>
          <a:noFill/>
          <a:ln/>
        </p:spPr>
        <p:txBody>
          <a:bodyPr wrap="square" lIns="0" tIns="0" rIns="0" bIns="0" rtlCol="0" anchor="t"/>
          <a:lstStyle/>
          <a:p>
            <a:pPr indent="0" marL="0">
              <a:buNone/>
            </a:pPr>
            <a:r>
              <a:rPr lang="fr-FR" sz="2800" b="1" dirty="0">
                <a:solidFill>
                  <a:srgbClr val="FFFFFF"/>
                </a:solidFill>
                <a:latin typeface="Source Sans 3" pitchFamily="34" charset="0"/>
                <a:ea typeface="Source Sans 3" pitchFamily="34" charset="-122"/>
                <a:cs typeface="Source Sans 3" pitchFamily="34" charset="-120"/>
              </a:rPr>
              <a:t>OpenELIS Global est piloté en public, sur le forum</a:t>
            </a:r>
            <a:endParaRPr lang="fr-FR" sz="2800" dirty="0"/>
          </a:p>
        </p:txBody>
      </p:sp>
      <p:sp>
        <p:nvSpPr>
          <p:cNvPr id="4" name="Text 2"/>
          <p:cNvSpPr txBox="1"/>
          <p:nvPr/>
        </p:nvSpPr>
        <p:spPr>
          <a:xfrm>
            <a:off x="581025" y="2286000"/>
            <a:ext cx="4057650" cy="1524000"/>
          </a:xfrm>
          <a:prstGeom prst="rect">
            <a:avLst/>
          </a:prstGeom>
          <a:noFill/>
          <a:ln/>
        </p:spPr>
        <p:txBody>
          <a:bodyPr wrap="square" lIns="0" tIns="0" rIns="0" bIns="0" rtlCol="0" anchor="t"/>
          <a:lstStyle/>
          <a:p>
            <a:pPr indent="0" marL="0">
              <a:buNone/>
            </a:pPr>
            <a:r>
              <a:rPr lang="fr-FR" sz="1600" dirty="0">
                <a:solidFill>
                  <a:srgbClr val="FFFFFF"/>
                </a:solidFill>
                <a:latin typeface="Source Sans 3" pitchFamily="34" charset="0"/>
                <a:ea typeface="Source Sans 3" pitchFamily="34" charset="-122"/>
                <a:cs typeface="Source Sans 3" pitchFamily="34" charset="-120"/>
              </a:rPr>
              <a:t>Le support, les signalements de bogues, les discussions sur les fonctionnalités et les décisions de feuille de route commencent tous par un message sur talk.openelis-global.org. Il n'y a pas de service d'assistance privé derrière.</a:t>
            </a:r>
            <a:endParaRPr lang="fr-FR" sz="1600" dirty="0"/>
          </a:p>
        </p:txBody>
      </p:sp>
      <p:sp>
        <p:nvSpPr>
          <p:cNvPr id="5" name="Text 3"/>
          <p:cNvSpPr txBox="1"/>
          <p:nvPr/>
        </p:nvSpPr>
        <p:spPr>
          <a:xfrm>
            <a:off x="5467350" y="742950"/>
            <a:ext cx="3219450" cy="285750"/>
          </a:xfrm>
          <a:prstGeom prst="rect">
            <a:avLst/>
          </a:prstGeom>
          <a:noFill/>
          <a:ln/>
        </p:spPr>
        <p:txBody>
          <a:bodyPr wrap="square" lIns="0" tIns="0" rIns="0" bIns="0" rtlCol="0" anchor="t"/>
          <a:lstStyle/>
          <a:p>
            <a:pPr indent="0" marL="0">
              <a:buNone/>
            </a:pPr>
            <a:r>
              <a:rPr lang="fr-FR" sz="1100" b="1" spc="150" kern="0" dirty="0">
                <a:solidFill>
                  <a:srgbClr val="33006F"/>
                </a:solidFill>
                <a:latin typeface="Source Sans 3" pitchFamily="34" charset="0"/>
                <a:ea typeface="Source Sans 3" pitchFamily="34" charset="-122"/>
                <a:cs typeface="Source Sans 3" pitchFamily="34" charset="-120"/>
              </a:rPr>
              <a:t>Trois choses à savoir</a:t>
            </a:r>
            <a:endParaRPr lang="fr-FR" sz="1100" dirty="0"/>
          </a:p>
        </p:txBody>
      </p:sp>
      <p:sp>
        <p:nvSpPr>
          <p:cNvPr id="6" name="Shape 4"/>
          <p:cNvSpPr/>
          <p:nvPr/>
        </p:nvSpPr>
        <p:spPr>
          <a:xfrm>
            <a:off x="5467350" y="1123950"/>
            <a:ext cx="285750" cy="285750"/>
          </a:xfrm>
          <a:prstGeom prst="rect">
            <a:avLst/>
          </a:prstGeom>
          <a:solidFill>
            <a:srgbClr val="33006F"/>
          </a:solidFill>
          <a:ln w="12700">
            <a:solidFill>
              <a:srgbClr val="33006F"/>
            </a:solidFill>
            <a:prstDash val="solid"/>
          </a:ln>
        </p:spPr>
      </p:sp>
      <p:sp>
        <p:nvSpPr>
          <p:cNvPr id="7" name="Text 5"/>
          <p:cNvSpPr txBox="1"/>
          <p:nvPr/>
        </p:nvSpPr>
        <p:spPr>
          <a:xfrm>
            <a:off x="5467350" y="1123950"/>
            <a:ext cx="285750" cy="285750"/>
          </a:xfrm>
          <a:prstGeom prst="rect">
            <a:avLst/>
          </a:prstGeom>
          <a:noFill/>
          <a:ln/>
        </p:spPr>
        <p:txBody>
          <a:bodyPr wrap="square" lIns="0" tIns="0" rIns="0" bIns="0" rtlCol="0" anchor="ctr"/>
          <a:lstStyle/>
          <a:p>
            <a:pPr algn="ctr" indent="0" marL="0">
              <a:buNone/>
            </a:pPr>
            <a:r>
              <a:rPr lang="fr-FR" sz="1300" b="1" dirty="0">
                <a:solidFill>
                  <a:srgbClr val="FFFFFF"/>
                </a:solidFill>
                <a:latin typeface="Source Sans 3" pitchFamily="34" charset="0"/>
                <a:ea typeface="Source Sans 3" pitchFamily="34" charset="-122"/>
                <a:cs typeface="Source Sans 3" pitchFamily="34" charset="-120"/>
              </a:rPr>
              <a:t>1</a:t>
            </a:r>
            <a:endParaRPr lang="fr-FR" sz="1300" dirty="0"/>
          </a:p>
        </p:txBody>
      </p:sp>
      <p:sp>
        <p:nvSpPr>
          <p:cNvPr id="8" name="Text 6"/>
          <p:cNvSpPr txBox="1"/>
          <p:nvPr/>
        </p:nvSpPr>
        <p:spPr>
          <a:xfrm>
            <a:off x="5905500" y="1104900"/>
            <a:ext cx="2781300" cy="1104900"/>
          </a:xfrm>
          <a:prstGeom prst="rect">
            <a:avLst/>
          </a:prstGeom>
          <a:noFill/>
          <a:ln/>
        </p:spPr>
        <p:txBody>
          <a:bodyPr wrap="square" lIns="0" tIns="0" rIns="0" bIns="0" rtlCol="0" anchor="t">
            <a:normAutofit/>
          </a:bodyPr>
          <a:lstStyle/>
          <a:p>
            <a:pPr indent="0" marL="0">
              <a:buNone/>
            </a:pPr>
            <a:r>
              <a:rPr lang="fr-FR" sz="1581" b="1" dirty="0">
                <a:solidFill>
                  <a:srgbClr val="33006F"/>
                </a:solidFill>
                <a:latin typeface="Source Sans 3" pitchFamily="34" charset="0"/>
                <a:ea typeface="Source Sans 3" pitchFamily="34" charset="-122"/>
                <a:cs typeface="Source Sans 3" pitchFamily="34" charset="-120"/>
              </a:rPr>
              <a:t>Où aller. </a:t>
            </a:r>
            <a:pPr indent="0" marL="0">
              <a:buNone/>
            </a:pPr>
            <a:r>
              <a:rPr lang="fr-FR" sz="1581" dirty="0">
                <a:solidFill>
                  <a:srgbClr val="434343"/>
                </a:solidFill>
                <a:latin typeface="Source Sans 3" pitchFamily="34" charset="0"/>
                <a:ea typeface="Source Sans 3" pitchFamily="34" charset="-122"/>
                <a:cs typeface="Source Sans 3" pitchFamily="34" charset="-120"/>
              </a:rPr>
              <a:t>Chaque type de conversation a sa place sur le forum.</a:t>
            </a:r>
            <a:endParaRPr lang="fr-FR" sz="1581" dirty="0"/>
          </a:p>
        </p:txBody>
      </p:sp>
      <p:sp>
        <p:nvSpPr>
          <p:cNvPr id="9" name="Shape 7"/>
          <p:cNvSpPr/>
          <p:nvPr/>
        </p:nvSpPr>
        <p:spPr>
          <a:xfrm>
            <a:off x="5467350" y="2266950"/>
            <a:ext cx="285750" cy="285750"/>
          </a:xfrm>
          <a:prstGeom prst="rect">
            <a:avLst/>
          </a:prstGeom>
          <a:solidFill>
            <a:srgbClr val="33006F"/>
          </a:solidFill>
          <a:ln w="12700">
            <a:solidFill>
              <a:srgbClr val="33006F"/>
            </a:solidFill>
            <a:prstDash val="solid"/>
          </a:ln>
        </p:spPr>
      </p:sp>
      <p:sp>
        <p:nvSpPr>
          <p:cNvPr id="10" name="Text 8"/>
          <p:cNvSpPr txBox="1"/>
          <p:nvPr/>
        </p:nvSpPr>
        <p:spPr>
          <a:xfrm>
            <a:off x="5467350" y="2266950"/>
            <a:ext cx="285750" cy="285750"/>
          </a:xfrm>
          <a:prstGeom prst="rect">
            <a:avLst/>
          </a:prstGeom>
          <a:noFill/>
          <a:ln/>
        </p:spPr>
        <p:txBody>
          <a:bodyPr wrap="square" lIns="0" tIns="0" rIns="0" bIns="0" rtlCol="0" anchor="ctr"/>
          <a:lstStyle/>
          <a:p>
            <a:pPr algn="ctr" indent="0" marL="0">
              <a:buNone/>
            </a:pPr>
            <a:r>
              <a:rPr lang="fr-FR" sz="1300" b="1" dirty="0">
                <a:solidFill>
                  <a:srgbClr val="FFFFFF"/>
                </a:solidFill>
                <a:latin typeface="Source Sans 3" pitchFamily="34" charset="0"/>
                <a:ea typeface="Source Sans 3" pitchFamily="34" charset="-122"/>
                <a:cs typeface="Source Sans 3" pitchFamily="34" charset="-120"/>
              </a:rPr>
              <a:t>2</a:t>
            </a:r>
            <a:endParaRPr lang="fr-FR" sz="1300" dirty="0"/>
          </a:p>
        </p:txBody>
      </p:sp>
      <p:sp>
        <p:nvSpPr>
          <p:cNvPr id="11" name="Text 9"/>
          <p:cNvSpPr txBox="1"/>
          <p:nvPr/>
        </p:nvSpPr>
        <p:spPr>
          <a:xfrm>
            <a:off x="5905500" y="2247900"/>
            <a:ext cx="2781300" cy="1104900"/>
          </a:xfrm>
          <a:prstGeom prst="rect">
            <a:avLst/>
          </a:prstGeom>
          <a:noFill/>
          <a:ln/>
        </p:spPr>
        <p:txBody>
          <a:bodyPr wrap="square" lIns="0" tIns="0" rIns="0" bIns="0" rtlCol="0" anchor="t">
            <a:normAutofit/>
          </a:bodyPr>
          <a:lstStyle/>
          <a:p>
            <a:pPr indent="0" marL="0">
              <a:buNone/>
            </a:pPr>
            <a:r>
              <a:rPr lang="fr-FR" sz="1581" b="1" dirty="0">
                <a:solidFill>
                  <a:srgbClr val="33006F"/>
                </a:solidFill>
                <a:latin typeface="Source Sans 3" pitchFamily="34" charset="0"/>
                <a:ea typeface="Source Sans 3" pitchFamily="34" charset="-122"/>
                <a:cs typeface="Source Sans 3" pitchFamily="34" charset="-120"/>
              </a:rPr>
              <a:t>À qui demander. </a:t>
            </a:r>
            <a:pPr indent="0" marL="0">
              <a:buNone/>
            </a:pPr>
            <a:r>
              <a:rPr lang="fr-FR" sz="1581" dirty="0">
                <a:solidFill>
                  <a:srgbClr val="434343"/>
                </a:solidFill>
                <a:latin typeface="Source Sans 3" pitchFamily="34" charset="0"/>
                <a:ea typeface="Source Sans 3" pitchFamily="34" charset="-122"/>
                <a:cs typeface="Source Sans 3" pitchFamily="34" charset="-120"/>
              </a:rPr>
              <a:t>Les mainteneurs lisent le forum et participent à l'appel hebdomadaire.</a:t>
            </a:r>
            <a:endParaRPr lang="fr-FR" sz="1581" dirty="0"/>
          </a:p>
        </p:txBody>
      </p:sp>
      <p:sp>
        <p:nvSpPr>
          <p:cNvPr id="12" name="Shape 10"/>
          <p:cNvSpPr/>
          <p:nvPr/>
        </p:nvSpPr>
        <p:spPr>
          <a:xfrm>
            <a:off x="5467350" y="3409950"/>
            <a:ext cx="285750" cy="285750"/>
          </a:xfrm>
          <a:prstGeom prst="rect">
            <a:avLst/>
          </a:prstGeom>
          <a:solidFill>
            <a:srgbClr val="33006F"/>
          </a:solidFill>
          <a:ln w="12700">
            <a:solidFill>
              <a:srgbClr val="33006F"/>
            </a:solidFill>
            <a:prstDash val="solid"/>
          </a:ln>
        </p:spPr>
      </p:sp>
      <p:sp>
        <p:nvSpPr>
          <p:cNvPr id="13" name="Text 11"/>
          <p:cNvSpPr txBox="1"/>
          <p:nvPr/>
        </p:nvSpPr>
        <p:spPr>
          <a:xfrm>
            <a:off x="5467350" y="3409950"/>
            <a:ext cx="285750" cy="285750"/>
          </a:xfrm>
          <a:prstGeom prst="rect">
            <a:avLst/>
          </a:prstGeom>
          <a:noFill/>
          <a:ln/>
        </p:spPr>
        <p:txBody>
          <a:bodyPr wrap="square" lIns="0" tIns="0" rIns="0" bIns="0" rtlCol="0" anchor="ctr"/>
          <a:lstStyle/>
          <a:p>
            <a:pPr algn="ctr" indent="0" marL="0">
              <a:buNone/>
            </a:pPr>
            <a:r>
              <a:rPr lang="fr-FR" sz="1300" b="1" dirty="0">
                <a:solidFill>
                  <a:srgbClr val="FFFFFF"/>
                </a:solidFill>
                <a:latin typeface="Source Sans 3" pitchFamily="34" charset="0"/>
                <a:ea typeface="Source Sans 3" pitchFamily="34" charset="-122"/>
                <a:cs typeface="Source Sans 3" pitchFamily="34" charset="-120"/>
              </a:rPr>
              <a:t>3</a:t>
            </a:r>
            <a:endParaRPr lang="fr-FR" sz="1300" dirty="0"/>
          </a:p>
        </p:txBody>
      </p:sp>
      <p:sp>
        <p:nvSpPr>
          <p:cNvPr id="14" name="Text 12"/>
          <p:cNvSpPr txBox="1"/>
          <p:nvPr/>
        </p:nvSpPr>
        <p:spPr>
          <a:xfrm>
            <a:off x="5905500" y="3390900"/>
            <a:ext cx="2781300" cy="1104900"/>
          </a:xfrm>
          <a:prstGeom prst="rect">
            <a:avLst/>
          </a:prstGeom>
          <a:noFill/>
          <a:ln/>
        </p:spPr>
        <p:txBody>
          <a:bodyPr wrap="square" lIns="0" tIns="0" rIns="0" bIns="0" rtlCol="0" anchor="t">
            <a:normAutofit/>
          </a:bodyPr>
          <a:lstStyle/>
          <a:p>
            <a:pPr indent="0" marL="0">
              <a:buNone/>
            </a:pPr>
            <a:r>
              <a:rPr lang="fr-FR" sz="1581" b="1" dirty="0">
                <a:solidFill>
                  <a:srgbClr val="33006F"/>
                </a:solidFill>
                <a:latin typeface="Source Sans 3" pitchFamily="34" charset="0"/>
                <a:ea typeface="Source Sans 3" pitchFamily="34" charset="-122"/>
                <a:cs typeface="Source Sans 3" pitchFamily="34" charset="-120"/>
              </a:rPr>
              <a:t>Comment influencer. </a:t>
            </a:r>
            <a:pPr indent="0" marL="0">
              <a:buNone/>
            </a:pPr>
            <a:r>
              <a:rPr lang="fr-FR" sz="1581" dirty="0">
                <a:solidFill>
                  <a:srgbClr val="434343"/>
                </a:solidFill>
                <a:latin typeface="Source Sans 3" pitchFamily="34" charset="0"/>
                <a:ea typeface="Source Sans 3" pitchFamily="34" charset="-122"/>
                <a:cs typeface="Source Sans 3" pitchFamily="34" charset="-120"/>
              </a:rPr>
              <a:t>Un message public peut devenir un ticket, puis une version.</a:t>
            </a:r>
            <a:endParaRPr lang="fr-FR" sz="1581" dirty="0"/>
          </a:p>
        </p:txBody>
      </p:sp>
      <p:sp>
        <p:nvSpPr>
          <p:cNvPr id="15" name="Text 13"/>
          <p:cNvSpPr txBox="1"/>
          <p:nvPr/>
        </p:nvSpPr>
        <p:spPr>
          <a:xfrm>
            <a:off x="7953375" y="4743450"/>
            <a:ext cx="952500" cy="228600"/>
          </a:xfrm>
          <a:prstGeom prst="rect">
            <a:avLst/>
          </a:prstGeom>
          <a:noFill/>
          <a:ln/>
        </p:spPr>
        <p:txBody>
          <a:bodyPr wrap="square" lIns="0" tIns="0" rIns="0" bIns="0" rtlCol="0" anchor="t"/>
          <a:lstStyle/>
          <a:p>
            <a:pPr algn="r" indent="0" marL="0">
              <a:buNone/>
            </a:pPr>
            <a:r>
              <a:rPr lang="fr-FR" sz="1000" dirty="0">
                <a:solidFill>
                  <a:srgbClr val="888888"/>
                </a:solidFill>
                <a:latin typeface="Source Sans 3" pitchFamily="34" charset="0"/>
                <a:ea typeface="Source Sans 3" pitchFamily="34" charset="-122"/>
                <a:cs typeface="Source Sans 3" pitchFamily="34" charset="-120"/>
              </a:rPr>
              <a:t>12</a:t>
            </a:r>
            <a:endParaRPr lang="fr-FR" sz="1000" dirty="0"/>
          </a:p>
        </p:txBody>
      </p:sp>
      <p:sp>
        <p:nvSpPr>
          <p:cNvPr id="16" name="Text 14"/>
          <p:cNvSpPr txBox="1"/>
          <p:nvPr/>
        </p:nvSpPr>
        <p:spPr>
          <a:xfrm>
            <a:off x="457200" y="4743450"/>
            <a:ext cx="3810000" cy="228600"/>
          </a:xfrm>
          <a:prstGeom prst="rect">
            <a:avLst/>
          </a:prstGeom>
          <a:noFill/>
          <a:ln/>
        </p:spPr>
        <p:txBody>
          <a:bodyPr wrap="square" lIns="0" tIns="0" rIns="0" bIns="0" rtlCol="0" anchor="t"/>
          <a:lstStyle/>
          <a:p>
            <a:pPr algn="l" indent="0" marL="0">
              <a:buNone/>
            </a:pPr>
            <a:r>
              <a:rPr lang="fr-FR" sz="1000" dirty="0">
                <a:solidFill>
                  <a:srgbClr val="FFFFFF"/>
                </a:solidFill>
                <a:latin typeface="Source Sans 3" pitchFamily="34" charset="0"/>
                <a:ea typeface="Source Sans 3" pitchFamily="34" charset="-122"/>
                <a:cs typeface="Source Sans 3" pitchFamily="34" charset="-120"/>
              </a:rPr>
              <a:t>Passation eSIL Madagascar</a:t>
            </a:r>
            <a:endParaRPr lang="fr-FR" sz="10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247650"/>
            <a:ext cx="8229600" cy="209550"/>
          </a:xfrm>
          <a:prstGeom prst="rect">
            <a:avLst/>
          </a:prstGeom>
          <a:noFill/>
          <a:ln/>
        </p:spPr>
        <p:txBody>
          <a:bodyPr wrap="square" lIns="0" tIns="0" rIns="0" bIns="0" rtlCol="0" anchor="t"/>
          <a:lstStyle/>
          <a:p>
            <a:pPr indent="0" marL="0">
              <a:buNone/>
            </a:pPr>
            <a:r>
              <a:rPr lang="fr-FR" sz="1200" b="1" spc="150" kern="0" dirty="0">
                <a:solidFill>
                  <a:srgbClr val="33006F"/>
                </a:solidFill>
                <a:latin typeface="Source Sans 3" pitchFamily="34" charset="0"/>
                <a:ea typeface="Source Sans 3" pitchFamily="34" charset="-122"/>
                <a:cs typeface="Source Sans 3" pitchFamily="34" charset="-120"/>
              </a:rPr>
              <a:t>LA COMMUNAUTÉ</a:t>
            </a:r>
            <a:pPr indent="0" marL="0">
              <a:buNone/>
            </a:pPr>
            <a:r>
              <a:rPr lang="fr-FR" sz="1200" dirty="0">
                <a:solidFill>
                  <a:srgbClr val="888888"/>
                </a:solidFill>
                <a:latin typeface="Source Sans 3" pitchFamily="34" charset="0"/>
                <a:ea typeface="Source Sans 3" pitchFamily="34" charset="-122"/>
                <a:cs typeface="Source Sans 3" pitchFamily="34" charset="-120"/>
              </a:rPr>
              <a:t>    Section 2 sur 7</a:t>
            </a:r>
            <a:endParaRPr lang="fr-FR" sz="1200" dirty="0"/>
          </a:p>
        </p:txBody>
      </p:sp>
      <p:sp>
        <p:nvSpPr>
          <p:cNvPr id="3" name="Shape 1"/>
          <p:cNvSpPr/>
          <p:nvPr/>
        </p:nvSpPr>
        <p:spPr>
          <a:xfrm>
            <a:off x="457200" y="533400"/>
            <a:ext cx="685800" cy="57150"/>
          </a:xfrm>
          <a:prstGeom prst="rect">
            <a:avLst/>
          </a:prstGeom>
          <a:solidFill>
            <a:srgbClr val="33006F"/>
          </a:solidFill>
          <a:ln w="12700">
            <a:solidFill>
              <a:srgbClr val="33006F"/>
            </a:solidFill>
            <a:prstDash val="solid"/>
          </a:ln>
        </p:spPr>
      </p:sp>
      <p:sp>
        <p:nvSpPr>
          <p:cNvPr id="4" name="Text 2"/>
          <p:cNvSpPr txBox="1"/>
          <p:nvPr/>
        </p:nvSpPr>
        <p:spPr>
          <a:xfrm>
            <a:off x="457200" y="704850"/>
            <a:ext cx="8229600" cy="800100"/>
          </a:xfrm>
          <a:prstGeom prst="rect">
            <a:avLst/>
          </a:prstGeom>
          <a:noFill/>
          <a:ln/>
        </p:spPr>
        <p:txBody>
          <a:bodyPr wrap="square" lIns="0" tIns="0" rIns="0" bIns="0" rtlCol="0" anchor="t">
            <a:normAutofit/>
          </a:bodyPr>
          <a:lstStyle/>
          <a:p>
            <a:pPr indent="0" marL="0">
              <a:buNone/>
            </a:pPr>
            <a:r>
              <a:rPr lang="fr-FR" sz="2350" b="1" dirty="0">
                <a:solidFill>
                  <a:srgbClr val="33006F"/>
                </a:solidFill>
                <a:latin typeface="Source Sans 3" pitchFamily="34" charset="0"/>
                <a:ea typeface="Source Sans 3" pitchFamily="34" charset="-122"/>
                <a:cs typeface="Source Sans 3" pitchFamily="34" charset="-120"/>
              </a:rPr>
              <a:t>Un forum, quatre catégories : talk.openelis-global.org</a:t>
            </a:r>
            <a:endParaRPr lang="fr-FR" sz="2350" dirty="0"/>
          </a:p>
        </p:txBody>
      </p:sp>
      <p:sp>
        <p:nvSpPr>
          <p:cNvPr id="5" name="Shape 3"/>
          <p:cNvSpPr/>
          <p:nvPr/>
        </p:nvSpPr>
        <p:spPr>
          <a:xfrm>
            <a:off x="457200" y="1562100"/>
            <a:ext cx="4038600" cy="1428750"/>
          </a:xfrm>
          <a:prstGeom prst="rect">
            <a:avLst/>
          </a:prstGeom>
          <a:solidFill>
            <a:srgbClr val="F0F0FF"/>
          </a:solidFill>
          <a:ln w="12700">
            <a:solidFill>
              <a:srgbClr val="F0F0FF"/>
            </a:solidFill>
            <a:prstDash val="solid"/>
          </a:ln>
        </p:spPr>
      </p:sp>
      <p:sp>
        <p:nvSpPr>
          <p:cNvPr id="6" name="Shape 4"/>
          <p:cNvSpPr/>
          <p:nvPr/>
        </p:nvSpPr>
        <p:spPr>
          <a:xfrm>
            <a:off x="457200" y="1562100"/>
            <a:ext cx="4038600" cy="38100"/>
          </a:xfrm>
          <a:prstGeom prst="rect">
            <a:avLst/>
          </a:prstGeom>
          <a:solidFill>
            <a:srgbClr val="33006F"/>
          </a:solidFill>
          <a:ln w="12700">
            <a:solidFill>
              <a:srgbClr val="33006F"/>
            </a:solidFill>
            <a:prstDash val="solid"/>
          </a:ln>
        </p:spPr>
      </p:sp>
      <p:sp>
        <p:nvSpPr>
          <p:cNvPr id="7" name="Shape 5"/>
          <p:cNvSpPr/>
          <p:nvPr/>
        </p:nvSpPr>
        <p:spPr>
          <a:xfrm>
            <a:off x="685800" y="1809750"/>
            <a:ext cx="323850" cy="323850"/>
          </a:xfrm>
          <a:prstGeom prst="rect">
            <a:avLst/>
          </a:prstGeom>
          <a:solidFill>
            <a:srgbClr val="33006F"/>
          </a:solidFill>
          <a:ln w="12700">
            <a:solidFill>
              <a:srgbClr val="33006F"/>
            </a:solidFill>
            <a:prstDash val="solid"/>
          </a:ln>
        </p:spPr>
      </p:sp>
      <p:sp>
        <p:nvSpPr>
          <p:cNvPr id="8" name="Text 6"/>
          <p:cNvSpPr txBox="1"/>
          <p:nvPr/>
        </p:nvSpPr>
        <p:spPr>
          <a:xfrm>
            <a:off x="685800" y="1809750"/>
            <a:ext cx="323850" cy="323850"/>
          </a:xfrm>
          <a:prstGeom prst="rect">
            <a:avLst/>
          </a:prstGeom>
          <a:noFill/>
          <a:ln/>
        </p:spPr>
        <p:txBody>
          <a:bodyPr wrap="square" lIns="0" tIns="0" rIns="0" bIns="0" rtlCol="0" anchor="ctr"/>
          <a:lstStyle/>
          <a:p>
            <a:pPr algn="ctr" indent="0" marL="0">
              <a:buNone/>
            </a:pPr>
            <a:r>
              <a:rPr lang="fr-FR" sz="1400" b="1" dirty="0">
                <a:solidFill>
                  <a:srgbClr val="FFFFFF"/>
                </a:solidFill>
                <a:latin typeface="Source Sans 3" pitchFamily="34" charset="0"/>
                <a:ea typeface="Source Sans 3" pitchFamily="34" charset="-122"/>
                <a:cs typeface="Source Sans 3" pitchFamily="34" charset="-120"/>
              </a:rPr>
              <a:t>1</a:t>
            </a:r>
            <a:endParaRPr lang="fr-FR" sz="1400" dirty="0"/>
          </a:p>
        </p:txBody>
      </p:sp>
      <p:sp>
        <p:nvSpPr>
          <p:cNvPr id="9" name="Text 7"/>
          <p:cNvSpPr txBox="1"/>
          <p:nvPr/>
        </p:nvSpPr>
        <p:spPr>
          <a:xfrm>
            <a:off x="1200150" y="1790700"/>
            <a:ext cx="3086100" cy="342900"/>
          </a:xfrm>
          <a:prstGeom prst="rect">
            <a:avLst/>
          </a:prstGeom>
          <a:noFill/>
          <a:ln/>
        </p:spPr>
        <p:txBody>
          <a:bodyPr wrap="square" lIns="0" tIns="0" rIns="0" bIns="0" rtlCol="0" anchor="t"/>
          <a:lstStyle/>
          <a:p>
            <a:pPr indent="0" marL="0">
              <a:buNone/>
            </a:pPr>
            <a:r>
              <a:rPr lang="fr-FR" sz="2050" b="1" dirty="0">
                <a:solidFill>
                  <a:srgbClr val="33006F"/>
                </a:solidFill>
                <a:latin typeface="Source Sans 3" pitchFamily="34" charset="0"/>
                <a:ea typeface="Source Sans 3" pitchFamily="34" charset="-122"/>
                <a:cs typeface="Source Sans 3" pitchFamily="34" charset="-120"/>
              </a:rPr>
              <a:t>Community</a:t>
            </a:r>
            <a:endParaRPr lang="fr-FR" sz="2050" dirty="0"/>
          </a:p>
        </p:txBody>
      </p:sp>
      <p:sp>
        <p:nvSpPr>
          <p:cNvPr id="10" name="Text 8"/>
          <p:cNvSpPr txBox="1"/>
          <p:nvPr/>
        </p:nvSpPr>
        <p:spPr>
          <a:xfrm>
            <a:off x="1200150" y="2190750"/>
            <a:ext cx="3086100" cy="666750"/>
          </a:xfrm>
          <a:prstGeom prst="rect">
            <a:avLst/>
          </a:prstGeom>
          <a:noFill/>
          <a:ln/>
        </p:spPr>
        <p:txBody>
          <a:bodyPr wrap="square" lIns="0" tIns="0" rIns="0" bIns="0" rtlCol="0" anchor="t"/>
          <a:lstStyle/>
          <a:p>
            <a:pPr indent="0" marL="0">
              <a:buNone/>
            </a:pPr>
            <a:r>
              <a:rPr lang="fr-FR" sz="1400" dirty="0">
                <a:solidFill>
                  <a:srgbClr val="434343"/>
                </a:solidFill>
                <a:latin typeface="Source Sans 3" pitchFamily="34" charset="0"/>
                <a:ea typeface="Source Sans 3" pitchFamily="34" charset="-122"/>
                <a:cs typeface="Source Sans 3" pitchFamily="34" charset="-120"/>
              </a:rPr>
              <a:t>Annonces, présentations, discussion générale.</a:t>
            </a:r>
            <a:endParaRPr lang="fr-FR" sz="1400" dirty="0"/>
          </a:p>
        </p:txBody>
      </p:sp>
      <p:sp>
        <p:nvSpPr>
          <p:cNvPr id="11" name="Shape 9"/>
          <p:cNvSpPr/>
          <p:nvPr/>
        </p:nvSpPr>
        <p:spPr>
          <a:xfrm>
            <a:off x="4648200" y="1562100"/>
            <a:ext cx="4038600" cy="1428750"/>
          </a:xfrm>
          <a:prstGeom prst="rect">
            <a:avLst/>
          </a:prstGeom>
          <a:solidFill>
            <a:srgbClr val="F0F0FF"/>
          </a:solidFill>
          <a:ln w="12700">
            <a:solidFill>
              <a:srgbClr val="F0F0FF"/>
            </a:solidFill>
            <a:prstDash val="solid"/>
          </a:ln>
        </p:spPr>
      </p:sp>
      <p:sp>
        <p:nvSpPr>
          <p:cNvPr id="12" name="Shape 10"/>
          <p:cNvSpPr/>
          <p:nvPr/>
        </p:nvSpPr>
        <p:spPr>
          <a:xfrm>
            <a:off x="4648200" y="1562100"/>
            <a:ext cx="4038600" cy="38100"/>
          </a:xfrm>
          <a:prstGeom prst="rect">
            <a:avLst/>
          </a:prstGeom>
          <a:solidFill>
            <a:srgbClr val="33006F"/>
          </a:solidFill>
          <a:ln w="12700">
            <a:solidFill>
              <a:srgbClr val="33006F"/>
            </a:solidFill>
            <a:prstDash val="solid"/>
          </a:ln>
        </p:spPr>
      </p:sp>
      <p:sp>
        <p:nvSpPr>
          <p:cNvPr id="13" name="Shape 11"/>
          <p:cNvSpPr/>
          <p:nvPr/>
        </p:nvSpPr>
        <p:spPr>
          <a:xfrm>
            <a:off x="4876800" y="1809750"/>
            <a:ext cx="323850" cy="323850"/>
          </a:xfrm>
          <a:prstGeom prst="rect">
            <a:avLst/>
          </a:prstGeom>
          <a:solidFill>
            <a:srgbClr val="33006F"/>
          </a:solidFill>
          <a:ln w="12700">
            <a:solidFill>
              <a:srgbClr val="33006F"/>
            </a:solidFill>
            <a:prstDash val="solid"/>
          </a:ln>
        </p:spPr>
      </p:sp>
      <p:sp>
        <p:nvSpPr>
          <p:cNvPr id="14" name="Text 12"/>
          <p:cNvSpPr txBox="1"/>
          <p:nvPr/>
        </p:nvSpPr>
        <p:spPr>
          <a:xfrm>
            <a:off x="4876800" y="1809750"/>
            <a:ext cx="323850" cy="323850"/>
          </a:xfrm>
          <a:prstGeom prst="rect">
            <a:avLst/>
          </a:prstGeom>
          <a:noFill/>
          <a:ln/>
        </p:spPr>
        <p:txBody>
          <a:bodyPr wrap="square" lIns="0" tIns="0" rIns="0" bIns="0" rtlCol="0" anchor="ctr"/>
          <a:lstStyle/>
          <a:p>
            <a:pPr algn="ctr" indent="0" marL="0">
              <a:buNone/>
            </a:pPr>
            <a:r>
              <a:rPr lang="fr-FR" sz="1400" b="1" dirty="0">
                <a:solidFill>
                  <a:srgbClr val="FFFFFF"/>
                </a:solidFill>
                <a:latin typeface="Source Sans 3" pitchFamily="34" charset="0"/>
                <a:ea typeface="Source Sans 3" pitchFamily="34" charset="-122"/>
                <a:cs typeface="Source Sans 3" pitchFamily="34" charset="-120"/>
              </a:rPr>
              <a:t>2</a:t>
            </a:r>
            <a:endParaRPr lang="fr-FR" sz="1400" dirty="0"/>
          </a:p>
        </p:txBody>
      </p:sp>
      <p:sp>
        <p:nvSpPr>
          <p:cNvPr id="15" name="Text 13"/>
          <p:cNvSpPr txBox="1"/>
          <p:nvPr/>
        </p:nvSpPr>
        <p:spPr>
          <a:xfrm>
            <a:off x="5391150" y="1790700"/>
            <a:ext cx="3086100" cy="342900"/>
          </a:xfrm>
          <a:prstGeom prst="rect">
            <a:avLst/>
          </a:prstGeom>
          <a:noFill/>
          <a:ln/>
        </p:spPr>
        <p:txBody>
          <a:bodyPr wrap="square" lIns="0" tIns="0" rIns="0" bIns="0" rtlCol="0" anchor="t"/>
          <a:lstStyle/>
          <a:p>
            <a:pPr indent="0" marL="0">
              <a:buNone/>
            </a:pPr>
            <a:r>
              <a:rPr lang="fr-FR" sz="2050" b="1" dirty="0">
                <a:solidFill>
                  <a:srgbClr val="33006F"/>
                </a:solidFill>
                <a:latin typeface="Source Sans 3" pitchFamily="34" charset="0"/>
                <a:ea typeface="Source Sans 3" pitchFamily="34" charset="-122"/>
                <a:cs typeface="Source Sans 3" pitchFamily="34" charset="-120"/>
              </a:rPr>
              <a:t>Development</a:t>
            </a:r>
            <a:endParaRPr lang="fr-FR" sz="2050" dirty="0"/>
          </a:p>
        </p:txBody>
      </p:sp>
      <p:sp>
        <p:nvSpPr>
          <p:cNvPr id="16" name="Text 14"/>
          <p:cNvSpPr txBox="1"/>
          <p:nvPr/>
        </p:nvSpPr>
        <p:spPr>
          <a:xfrm>
            <a:off x="5391150" y="2190750"/>
            <a:ext cx="3086100" cy="666750"/>
          </a:xfrm>
          <a:prstGeom prst="rect">
            <a:avLst/>
          </a:prstGeom>
          <a:noFill/>
          <a:ln/>
        </p:spPr>
        <p:txBody>
          <a:bodyPr wrap="square" lIns="0" tIns="0" rIns="0" bIns="0" rtlCol="0" anchor="t"/>
          <a:lstStyle/>
          <a:p>
            <a:pPr indent="0" marL="0">
              <a:buNone/>
            </a:pPr>
            <a:r>
              <a:rPr lang="fr-FR" sz="1400" dirty="0">
                <a:solidFill>
                  <a:srgbClr val="434343"/>
                </a:solidFill>
                <a:latin typeface="Source Sans 3" pitchFamily="34" charset="0"/>
                <a:ea typeface="Source Sans 3" pitchFamily="34" charset="-122"/>
                <a:cs typeface="Source Sans 3" pitchFamily="34" charset="-120"/>
              </a:rPr>
              <a:t>Signalements de bogues, propositions de fonctionnalités, conception technique.</a:t>
            </a:r>
            <a:endParaRPr lang="fr-FR" sz="1400" dirty="0"/>
          </a:p>
        </p:txBody>
      </p:sp>
      <p:sp>
        <p:nvSpPr>
          <p:cNvPr id="17" name="Shape 15"/>
          <p:cNvSpPr/>
          <p:nvPr/>
        </p:nvSpPr>
        <p:spPr>
          <a:xfrm>
            <a:off x="457200" y="3143250"/>
            <a:ext cx="4038600" cy="1428750"/>
          </a:xfrm>
          <a:prstGeom prst="rect">
            <a:avLst/>
          </a:prstGeom>
          <a:solidFill>
            <a:srgbClr val="F0F0FF"/>
          </a:solidFill>
          <a:ln w="12700">
            <a:solidFill>
              <a:srgbClr val="F0F0FF"/>
            </a:solidFill>
            <a:prstDash val="solid"/>
          </a:ln>
        </p:spPr>
      </p:sp>
      <p:sp>
        <p:nvSpPr>
          <p:cNvPr id="18" name="Shape 16"/>
          <p:cNvSpPr/>
          <p:nvPr/>
        </p:nvSpPr>
        <p:spPr>
          <a:xfrm>
            <a:off x="457200" y="3143250"/>
            <a:ext cx="4038600" cy="38100"/>
          </a:xfrm>
          <a:prstGeom prst="rect">
            <a:avLst/>
          </a:prstGeom>
          <a:solidFill>
            <a:srgbClr val="33006F"/>
          </a:solidFill>
          <a:ln w="12700">
            <a:solidFill>
              <a:srgbClr val="33006F"/>
            </a:solidFill>
            <a:prstDash val="solid"/>
          </a:ln>
        </p:spPr>
      </p:sp>
      <p:sp>
        <p:nvSpPr>
          <p:cNvPr id="19" name="Shape 17"/>
          <p:cNvSpPr/>
          <p:nvPr/>
        </p:nvSpPr>
        <p:spPr>
          <a:xfrm>
            <a:off x="685800" y="3390900"/>
            <a:ext cx="323850" cy="323850"/>
          </a:xfrm>
          <a:prstGeom prst="rect">
            <a:avLst/>
          </a:prstGeom>
          <a:solidFill>
            <a:srgbClr val="33006F"/>
          </a:solidFill>
          <a:ln w="12700">
            <a:solidFill>
              <a:srgbClr val="33006F"/>
            </a:solidFill>
            <a:prstDash val="solid"/>
          </a:ln>
        </p:spPr>
      </p:sp>
      <p:sp>
        <p:nvSpPr>
          <p:cNvPr id="20" name="Text 18"/>
          <p:cNvSpPr txBox="1"/>
          <p:nvPr/>
        </p:nvSpPr>
        <p:spPr>
          <a:xfrm>
            <a:off x="685800" y="3390900"/>
            <a:ext cx="323850" cy="323850"/>
          </a:xfrm>
          <a:prstGeom prst="rect">
            <a:avLst/>
          </a:prstGeom>
          <a:noFill/>
          <a:ln/>
        </p:spPr>
        <p:txBody>
          <a:bodyPr wrap="square" lIns="0" tIns="0" rIns="0" bIns="0" rtlCol="0" anchor="ctr"/>
          <a:lstStyle/>
          <a:p>
            <a:pPr algn="ctr" indent="0" marL="0">
              <a:buNone/>
            </a:pPr>
            <a:r>
              <a:rPr lang="fr-FR" sz="1400" b="1" dirty="0">
                <a:solidFill>
                  <a:srgbClr val="FFFFFF"/>
                </a:solidFill>
                <a:latin typeface="Source Sans 3" pitchFamily="34" charset="0"/>
                <a:ea typeface="Source Sans 3" pitchFamily="34" charset="-122"/>
                <a:cs typeface="Source Sans 3" pitchFamily="34" charset="-120"/>
              </a:rPr>
              <a:t>3</a:t>
            </a:r>
            <a:endParaRPr lang="fr-FR" sz="1400" dirty="0"/>
          </a:p>
        </p:txBody>
      </p:sp>
      <p:sp>
        <p:nvSpPr>
          <p:cNvPr id="21" name="Text 19"/>
          <p:cNvSpPr txBox="1"/>
          <p:nvPr/>
        </p:nvSpPr>
        <p:spPr>
          <a:xfrm>
            <a:off x="1200150" y="3371850"/>
            <a:ext cx="3086100" cy="342900"/>
          </a:xfrm>
          <a:prstGeom prst="rect">
            <a:avLst/>
          </a:prstGeom>
          <a:noFill/>
          <a:ln/>
        </p:spPr>
        <p:txBody>
          <a:bodyPr wrap="square" lIns="0" tIns="0" rIns="0" bIns="0" rtlCol="0" anchor="t"/>
          <a:lstStyle/>
          <a:p>
            <a:pPr indent="0" marL="0">
              <a:buNone/>
            </a:pPr>
            <a:r>
              <a:rPr lang="fr-FR" sz="2050" b="1" dirty="0">
                <a:solidFill>
                  <a:srgbClr val="33006F"/>
                </a:solidFill>
                <a:latin typeface="Source Sans 3" pitchFamily="34" charset="0"/>
                <a:ea typeface="Source Sans 3" pitchFamily="34" charset="-122"/>
                <a:cs typeface="Source Sans 3" pitchFamily="34" charset="-120"/>
              </a:rPr>
              <a:t>Ask OpenELIS</a:t>
            </a:r>
            <a:endParaRPr lang="fr-FR" sz="2050" dirty="0"/>
          </a:p>
        </p:txBody>
      </p:sp>
      <p:sp>
        <p:nvSpPr>
          <p:cNvPr id="22" name="Text 20"/>
          <p:cNvSpPr txBox="1"/>
          <p:nvPr/>
        </p:nvSpPr>
        <p:spPr>
          <a:xfrm>
            <a:off x="1200150" y="3771900"/>
            <a:ext cx="3086100" cy="666750"/>
          </a:xfrm>
          <a:prstGeom prst="rect">
            <a:avLst/>
          </a:prstGeom>
          <a:noFill/>
          <a:ln/>
        </p:spPr>
        <p:txBody>
          <a:bodyPr wrap="square" lIns="0" tIns="0" rIns="0" bIns="0" rtlCol="0" anchor="t"/>
          <a:lstStyle/>
          <a:p>
            <a:pPr indent="0" marL="0">
              <a:buNone/>
            </a:pPr>
            <a:r>
              <a:rPr lang="fr-FR" sz="1400" dirty="0">
                <a:solidFill>
                  <a:srgbClr val="434343"/>
                </a:solidFill>
                <a:latin typeface="Source Sans 3" pitchFamily="34" charset="0"/>
                <a:ea typeface="Source Sans 3" pitchFamily="34" charset="-122"/>
                <a:cs typeface="Source Sans 3" pitchFamily="34" charset="-120"/>
              </a:rPr>
              <a:t>Support pour les équipes de mise en œuvre. « Comment configurer X ? » « Que signifie cette erreur ? »</a:t>
            </a:r>
            <a:endParaRPr lang="fr-FR" sz="1400" dirty="0"/>
          </a:p>
        </p:txBody>
      </p:sp>
      <p:sp>
        <p:nvSpPr>
          <p:cNvPr id="23" name="Shape 21"/>
          <p:cNvSpPr/>
          <p:nvPr/>
        </p:nvSpPr>
        <p:spPr>
          <a:xfrm>
            <a:off x="4648200" y="3143250"/>
            <a:ext cx="4038600" cy="1428750"/>
          </a:xfrm>
          <a:prstGeom prst="rect">
            <a:avLst/>
          </a:prstGeom>
          <a:solidFill>
            <a:srgbClr val="F0F0FF"/>
          </a:solidFill>
          <a:ln w="12700">
            <a:solidFill>
              <a:srgbClr val="F0F0FF"/>
            </a:solidFill>
            <a:prstDash val="solid"/>
          </a:ln>
        </p:spPr>
      </p:sp>
      <p:sp>
        <p:nvSpPr>
          <p:cNvPr id="24" name="Shape 22"/>
          <p:cNvSpPr/>
          <p:nvPr/>
        </p:nvSpPr>
        <p:spPr>
          <a:xfrm>
            <a:off x="4648200" y="3143250"/>
            <a:ext cx="4038600" cy="38100"/>
          </a:xfrm>
          <a:prstGeom prst="rect">
            <a:avLst/>
          </a:prstGeom>
          <a:solidFill>
            <a:srgbClr val="33006F"/>
          </a:solidFill>
          <a:ln w="12700">
            <a:solidFill>
              <a:srgbClr val="33006F"/>
            </a:solidFill>
            <a:prstDash val="solid"/>
          </a:ln>
        </p:spPr>
      </p:sp>
      <p:sp>
        <p:nvSpPr>
          <p:cNvPr id="25" name="Shape 23"/>
          <p:cNvSpPr/>
          <p:nvPr/>
        </p:nvSpPr>
        <p:spPr>
          <a:xfrm>
            <a:off x="4876800" y="3390900"/>
            <a:ext cx="323850" cy="323850"/>
          </a:xfrm>
          <a:prstGeom prst="rect">
            <a:avLst/>
          </a:prstGeom>
          <a:solidFill>
            <a:srgbClr val="33006F"/>
          </a:solidFill>
          <a:ln w="12700">
            <a:solidFill>
              <a:srgbClr val="33006F"/>
            </a:solidFill>
            <a:prstDash val="solid"/>
          </a:ln>
        </p:spPr>
      </p:sp>
      <p:sp>
        <p:nvSpPr>
          <p:cNvPr id="26" name="Text 24"/>
          <p:cNvSpPr txBox="1"/>
          <p:nvPr/>
        </p:nvSpPr>
        <p:spPr>
          <a:xfrm>
            <a:off x="4876800" y="3390900"/>
            <a:ext cx="323850" cy="323850"/>
          </a:xfrm>
          <a:prstGeom prst="rect">
            <a:avLst/>
          </a:prstGeom>
          <a:noFill/>
          <a:ln/>
        </p:spPr>
        <p:txBody>
          <a:bodyPr wrap="square" lIns="0" tIns="0" rIns="0" bIns="0" rtlCol="0" anchor="ctr"/>
          <a:lstStyle/>
          <a:p>
            <a:pPr algn="ctr" indent="0" marL="0">
              <a:buNone/>
            </a:pPr>
            <a:r>
              <a:rPr lang="fr-FR" sz="1400" b="1" dirty="0">
                <a:solidFill>
                  <a:srgbClr val="FFFFFF"/>
                </a:solidFill>
                <a:latin typeface="Source Sans 3" pitchFamily="34" charset="0"/>
                <a:ea typeface="Source Sans 3" pitchFamily="34" charset="-122"/>
                <a:cs typeface="Source Sans 3" pitchFamily="34" charset="-120"/>
              </a:rPr>
              <a:t>4</a:t>
            </a:r>
            <a:endParaRPr lang="fr-FR" sz="1400" dirty="0"/>
          </a:p>
        </p:txBody>
      </p:sp>
      <p:sp>
        <p:nvSpPr>
          <p:cNvPr id="27" name="Text 25"/>
          <p:cNvSpPr txBox="1"/>
          <p:nvPr/>
        </p:nvSpPr>
        <p:spPr>
          <a:xfrm>
            <a:off x="5391150" y="3371850"/>
            <a:ext cx="3086100" cy="342900"/>
          </a:xfrm>
          <a:prstGeom prst="rect">
            <a:avLst/>
          </a:prstGeom>
          <a:noFill/>
          <a:ln/>
        </p:spPr>
        <p:txBody>
          <a:bodyPr wrap="square" lIns="0" tIns="0" rIns="0" bIns="0" rtlCol="0" anchor="t"/>
          <a:lstStyle/>
          <a:p>
            <a:pPr indent="0" marL="0">
              <a:buNone/>
            </a:pPr>
            <a:r>
              <a:rPr lang="fr-FR" sz="2050" b="1" dirty="0">
                <a:solidFill>
                  <a:srgbClr val="33006F"/>
                </a:solidFill>
                <a:latin typeface="Source Sans 3" pitchFamily="34" charset="0"/>
                <a:ea typeface="Source Sans 3" pitchFamily="34" charset="-122"/>
                <a:cs typeface="Source Sans 3" pitchFamily="34" charset="-120"/>
              </a:rPr>
              <a:t>GSoC</a:t>
            </a:r>
            <a:endParaRPr lang="fr-FR" sz="2050" dirty="0"/>
          </a:p>
        </p:txBody>
      </p:sp>
      <p:sp>
        <p:nvSpPr>
          <p:cNvPr id="28" name="Text 26"/>
          <p:cNvSpPr txBox="1"/>
          <p:nvPr/>
        </p:nvSpPr>
        <p:spPr>
          <a:xfrm>
            <a:off x="5391150" y="3771900"/>
            <a:ext cx="3086100" cy="666750"/>
          </a:xfrm>
          <a:prstGeom prst="rect">
            <a:avLst/>
          </a:prstGeom>
          <a:noFill/>
          <a:ln/>
        </p:spPr>
        <p:txBody>
          <a:bodyPr wrap="square" lIns="0" tIns="0" rIns="0" bIns="0" rtlCol="0" anchor="t"/>
          <a:lstStyle/>
          <a:p>
            <a:pPr indent="0" marL="0">
              <a:buNone/>
            </a:pPr>
            <a:r>
              <a:rPr lang="fr-FR" sz="1400" dirty="0">
                <a:solidFill>
                  <a:srgbClr val="434343"/>
                </a:solidFill>
                <a:latin typeface="Source Sans 3" pitchFamily="34" charset="0"/>
                <a:ea typeface="Source Sans 3" pitchFamily="34" charset="-122"/>
                <a:cs typeface="Source Sans 3" pitchFamily="34" charset="-120"/>
              </a:rPr>
              <a:t>Google Summer of Code. Des étudiants développent des fonctionnalités avec des mentors chaque été.</a:t>
            </a:r>
            <a:endParaRPr lang="fr-FR" sz="1400" dirty="0"/>
          </a:p>
        </p:txBody>
      </p:sp>
      <p:sp>
        <p:nvSpPr>
          <p:cNvPr id="29" name="Text 27"/>
          <p:cNvSpPr txBox="1"/>
          <p:nvPr/>
        </p:nvSpPr>
        <p:spPr>
          <a:xfrm>
            <a:off x="7953375" y="4743450"/>
            <a:ext cx="952500" cy="228600"/>
          </a:xfrm>
          <a:prstGeom prst="rect">
            <a:avLst/>
          </a:prstGeom>
          <a:noFill/>
          <a:ln/>
        </p:spPr>
        <p:txBody>
          <a:bodyPr wrap="square" lIns="0" tIns="0" rIns="0" bIns="0" rtlCol="0" anchor="t"/>
          <a:lstStyle/>
          <a:p>
            <a:pPr algn="r" indent="0" marL="0">
              <a:buNone/>
            </a:pPr>
            <a:r>
              <a:rPr lang="fr-FR" sz="1000" dirty="0">
                <a:solidFill>
                  <a:srgbClr val="888888"/>
                </a:solidFill>
                <a:latin typeface="Source Sans 3" pitchFamily="34" charset="0"/>
                <a:ea typeface="Source Sans 3" pitchFamily="34" charset="-122"/>
                <a:cs typeface="Source Sans 3" pitchFamily="34" charset="-120"/>
              </a:rPr>
              <a:t>13</a:t>
            </a:r>
            <a:endParaRPr lang="fr-FR" sz="1000" dirty="0"/>
          </a:p>
        </p:txBody>
      </p:sp>
      <p:sp>
        <p:nvSpPr>
          <p:cNvPr id="30" name="Text 28"/>
          <p:cNvSpPr txBox="1"/>
          <p:nvPr/>
        </p:nvSpPr>
        <p:spPr>
          <a:xfrm>
            <a:off x="457200" y="4743450"/>
            <a:ext cx="3810000" cy="228600"/>
          </a:xfrm>
          <a:prstGeom prst="rect">
            <a:avLst/>
          </a:prstGeom>
          <a:noFill/>
          <a:ln/>
        </p:spPr>
        <p:txBody>
          <a:bodyPr wrap="square" lIns="0" tIns="0" rIns="0" bIns="0" rtlCol="0" anchor="t"/>
          <a:lstStyle/>
          <a:p>
            <a:pPr algn="l" indent="0" marL="0">
              <a:buNone/>
            </a:pPr>
            <a:r>
              <a:rPr lang="fr-FR" sz="1000" dirty="0">
                <a:solidFill>
                  <a:srgbClr val="888888"/>
                </a:solidFill>
                <a:latin typeface="Source Sans 3" pitchFamily="34" charset="0"/>
                <a:ea typeface="Source Sans 3" pitchFamily="34" charset="-122"/>
                <a:cs typeface="Source Sans 3" pitchFamily="34" charset="-120"/>
              </a:rPr>
              <a:t>Passation eSIL Madagascar</a:t>
            </a:r>
            <a:endParaRPr lang="fr-FR" sz="10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247650"/>
            <a:ext cx="8229600" cy="209550"/>
          </a:xfrm>
          <a:prstGeom prst="rect">
            <a:avLst/>
          </a:prstGeom>
          <a:noFill/>
          <a:ln/>
        </p:spPr>
        <p:txBody>
          <a:bodyPr wrap="square" lIns="0" tIns="0" rIns="0" bIns="0" rtlCol="0" anchor="t"/>
          <a:lstStyle/>
          <a:p>
            <a:pPr indent="0" marL="0">
              <a:buNone/>
            </a:pPr>
            <a:r>
              <a:rPr lang="fr-FR" sz="1200" b="1" spc="150" kern="0" dirty="0">
                <a:solidFill>
                  <a:srgbClr val="33006F"/>
                </a:solidFill>
                <a:latin typeface="Source Sans 3" pitchFamily="34" charset="0"/>
                <a:ea typeface="Source Sans 3" pitchFamily="34" charset="-122"/>
                <a:cs typeface="Source Sans 3" pitchFamily="34" charset="-120"/>
              </a:rPr>
              <a:t>LA COMMUNAUTÉ</a:t>
            </a:r>
            <a:pPr indent="0" marL="0">
              <a:buNone/>
            </a:pPr>
            <a:r>
              <a:rPr lang="fr-FR" sz="1200" dirty="0">
                <a:solidFill>
                  <a:srgbClr val="888888"/>
                </a:solidFill>
                <a:latin typeface="Source Sans 3" pitchFamily="34" charset="0"/>
                <a:ea typeface="Source Sans 3" pitchFamily="34" charset="-122"/>
                <a:cs typeface="Source Sans 3" pitchFamily="34" charset="-120"/>
              </a:rPr>
              <a:t>    Section 2 sur 7</a:t>
            </a:r>
            <a:endParaRPr lang="fr-FR" sz="1200" dirty="0"/>
          </a:p>
        </p:txBody>
      </p:sp>
      <p:sp>
        <p:nvSpPr>
          <p:cNvPr id="3" name="Shape 1"/>
          <p:cNvSpPr/>
          <p:nvPr/>
        </p:nvSpPr>
        <p:spPr>
          <a:xfrm>
            <a:off x="457200" y="533400"/>
            <a:ext cx="685800" cy="57150"/>
          </a:xfrm>
          <a:prstGeom prst="rect">
            <a:avLst/>
          </a:prstGeom>
          <a:solidFill>
            <a:srgbClr val="33006F"/>
          </a:solidFill>
          <a:ln w="12700">
            <a:solidFill>
              <a:srgbClr val="33006F"/>
            </a:solidFill>
            <a:prstDash val="solid"/>
          </a:ln>
        </p:spPr>
      </p:sp>
      <p:sp>
        <p:nvSpPr>
          <p:cNvPr id="4" name="Text 2"/>
          <p:cNvSpPr txBox="1"/>
          <p:nvPr/>
        </p:nvSpPr>
        <p:spPr>
          <a:xfrm>
            <a:off x="457200" y="704850"/>
            <a:ext cx="8229600" cy="800100"/>
          </a:xfrm>
          <a:prstGeom prst="rect">
            <a:avLst/>
          </a:prstGeom>
          <a:noFill/>
          <a:ln/>
        </p:spPr>
        <p:txBody>
          <a:bodyPr wrap="square" lIns="0" tIns="0" rIns="0" bIns="0" rtlCol="0" anchor="t">
            <a:normAutofit/>
          </a:bodyPr>
          <a:lstStyle/>
          <a:p>
            <a:pPr indent="0" marL="0">
              <a:buNone/>
            </a:pPr>
            <a:r>
              <a:rPr lang="fr-FR" sz="2350" b="1" dirty="0">
                <a:solidFill>
                  <a:srgbClr val="33006F"/>
                </a:solidFill>
                <a:latin typeface="Source Sans 3" pitchFamily="34" charset="0"/>
                <a:ea typeface="Source Sans 3" pitchFamily="34" charset="-122"/>
                <a:cs typeface="Source Sans 3" pitchFamily="34" charset="-120"/>
              </a:rPr>
              <a:t>Canaux plus rapides : Slack et l'appel hebdomadaire</a:t>
            </a:r>
            <a:endParaRPr lang="fr-FR" sz="2350" dirty="0"/>
          </a:p>
        </p:txBody>
      </p:sp>
      <p:sp>
        <p:nvSpPr>
          <p:cNvPr id="5" name="Shape 3"/>
          <p:cNvSpPr/>
          <p:nvPr/>
        </p:nvSpPr>
        <p:spPr>
          <a:xfrm>
            <a:off x="457200" y="1562100"/>
            <a:ext cx="4038600" cy="2000250"/>
          </a:xfrm>
          <a:prstGeom prst="rect">
            <a:avLst/>
          </a:prstGeom>
          <a:solidFill>
            <a:srgbClr val="F0F0FF"/>
          </a:solidFill>
          <a:ln w="12700">
            <a:solidFill>
              <a:srgbClr val="F0F0FF"/>
            </a:solidFill>
            <a:prstDash val="solid"/>
          </a:ln>
        </p:spPr>
      </p:sp>
      <p:sp>
        <p:nvSpPr>
          <p:cNvPr id="6" name="Shape 4"/>
          <p:cNvSpPr/>
          <p:nvPr/>
        </p:nvSpPr>
        <p:spPr>
          <a:xfrm>
            <a:off x="457200" y="1562100"/>
            <a:ext cx="4038600" cy="38100"/>
          </a:xfrm>
          <a:prstGeom prst="rect">
            <a:avLst/>
          </a:prstGeom>
          <a:solidFill>
            <a:srgbClr val="33006F"/>
          </a:solidFill>
          <a:ln w="12700">
            <a:solidFill>
              <a:srgbClr val="33006F"/>
            </a:solidFill>
            <a:prstDash val="solid"/>
          </a:ln>
        </p:spPr>
      </p:sp>
      <p:sp>
        <p:nvSpPr>
          <p:cNvPr id="7" name="Text 5"/>
          <p:cNvSpPr txBox="1"/>
          <p:nvPr/>
        </p:nvSpPr>
        <p:spPr>
          <a:xfrm>
            <a:off x="685800" y="1809750"/>
            <a:ext cx="3581400" cy="342900"/>
          </a:xfrm>
          <a:prstGeom prst="rect">
            <a:avLst/>
          </a:prstGeom>
          <a:noFill/>
          <a:ln/>
        </p:spPr>
        <p:txBody>
          <a:bodyPr wrap="square" lIns="0" tIns="0" rIns="0" bIns="0" rtlCol="0" anchor="t"/>
          <a:lstStyle/>
          <a:p>
            <a:pPr indent="0" marL="0">
              <a:buNone/>
            </a:pPr>
            <a:r>
              <a:rPr lang="fr-FR" sz="2050" b="1" dirty="0">
                <a:solidFill>
                  <a:srgbClr val="33006F"/>
                </a:solidFill>
                <a:latin typeface="Source Sans 3" pitchFamily="34" charset="0"/>
                <a:ea typeface="Source Sans 3" pitchFamily="34" charset="-122"/>
                <a:cs typeface="Source Sans 3" pitchFamily="34" charset="-120"/>
              </a:rPr>
              <a:t>Slack</a:t>
            </a:r>
            <a:endParaRPr lang="fr-FR" sz="2050" dirty="0"/>
          </a:p>
        </p:txBody>
      </p:sp>
      <p:sp>
        <p:nvSpPr>
          <p:cNvPr id="8" name="Text 6"/>
          <p:cNvSpPr txBox="1"/>
          <p:nvPr/>
        </p:nvSpPr>
        <p:spPr>
          <a:xfrm>
            <a:off x="685800" y="2209800"/>
            <a:ext cx="3581400" cy="666750"/>
          </a:xfrm>
          <a:prstGeom prst="rect">
            <a:avLst/>
          </a:prstGeom>
          <a:noFill/>
          <a:ln/>
        </p:spPr>
        <p:txBody>
          <a:bodyPr wrap="square" lIns="0" tIns="0" rIns="0" bIns="0" rtlCol="0" anchor="t"/>
          <a:lstStyle/>
          <a:p>
            <a:pPr indent="0" marL="0">
              <a:buNone/>
            </a:pPr>
            <a:r>
              <a:rPr lang="fr-FR" sz="1400" dirty="0">
                <a:solidFill>
                  <a:srgbClr val="434343"/>
                </a:solidFill>
                <a:latin typeface="Source Sans 3" pitchFamily="34" charset="0"/>
                <a:ea typeface="Source Sans 3" pitchFamily="34" charset="-122"/>
                <a:cs typeface="Source Sans 3" pitchFamily="34" charset="-120"/>
              </a:rPr>
              <a:t>Pour les questions courtes et les échanges rapides. Demandez une invitation sur le forum :</a:t>
            </a:r>
            <a:endParaRPr lang="fr-FR" sz="1400" dirty="0"/>
          </a:p>
        </p:txBody>
      </p:sp>
      <p:sp>
        <p:nvSpPr>
          <p:cNvPr id="9" name="Text 7"/>
          <p:cNvSpPr txBox="1"/>
          <p:nvPr/>
        </p:nvSpPr>
        <p:spPr>
          <a:xfrm>
            <a:off x="685800" y="2971800"/>
            <a:ext cx="3581400" cy="381000"/>
          </a:xfrm>
          <a:prstGeom prst="rect">
            <a:avLst/>
          </a:prstGeom>
          <a:noFill/>
          <a:ln/>
        </p:spPr>
        <p:txBody>
          <a:bodyPr wrap="square" lIns="0" tIns="0" rIns="0" bIns="0" rtlCol="0" anchor="t"/>
          <a:lstStyle/>
          <a:p>
            <a:pPr indent="0" marL="0">
              <a:buNone/>
            </a:pPr>
            <a:r>
              <a:rPr lang="fr-FR" sz="1000" dirty="0">
                <a:solidFill>
                  <a:srgbClr val="01458E"/>
                </a:solidFill>
                <a:latin typeface="Source Sans 3" pitchFamily="34" charset="0"/>
                <a:ea typeface="Source Sans 3" pitchFamily="34" charset="-122"/>
                <a:cs typeface="Source Sans 3" pitchFamily="34" charset="-120"/>
              </a:rPr>
              <a:t>talk.openelis-global.org/t/invitation-to-openelis-community-slack-channel/125</a:t>
            </a:r>
            <a:endParaRPr lang="fr-FR" sz="1000" dirty="0"/>
          </a:p>
        </p:txBody>
      </p:sp>
      <p:sp>
        <p:nvSpPr>
          <p:cNvPr id="10" name="Shape 8"/>
          <p:cNvSpPr/>
          <p:nvPr/>
        </p:nvSpPr>
        <p:spPr>
          <a:xfrm>
            <a:off x="4648200" y="1562100"/>
            <a:ext cx="4038600" cy="2000250"/>
          </a:xfrm>
          <a:prstGeom prst="rect">
            <a:avLst/>
          </a:prstGeom>
          <a:solidFill>
            <a:srgbClr val="F0F0FF"/>
          </a:solidFill>
          <a:ln w="12700">
            <a:solidFill>
              <a:srgbClr val="F0F0FF"/>
            </a:solidFill>
            <a:prstDash val="solid"/>
          </a:ln>
        </p:spPr>
      </p:sp>
      <p:sp>
        <p:nvSpPr>
          <p:cNvPr id="11" name="Shape 9"/>
          <p:cNvSpPr/>
          <p:nvPr/>
        </p:nvSpPr>
        <p:spPr>
          <a:xfrm>
            <a:off x="4648200" y="1562100"/>
            <a:ext cx="4038600" cy="38100"/>
          </a:xfrm>
          <a:prstGeom prst="rect">
            <a:avLst/>
          </a:prstGeom>
          <a:solidFill>
            <a:srgbClr val="33006F"/>
          </a:solidFill>
          <a:ln w="12700">
            <a:solidFill>
              <a:srgbClr val="33006F"/>
            </a:solidFill>
            <a:prstDash val="solid"/>
          </a:ln>
        </p:spPr>
      </p:sp>
      <p:sp>
        <p:nvSpPr>
          <p:cNvPr id="12" name="Text 10"/>
          <p:cNvSpPr txBox="1"/>
          <p:nvPr/>
        </p:nvSpPr>
        <p:spPr>
          <a:xfrm>
            <a:off x="4876800" y="1809750"/>
            <a:ext cx="3581400" cy="342900"/>
          </a:xfrm>
          <a:prstGeom prst="rect">
            <a:avLst/>
          </a:prstGeom>
          <a:noFill/>
          <a:ln/>
        </p:spPr>
        <p:txBody>
          <a:bodyPr wrap="square" lIns="0" tIns="0" rIns="0" bIns="0" rtlCol="0" anchor="t"/>
          <a:lstStyle/>
          <a:p>
            <a:pPr indent="0" marL="0">
              <a:buNone/>
            </a:pPr>
            <a:r>
              <a:rPr lang="fr-FR" sz="2050" b="1" dirty="0">
                <a:solidFill>
                  <a:srgbClr val="33006F"/>
                </a:solidFill>
                <a:latin typeface="Source Sans 3" pitchFamily="34" charset="0"/>
                <a:ea typeface="Source Sans 3" pitchFamily="34" charset="-122"/>
                <a:cs typeface="Source Sans 3" pitchFamily="34" charset="-120"/>
              </a:rPr>
              <a:t>Appel hebdomadaire</a:t>
            </a:r>
            <a:endParaRPr lang="fr-FR" sz="2050" dirty="0"/>
          </a:p>
        </p:txBody>
      </p:sp>
      <p:sp>
        <p:nvSpPr>
          <p:cNvPr id="13" name="Text 11"/>
          <p:cNvSpPr txBox="1"/>
          <p:nvPr/>
        </p:nvSpPr>
        <p:spPr>
          <a:xfrm>
            <a:off x="4876800" y="2209800"/>
            <a:ext cx="3581400" cy="666750"/>
          </a:xfrm>
          <a:prstGeom prst="rect">
            <a:avLst/>
          </a:prstGeom>
          <a:noFill/>
          <a:ln/>
        </p:spPr>
        <p:txBody>
          <a:bodyPr wrap="square" lIns="0" tIns="0" rIns="0" bIns="0" rtlCol="0" anchor="t"/>
          <a:lstStyle/>
          <a:p>
            <a:pPr indent="0" marL="0">
              <a:buNone/>
            </a:pPr>
            <a:r>
              <a:rPr lang="fr-FR" sz="1400" dirty="0">
                <a:solidFill>
                  <a:srgbClr val="434343"/>
                </a:solidFill>
                <a:latin typeface="Source Sans 3" pitchFamily="34" charset="0"/>
                <a:ea typeface="Source Sans 3" pitchFamily="34" charset="-122"/>
                <a:cs typeface="Source Sans 3" pitchFamily="34" charset="-120"/>
              </a:rPr>
              <a:t>Chaque jeudi à 17 h GMT. Soit 20 h à Madagascar. Sur Google Meet.</a:t>
            </a:r>
            <a:endParaRPr lang="fr-FR" sz="1400" dirty="0"/>
          </a:p>
        </p:txBody>
      </p:sp>
      <p:sp>
        <p:nvSpPr>
          <p:cNvPr id="14" name="Text 12"/>
          <p:cNvSpPr txBox="1"/>
          <p:nvPr/>
        </p:nvSpPr>
        <p:spPr>
          <a:xfrm>
            <a:off x="4876800" y="2971800"/>
            <a:ext cx="3581400" cy="381000"/>
          </a:xfrm>
          <a:prstGeom prst="rect">
            <a:avLst/>
          </a:prstGeom>
          <a:noFill/>
          <a:ln/>
        </p:spPr>
        <p:txBody>
          <a:bodyPr wrap="square" lIns="0" tIns="0" rIns="0" bIns="0" rtlCol="0" anchor="t"/>
          <a:lstStyle/>
          <a:p>
            <a:pPr indent="0" marL="0">
              <a:buNone/>
            </a:pPr>
            <a:r>
              <a:rPr lang="fr-FR" sz="1300" dirty="0">
                <a:solidFill>
                  <a:srgbClr val="01458E"/>
                </a:solidFill>
                <a:latin typeface="Source Sans 3" pitchFamily="34" charset="0"/>
                <a:ea typeface="Source Sans 3" pitchFamily="34" charset="-122"/>
                <a:cs typeface="Source Sans 3" pitchFamily="34" charset="-120"/>
              </a:rPr>
              <a:t>meet.google.com/vst-tkbi-xbw</a:t>
            </a:r>
            <a:endParaRPr lang="fr-FR" sz="1300" dirty="0"/>
          </a:p>
        </p:txBody>
      </p:sp>
      <p:sp>
        <p:nvSpPr>
          <p:cNvPr id="15" name="Text 13"/>
          <p:cNvSpPr txBox="1"/>
          <p:nvPr/>
        </p:nvSpPr>
        <p:spPr>
          <a:xfrm>
            <a:off x="457200" y="3810000"/>
            <a:ext cx="8229600" cy="571500"/>
          </a:xfrm>
          <a:prstGeom prst="rect">
            <a:avLst/>
          </a:prstGeom>
          <a:noFill/>
          <a:ln/>
        </p:spPr>
        <p:txBody>
          <a:bodyPr wrap="square" lIns="0" tIns="0" rIns="0" bIns="0" rtlCol="0" anchor="t"/>
          <a:lstStyle/>
          <a:p>
            <a:pPr indent="0" marL="0">
              <a:buNone/>
            </a:pPr>
            <a:r>
              <a:rPr lang="fr-FR" sz="1500" dirty="0">
                <a:solidFill>
                  <a:srgbClr val="434343"/>
                </a:solidFill>
                <a:latin typeface="Source Sans 3" pitchFamily="34" charset="0"/>
                <a:ea typeface="Source Sans 3" pitchFamily="34" charset="-122"/>
                <a:cs typeface="Source Sans 3" pitchFamily="34" charset="-120"/>
              </a:rPr>
              <a:t>Le forum est la trace écrite. Slack et l'appel servent à aller vite. Quand une décision est prise en appel, quelqu'un l'écrit sur le forum.</a:t>
            </a:r>
            <a:endParaRPr lang="fr-FR" sz="1500" dirty="0"/>
          </a:p>
        </p:txBody>
      </p:sp>
      <p:sp>
        <p:nvSpPr>
          <p:cNvPr id="16" name="Text 14"/>
          <p:cNvSpPr txBox="1"/>
          <p:nvPr/>
        </p:nvSpPr>
        <p:spPr>
          <a:xfrm>
            <a:off x="7953375" y="4743450"/>
            <a:ext cx="952500" cy="228600"/>
          </a:xfrm>
          <a:prstGeom prst="rect">
            <a:avLst/>
          </a:prstGeom>
          <a:noFill/>
          <a:ln/>
        </p:spPr>
        <p:txBody>
          <a:bodyPr wrap="square" lIns="0" tIns="0" rIns="0" bIns="0" rtlCol="0" anchor="t"/>
          <a:lstStyle/>
          <a:p>
            <a:pPr algn="r" indent="0" marL="0">
              <a:buNone/>
            </a:pPr>
            <a:r>
              <a:rPr lang="fr-FR" sz="1000" dirty="0">
                <a:solidFill>
                  <a:srgbClr val="888888"/>
                </a:solidFill>
                <a:latin typeface="Source Sans 3" pitchFamily="34" charset="0"/>
                <a:ea typeface="Source Sans 3" pitchFamily="34" charset="-122"/>
                <a:cs typeface="Source Sans 3" pitchFamily="34" charset="-120"/>
              </a:rPr>
              <a:t>14</a:t>
            </a:r>
            <a:endParaRPr lang="fr-FR" sz="1000" dirty="0"/>
          </a:p>
        </p:txBody>
      </p:sp>
      <p:sp>
        <p:nvSpPr>
          <p:cNvPr id="17" name="Text 15"/>
          <p:cNvSpPr txBox="1"/>
          <p:nvPr/>
        </p:nvSpPr>
        <p:spPr>
          <a:xfrm>
            <a:off x="457200" y="4743450"/>
            <a:ext cx="3810000" cy="228600"/>
          </a:xfrm>
          <a:prstGeom prst="rect">
            <a:avLst/>
          </a:prstGeom>
          <a:noFill/>
          <a:ln/>
        </p:spPr>
        <p:txBody>
          <a:bodyPr wrap="square" lIns="0" tIns="0" rIns="0" bIns="0" rtlCol="0" anchor="t"/>
          <a:lstStyle/>
          <a:p>
            <a:pPr algn="l" indent="0" marL="0">
              <a:buNone/>
            </a:pPr>
            <a:r>
              <a:rPr lang="fr-FR" sz="1000" dirty="0">
                <a:solidFill>
                  <a:srgbClr val="888888"/>
                </a:solidFill>
                <a:latin typeface="Source Sans 3" pitchFamily="34" charset="0"/>
                <a:ea typeface="Source Sans 3" pitchFamily="34" charset="-122"/>
                <a:cs typeface="Source Sans 3" pitchFamily="34" charset="-120"/>
              </a:rPr>
              <a:t>Passation eSIL Madagascar</a:t>
            </a:r>
            <a:endParaRPr lang="fr-FR" sz="10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247650"/>
            <a:ext cx="8229600" cy="209550"/>
          </a:xfrm>
          <a:prstGeom prst="rect">
            <a:avLst/>
          </a:prstGeom>
          <a:noFill/>
          <a:ln/>
        </p:spPr>
        <p:txBody>
          <a:bodyPr wrap="square" lIns="0" tIns="0" rIns="0" bIns="0" rtlCol="0" anchor="t"/>
          <a:lstStyle/>
          <a:p>
            <a:pPr indent="0" marL="0">
              <a:buNone/>
            </a:pPr>
            <a:r>
              <a:rPr lang="fr-FR" sz="1200" b="1" spc="150" kern="0" dirty="0">
                <a:solidFill>
                  <a:srgbClr val="33006F"/>
                </a:solidFill>
                <a:latin typeface="Source Sans 3" pitchFamily="34" charset="0"/>
                <a:ea typeface="Source Sans 3" pitchFamily="34" charset="-122"/>
                <a:cs typeface="Source Sans 3" pitchFamily="34" charset="-120"/>
              </a:rPr>
              <a:t>LA COMMUNAUTÉ</a:t>
            </a:r>
            <a:pPr indent="0" marL="0">
              <a:buNone/>
            </a:pPr>
            <a:r>
              <a:rPr lang="fr-FR" sz="1200" dirty="0">
                <a:solidFill>
                  <a:srgbClr val="888888"/>
                </a:solidFill>
                <a:latin typeface="Source Sans 3" pitchFamily="34" charset="0"/>
                <a:ea typeface="Source Sans 3" pitchFamily="34" charset="-122"/>
                <a:cs typeface="Source Sans 3" pitchFamily="34" charset="-120"/>
              </a:rPr>
              <a:t>    Section 2 sur 7</a:t>
            </a:r>
            <a:endParaRPr lang="fr-FR" sz="1200" dirty="0"/>
          </a:p>
        </p:txBody>
      </p:sp>
      <p:sp>
        <p:nvSpPr>
          <p:cNvPr id="3" name="Shape 1"/>
          <p:cNvSpPr/>
          <p:nvPr/>
        </p:nvSpPr>
        <p:spPr>
          <a:xfrm>
            <a:off x="457200" y="533400"/>
            <a:ext cx="685800" cy="57150"/>
          </a:xfrm>
          <a:prstGeom prst="rect">
            <a:avLst/>
          </a:prstGeom>
          <a:solidFill>
            <a:srgbClr val="33006F"/>
          </a:solidFill>
          <a:ln w="12700">
            <a:solidFill>
              <a:srgbClr val="33006F"/>
            </a:solidFill>
            <a:prstDash val="solid"/>
          </a:ln>
        </p:spPr>
      </p:sp>
      <p:sp>
        <p:nvSpPr>
          <p:cNvPr id="4" name="Text 2"/>
          <p:cNvSpPr txBox="1"/>
          <p:nvPr/>
        </p:nvSpPr>
        <p:spPr>
          <a:xfrm>
            <a:off x="457200" y="704850"/>
            <a:ext cx="8229600" cy="800100"/>
          </a:xfrm>
          <a:prstGeom prst="rect">
            <a:avLst/>
          </a:prstGeom>
          <a:noFill/>
          <a:ln/>
        </p:spPr>
        <p:txBody>
          <a:bodyPr wrap="square" lIns="0" tIns="0" rIns="0" bIns="0" rtlCol="0" anchor="t">
            <a:normAutofit/>
          </a:bodyPr>
          <a:lstStyle/>
          <a:p>
            <a:pPr indent="0" marL="0">
              <a:buNone/>
            </a:pPr>
            <a:r>
              <a:rPr lang="fr-FR" sz="2350" b="1" dirty="0">
                <a:solidFill>
                  <a:srgbClr val="33006F"/>
                </a:solidFill>
                <a:latin typeface="Source Sans 3" pitchFamily="34" charset="0"/>
                <a:ea typeface="Source Sans 3" pitchFamily="34" charset="-122"/>
                <a:cs typeface="Source Sans 3" pitchFamily="34" charset="-120"/>
              </a:rPr>
              <a:t>D'un message à un changement</a:t>
            </a:r>
            <a:endParaRPr lang="fr-FR" sz="2350" dirty="0"/>
          </a:p>
        </p:txBody>
      </p:sp>
      <p:sp>
        <p:nvSpPr>
          <p:cNvPr id="5" name="Shape 3"/>
          <p:cNvSpPr/>
          <p:nvPr/>
        </p:nvSpPr>
        <p:spPr>
          <a:xfrm>
            <a:off x="457200" y="1562100"/>
            <a:ext cx="323850" cy="323850"/>
          </a:xfrm>
          <a:prstGeom prst="rect">
            <a:avLst/>
          </a:prstGeom>
          <a:solidFill>
            <a:srgbClr val="33006F"/>
          </a:solidFill>
          <a:ln w="12700">
            <a:solidFill>
              <a:srgbClr val="33006F"/>
            </a:solidFill>
            <a:prstDash val="solid"/>
          </a:ln>
        </p:spPr>
      </p:sp>
      <p:sp>
        <p:nvSpPr>
          <p:cNvPr id="6" name="Text 4"/>
          <p:cNvSpPr txBox="1"/>
          <p:nvPr/>
        </p:nvSpPr>
        <p:spPr>
          <a:xfrm>
            <a:off x="457200" y="1562100"/>
            <a:ext cx="323850" cy="323850"/>
          </a:xfrm>
          <a:prstGeom prst="rect">
            <a:avLst/>
          </a:prstGeom>
          <a:noFill/>
          <a:ln/>
        </p:spPr>
        <p:txBody>
          <a:bodyPr wrap="square" lIns="0" tIns="0" rIns="0" bIns="0" rtlCol="0" anchor="ctr"/>
          <a:lstStyle/>
          <a:p>
            <a:pPr algn="ctr" indent="0" marL="0">
              <a:buNone/>
            </a:pPr>
            <a:r>
              <a:rPr lang="fr-FR" sz="1400" b="1" dirty="0">
                <a:solidFill>
                  <a:srgbClr val="FFFFFF"/>
                </a:solidFill>
                <a:latin typeface="Source Sans 3" pitchFamily="34" charset="0"/>
                <a:ea typeface="Source Sans 3" pitchFamily="34" charset="-122"/>
                <a:cs typeface="Source Sans 3" pitchFamily="34" charset="-120"/>
              </a:rPr>
              <a:t>1</a:t>
            </a:r>
            <a:endParaRPr lang="fr-FR" sz="1400" dirty="0"/>
          </a:p>
        </p:txBody>
      </p:sp>
      <p:sp>
        <p:nvSpPr>
          <p:cNvPr id="7" name="Text 5"/>
          <p:cNvSpPr txBox="1"/>
          <p:nvPr/>
        </p:nvSpPr>
        <p:spPr>
          <a:xfrm>
            <a:off x="457200" y="1981200"/>
            <a:ext cx="1847850" cy="285750"/>
          </a:xfrm>
          <a:prstGeom prst="rect">
            <a:avLst/>
          </a:prstGeom>
          <a:noFill/>
          <a:ln/>
        </p:spPr>
        <p:txBody>
          <a:bodyPr wrap="square" lIns="0" tIns="0" rIns="0" bIns="0" rtlCol="0" anchor="t"/>
          <a:lstStyle/>
          <a:p>
            <a:pPr indent="0" marL="0">
              <a:buNone/>
            </a:pPr>
            <a:r>
              <a:rPr lang="fr-FR" sz="1600" b="1" dirty="0">
                <a:solidFill>
                  <a:srgbClr val="33006F"/>
                </a:solidFill>
                <a:latin typeface="Source Sans 3" pitchFamily="34" charset="0"/>
                <a:ea typeface="Source Sans 3" pitchFamily="34" charset="-122"/>
                <a:cs typeface="Source Sans 3" pitchFamily="34" charset="-120"/>
              </a:rPr>
              <a:t>Signalé</a:t>
            </a:r>
            <a:endParaRPr lang="fr-FR" sz="1600" dirty="0"/>
          </a:p>
        </p:txBody>
      </p:sp>
      <p:sp>
        <p:nvSpPr>
          <p:cNvPr id="8" name="Text 6"/>
          <p:cNvSpPr txBox="1"/>
          <p:nvPr/>
        </p:nvSpPr>
        <p:spPr>
          <a:xfrm>
            <a:off x="457200" y="2305050"/>
            <a:ext cx="1847850" cy="857250"/>
          </a:xfrm>
          <a:prstGeom prst="rect">
            <a:avLst/>
          </a:prstGeom>
          <a:noFill/>
          <a:ln/>
        </p:spPr>
        <p:txBody>
          <a:bodyPr wrap="square" lIns="0" tIns="0" rIns="0" bIns="0" rtlCol="0" anchor="t"/>
          <a:lstStyle/>
          <a:p>
            <a:pPr indent="0" marL="0">
              <a:buNone/>
            </a:pPr>
            <a:r>
              <a:rPr lang="fr-FR" sz="1300" dirty="0">
                <a:solidFill>
                  <a:srgbClr val="434343"/>
                </a:solidFill>
                <a:latin typeface="Source Sans 3" pitchFamily="34" charset="0"/>
                <a:ea typeface="Source Sans 3" pitchFamily="34" charset="-122"/>
                <a:cs typeface="Source Sans 3" pitchFamily="34" charset="-120"/>
              </a:rPr>
              <a:t>Quelqu'un publie sur le forum.</a:t>
            </a:r>
            <a:endParaRPr lang="fr-FR" sz="1300" dirty="0"/>
          </a:p>
        </p:txBody>
      </p:sp>
      <p:sp>
        <p:nvSpPr>
          <p:cNvPr id="9" name="Shape 7"/>
          <p:cNvSpPr/>
          <p:nvPr/>
        </p:nvSpPr>
        <p:spPr>
          <a:xfrm>
            <a:off x="2552700" y="1562100"/>
            <a:ext cx="323850" cy="323850"/>
          </a:xfrm>
          <a:prstGeom prst="rect">
            <a:avLst/>
          </a:prstGeom>
          <a:solidFill>
            <a:srgbClr val="33006F"/>
          </a:solidFill>
          <a:ln w="12700">
            <a:solidFill>
              <a:srgbClr val="33006F"/>
            </a:solidFill>
            <a:prstDash val="solid"/>
          </a:ln>
        </p:spPr>
      </p:sp>
      <p:sp>
        <p:nvSpPr>
          <p:cNvPr id="10" name="Text 8"/>
          <p:cNvSpPr txBox="1"/>
          <p:nvPr/>
        </p:nvSpPr>
        <p:spPr>
          <a:xfrm>
            <a:off x="2552700" y="1562100"/>
            <a:ext cx="323850" cy="323850"/>
          </a:xfrm>
          <a:prstGeom prst="rect">
            <a:avLst/>
          </a:prstGeom>
          <a:noFill/>
          <a:ln/>
        </p:spPr>
        <p:txBody>
          <a:bodyPr wrap="square" lIns="0" tIns="0" rIns="0" bIns="0" rtlCol="0" anchor="ctr"/>
          <a:lstStyle/>
          <a:p>
            <a:pPr algn="ctr" indent="0" marL="0">
              <a:buNone/>
            </a:pPr>
            <a:r>
              <a:rPr lang="fr-FR" sz="1400" b="1" dirty="0">
                <a:solidFill>
                  <a:srgbClr val="FFFFFF"/>
                </a:solidFill>
                <a:latin typeface="Source Sans 3" pitchFamily="34" charset="0"/>
                <a:ea typeface="Source Sans 3" pitchFamily="34" charset="-122"/>
                <a:cs typeface="Source Sans 3" pitchFamily="34" charset="-120"/>
              </a:rPr>
              <a:t>2</a:t>
            </a:r>
            <a:endParaRPr lang="fr-FR" sz="1400" dirty="0"/>
          </a:p>
        </p:txBody>
      </p:sp>
      <p:sp>
        <p:nvSpPr>
          <p:cNvPr id="11" name="Text 9"/>
          <p:cNvSpPr txBox="1"/>
          <p:nvPr/>
        </p:nvSpPr>
        <p:spPr>
          <a:xfrm>
            <a:off x="2552700" y="1981200"/>
            <a:ext cx="1847850" cy="285750"/>
          </a:xfrm>
          <a:prstGeom prst="rect">
            <a:avLst/>
          </a:prstGeom>
          <a:noFill/>
          <a:ln/>
        </p:spPr>
        <p:txBody>
          <a:bodyPr wrap="square" lIns="0" tIns="0" rIns="0" bIns="0" rtlCol="0" anchor="t"/>
          <a:lstStyle/>
          <a:p>
            <a:pPr indent="0" marL="0">
              <a:buNone/>
            </a:pPr>
            <a:r>
              <a:rPr lang="fr-FR" sz="1600" b="1" dirty="0">
                <a:solidFill>
                  <a:srgbClr val="33006F"/>
                </a:solidFill>
                <a:latin typeface="Source Sans 3" pitchFamily="34" charset="0"/>
                <a:ea typeface="Source Sans 3" pitchFamily="34" charset="-122"/>
                <a:cs typeface="Source Sans 3" pitchFamily="34" charset="-120"/>
              </a:rPr>
              <a:t>Vu</a:t>
            </a:r>
            <a:endParaRPr lang="fr-FR" sz="1600" dirty="0"/>
          </a:p>
        </p:txBody>
      </p:sp>
      <p:sp>
        <p:nvSpPr>
          <p:cNvPr id="12" name="Text 10"/>
          <p:cNvSpPr txBox="1"/>
          <p:nvPr/>
        </p:nvSpPr>
        <p:spPr>
          <a:xfrm>
            <a:off x="2552700" y="2305050"/>
            <a:ext cx="1847850" cy="857250"/>
          </a:xfrm>
          <a:prstGeom prst="rect">
            <a:avLst/>
          </a:prstGeom>
          <a:noFill/>
          <a:ln/>
        </p:spPr>
        <p:txBody>
          <a:bodyPr wrap="square" lIns="0" tIns="0" rIns="0" bIns="0" rtlCol="0" anchor="t"/>
          <a:lstStyle/>
          <a:p>
            <a:pPr indent="0" marL="0">
              <a:buNone/>
            </a:pPr>
            <a:r>
              <a:rPr lang="fr-FR" sz="1300" dirty="0">
                <a:solidFill>
                  <a:srgbClr val="434343"/>
                </a:solidFill>
                <a:latin typeface="Source Sans 3" pitchFamily="34" charset="0"/>
                <a:ea typeface="Source Sans 3" pitchFamily="34" charset="-122"/>
                <a:cs typeface="Source Sans 3" pitchFamily="34" charset="-120"/>
              </a:rPr>
              <a:t>Les mainteneurs répondent, ou le sujet est discuté à l'appel du jeudi.</a:t>
            </a:r>
            <a:endParaRPr lang="fr-FR" sz="1300" dirty="0"/>
          </a:p>
        </p:txBody>
      </p:sp>
      <p:sp>
        <p:nvSpPr>
          <p:cNvPr id="13" name="Shape 11"/>
          <p:cNvSpPr/>
          <p:nvPr/>
        </p:nvSpPr>
        <p:spPr>
          <a:xfrm>
            <a:off x="4648200" y="1562100"/>
            <a:ext cx="323850" cy="323850"/>
          </a:xfrm>
          <a:prstGeom prst="rect">
            <a:avLst/>
          </a:prstGeom>
          <a:solidFill>
            <a:srgbClr val="33006F"/>
          </a:solidFill>
          <a:ln w="12700">
            <a:solidFill>
              <a:srgbClr val="33006F"/>
            </a:solidFill>
            <a:prstDash val="solid"/>
          </a:ln>
        </p:spPr>
      </p:sp>
      <p:sp>
        <p:nvSpPr>
          <p:cNvPr id="14" name="Text 12"/>
          <p:cNvSpPr txBox="1"/>
          <p:nvPr/>
        </p:nvSpPr>
        <p:spPr>
          <a:xfrm>
            <a:off x="4648200" y="1562100"/>
            <a:ext cx="323850" cy="323850"/>
          </a:xfrm>
          <a:prstGeom prst="rect">
            <a:avLst/>
          </a:prstGeom>
          <a:noFill/>
          <a:ln/>
        </p:spPr>
        <p:txBody>
          <a:bodyPr wrap="square" lIns="0" tIns="0" rIns="0" bIns="0" rtlCol="0" anchor="ctr"/>
          <a:lstStyle/>
          <a:p>
            <a:pPr algn="ctr" indent="0" marL="0">
              <a:buNone/>
            </a:pPr>
            <a:r>
              <a:rPr lang="fr-FR" sz="1400" b="1" dirty="0">
                <a:solidFill>
                  <a:srgbClr val="FFFFFF"/>
                </a:solidFill>
                <a:latin typeface="Source Sans 3" pitchFamily="34" charset="0"/>
                <a:ea typeface="Source Sans 3" pitchFamily="34" charset="-122"/>
                <a:cs typeface="Source Sans 3" pitchFamily="34" charset="-120"/>
              </a:rPr>
              <a:t>3</a:t>
            </a:r>
            <a:endParaRPr lang="fr-FR" sz="1400" dirty="0"/>
          </a:p>
        </p:txBody>
      </p:sp>
      <p:sp>
        <p:nvSpPr>
          <p:cNvPr id="15" name="Text 13"/>
          <p:cNvSpPr txBox="1"/>
          <p:nvPr/>
        </p:nvSpPr>
        <p:spPr>
          <a:xfrm>
            <a:off x="4648200" y="1981200"/>
            <a:ext cx="1847850" cy="285750"/>
          </a:xfrm>
          <a:prstGeom prst="rect">
            <a:avLst/>
          </a:prstGeom>
          <a:noFill/>
          <a:ln/>
        </p:spPr>
        <p:txBody>
          <a:bodyPr wrap="square" lIns="0" tIns="0" rIns="0" bIns="0" rtlCol="0" anchor="t"/>
          <a:lstStyle/>
          <a:p>
            <a:pPr indent="0" marL="0">
              <a:buNone/>
            </a:pPr>
            <a:r>
              <a:rPr lang="fr-FR" sz="1600" b="1" dirty="0">
                <a:solidFill>
                  <a:srgbClr val="33006F"/>
                </a:solidFill>
                <a:latin typeface="Source Sans 3" pitchFamily="34" charset="0"/>
                <a:ea typeface="Source Sans 3" pitchFamily="34" charset="-122"/>
                <a:cs typeface="Source Sans 3" pitchFamily="34" charset="-120"/>
              </a:rPr>
              <a:t>Suivi</a:t>
            </a:r>
            <a:endParaRPr lang="fr-FR" sz="1600" dirty="0"/>
          </a:p>
        </p:txBody>
      </p:sp>
      <p:sp>
        <p:nvSpPr>
          <p:cNvPr id="16" name="Text 14"/>
          <p:cNvSpPr txBox="1"/>
          <p:nvPr/>
        </p:nvSpPr>
        <p:spPr>
          <a:xfrm>
            <a:off x="4648200" y="2305050"/>
            <a:ext cx="1847850" cy="857250"/>
          </a:xfrm>
          <a:prstGeom prst="rect">
            <a:avLst/>
          </a:prstGeom>
          <a:noFill/>
          <a:ln/>
        </p:spPr>
        <p:txBody>
          <a:bodyPr wrap="square" lIns="0" tIns="0" rIns="0" bIns="0" rtlCol="0" anchor="t"/>
          <a:lstStyle/>
          <a:p>
            <a:pPr indent="0" marL="0">
              <a:buNone/>
            </a:pPr>
            <a:r>
              <a:rPr lang="fr-FR" sz="1300" dirty="0">
                <a:solidFill>
                  <a:srgbClr val="434343"/>
                </a:solidFill>
                <a:latin typeface="Source Sans 3" pitchFamily="34" charset="0"/>
                <a:ea typeface="Source Sans 3" pitchFamily="34" charset="-122"/>
                <a:cs typeface="Source Sans 3" pitchFamily="34" charset="-120"/>
              </a:rPr>
              <a:t>Il devient un ticket GitHub ou un ticket Jira (OGC-...).</a:t>
            </a:r>
            <a:endParaRPr lang="fr-FR" sz="1300" dirty="0"/>
          </a:p>
        </p:txBody>
      </p:sp>
      <p:sp>
        <p:nvSpPr>
          <p:cNvPr id="17" name="Shape 15"/>
          <p:cNvSpPr/>
          <p:nvPr/>
        </p:nvSpPr>
        <p:spPr>
          <a:xfrm>
            <a:off x="6743700" y="1562100"/>
            <a:ext cx="323850" cy="323850"/>
          </a:xfrm>
          <a:prstGeom prst="rect">
            <a:avLst/>
          </a:prstGeom>
          <a:solidFill>
            <a:srgbClr val="33006F"/>
          </a:solidFill>
          <a:ln w="12700">
            <a:solidFill>
              <a:srgbClr val="33006F"/>
            </a:solidFill>
            <a:prstDash val="solid"/>
          </a:ln>
        </p:spPr>
      </p:sp>
      <p:sp>
        <p:nvSpPr>
          <p:cNvPr id="18" name="Text 16"/>
          <p:cNvSpPr txBox="1"/>
          <p:nvPr/>
        </p:nvSpPr>
        <p:spPr>
          <a:xfrm>
            <a:off x="6743700" y="1562100"/>
            <a:ext cx="323850" cy="323850"/>
          </a:xfrm>
          <a:prstGeom prst="rect">
            <a:avLst/>
          </a:prstGeom>
          <a:noFill/>
          <a:ln/>
        </p:spPr>
        <p:txBody>
          <a:bodyPr wrap="square" lIns="0" tIns="0" rIns="0" bIns="0" rtlCol="0" anchor="ctr"/>
          <a:lstStyle/>
          <a:p>
            <a:pPr algn="ctr" indent="0" marL="0">
              <a:buNone/>
            </a:pPr>
            <a:r>
              <a:rPr lang="fr-FR" sz="1400" b="1" dirty="0">
                <a:solidFill>
                  <a:srgbClr val="FFFFFF"/>
                </a:solidFill>
                <a:latin typeface="Source Sans 3" pitchFamily="34" charset="0"/>
                <a:ea typeface="Source Sans 3" pitchFamily="34" charset="-122"/>
                <a:cs typeface="Source Sans 3" pitchFamily="34" charset="-120"/>
              </a:rPr>
              <a:t>4</a:t>
            </a:r>
            <a:endParaRPr lang="fr-FR" sz="1400" dirty="0"/>
          </a:p>
        </p:txBody>
      </p:sp>
      <p:sp>
        <p:nvSpPr>
          <p:cNvPr id="19" name="Text 17"/>
          <p:cNvSpPr txBox="1"/>
          <p:nvPr/>
        </p:nvSpPr>
        <p:spPr>
          <a:xfrm>
            <a:off x="6743700" y="1981200"/>
            <a:ext cx="1847850" cy="285750"/>
          </a:xfrm>
          <a:prstGeom prst="rect">
            <a:avLst/>
          </a:prstGeom>
          <a:noFill/>
          <a:ln/>
        </p:spPr>
        <p:txBody>
          <a:bodyPr wrap="square" lIns="0" tIns="0" rIns="0" bIns="0" rtlCol="0" anchor="t"/>
          <a:lstStyle/>
          <a:p>
            <a:pPr indent="0" marL="0">
              <a:buNone/>
            </a:pPr>
            <a:r>
              <a:rPr lang="fr-FR" sz="1600" b="1" dirty="0">
                <a:solidFill>
                  <a:srgbClr val="33006F"/>
                </a:solidFill>
                <a:latin typeface="Source Sans 3" pitchFamily="34" charset="0"/>
                <a:ea typeface="Source Sans 3" pitchFamily="34" charset="-122"/>
                <a:cs typeface="Source Sans 3" pitchFamily="34" charset="-120"/>
              </a:rPr>
              <a:t>Développé et livré</a:t>
            </a:r>
            <a:endParaRPr lang="fr-FR" sz="1600" dirty="0"/>
          </a:p>
        </p:txBody>
      </p:sp>
      <p:sp>
        <p:nvSpPr>
          <p:cNvPr id="20" name="Text 18"/>
          <p:cNvSpPr txBox="1"/>
          <p:nvPr/>
        </p:nvSpPr>
        <p:spPr>
          <a:xfrm>
            <a:off x="6743700" y="2305050"/>
            <a:ext cx="1847850" cy="857250"/>
          </a:xfrm>
          <a:prstGeom prst="rect">
            <a:avLst/>
          </a:prstGeom>
          <a:noFill/>
          <a:ln/>
        </p:spPr>
        <p:txBody>
          <a:bodyPr wrap="square" lIns="0" tIns="0" rIns="0" bIns="0" rtlCol="0" anchor="t"/>
          <a:lstStyle/>
          <a:p>
            <a:pPr indent="0" marL="0">
              <a:buNone/>
            </a:pPr>
            <a:r>
              <a:rPr lang="fr-FR" sz="1300" dirty="0">
                <a:solidFill>
                  <a:srgbClr val="434343"/>
                </a:solidFill>
                <a:latin typeface="Source Sans 3" pitchFamily="34" charset="0"/>
                <a:ea typeface="Source Sans 3" pitchFamily="34" charset="-122"/>
                <a:cs typeface="Source Sans 3" pitchFamily="34" charset="-120"/>
              </a:rPr>
              <a:t>Les développeurs le construisent, les relecteurs le vérifient, il sort dans une version mensuelle.</a:t>
            </a:r>
            <a:endParaRPr lang="fr-FR" sz="1300" dirty="0"/>
          </a:p>
        </p:txBody>
      </p:sp>
      <p:sp>
        <p:nvSpPr>
          <p:cNvPr id="21" name="Shape 19"/>
          <p:cNvSpPr/>
          <p:nvPr/>
        </p:nvSpPr>
        <p:spPr>
          <a:xfrm>
            <a:off x="457200" y="3352800"/>
            <a:ext cx="8229600" cy="9525"/>
          </a:xfrm>
          <a:prstGeom prst="rect">
            <a:avLst/>
          </a:prstGeom>
          <a:solidFill>
            <a:srgbClr val="BFBFBF"/>
          </a:solidFill>
          <a:ln w="12700">
            <a:solidFill>
              <a:srgbClr val="BFBFBF"/>
            </a:solidFill>
            <a:prstDash val="solid"/>
          </a:ln>
        </p:spPr>
      </p:sp>
      <p:sp>
        <p:nvSpPr>
          <p:cNvPr id="22" name="Shape 20"/>
          <p:cNvSpPr/>
          <p:nvPr/>
        </p:nvSpPr>
        <p:spPr>
          <a:xfrm>
            <a:off x="457200" y="3505200"/>
            <a:ext cx="8229600" cy="1028700"/>
          </a:xfrm>
          <a:prstGeom prst="rect">
            <a:avLst/>
          </a:prstGeom>
          <a:solidFill>
            <a:srgbClr val="F0F0FF"/>
          </a:solidFill>
          <a:ln w="12700">
            <a:solidFill>
              <a:srgbClr val="F0F0FF"/>
            </a:solidFill>
            <a:prstDash val="solid"/>
          </a:ln>
        </p:spPr>
      </p:sp>
      <p:sp>
        <p:nvSpPr>
          <p:cNvPr id="23" name="Shape 21"/>
          <p:cNvSpPr/>
          <p:nvPr/>
        </p:nvSpPr>
        <p:spPr>
          <a:xfrm>
            <a:off x="457200" y="3505200"/>
            <a:ext cx="8229600" cy="38100"/>
          </a:xfrm>
          <a:prstGeom prst="rect">
            <a:avLst/>
          </a:prstGeom>
          <a:solidFill>
            <a:srgbClr val="33006F"/>
          </a:solidFill>
          <a:ln w="12700">
            <a:solidFill>
              <a:srgbClr val="33006F"/>
            </a:solidFill>
            <a:prstDash val="solid"/>
          </a:ln>
        </p:spPr>
      </p:sp>
      <p:sp>
        <p:nvSpPr>
          <p:cNvPr id="24" name="Text 22"/>
          <p:cNvSpPr txBox="1"/>
          <p:nvPr/>
        </p:nvSpPr>
        <p:spPr>
          <a:xfrm>
            <a:off x="685800" y="3638550"/>
            <a:ext cx="1905000" cy="190500"/>
          </a:xfrm>
          <a:prstGeom prst="rect">
            <a:avLst/>
          </a:prstGeom>
          <a:noFill/>
          <a:ln/>
        </p:spPr>
        <p:txBody>
          <a:bodyPr wrap="square" lIns="0" tIns="0" rIns="0" bIns="0" rtlCol="0" anchor="t"/>
          <a:lstStyle/>
          <a:p>
            <a:pPr indent="0" marL="0">
              <a:buNone/>
            </a:pPr>
            <a:r>
              <a:rPr lang="fr-FR" sz="1000" b="1" spc="150" kern="0" dirty="0">
                <a:solidFill>
                  <a:srgbClr val="33006F"/>
                </a:solidFill>
                <a:latin typeface="Source Sans 3" pitchFamily="34" charset="0"/>
                <a:ea typeface="Source Sans 3" pitchFamily="34" charset="-122"/>
                <a:cs typeface="Source Sans 3" pitchFamily="34" charset="-120"/>
              </a:rPr>
              <a:t>EXEMPLE</a:t>
            </a:r>
            <a:endParaRPr lang="fr-FR" sz="1000" dirty="0"/>
          </a:p>
        </p:txBody>
      </p:sp>
      <p:sp>
        <p:nvSpPr>
          <p:cNvPr id="25" name="Text 23"/>
          <p:cNvSpPr txBox="1"/>
          <p:nvPr/>
        </p:nvSpPr>
        <p:spPr>
          <a:xfrm>
            <a:off x="685800" y="3848100"/>
            <a:ext cx="7772400" cy="628650"/>
          </a:xfrm>
          <a:prstGeom prst="rect">
            <a:avLst/>
          </a:prstGeom>
          <a:noFill/>
          <a:ln/>
        </p:spPr>
        <p:txBody>
          <a:bodyPr wrap="square" lIns="0" tIns="0" rIns="0" bIns="0" rtlCol="0" anchor="t"/>
          <a:lstStyle/>
          <a:p>
            <a:pPr indent="0" marL="0">
              <a:buNone/>
            </a:pPr>
            <a:r>
              <a:rPr lang="fr-FR" sz="1400" dirty="0">
                <a:solidFill>
                  <a:srgbClr val="434343"/>
                </a:solidFill>
                <a:latin typeface="Source Sans 3" pitchFamily="34" charset="0"/>
                <a:ea typeface="Source Sans 3" pitchFamily="34" charset="-122"/>
                <a:cs typeface="Source Sans 3" pitchFamily="34" charset="-120"/>
              </a:rPr>
              <a:t>Avant le Sommet OpenELIS 2026, un contributeur a publié une liste de problèmes de processus en nommant les mainteneurs. Ce message a servi de base à l'ordre du jour du Sommet.</a:t>
            </a:r>
            <a:endParaRPr lang="fr-FR" sz="1400" dirty="0"/>
          </a:p>
        </p:txBody>
      </p:sp>
      <p:sp>
        <p:nvSpPr>
          <p:cNvPr id="26" name="Text 24"/>
          <p:cNvSpPr txBox="1"/>
          <p:nvPr/>
        </p:nvSpPr>
        <p:spPr>
          <a:xfrm>
            <a:off x="7953375" y="4743450"/>
            <a:ext cx="952500" cy="228600"/>
          </a:xfrm>
          <a:prstGeom prst="rect">
            <a:avLst/>
          </a:prstGeom>
          <a:noFill/>
          <a:ln/>
        </p:spPr>
        <p:txBody>
          <a:bodyPr wrap="square" lIns="0" tIns="0" rIns="0" bIns="0" rtlCol="0" anchor="t"/>
          <a:lstStyle/>
          <a:p>
            <a:pPr algn="r" indent="0" marL="0">
              <a:buNone/>
            </a:pPr>
            <a:r>
              <a:rPr lang="fr-FR" sz="1000" dirty="0">
                <a:solidFill>
                  <a:srgbClr val="888888"/>
                </a:solidFill>
                <a:latin typeface="Source Sans 3" pitchFamily="34" charset="0"/>
                <a:ea typeface="Source Sans 3" pitchFamily="34" charset="-122"/>
                <a:cs typeface="Source Sans 3" pitchFamily="34" charset="-120"/>
              </a:rPr>
              <a:t>15</a:t>
            </a:r>
            <a:endParaRPr lang="fr-FR" sz="1000" dirty="0"/>
          </a:p>
        </p:txBody>
      </p:sp>
      <p:sp>
        <p:nvSpPr>
          <p:cNvPr id="27" name="Text 25"/>
          <p:cNvSpPr txBox="1"/>
          <p:nvPr/>
        </p:nvSpPr>
        <p:spPr>
          <a:xfrm>
            <a:off x="457200" y="4743450"/>
            <a:ext cx="3810000" cy="228600"/>
          </a:xfrm>
          <a:prstGeom prst="rect">
            <a:avLst/>
          </a:prstGeom>
          <a:noFill/>
          <a:ln/>
        </p:spPr>
        <p:txBody>
          <a:bodyPr wrap="square" lIns="0" tIns="0" rIns="0" bIns="0" rtlCol="0" anchor="t"/>
          <a:lstStyle/>
          <a:p>
            <a:pPr algn="l" indent="0" marL="0">
              <a:buNone/>
            </a:pPr>
            <a:r>
              <a:rPr lang="fr-FR" sz="1000" dirty="0">
                <a:solidFill>
                  <a:srgbClr val="888888"/>
                </a:solidFill>
                <a:latin typeface="Source Sans 3" pitchFamily="34" charset="0"/>
                <a:ea typeface="Source Sans 3" pitchFamily="34" charset="-122"/>
                <a:cs typeface="Source Sans 3" pitchFamily="34" charset="-120"/>
              </a:rPr>
              <a:t>Passation eSIL Madagascar</a:t>
            </a:r>
            <a:endParaRPr lang="fr-FR" sz="10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247650"/>
            <a:ext cx="8229600" cy="209550"/>
          </a:xfrm>
          <a:prstGeom prst="rect">
            <a:avLst/>
          </a:prstGeom>
          <a:noFill/>
          <a:ln/>
        </p:spPr>
        <p:txBody>
          <a:bodyPr wrap="square" lIns="0" tIns="0" rIns="0" bIns="0" rtlCol="0" anchor="t"/>
          <a:lstStyle/>
          <a:p>
            <a:pPr indent="0" marL="0">
              <a:buNone/>
            </a:pPr>
            <a:r>
              <a:rPr lang="fr-FR" sz="1200" b="1" spc="150" kern="0" dirty="0">
                <a:solidFill>
                  <a:srgbClr val="33006F"/>
                </a:solidFill>
                <a:latin typeface="Source Sans 3" pitchFamily="34" charset="0"/>
                <a:ea typeface="Source Sans 3" pitchFamily="34" charset="-122"/>
                <a:cs typeface="Source Sans 3" pitchFamily="34" charset="-120"/>
              </a:rPr>
              <a:t>LA COMMUNAUTÉ</a:t>
            </a:r>
            <a:pPr indent="0" marL="0">
              <a:buNone/>
            </a:pPr>
            <a:r>
              <a:rPr lang="fr-FR" sz="1200" dirty="0">
                <a:solidFill>
                  <a:srgbClr val="888888"/>
                </a:solidFill>
                <a:latin typeface="Source Sans 3" pitchFamily="34" charset="0"/>
                <a:ea typeface="Source Sans 3" pitchFamily="34" charset="-122"/>
                <a:cs typeface="Source Sans 3" pitchFamily="34" charset="-120"/>
              </a:rPr>
              <a:t>    Section 2 sur 7</a:t>
            </a:r>
            <a:endParaRPr lang="fr-FR" sz="1200" dirty="0"/>
          </a:p>
        </p:txBody>
      </p:sp>
      <p:sp>
        <p:nvSpPr>
          <p:cNvPr id="3" name="Shape 1"/>
          <p:cNvSpPr/>
          <p:nvPr/>
        </p:nvSpPr>
        <p:spPr>
          <a:xfrm>
            <a:off x="457200" y="533400"/>
            <a:ext cx="685800" cy="57150"/>
          </a:xfrm>
          <a:prstGeom prst="rect">
            <a:avLst/>
          </a:prstGeom>
          <a:solidFill>
            <a:srgbClr val="33006F"/>
          </a:solidFill>
          <a:ln w="12700">
            <a:solidFill>
              <a:srgbClr val="33006F"/>
            </a:solidFill>
            <a:prstDash val="solid"/>
          </a:ln>
        </p:spPr>
      </p:sp>
      <p:sp>
        <p:nvSpPr>
          <p:cNvPr id="4" name="Text 2"/>
          <p:cNvSpPr txBox="1"/>
          <p:nvPr/>
        </p:nvSpPr>
        <p:spPr>
          <a:xfrm>
            <a:off x="457200" y="704850"/>
            <a:ext cx="8229600" cy="800100"/>
          </a:xfrm>
          <a:prstGeom prst="rect">
            <a:avLst/>
          </a:prstGeom>
          <a:noFill/>
          <a:ln/>
        </p:spPr>
        <p:txBody>
          <a:bodyPr wrap="square" lIns="0" tIns="0" rIns="0" bIns="0" rtlCol="0" anchor="t">
            <a:normAutofit/>
          </a:bodyPr>
          <a:lstStyle/>
          <a:p>
            <a:pPr indent="0" marL="0">
              <a:buNone/>
            </a:pPr>
            <a:r>
              <a:rPr lang="fr-FR" sz="2350" b="1" dirty="0">
                <a:solidFill>
                  <a:srgbClr val="33006F"/>
                </a:solidFill>
                <a:latin typeface="Source Sans 3" pitchFamily="34" charset="0"/>
                <a:ea typeface="Source Sans 3" pitchFamily="34" charset="-122"/>
                <a:cs typeface="Source Sans 3" pitchFamily="34" charset="-120"/>
              </a:rPr>
              <a:t>La place de Madagascar : cinq façons de participer</a:t>
            </a:r>
            <a:endParaRPr lang="fr-FR" sz="2350" dirty="0"/>
          </a:p>
        </p:txBody>
      </p:sp>
      <p:sp>
        <p:nvSpPr>
          <p:cNvPr id="5" name="Shape 3"/>
          <p:cNvSpPr/>
          <p:nvPr/>
        </p:nvSpPr>
        <p:spPr>
          <a:xfrm>
            <a:off x="457200" y="1562100"/>
            <a:ext cx="323850" cy="323850"/>
          </a:xfrm>
          <a:prstGeom prst="rect">
            <a:avLst/>
          </a:prstGeom>
          <a:solidFill>
            <a:srgbClr val="33006F"/>
          </a:solidFill>
          <a:ln w="12700">
            <a:solidFill>
              <a:srgbClr val="33006F"/>
            </a:solidFill>
            <a:prstDash val="solid"/>
          </a:ln>
        </p:spPr>
      </p:sp>
      <p:sp>
        <p:nvSpPr>
          <p:cNvPr id="6" name="Text 4"/>
          <p:cNvSpPr txBox="1"/>
          <p:nvPr/>
        </p:nvSpPr>
        <p:spPr>
          <a:xfrm>
            <a:off x="457200" y="1562100"/>
            <a:ext cx="323850" cy="323850"/>
          </a:xfrm>
          <a:prstGeom prst="rect">
            <a:avLst/>
          </a:prstGeom>
          <a:noFill/>
          <a:ln/>
        </p:spPr>
        <p:txBody>
          <a:bodyPr wrap="square" lIns="0" tIns="0" rIns="0" bIns="0" rtlCol="0" anchor="ctr"/>
          <a:lstStyle/>
          <a:p>
            <a:pPr algn="ctr" indent="0" marL="0">
              <a:buNone/>
            </a:pPr>
            <a:r>
              <a:rPr lang="fr-FR" sz="1400" b="1" dirty="0">
                <a:solidFill>
                  <a:srgbClr val="FFFFFF"/>
                </a:solidFill>
                <a:latin typeface="Source Sans 3" pitchFamily="34" charset="0"/>
                <a:ea typeface="Source Sans 3" pitchFamily="34" charset="-122"/>
                <a:cs typeface="Source Sans 3" pitchFamily="34" charset="-120"/>
              </a:rPr>
              <a:t>1</a:t>
            </a:r>
            <a:endParaRPr lang="fr-FR" sz="1400" dirty="0"/>
          </a:p>
        </p:txBody>
      </p:sp>
      <p:sp>
        <p:nvSpPr>
          <p:cNvPr id="7" name="Text 5"/>
          <p:cNvSpPr txBox="1"/>
          <p:nvPr/>
        </p:nvSpPr>
        <p:spPr>
          <a:xfrm>
            <a:off x="971550" y="1543050"/>
            <a:ext cx="7715250" cy="552450"/>
          </a:xfrm>
          <a:prstGeom prst="rect">
            <a:avLst/>
          </a:prstGeom>
          <a:noFill/>
          <a:ln/>
        </p:spPr>
        <p:txBody>
          <a:bodyPr wrap="square" lIns="0" tIns="0" rIns="0" bIns="0" rtlCol="0" anchor="t">
            <a:normAutofit/>
          </a:bodyPr>
          <a:lstStyle/>
          <a:p>
            <a:pPr indent="0" marL="0">
              <a:buNone/>
            </a:pPr>
            <a:r>
              <a:rPr lang="fr-FR" sz="1581" b="1" dirty="0">
                <a:solidFill>
                  <a:srgbClr val="33006F"/>
                </a:solidFill>
                <a:latin typeface="Source Sans 3" pitchFamily="34" charset="0"/>
                <a:ea typeface="Source Sans 3" pitchFamily="34" charset="-122"/>
                <a:cs typeface="Source Sans 3" pitchFamily="34" charset="-120"/>
              </a:rPr>
              <a:t>Posez vos questions dans Ask OpenELIS. </a:t>
            </a:r>
            <a:pPr indent="0" marL="0">
              <a:buNone/>
            </a:pPr>
            <a:r>
              <a:rPr lang="fr-FR" sz="1581" dirty="0">
                <a:solidFill>
                  <a:srgbClr val="434343"/>
                </a:solidFill>
                <a:latin typeface="Source Sans 3" pitchFamily="34" charset="0"/>
                <a:ea typeface="Source Sans 3" pitchFamily="34" charset="-122"/>
                <a:cs typeface="Source Sans 3" pitchFamily="34" charset="-120"/>
              </a:rPr>
              <a:t>Indiquez toujours votre version de la Distribution Madagascar.</a:t>
            </a:r>
            <a:endParaRPr lang="fr-FR" sz="1581" dirty="0"/>
          </a:p>
        </p:txBody>
      </p:sp>
      <p:sp>
        <p:nvSpPr>
          <p:cNvPr id="8" name="Shape 6"/>
          <p:cNvSpPr/>
          <p:nvPr/>
        </p:nvSpPr>
        <p:spPr>
          <a:xfrm>
            <a:off x="457200" y="2152650"/>
            <a:ext cx="323850" cy="323850"/>
          </a:xfrm>
          <a:prstGeom prst="rect">
            <a:avLst/>
          </a:prstGeom>
          <a:solidFill>
            <a:srgbClr val="33006F"/>
          </a:solidFill>
          <a:ln w="12700">
            <a:solidFill>
              <a:srgbClr val="33006F"/>
            </a:solidFill>
            <a:prstDash val="solid"/>
          </a:ln>
        </p:spPr>
      </p:sp>
      <p:sp>
        <p:nvSpPr>
          <p:cNvPr id="9" name="Text 7"/>
          <p:cNvSpPr txBox="1"/>
          <p:nvPr/>
        </p:nvSpPr>
        <p:spPr>
          <a:xfrm>
            <a:off x="457200" y="2152650"/>
            <a:ext cx="323850" cy="323850"/>
          </a:xfrm>
          <a:prstGeom prst="rect">
            <a:avLst/>
          </a:prstGeom>
          <a:noFill/>
          <a:ln/>
        </p:spPr>
        <p:txBody>
          <a:bodyPr wrap="square" lIns="0" tIns="0" rIns="0" bIns="0" rtlCol="0" anchor="ctr"/>
          <a:lstStyle/>
          <a:p>
            <a:pPr algn="ctr" indent="0" marL="0">
              <a:buNone/>
            </a:pPr>
            <a:r>
              <a:rPr lang="fr-FR" sz="1400" b="1" dirty="0">
                <a:solidFill>
                  <a:srgbClr val="FFFFFF"/>
                </a:solidFill>
                <a:latin typeface="Source Sans 3" pitchFamily="34" charset="0"/>
                <a:ea typeface="Source Sans 3" pitchFamily="34" charset="-122"/>
                <a:cs typeface="Source Sans 3" pitchFamily="34" charset="-120"/>
              </a:rPr>
              <a:t>2</a:t>
            </a:r>
            <a:endParaRPr lang="fr-FR" sz="1400" dirty="0"/>
          </a:p>
        </p:txBody>
      </p:sp>
      <p:sp>
        <p:nvSpPr>
          <p:cNvPr id="10" name="Text 8"/>
          <p:cNvSpPr txBox="1"/>
          <p:nvPr/>
        </p:nvSpPr>
        <p:spPr>
          <a:xfrm>
            <a:off x="971550" y="2133600"/>
            <a:ext cx="7715250" cy="552450"/>
          </a:xfrm>
          <a:prstGeom prst="rect">
            <a:avLst/>
          </a:prstGeom>
          <a:noFill/>
          <a:ln/>
        </p:spPr>
        <p:txBody>
          <a:bodyPr wrap="square" lIns="0" tIns="0" rIns="0" bIns="0" rtlCol="0" anchor="t">
            <a:normAutofit/>
          </a:bodyPr>
          <a:lstStyle/>
          <a:p>
            <a:pPr indent="0" marL="0">
              <a:buNone/>
            </a:pPr>
            <a:r>
              <a:rPr lang="fr-FR" sz="1581" b="1" dirty="0">
                <a:solidFill>
                  <a:srgbClr val="33006F"/>
                </a:solidFill>
                <a:latin typeface="Source Sans 3" pitchFamily="34" charset="0"/>
                <a:ea typeface="Source Sans 3" pitchFamily="34" charset="-122"/>
                <a:cs typeface="Source Sans 3" pitchFamily="34" charset="-120"/>
              </a:rPr>
              <a:t>Signalez les bogues et proposez des fonctionnalités dans Development.</a:t>
            </a:r>
            <a:endParaRPr lang="fr-FR" sz="1581" dirty="0"/>
          </a:p>
        </p:txBody>
      </p:sp>
      <p:sp>
        <p:nvSpPr>
          <p:cNvPr id="11" name="Shape 9"/>
          <p:cNvSpPr/>
          <p:nvPr/>
        </p:nvSpPr>
        <p:spPr>
          <a:xfrm>
            <a:off x="457200" y="2743200"/>
            <a:ext cx="323850" cy="323850"/>
          </a:xfrm>
          <a:prstGeom prst="rect">
            <a:avLst/>
          </a:prstGeom>
          <a:solidFill>
            <a:srgbClr val="33006F"/>
          </a:solidFill>
          <a:ln w="12700">
            <a:solidFill>
              <a:srgbClr val="33006F"/>
            </a:solidFill>
            <a:prstDash val="solid"/>
          </a:ln>
        </p:spPr>
      </p:sp>
      <p:sp>
        <p:nvSpPr>
          <p:cNvPr id="12" name="Text 10"/>
          <p:cNvSpPr txBox="1"/>
          <p:nvPr/>
        </p:nvSpPr>
        <p:spPr>
          <a:xfrm>
            <a:off x="457200" y="2743200"/>
            <a:ext cx="323850" cy="323850"/>
          </a:xfrm>
          <a:prstGeom prst="rect">
            <a:avLst/>
          </a:prstGeom>
          <a:noFill/>
          <a:ln/>
        </p:spPr>
        <p:txBody>
          <a:bodyPr wrap="square" lIns="0" tIns="0" rIns="0" bIns="0" rtlCol="0" anchor="ctr"/>
          <a:lstStyle/>
          <a:p>
            <a:pPr algn="ctr" indent="0" marL="0">
              <a:buNone/>
            </a:pPr>
            <a:r>
              <a:rPr lang="fr-FR" sz="1400" b="1" dirty="0">
                <a:solidFill>
                  <a:srgbClr val="FFFFFF"/>
                </a:solidFill>
                <a:latin typeface="Source Sans 3" pitchFamily="34" charset="0"/>
                <a:ea typeface="Source Sans 3" pitchFamily="34" charset="-122"/>
                <a:cs typeface="Source Sans 3" pitchFamily="34" charset="-120"/>
              </a:rPr>
              <a:t>3</a:t>
            </a:r>
            <a:endParaRPr lang="fr-FR" sz="1400" dirty="0"/>
          </a:p>
        </p:txBody>
      </p:sp>
      <p:sp>
        <p:nvSpPr>
          <p:cNvPr id="13" name="Text 11"/>
          <p:cNvSpPr txBox="1"/>
          <p:nvPr/>
        </p:nvSpPr>
        <p:spPr>
          <a:xfrm>
            <a:off x="971550" y="2724150"/>
            <a:ext cx="7715250" cy="552450"/>
          </a:xfrm>
          <a:prstGeom prst="rect">
            <a:avLst/>
          </a:prstGeom>
          <a:noFill/>
          <a:ln/>
        </p:spPr>
        <p:txBody>
          <a:bodyPr wrap="square" lIns="0" tIns="0" rIns="0" bIns="0" rtlCol="0" anchor="t">
            <a:normAutofit/>
          </a:bodyPr>
          <a:lstStyle/>
          <a:p>
            <a:pPr indent="0" marL="0">
              <a:buNone/>
            </a:pPr>
            <a:r>
              <a:rPr lang="fr-FR" sz="1581" b="1" dirty="0">
                <a:solidFill>
                  <a:srgbClr val="33006F"/>
                </a:solidFill>
                <a:latin typeface="Source Sans 3" pitchFamily="34" charset="0"/>
                <a:ea typeface="Source Sans 3" pitchFamily="34" charset="-122"/>
                <a:cs typeface="Source Sans 3" pitchFamily="34" charset="-120"/>
              </a:rPr>
              <a:t>Participez à l'appel du jeudi.</a:t>
            </a:r>
            <a:endParaRPr lang="fr-FR" sz="1581" dirty="0"/>
          </a:p>
        </p:txBody>
      </p:sp>
      <p:sp>
        <p:nvSpPr>
          <p:cNvPr id="14" name="Shape 12"/>
          <p:cNvSpPr/>
          <p:nvPr/>
        </p:nvSpPr>
        <p:spPr>
          <a:xfrm>
            <a:off x="457200" y="3333750"/>
            <a:ext cx="323850" cy="323850"/>
          </a:xfrm>
          <a:prstGeom prst="rect">
            <a:avLst/>
          </a:prstGeom>
          <a:solidFill>
            <a:srgbClr val="33006F"/>
          </a:solidFill>
          <a:ln w="12700">
            <a:solidFill>
              <a:srgbClr val="33006F"/>
            </a:solidFill>
            <a:prstDash val="solid"/>
          </a:ln>
        </p:spPr>
      </p:sp>
      <p:sp>
        <p:nvSpPr>
          <p:cNvPr id="15" name="Text 13"/>
          <p:cNvSpPr txBox="1"/>
          <p:nvPr/>
        </p:nvSpPr>
        <p:spPr>
          <a:xfrm>
            <a:off x="457200" y="3333750"/>
            <a:ext cx="323850" cy="323850"/>
          </a:xfrm>
          <a:prstGeom prst="rect">
            <a:avLst/>
          </a:prstGeom>
          <a:noFill/>
          <a:ln/>
        </p:spPr>
        <p:txBody>
          <a:bodyPr wrap="square" lIns="0" tIns="0" rIns="0" bIns="0" rtlCol="0" anchor="ctr"/>
          <a:lstStyle/>
          <a:p>
            <a:pPr algn="ctr" indent="0" marL="0">
              <a:buNone/>
            </a:pPr>
            <a:r>
              <a:rPr lang="fr-FR" sz="1400" b="1" dirty="0">
                <a:solidFill>
                  <a:srgbClr val="FFFFFF"/>
                </a:solidFill>
                <a:latin typeface="Source Sans 3" pitchFamily="34" charset="0"/>
                <a:ea typeface="Source Sans 3" pitchFamily="34" charset="-122"/>
                <a:cs typeface="Source Sans 3" pitchFamily="34" charset="-120"/>
              </a:rPr>
              <a:t>4</a:t>
            </a:r>
            <a:endParaRPr lang="fr-FR" sz="1400" dirty="0"/>
          </a:p>
        </p:txBody>
      </p:sp>
      <p:sp>
        <p:nvSpPr>
          <p:cNvPr id="16" name="Text 14"/>
          <p:cNvSpPr txBox="1"/>
          <p:nvPr/>
        </p:nvSpPr>
        <p:spPr>
          <a:xfrm>
            <a:off x="971550" y="3314700"/>
            <a:ext cx="7715250" cy="552450"/>
          </a:xfrm>
          <a:prstGeom prst="rect">
            <a:avLst/>
          </a:prstGeom>
          <a:noFill/>
          <a:ln/>
        </p:spPr>
        <p:txBody>
          <a:bodyPr wrap="square" lIns="0" tIns="0" rIns="0" bIns="0" rtlCol="0" anchor="t">
            <a:normAutofit/>
          </a:bodyPr>
          <a:lstStyle/>
          <a:p>
            <a:pPr indent="0" marL="0">
              <a:buNone/>
            </a:pPr>
            <a:r>
              <a:rPr lang="fr-FR" sz="1581" b="1" dirty="0">
                <a:solidFill>
                  <a:srgbClr val="33006F"/>
                </a:solidFill>
                <a:latin typeface="Source Sans 3" pitchFamily="34" charset="0"/>
                <a:ea typeface="Source Sans 3" pitchFamily="34" charset="-122"/>
                <a:cs typeface="Source Sans 3" pitchFamily="34" charset="-120"/>
              </a:rPr>
              <a:t>Partagez ce que vous apprenez. </a:t>
            </a:r>
            <a:pPr indent="0" marL="0">
              <a:buNone/>
            </a:pPr>
            <a:r>
              <a:rPr lang="fr-FR" sz="1581" dirty="0">
                <a:solidFill>
                  <a:srgbClr val="434343"/>
                </a:solidFill>
                <a:latin typeface="Source Sans 3" pitchFamily="34" charset="0"/>
                <a:ea typeface="Source Sans 3" pitchFamily="34" charset="-122"/>
                <a:cs typeface="Source Sans 3" pitchFamily="34" charset="-120"/>
              </a:rPr>
              <a:t>Vos traductions, vos supports de formation et vos configurations d'analyseurs aident d'autres pays.</a:t>
            </a:r>
            <a:endParaRPr lang="fr-FR" sz="1581" dirty="0"/>
          </a:p>
        </p:txBody>
      </p:sp>
      <p:sp>
        <p:nvSpPr>
          <p:cNvPr id="17" name="Shape 15"/>
          <p:cNvSpPr/>
          <p:nvPr/>
        </p:nvSpPr>
        <p:spPr>
          <a:xfrm>
            <a:off x="457200" y="3924300"/>
            <a:ext cx="323850" cy="323850"/>
          </a:xfrm>
          <a:prstGeom prst="rect">
            <a:avLst/>
          </a:prstGeom>
          <a:solidFill>
            <a:srgbClr val="33006F"/>
          </a:solidFill>
          <a:ln w="12700">
            <a:solidFill>
              <a:srgbClr val="33006F"/>
            </a:solidFill>
            <a:prstDash val="solid"/>
          </a:ln>
        </p:spPr>
      </p:sp>
      <p:sp>
        <p:nvSpPr>
          <p:cNvPr id="18" name="Text 16"/>
          <p:cNvSpPr txBox="1"/>
          <p:nvPr/>
        </p:nvSpPr>
        <p:spPr>
          <a:xfrm>
            <a:off x="457200" y="3924300"/>
            <a:ext cx="323850" cy="323850"/>
          </a:xfrm>
          <a:prstGeom prst="rect">
            <a:avLst/>
          </a:prstGeom>
          <a:noFill/>
          <a:ln/>
        </p:spPr>
        <p:txBody>
          <a:bodyPr wrap="square" lIns="0" tIns="0" rIns="0" bIns="0" rtlCol="0" anchor="ctr"/>
          <a:lstStyle/>
          <a:p>
            <a:pPr algn="ctr" indent="0" marL="0">
              <a:buNone/>
            </a:pPr>
            <a:r>
              <a:rPr lang="fr-FR" sz="1400" b="1" dirty="0">
                <a:solidFill>
                  <a:srgbClr val="FFFFFF"/>
                </a:solidFill>
                <a:latin typeface="Source Sans 3" pitchFamily="34" charset="0"/>
                <a:ea typeface="Source Sans 3" pitchFamily="34" charset="-122"/>
                <a:cs typeface="Source Sans 3" pitchFamily="34" charset="-120"/>
              </a:rPr>
              <a:t>5</a:t>
            </a:r>
            <a:endParaRPr lang="fr-FR" sz="1400" dirty="0"/>
          </a:p>
        </p:txBody>
      </p:sp>
      <p:sp>
        <p:nvSpPr>
          <p:cNvPr id="19" name="Text 17"/>
          <p:cNvSpPr txBox="1"/>
          <p:nvPr/>
        </p:nvSpPr>
        <p:spPr>
          <a:xfrm>
            <a:off x="971550" y="3905250"/>
            <a:ext cx="7715250" cy="552450"/>
          </a:xfrm>
          <a:prstGeom prst="rect">
            <a:avLst/>
          </a:prstGeom>
          <a:noFill/>
          <a:ln/>
        </p:spPr>
        <p:txBody>
          <a:bodyPr wrap="square" lIns="0" tIns="0" rIns="0" bIns="0" rtlCol="0" anchor="t">
            <a:normAutofit/>
          </a:bodyPr>
          <a:lstStyle/>
          <a:p>
            <a:pPr indent="0" marL="0">
              <a:buNone/>
            </a:pPr>
            <a:r>
              <a:rPr lang="fr-FR" sz="1581" b="1" dirty="0">
                <a:solidFill>
                  <a:srgbClr val="33006F"/>
                </a:solidFill>
                <a:latin typeface="Source Sans 3" pitchFamily="34" charset="0"/>
                <a:ea typeface="Source Sans 3" pitchFamily="34" charset="-122"/>
                <a:cs typeface="Source Sans 3" pitchFamily="34" charset="-120"/>
              </a:rPr>
              <a:t>Dites ce qui ne fonctionne pas dans le processus. </a:t>
            </a:r>
            <a:pPr indent="0" marL="0">
              <a:buNone/>
            </a:pPr>
            <a:r>
              <a:rPr lang="fr-FR" sz="1581" dirty="0">
                <a:solidFill>
                  <a:srgbClr val="434343"/>
                </a:solidFill>
                <a:latin typeface="Source Sans 3" pitchFamily="34" charset="0"/>
                <a:ea typeface="Source Sans 3" pitchFamily="34" charset="-122"/>
                <a:cs typeface="Source Sans 3" pitchFamily="34" charset="-120"/>
              </a:rPr>
              <a:t>Les mainteneurs le lisent.</a:t>
            </a:r>
            <a:endParaRPr lang="fr-FR" sz="1581" dirty="0"/>
          </a:p>
        </p:txBody>
      </p:sp>
      <p:sp>
        <p:nvSpPr>
          <p:cNvPr id="20" name="Text 18"/>
          <p:cNvSpPr txBox="1"/>
          <p:nvPr/>
        </p:nvSpPr>
        <p:spPr>
          <a:xfrm>
            <a:off x="7953375" y="4743450"/>
            <a:ext cx="952500" cy="228600"/>
          </a:xfrm>
          <a:prstGeom prst="rect">
            <a:avLst/>
          </a:prstGeom>
          <a:noFill/>
          <a:ln/>
        </p:spPr>
        <p:txBody>
          <a:bodyPr wrap="square" lIns="0" tIns="0" rIns="0" bIns="0" rtlCol="0" anchor="t"/>
          <a:lstStyle/>
          <a:p>
            <a:pPr algn="r" indent="0" marL="0">
              <a:buNone/>
            </a:pPr>
            <a:r>
              <a:rPr lang="fr-FR" sz="1000" dirty="0">
                <a:solidFill>
                  <a:srgbClr val="888888"/>
                </a:solidFill>
                <a:latin typeface="Source Sans 3" pitchFamily="34" charset="0"/>
                <a:ea typeface="Source Sans 3" pitchFamily="34" charset="-122"/>
                <a:cs typeface="Source Sans 3" pitchFamily="34" charset="-120"/>
              </a:rPr>
              <a:t>16</a:t>
            </a:r>
            <a:endParaRPr lang="fr-FR" sz="1000" dirty="0"/>
          </a:p>
        </p:txBody>
      </p:sp>
      <p:sp>
        <p:nvSpPr>
          <p:cNvPr id="21" name="Text 19"/>
          <p:cNvSpPr txBox="1"/>
          <p:nvPr/>
        </p:nvSpPr>
        <p:spPr>
          <a:xfrm>
            <a:off x="457200" y="4743450"/>
            <a:ext cx="3810000" cy="228600"/>
          </a:xfrm>
          <a:prstGeom prst="rect">
            <a:avLst/>
          </a:prstGeom>
          <a:noFill/>
          <a:ln/>
        </p:spPr>
        <p:txBody>
          <a:bodyPr wrap="square" lIns="0" tIns="0" rIns="0" bIns="0" rtlCol="0" anchor="t"/>
          <a:lstStyle/>
          <a:p>
            <a:pPr algn="l" indent="0" marL="0">
              <a:buNone/>
            </a:pPr>
            <a:r>
              <a:rPr lang="fr-FR" sz="1000" dirty="0">
                <a:solidFill>
                  <a:srgbClr val="888888"/>
                </a:solidFill>
                <a:latin typeface="Source Sans 3" pitchFamily="34" charset="0"/>
                <a:ea typeface="Source Sans 3" pitchFamily="34" charset="-122"/>
                <a:cs typeface="Source Sans 3" pitchFamily="34" charset="-120"/>
              </a:rPr>
              <a:t>Passation eSIL Madagascar</a:t>
            </a:r>
            <a:endParaRPr lang="fr-FR" sz="10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086350" y="-1381125"/>
            <a:ext cx="8124825" cy="8124825"/>
          </a:xfrm>
          <a:prstGeom prst="ellipse">
            <a:avLst/>
          </a:prstGeom>
          <a:solidFill>
            <a:srgbClr val="33006F"/>
          </a:solidFill>
          <a:ln w="12700">
            <a:solidFill>
              <a:srgbClr val="33006F"/>
            </a:solidFill>
            <a:prstDash val="solid"/>
          </a:ln>
        </p:spPr>
      </p:sp>
      <p:sp>
        <p:nvSpPr>
          <p:cNvPr id="3" name="Text 1"/>
          <p:cNvSpPr txBox="1"/>
          <p:nvPr/>
        </p:nvSpPr>
        <p:spPr>
          <a:xfrm>
            <a:off x="857250" y="1428750"/>
            <a:ext cx="3619500" cy="1238250"/>
          </a:xfrm>
          <a:prstGeom prst="rect">
            <a:avLst/>
          </a:prstGeom>
          <a:noFill/>
          <a:ln/>
        </p:spPr>
        <p:txBody>
          <a:bodyPr wrap="square" lIns="0" tIns="0" rIns="0" bIns="0" rtlCol="0" anchor="b">
            <a:normAutofit/>
          </a:bodyPr>
          <a:lstStyle/>
          <a:p>
            <a:pPr indent="0" marL="0">
              <a:buNone/>
            </a:pPr>
            <a:r>
              <a:rPr lang="fr-FR" sz="2600" b="1" dirty="0">
                <a:solidFill>
                  <a:srgbClr val="33006F"/>
                </a:solidFill>
                <a:latin typeface="Source Sans 3" pitchFamily="34" charset="0"/>
                <a:ea typeface="Source Sans 3" pitchFamily="34" charset="-122"/>
                <a:cs typeface="Source Sans 3" pitchFamily="34" charset="-120"/>
              </a:rPr>
              <a:t>3. La feuille de route et la galerie de conception</a:t>
            </a:r>
            <a:endParaRPr lang="fr-FR" sz="2600" dirty="0"/>
          </a:p>
        </p:txBody>
      </p:sp>
      <p:sp>
        <p:nvSpPr>
          <p:cNvPr id="4" name="Text 2"/>
          <p:cNvSpPr txBox="1"/>
          <p:nvPr/>
        </p:nvSpPr>
        <p:spPr>
          <a:xfrm>
            <a:off x="857250" y="2781300"/>
            <a:ext cx="3619500" cy="1143000"/>
          </a:xfrm>
          <a:prstGeom prst="rect">
            <a:avLst/>
          </a:prstGeom>
          <a:noFill/>
          <a:ln/>
        </p:spPr>
        <p:txBody>
          <a:bodyPr wrap="square" lIns="0" tIns="0" rIns="0" bIns="0" rtlCol="0" anchor="t"/>
          <a:lstStyle/>
          <a:p>
            <a:pPr indent="0" marL="0">
              <a:buNone/>
            </a:pPr>
            <a:r>
              <a:rPr lang="fr-FR" sz="1650" dirty="0">
                <a:solidFill>
                  <a:srgbClr val="434343"/>
                </a:solidFill>
                <a:latin typeface="Source Sans 3" pitchFamily="34" charset="0"/>
                <a:ea typeface="Source Sans 3" pitchFamily="34" charset="-122"/>
                <a:cs typeface="Source Sans 3" pitchFamily="34" charset="-120"/>
              </a:rPr>
              <a:t>Vérifiez ce qui est prévu avant de demander. Commentez les conceptions qui vous concernent.</a:t>
            </a:r>
            <a:endParaRPr lang="fr-FR" sz="1650" dirty="0"/>
          </a:p>
        </p:txBody>
      </p:sp>
      <p:sp>
        <p:nvSpPr>
          <p:cNvPr id="5" name="Text 3"/>
          <p:cNvSpPr txBox="1"/>
          <p:nvPr/>
        </p:nvSpPr>
        <p:spPr>
          <a:xfrm>
            <a:off x="7953375" y="4743450"/>
            <a:ext cx="952500" cy="228600"/>
          </a:xfrm>
          <a:prstGeom prst="rect">
            <a:avLst/>
          </a:prstGeom>
          <a:noFill/>
          <a:ln/>
        </p:spPr>
        <p:txBody>
          <a:bodyPr wrap="square" lIns="0" tIns="0" rIns="0" bIns="0" rtlCol="0" anchor="t"/>
          <a:lstStyle/>
          <a:p>
            <a:pPr algn="r" indent="0" marL="0">
              <a:buNone/>
            </a:pPr>
            <a:r>
              <a:rPr lang="fr-FR" sz="1000" dirty="0">
                <a:solidFill>
                  <a:srgbClr val="FFFFFF"/>
                </a:solidFill>
                <a:latin typeface="Source Sans 3" pitchFamily="34" charset="0"/>
                <a:ea typeface="Source Sans 3" pitchFamily="34" charset="-122"/>
                <a:cs typeface="Source Sans 3" pitchFamily="34" charset="-120"/>
              </a:rPr>
              <a:t>17</a:t>
            </a:r>
            <a:endParaRPr lang="fr-FR" sz="1000" dirty="0"/>
          </a:p>
        </p:txBody>
      </p:sp>
      <p:sp>
        <p:nvSpPr>
          <p:cNvPr id="6" name="Text 4"/>
          <p:cNvSpPr txBox="1"/>
          <p:nvPr/>
        </p:nvSpPr>
        <p:spPr>
          <a:xfrm>
            <a:off x="457200" y="4743450"/>
            <a:ext cx="3810000" cy="228600"/>
          </a:xfrm>
          <a:prstGeom prst="rect">
            <a:avLst/>
          </a:prstGeom>
          <a:noFill/>
          <a:ln/>
        </p:spPr>
        <p:txBody>
          <a:bodyPr wrap="square" lIns="0" tIns="0" rIns="0" bIns="0" rtlCol="0" anchor="t"/>
          <a:lstStyle/>
          <a:p>
            <a:pPr algn="l" indent="0" marL="0">
              <a:buNone/>
            </a:pPr>
            <a:r>
              <a:rPr lang="fr-FR" sz="1000" dirty="0">
                <a:solidFill>
                  <a:srgbClr val="888888"/>
                </a:solidFill>
                <a:latin typeface="Source Sans 3" pitchFamily="34" charset="0"/>
                <a:ea typeface="Source Sans 3" pitchFamily="34" charset="-122"/>
                <a:cs typeface="Source Sans 3" pitchFamily="34" charset="-120"/>
              </a:rPr>
              <a:t>Passation eSIL Madagascar</a:t>
            </a:r>
            <a:endParaRPr lang="fr-FR" sz="10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247650"/>
            <a:ext cx="8229600" cy="209550"/>
          </a:xfrm>
          <a:prstGeom prst="rect">
            <a:avLst/>
          </a:prstGeom>
          <a:noFill/>
          <a:ln/>
        </p:spPr>
        <p:txBody>
          <a:bodyPr wrap="square" lIns="0" tIns="0" rIns="0" bIns="0" rtlCol="0" anchor="t"/>
          <a:lstStyle/>
          <a:p>
            <a:pPr indent="0" marL="0">
              <a:buNone/>
            </a:pPr>
            <a:r>
              <a:rPr lang="fr-FR" sz="1200" b="1" spc="150" kern="0" dirty="0">
                <a:solidFill>
                  <a:srgbClr val="006838"/>
                </a:solidFill>
                <a:latin typeface="Source Sans 3" pitchFamily="34" charset="0"/>
                <a:ea typeface="Source Sans 3" pitchFamily="34" charset="-122"/>
                <a:cs typeface="Source Sans 3" pitchFamily="34" charset="-120"/>
              </a:rPr>
              <a:t>FEUILLE DE ROUTE ET GALERIE</a:t>
            </a:r>
            <a:pPr indent="0" marL="0">
              <a:buNone/>
            </a:pPr>
            <a:r>
              <a:rPr lang="fr-FR" sz="1200" dirty="0">
                <a:solidFill>
                  <a:srgbClr val="888888"/>
                </a:solidFill>
                <a:latin typeface="Source Sans 3" pitchFamily="34" charset="0"/>
                <a:ea typeface="Source Sans 3" pitchFamily="34" charset="-122"/>
                <a:cs typeface="Source Sans 3" pitchFamily="34" charset="-120"/>
              </a:rPr>
              <a:t>    Section 3 sur 7</a:t>
            </a:r>
            <a:endParaRPr lang="fr-FR" sz="1200" dirty="0"/>
          </a:p>
        </p:txBody>
      </p:sp>
      <p:sp>
        <p:nvSpPr>
          <p:cNvPr id="3" name="Shape 1"/>
          <p:cNvSpPr/>
          <p:nvPr/>
        </p:nvSpPr>
        <p:spPr>
          <a:xfrm>
            <a:off x="457200" y="533400"/>
            <a:ext cx="685800" cy="57150"/>
          </a:xfrm>
          <a:prstGeom prst="rect">
            <a:avLst/>
          </a:prstGeom>
          <a:solidFill>
            <a:srgbClr val="006838"/>
          </a:solidFill>
          <a:ln w="12700">
            <a:solidFill>
              <a:srgbClr val="006838"/>
            </a:solidFill>
            <a:prstDash val="solid"/>
          </a:ln>
        </p:spPr>
      </p:sp>
      <p:sp>
        <p:nvSpPr>
          <p:cNvPr id="4" name="Text 2"/>
          <p:cNvSpPr txBox="1"/>
          <p:nvPr/>
        </p:nvSpPr>
        <p:spPr>
          <a:xfrm>
            <a:off x="457200" y="704850"/>
            <a:ext cx="8229600" cy="800100"/>
          </a:xfrm>
          <a:prstGeom prst="rect">
            <a:avLst/>
          </a:prstGeom>
          <a:noFill/>
          <a:ln/>
        </p:spPr>
        <p:txBody>
          <a:bodyPr wrap="square" lIns="0" tIns="0" rIns="0" bIns="0" rtlCol="0" anchor="t">
            <a:normAutofit/>
          </a:bodyPr>
          <a:lstStyle/>
          <a:p>
            <a:pPr indent="0" marL="0">
              <a:buNone/>
            </a:pPr>
            <a:r>
              <a:rPr lang="fr-FR" sz="2350" b="1" dirty="0">
                <a:solidFill>
                  <a:srgbClr val="33006F"/>
                </a:solidFill>
                <a:latin typeface="Source Sans 3" pitchFamily="34" charset="0"/>
                <a:ea typeface="Source Sans 3" pitchFamily="34" charset="-122"/>
                <a:cs typeface="Source Sans 3" pitchFamily="34" charset="-120"/>
              </a:rPr>
              <a:t>La galerie de conception : toutes les conceptions OpenELIS, en public</a:t>
            </a:r>
            <a:endParaRPr lang="fr-FR" sz="2350" dirty="0"/>
          </a:p>
        </p:txBody>
      </p:sp>
      <p:sp>
        <p:nvSpPr>
          <p:cNvPr id="5" name="Text 3"/>
          <p:cNvSpPr txBox="1"/>
          <p:nvPr/>
        </p:nvSpPr>
        <p:spPr>
          <a:xfrm>
            <a:off x="457200" y="1562100"/>
            <a:ext cx="4953000" cy="323850"/>
          </a:xfrm>
          <a:prstGeom prst="rect">
            <a:avLst/>
          </a:prstGeom>
          <a:noFill/>
          <a:ln/>
        </p:spPr>
        <p:txBody>
          <a:bodyPr wrap="square" lIns="0" tIns="0" rIns="0" bIns="0" rtlCol="0" anchor="t"/>
          <a:lstStyle/>
          <a:p>
            <a:pPr indent="0" marL="0">
              <a:buNone/>
            </a:pPr>
            <a:r>
              <a:rPr lang="fr-FR" sz="1850" b="1" dirty="0">
                <a:solidFill>
                  <a:srgbClr val="33006F"/>
                </a:solidFill>
                <a:latin typeface="Source Sans 3" pitchFamily="34" charset="0"/>
                <a:ea typeface="Source Sans 3" pitchFamily="34" charset="-122"/>
                <a:cs typeface="Source Sans 3" pitchFamily="34" charset="-120"/>
              </a:rPr>
              <a:t>digi-uw.github.io/openelis-work</a:t>
            </a:r>
            <a:endParaRPr lang="fr-FR" sz="1850" dirty="0"/>
          </a:p>
        </p:txBody>
      </p:sp>
      <p:sp>
        <p:nvSpPr>
          <p:cNvPr id="6" name="Text 4"/>
          <p:cNvSpPr txBox="1"/>
          <p:nvPr/>
        </p:nvSpPr>
        <p:spPr>
          <a:xfrm>
            <a:off x="457200" y="2019300"/>
            <a:ext cx="4953000" cy="1238250"/>
          </a:xfrm>
          <a:prstGeom prst="rect">
            <a:avLst/>
          </a:prstGeom>
          <a:noFill/>
          <a:ln/>
        </p:spPr>
        <p:txBody>
          <a:bodyPr wrap="square" lIns="0" tIns="0" rIns="0" bIns="0" rtlCol="0" anchor="t">
            <a:normAutofit/>
          </a:bodyPr>
          <a:lstStyle/>
          <a:p>
            <a:pPr marL="127000" indent="-127000">
              <a:spcAft>
                <a:spcPts val="800"/>
              </a:spcAft>
              <a:buSzPct val="100000"/>
              <a:buChar char="•"/>
            </a:pPr>
            <a:r>
              <a:rPr lang="fr-FR" sz="1488" dirty="0">
                <a:solidFill>
                  <a:srgbClr val="434343"/>
                </a:solidFill>
                <a:latin typeface="Source Sans 3" pitchFamily="34" charset="0"/>
                <a:ea typeface="Source Sans 3" pitchFamily="34" charset="-122"/>
                <a:cs typeface="Source Sans 3" pitchFamily="34" charset="-120"/>
              </a:rPr>
              <a:t>Des maquettes que vous pouvez parcourir</a:t>
            </a:r>
            <a:endParaRPr lang="fr-FR" sz="1488" dirty="0"/>
          </a:p>
          <a:p>
            <a:pPr marL="127000" indent="-127000">
              <a:spcAft>
                <a:spcPts val="800"/>
              </a:spcAft>
              <a:buSzPct val="100000"/>
              <a:buChar char="•"/>
            </a:pPr>
            <a:r>
              <a:rPr lang="fr-FR" sz="1488" dirty="0">
                <a:solidFill>
                  <a:srgbClr val="434343"/>
                </a:solidFill>
                <a:latin typeface="Source Sans 3" pitchFamily="34" charset="0"/>
                <a:ea typeface="Source Sans 3" pitchFamily="34" charset="-122"/>
                <a:cs typeface="Source Sans 3" pitchFamily="34" charset="-120"/>
              </a:rPr>
              <a:t>Les spécifications à partir desquelles les développeurs travaillent</a:t>
            </a:r>
            <a:endParaRPr lang="fr-FR" sz="1488" dirty="0"/>
          </a:p>
          <a:p>
            <a:pPr marL="127000" indent="-127000">
              <a:spcAft>
                <a:spcPts val="800"/>
              </a:spcAft>
              <a:buSzPct val="100000"/>
              <a:buChar char="•"/>
            </a:pPr>
            <a:r>
              <a:rPr lang="fr-FR" sz="1488" dirty="0">
                <a:solidFill>
                  <a:srgbClr val="434343"/>
                </a:solidFill>
                <a:latin typeface="Source Sans 3" pitchFamily="34" charset="0"/>
                <a:ea typeface="Source Sans 3" pitchFamily="34" charset="-122"/>
                <a:cs typeface="Source Sans 3" pitchFamily="34" charset="-120"/>
              </a:rPr>
              <a:t>Un lien vers le ticket Jira de chaque conception</a:t>
            </a:r>
            <a:endParaRPr lang="fr-FR" sz="1488" dirty="0"/>
          </a:p>
        </p:txBody>
      </p:sp>
      <p:sp>
        <p:nvSpPr>
          <p:cNvPr id="7" name="Shape 5"/>
          <p:cNvSpPr/>
          <p:nvPr/>
        </p:nvSpPr>
        <p:spPr>
          <a:xfrm>
            <a:off x="457200" y="3333750"/>
            <a:ext cx="4953000" cy="1047750"/>
          </a:xfrm>
          <a:prstGeom prst="rect">
            <a:avLst/>
          </a:prstGeom>
          <a:solidFill>
            <a:srgbClr val="F0F0FF"/>
          </a:solidFill>
          <a:ln w="12700">
            <a:solidFill>
              <a:srgbClr val="F0F0FF"/>
            </a:solidFill>
            <a:prstDash val="solid"/>
          </a:ln>
        </p:spPr>
      </p:sp>
      <p:sp>
        <p:nvSpPr>
          <p:cNvPr id="8" name="Shape 6"/>
          <p:cNvSpPr/>
          <p:nvPr/>
        </p:nvSpPr>
        <p:spPr>
          <a:xfrm>
            <a:off x="457200" y="3333750"/>
            <a:ext cx="4953000" cy="38100"/>
          </a:xfrm>
          <a:prstGeom prst="rect">
            <a:avLst/>
          </a:prstGeom>
          <a:solidFill>
            <a:srgbClr val="006838"/>
          </a:solidFill>
          <a:ln w="12700">
            <a:solidFill>
              <a:srgbClr val="006838"/>
            </a:solidFill>
            <a:prstDash val="solid"/>
          </a:ln>
        </p:spPr>
      </p:sp>
      <p:sp>
        <p:nvSpPr>
          <p:cNvPr id="9" name="Text 7"/>
          <p:cNvSpPr txBox="1"/>
          <p:nvPr/>
        </p:nvSpPr>
        <p:spPr>
          <a:xfrm>
            <a:off x="685800" y="3486150"/>
            <a:ext cx="4495800" cy="762000"/>
          </a:xfrm>
          <a:prstGeom prst="rect">
            <a:avLst/>
          </a:prstGeom>
          <a:noFill/>
          <a:ln/>
        </p:spPr>
        <p:txBody>
          <a:bodyPr wrap="square" lIns="0" tIns="0" rIns="0" bIns="0" rtlCol="0" anchor="ctr"/>
          <a:lstStyle/>
          <a:p>
            <a:pPr indent="0" marL="0">
              <a:buNone/>
            </a:pPr>
            <a:r>
              <a:rPr lang="fr-FR" sz="1600" b="1" dirty="0">
                <a:solidFill>
                  <a:srgbClr val="33006F"/>
                </a:solidFill>
                <a:latin typeface="Source Sans 3" pitchFamily="34" charset="0"/>
                <a:ea typeface="Source Sans 3" pitchFamily="34" charset="-122"/>
                <a:cs typeface="Source Sans 3" pitchFamily="34" charset="-120"/>
              </a:rPr>
              <a:t>Avant de demander une fonctionnalité, regardez ici. Elle est peut-être déjà conçue ou prévue.</a:t>
            </a:r>
            <a:endParaRPr lang="fr-FR" sz="1600" dirty="0"/>
          </a:p>
        </p:txBody>
      </p:sp>
      <p:sp>
        <p:nvSpPr>
          <p:cNvPr id="10" name="Shape 8"/>
          <p:cNvSpPr/>
          <p:nvPr/>
        </p:nvSpPr>
        <p:spPr>
          <a:xfrm>
            <a:off x="5829300" y="1562100"/>
            <a:ext cx="2857500" cy="3028950"/>
          </a:xfrm>
          <a:prstGeom prst="rect">
            <a:avLst/>
          </a:prstGeom>
          <a:solidFill>
            <a:srgbClr val="F0F0FF"/>
          </a:solidFill>
          <a:ln w="19050">
            <a:solidFill>
              <a:srgbClr val="BFBFBF"/>
            </a:solidFill>
            <a:prstDash val="dash"/>
          </a:ln>
        </p:spPr>
      </p:sp>
      <p:sp>
        <p:nvSpPr>
          <p:cNvPr id="11" name="Text 9"/>
          <p:cNvSpPr txBox="1"/>
          <p:nvPr/>
        </p:nvSpPr>
        <p:spPr>
          <a:xfrm>
            <a:off x="6019800" y="1562100"/>
            <a:ext cx="2476500" cy="3028950"/>
          </a:xfrm>
          <a:prstGeom prst="rect">
            <a:avLst/>
          </a:prstGeom>
          <a:noFill/>
          <a:ln/>
        </p:spPr>
        <p:txBody>
          <a:bodyPr wrap="square" lIns="0" tIns="0" rIns="0" bIns="0" rtlCol="0" anchor="ctr"/>
          <a:lstStyle/>
          <a:p>
            <a:pPr algn="ctr" indent="0" marL="0">
              <a:buNone/>
            </a:pPr>
            <a:r>
              <a:rPr lang="fr-FR" sz="1400" b="1" dirty="0">
                <a:solidFill>
                  <a:srgbClr val="01458E"/>
                </a:solidFill>
                <a:latin typeface="Source Sans 3" pitchFamily="34" charset="0"/>
                <a:ea typeface="Source Sans 3" pitchFamily="34" charset="-122"/>
                <a:cs typeface="Source Sans 3" pitchFamily="34" charset="-120"/>
              </a:rPr>
              <a:t>Emplacement : </a:t>
            </a:r>
            <a:pPr algn="ctr" indent="0" marL="0">
              <a:buNone/>
            </a:pPr>
            <a:r>
              <a:rPr lang="fr-FR" sz="1400" dirty="0">
                <a:solidFill>
                  <a:srgbClr val="434343"/>
                </a:solidFill>
                <a:latin typeface="Source Sans 3" pitchFamily="34" charset="0"/>
                <a:ea typeface="Source Sans 3" pitchFamily="34" charset="-122"/>
                <a:cs typeface="Source Sans 3" pitchFamily="34" charset="-120"/>
              </a:rPr>
              <a:t>Capture d'écran de la page d'accueil de la galerie</a:t>
            </a:r>
            <a:endParaRPr lang="fr-FR" sz="1400" dirty="0"/>
          </a:p>
        </p:txBody>
      </p:sp>
      <p:sp>
        <p:nvSpPr>
          <p:cNvPr id="12" name="Text 10"/>
          <p:cNvSpPr txBox="1"/>
          <p:nvPr/>
        </p:nvSpPr>
        <p:spPr>
          <a:xfrm>
            <a:off x="7953375" y="4743450"/>
            <a:ext cx="952500" cy="228600"/>
          </a:xfrm>
          <a:prstGeom prst="rect">
            <a:avLst/>
          </a:prstGeom>
          <a:noFill/>
          <a:ln/>
        </p:spPr>
        <p:txBody>
          <a:bodyPr wrap="square" lIns="0" tIns="0" rIns="0" bIns="0" rtlCol="0" anchor="t"/>
          <a:lstStyle/>
          <a:p>
            <a:pPr algn="r" indent="0" marL="0">
              <a:buNone/>
            </a:pPr>
            <a:r>
              <a:rPr lang="fr-FR" sz="1000" dirty="0">
                <a:solidFill>
                  <a:srgbClr val="888888"/>
                </a:solidFill>
                <a:latin typeface="Source Sans 3" pitchFamily="34" charset="0"/>
                <a:ea typeface="Source Sans 3" pitchFamily="34" charset="-122"/>
                <a:cs typeface="Source Sans 3" pitchFamily="34" charset="-120"/>
              </a:rPr>
              <a:t>18</a:t>
            </a:r>
            <a:endParaRPr lang="fr-FR" sz="1000" dirty="0"/>
          </a:p>
        </p:txBody>
      </p:sp>
      <p:sp>
        <p:nvSpPr>
          <p:cNvPr id="13" name="Text 11"/>
          <p:cNvSpPr txBox="1"/>
          <p:nvPr/>
        </p:nvSpPr>
        <p:spPr>
          <a:xfrm>
            <a:off x="457200" y="4743450"/>
            <a:ext cx="3810000" cy="228600"/>
          </a:xfrm>
          <a:prstGeom prst="rect">
            <a:avLst/>
          </a:prstGeom>
          <a:noFill/>
          <a:ln/>
        </p:spPr>
        <p:txBody>
          <a:bodyPr wrap="square" lIns="0" tIns="0" rIns="0" bIns="0" rtlCol="0" anchor="t"/>
          <a:lstStyle/>
          <a:p>
            <a:pPr algn="l" indent="0" marL="0">
              <a:buNone/>
            </a:pPr>
            <a:r>
              <a:rPr lang="fr-FR" sz="1000" dirty="0">
                <a:solidFill>
                  <a:srgbClr val="888888"/>
                </a:solidFill>
                <a:latin typeface="Source Sans 3" pitchFamily="34" charset="0"/>
                <a:ea typeface="Source Sans 3" pitchFamily="34" charset="-122"/>
                <a:cs typeface="Source Sans 3" pitchFamily="34" charset="-120"/>
              </a:rPr>
              <a:t>Passation eSIL Madagascar</a:t>
            </a:r>
            <a:endParaRPr lang="fr-FR" sz="10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247650"/>
            <a:ext cx="8229600" cy="209550"/>
          </a:xfrm>
          <a:prstGeom prst="rect">
            <a:avLst/>
          </a:prstGeom>
          <a:noFill/>
          <a:ln/>
        </p:spPr>
        <p:txBody>
          <a:bodyPr wrap="square" lIns="0" tIns="0" rIns="0" bIns="0" rtlCol="0" anchor="t"/>
          <a:lstStyle/>
          <a:p>
            <a:pPr indent="0" marL="0">
              <a:buNone/>
            </a:pPr>
            <a:r>
              <a:rPr lang="fr-FR" sz="1200" b="1" spc="150" kern="0" dirty="0">
                <a:solidFill>
                  <a:srgbClr val="006838"/>
                </a:solidFill>
                <a:latin typeface="Source Sans 3" pitchFamily="34" charset="0"/>
                <a:ea typeface="Source Sans 3" pitchFamily="34" charset="-122"/>
                <a:cs typeface="Source Sans 3" pitchFamily="34" charset="-120"/>
              </a:rPr>
              <a:t>FEUILLE DE ROUTE ET GALERIE</a:t>
            </a:r>
            <a:pPr indent="0" marL="0">
              <a:buNone/>
            </a:pPr>
            <a:r>
              <a:rPr lang="fr-FR" sz="1200" dirty="0">
                <a:solidFill>
                  <a:srgbClr val="888888"/>
                </a:solidFill>
                <a:latin typeface="Source Sans 3" pitchFamily="34" charset="0"/>
                <a:ea typeface="Source Sans 3" pitchFamily="34" charset="-122"/>
                <a:cs typeface="Source Sans 3" pitchFamily="34" charset="-120"/>
              </a:rPr>
              <a:t>    Section 3 sur 7</a:t>
            </a:r>
            <a:endParaRPr lang="fr-FR" sz="1200" dirty="0"/>
          </a:p>
        </p:txBody>
      </p:sp>
      <p:sp>
        <p:nvSpPr>
          <p:cNvPr id="3" name="Shape 1"/>
          <p:cNvSpPr/>
          <p:nvPr/>
        </p:nvSpPr>
        <p:spPr>
          <a:xfrm>
            <a:off x="457200" y="533400"/>
            <a:ext cx="685800" cy="57150"/>
          </a:xfrm>
          <a:prstGeom prst="rect">
            <a:avLst/>
          </a:prstGeom>
          <a:solidFill>
            <a:srgbClr val="006838"/>
          </a:solidFill>
          <a:ln w="12700">
            <a:solidFill>
              <a:srgbClr val="006838"/>
            </a:solidFill>
            <a:prstDash val="solid"/>
          </a:ln>
        </p:spPr>
      </p:sp>
      <p:sp>
        <p:nvSpPr>
          <p:cNvPr id="4" name="Text 2"/>
          <p:cNvSpPr txBox="1"/>
          <p:nvPr/>
        </p:nvSpPr>
        <p:spPr>
          <a:xfrm>
            <a:off x="457200" y="704850"/>
            <a:ext cx="8229600" cy="800100"/>
          </a:xfrm>
          <a:prstGeom prst="rect">
            <a:avLst/>
          </a:prstGeom>
          <a:noFill/>
          <a:ln/>
        </p:spPr>
        <p:txBody>
          <a:bodyPr wrap="square" lIns="0" tIns="0" rIns="0" bIns="0" rtlCol="0" anchor="t">
            <a:normAutofit/>
          </a:bodyPr>
          <a:lstStyle/>
          <a:p>
            <a:pPr indent="0" marL="0">
              <a:buNone/>
            </a:pPr>
            <a:r>
              <a:rPr lang="fr-FR" sz="2350" b="1" dirty="0">
                <a:solidFill>
                  <a:srgbClr val="33006F"/>
                </a:solidFill>
                <a:latin typeface="Source Sans 3" pitchFamily="34" charset="0"/>
                <a:ea typeface="Source Sans 3" pitchFamily="34" charset="-122"/>
                <a:cs typeface="Source Sans 3" pitchFamily="34" charset="-120"/>
              </a:rPr>
              <a:t>Les demandes de Madagascar sont déjà dans la feuille de route</a:t>
            </a:r>
            <a:endParaRPr lang="fr-FR" sz="2350" dirty="0"/>
          </a:p>
        </p:txBody>
      </p:sp>
      <p:sp>
        <p:nvSpPr>
          <p:cNvPr id="5" name="Shape 3"/>
          <p:cNvSpPr/>
          <p:nvPr/>
        </p:nvSpPr>
        <p:spPr>
          <a:xfrm>
            <a:off x="457200" y="1562100"/>
            <a:ext cx="2590800" cy="2495550"/>
          </a:xfrm>
          <a:prstGeom prst="rect">
            <a:avLst/>
          </a:prstGeom>
          <a:solidFill>
            <a:srgbClr val="F0F0FF"/>
          </a:solidFill>
          <a:ln w="12700">
            <a:solidFill>
              <a:srgbClr val="F0F0FF"/>
            </a:solidFill>
            <a:prstDash val="solid"/>
          </a:ln>
        </p:spPr>
      </p:sp>
      <p:sp>
        <p:nvSpPr>
          <p:cNvPr id="6" name="Shape 4"/>
          <p:cNvSpPr/>
          <p:nvPr/>
        </p:nvSpPr>
        <p:spPr>
          <a:xfrm>
            <a:off x="457200" y="1562100"/>
            <a:ext cx="2590800" cy="38100"/>
          </a:xfrm>
          <a:prstGeom prst="rect">
            <a:avLst/>
          </a:prstGeom>
          <a:solidFill>
            <a:srgbClr val="006838"/>
          </a:solidFill>
          <a:ln w="12700">
            <a:solidFill>
              <a:srgbClr val="006838"/>
            </a:solidFill>
            <a:prstDash val="solid"/>
          </a:ln>
        </p:spPr>
      </p:sp>
      <p:sp>
        <p:nvSpPr>
          <p:cNvPr id="7" name="Text 5"/>
          <p:cNvSpPr txBox="1"/>
          <p:nvPr/>
        </p:nvSpPr>
        <p:spPr>
          <a:xfrm>
            <a:off x="647700" y="1733550"/>
            <a:ext cx="2209800" cy="171450"/>
          </a:xfrm>
          <a:prstGeom prst="rect">
            <a:avLst/>
          </a:prstGeom>
          <a:noFill/>
          <a:ln/>
        </p:spPr>
        <p:txBody>
          <a:bodyPr wrap="square" lIns="0" tIns="0" rIns="0" bIns="0" rtlCol="0" anchor="t"/>
          <a:lstStyle/>
          <a:p>
            <a:pPr indent="0" marL="0">
              <a:buNone/>
            </a:pPr>
            <a:r>
              <a:rPr lang="fr-FR" sz="950" b="1" spc="100" kern="0" dirty="0">
                <a:solidFill>
                  <a:srgbClr val="006838"/>
                </a:solidFill>
                <a:latin typeface="Source Sans 3" pitchFamily="34" charset="0"/>
                <a:ea typeface="Source Sans 3" pitchFamily="34" charset="-122"/>
                <a:cs typeface="Source Sans 3" pitchFamily="34" charset="-120"/>
              </a:rPr>
              <a:t>VOTRE DEMANDE</a:t>
            </a:r>
            <a:endParaRPr lang="fr-FR" sz="950" dirty="0"/>
          </a:p>
        </p:txBody>
      </p:sp>
      <p:sp>
        <p:nvSpPr>
          <p:cNvPr id="8" name="Text 6"/>
          <p:cNvSpPr txBox="1"/>
          <p:nvPr/>
        </p:nvSpPr>
        <p:spPr>
          <a:xfrm>
            <a:off x="647700" y="1924050"/>
            <a:ext cx="2209800" cy="666750"/>
          </a:xfrm>
          <a:prstGeom prst="rect">
            <a:avLst/>
          </a:prstGeom>
          <a:noFill/>
          <a:ln/>
        </p:spPr>
        <p:txBody>
          <a:bodyPr wrap="square" lIns="0" tIns="0" rIns="0" bIns="0" rtlCol="0" anchor="t"/>
          <a:lstStyle/>
          <a:p>
            <a:pPr indent="0" marL="0">
              <a:buNone/>
            </a:pPr>
            <a:r>
              <a:rPr lang="fr-FR" sz="1400" b="1" dirty="0">
                <a:solidFill>
                  <a:srgbClr val="33006F"/>
                </a:solidFill>
                <a:latin typeface="Source Sans 3" pitchFamily="34" charset="0"/>
                <a:ea typeface="Source Sans 3" pitchFamily="34" charset="-122"/>
                <a:cs typeface="Source Sans 3" pitchFamily="34" charset="-120"/>
              </a:rPr>
              <a:t>Désactiver des services de test (sans suppression définitive)</a:t>
            </a:r>
            <a:endParaRPr lang="fr-FR" sz="1400" dirty="0"/>
          </a:p>
        </p:txBody>
      </p:sp>
      <p:sp>
        <p:nvSpPr>
          <p:cNvPr id="9" name="Shape 7"/>
          <p:cNvSpPr/>
          <p:nvPr/>
        </p:nvSpPr>
        <p:spPr>
          <a:xfrm>
            <a:off x="647700" y="2628900"/>
            <a:ext cx="2209800" cy="9525"/>
          </a:xfrm>
          <a:prstGeom prst="rect">
            <a:avLst/>
          </a:prstGeom>
          <a:solidFill>
            <a:srgbClr val="BFBFBF"/>
          </a:solidFill>
          <a:ln w="12700">
            <a:solidFill>
              <a:srgbClr val="BFBFBF"/>
            </a:solidFill>
            <a:prstDash val="solid"/>
          </a:ln>
        </p:spPr>
      </p:sp>
      <p:sp>
        <p:nvSpPr>
          <p:cNvPr id="10" name="Text 8"/>
          <p:cNvSpPr txBox="1"/>
          <p:nvPr/>
        </p:nvSpPr>
        <p:spPr>
          <a:xfrm>
            <a:off x="647700" y="2743200"/>
            <a:ext cx="2209800" cy="171450"/>
          </a:xfrm>
          <a:prstGeom prst="rect">
            <a:avLst/>
          </a:prstGeom>
          <a:noFill/>
          <a:ln/>
        </p:spPr>
        <p:txBody>
          <a:bodyPr wrap="square" lIns="0" tIns="0" rIns="0" bIns="0" rtlCol="0" anchor="t"/>
          <a:lstStyle/>
          <a:p>
            <a:pPr indent="0" marL="0">
              <a:buNone/>
            </a:pPr>
            <a:r>
              <a:rPr lang="fr-FR" sz="950" b="1" spc="100" kern="0" dirty="0">
                <a:solidFill>
                  <a:srgbClr val="006838"/>
                </a:solidFill>
                <a:latin typeface="Source Sans 3" pitchFamily="34" charset="0"/>
                <a:ea typeface="Source Sans 3" pitchFamily="34" charset="-122"/>
                <a:cs typeface="Source Sans 3" pitchFamily="34" charset="-120"/>
              </a:rPr>
              <a:t>CONCEPTION DANS LA GALERIE</a:t>
            </a:r>
            <a:endParaRPr lang="fr-FR" sz="950" dirty="0"/>
          </a:p>
        </p:txBody>
      </p:sp>
      <p:sp>
        <p:nvSpPr>
          <p:cNvPr id="11" name="Text 9"/>
          <p:cNvSpPr txBox="1"/>
          <p:nvPr/>
        </p:nvSpPr>
        <p:spPr>
          <a:xfrm>
            <a:off x="647700" y="2933700"/>
            <a:ext cx="2209800" cy="762000"/>
          </a:xfrm>
          <a:prstGeom prst="rect">
            <a:avLst/>
          </a:prstGeom>
          <a:noFill/>
          <a:ln/>
        </p:spPr>
        <p:txBody>
          <a:bodyPr wrap="square" lIns="0" tIns="0" rIns="0" bIns="0" rtlCol="0" anchor="t"/>
          <a:lstStyle/>
          <a:p>
            <a:pPr indent="0" marL="0">
              <a:buNone/>
            </a:pPr>
            <a:r>
              <a:rPr lang="fr-FR" sz="1300" dirty="0">
                <a:solidFill>
                  <a:srgbClr val="434343"/>
                </a:solidFill>
                <a:latin typeface="Source Sans 3" pitchFamily="34" charset="0"/>
                <a:ea typeface="Source Sans 3" pitchFamily="34" charset="-122"/>
                <a:cs typeface="Source Sans 3" pitchFamily="34" charset="-120"/>
              </a:rPr>
              <a:t>Gestion des unités de laboratoire (un « Service » est une unité de laboratoire)</a:t>
            </a:r>
            <a:endParaRPr lang="fr-FR" sz="1300" dirty="0"/>
          </a:p>
        </p:txBody>
      </p:sp>
      <p:sp>
        <p:nvSpPr>
          <p:cNvPr id="12" name="Text 10"/>
          <p:cNvSpPr txBox="1"/>
          <p:nvPr/>
        </p:nvSpPr>
        <p:spPr>
          <a:xfrm>
            <a:off x="647700" y="3714750"/>
            <a:ext cx="2209800" cy="304800"/>
          </a:xfrm>
          <a:prstGeom prst="rect">
            <a:avLst/>
          </a:prstGeom>
          <a:noFill/>
          <a:ln/>
        </p:spPr>
        <p:txBody>
          <a:bodyPr wrap="square" lIns="0" tIns="0" rIns="0" bIns="0" rtlCol="0" anchor="t"/>
          <a:lstStyle/>
          <a:p>
            <a:pPr indent="0" marL="0">
              <a:buNone/>
            </a:pPr>
            <a:r>
              <a:rPr lang="fr-FR" sz="900" dirty="0">
                <a:solidFill>
                  <a:srgbClr val="01458E"/>
                </a:solidFill>
                <a:latin typeface="Source Sans 3" pitchFamily="34" charset="0"/>
                <a:ea typeface="Source Sans 3" pitchFamily="34" charset="-122"/>
                <a:cs typeface="Source Sans 3" pitchFamily="34" charset="-120"/>
              </a:rPr>
              <a:t>digi-uw.github.io/openelis-work/#/admin-config/lab-units</a:t>
            </a:r>
            <a:endParaRPr lang="fr-FR" sz="900" dirty="0"/>
          </a:p>
        </p:txBody>
      </p:sp>
      <p:sp>
        <p:nvSpPr>
          <p:cNvPr id="13" name="Shape 11"/>
          <p:cNvSpPr/>
          <p:nvPr/>
        </p:nvSpPr>
        <p:spPr>
          <a:xfrm>
            <a:off x="3276600" y="1562100"/>
            <a:ext cx="2590800" cy="2495550"/>
          </a:xfrm>
          <a:prstGeom prst="rect">
            <a:avLst/>
          </a:prstGeom>
          <a:solidFill>
            <a:srgbClr val="F0F0FF"/>
          </a:solidFill>
          <a:ln w="12700">
            <a:solidFill>
              <a:srgbClr val="F0F0FF"/>
            </a:solidFill>
            <a:prstDash val="solid"/>
          </a:ln>
        </p:spPr>
      </p:sp>
      <p:sp>
        <p:nvSpPr>
          <p:cNvPr id="14" name="Shape 12"/>
          <p:cNvSpPr/>
          <p:nvPr/>
        </p:nvSpPr>
        <p:spPr>
          <a:xfrm>
            <a:off x="3276600" y="1562100"/>
            <a:ext cx="2590800" cy="38100"/>
          </a:xfrm>
          <a:prstGeom prst="rect">
            <a:avLst/>
          </a:prstGeom>
          <a:solidFill>
            <a:srgbClr val="006838"/>
          </a:solidFill>
          <a:ln w="12700">
            <a:solidFill>
              <a:srgbClr val="006838"/>
            </a:solidFill>
            <a:prstDash val="solid"/>
          </a:ln>
        </p:spPr>
      </p:sp>
      <p:sp>
        <p:nvSpPr>
          <p:cNvPr id="15" name="Text 13"/>
          <p:cNvSpPr txBox="1"/>
          <p:nvPr/>
        </p:nvSpPr>
        <p:spPr>
          <a:xfrm>
            <a:off x="3467100" y="1733550"/>
            <a:ext cx="2209800" cy="171450"/>
          </a:xfrm>
          <a:prstGeom prst="rect">
            <a:avLst/>
          </a:prstGeom>
          <a:noFill/>
          <a:ln/>
        </p:spPr>
        <p:txBody>
          <a:bodyPr wrap="square" lIns="0" tIns="0" rIns="0" bIns="0" rtlCol="0" anchor="t"/>
          <a:lstStyle/>
          <a:p>
            <a:pPr indent="0" marL="0">
              <a:buNone/>
            </a:pPr>
            <a:r>
              <a:rPr lang="fr-FR" sz="950" b="1" spc="100" kern="0" dirty="0">
                <a:solidFill>
                  <a:srgbClr val="006838"/>
                </a:solidFill>
                <a:latin typeface="Source Sans 3" pitchFamily="34" charset="0"/>
                <a:ea typeface="Source Sans 3" pitchFamily="34" charset="-122"/>
                <a:cs typeface="Source Sans 3" pitchFamily="34" charset="-120"/>
              </a:rPr>
              <a:t>VOTRE DEMANDE</a:t>
            </a:r>
            <a:endParaRPr lang="fr-FR" sz="950" dirty="0"/>
          </a:p>
        </p:txBody>
      </p:sp>
      <p:sp>
        <p:nvSpPr>
          <p:cNvPr id="16" name="Text 14"/>
          <p:cNvSpPr txBox="1"/>
          <p:nvPr/>
        </p:nvSpPr>
        <p:spPr>
          <a:xfrm>
            <a:off x="3467100" y="1924050"/>
            <a:ext cx="2209800" cy="666750"/>
          </a:xfrm>
          <a:prstGeom prst="rect">
            <a:avLst/>
          </a:prstGeom>
          <a:noFill/>
          <a:ln/>
        </p:spPr>
        <p:txBody>
          <a:bodyPr wrap="square" lIns="0" tIns="0" rIns="0" bIns="0" rtlCol="0" anchor="t"/>
          <a:lstStyle/>
          <a:p>
            <a:pPr indent="0" marL="0">
              <a:buNone/>
            </a:pPr>
            <a:r>
              <a:rPr lang="fr-FR" sz="1400" b="1" dirty="0">
                <a:solidFill>
                  <a:srgbClr val="33006F"/>
                </a:solidFill>
                <a:latin typeface="Source Sans 3" pitchFamily="34" charset="0"/>
                <a:ea typeface="Source Sans 3" pitchFamily="34" charset="-122"/>
                <a:cs typeface="Source Sans 3" pitchFamily="34" charset="-120"/>
              </a:rPr>
              <a:t>Section « Informations supplémentaires »</a:t>
            </a:r>
            <a:endParaRPr lang="fr-FR" sz="1400" dirty="0"/>
          </a:p>
        </p:txBody>
      </p:sp>
      <p:sp>
        <p:nvSpPr>
          <p:cNvPr id="17" name="Shape 15"/>
          <p:cNvSpPr/>
          <p:nvPr/>
        </p:nvSpPr>
        <p:spPr>
          <a:xfrm>
            <a:off x="3467100" y="2628900"/>
            <a:ext cx="2209800" cy="9525"/>
          </a:xfrm>
          <a:prstGeom prst="rect">
            <a:avLst/>
          </a:prstGeom>
          <a:solidFill>
            <a:srgbClr val="BFBFBF"/>
          </a:solidFill>
          <a:ln w="12700">
            <a:solidFill>
              <a:srgbClr val="BFBFBF"/>
            </a:solidFill>
            <a:prstDash val="solid"/>
          </a:ln>
        </p:spPr>
      </p:sp>
      <p:sp>
        <p:nvSpPr>
          <p:cNvPr id="18" name="Text 16"/>
          <p:cNvSpPr txBox="1"/>
          <p:nvPr/>
        </p:nvSpPr>
        <p:spPr>
          <a:xfrm>
            <a:off x="3467100" y="2743200"/>
            <a:ext cx="2209800" cy="171450"/>
          </a:xfrm>
          <a:prstGeom prst="rect">
            <a:avLst/>
          </a:prstGeom>
          <a:noFill/>
          <a:ln/>
        </p:spPr>
        <p:txBody>
          <a:bodyPr wrap="square" lIns="0" tIns="0" rIns="0" bIns="0" rtlCol="0" anchor="t"/>
          <a:lstStyle/>
          <a:p>
            <a:pPr indent="0" marL="0">
              <a:buNone/>
            </a:pPr>
            <a:r>
              <a:rPr lang="fr-FR" sz="950" b="1" spc="100" kern="0" dirty="0">
                <a:solidFill>
                  <a:srgbClr val="006838"/>
                </a:solidFill>
                <a:latin typeface="Source Sans 3" pitchFamily="34" charset="0"/>
                <a:ea typeface="Source Sans 3" pitchFamily="34" charset="-122"/>
                <a:cs typeface="Source Sans 3" pitchFamily="34" charset="-120"/>
              </a:rPr>
              <a:t>CONCEPTION DANS LA GALERIE</a:t>
            </a:r>
            <a:endParaRPr lang="fr-FR" sz="950" dirty="0"/>
          </a:p>
        </p:txBody>
      </p:sp>
      <p:sp>
        <p:nvSpPr>
          <p:cNvPr id="19" name="Text 17"/>
          <p:cNvSpPr txBox="1"/>
          <p:nvPr/>
        </p:nvSpPr>
        <p:spPr>
          <a:xfrm>
            <a:off x="3467100" y="2933700"/>
            <a:ext cx="2209800" cy="762000"/>
          </a:xfrm>
          <a:prstGeom prst="rect">
            <a:avLst/>
          </a:prstGeom>
          <a:noFill/>
          <a:ln/>
        </p:spPr>
        <p:txBody>
          <a:bodyPr wrap="square" lIns="0" tIns="0" rIns="0" bIns="0" rtlCol="0" anchor="t"/>
          <a:lstStyle/>
          <a:p>
            <a:pPr indent="0" marL="0">
              <a:buNone/>
            </a:pPr>
            <a:r>
              <a:rPr lang="fr-FR" sz="1300" dirty="0">
                <a:solidFill>
                  <a:srgbClr val="434343"/>
                </a:solidFill>
                <a:latin typeface="Source Sans 3" pitchFamily="34" charset="0"/>
                <a:ea typeface="Source Sans 3" pitchFamily="34" charset="-122"/>
                <a:cs typeface="Source Sans 3" pitchFamily="34" charset="-120"/>
              </a:rPr>
              <a:t>Constructeur d'informations supplémentaires (gestion des programmes)</a:t>
            </a:r>
            <a:endParaRPr lang="fr-FR" sz="1300" dirty="0"/>
          </a:p>
        </p:txBody>
      </p:sp>
      <p:sp>
        <p:nvSpPr>
          <p:cNvPr id="20" name="Text 18"/>
          <p:cNvSpPr txBox="1"/>
          <p:nvPr/>
        </p:nvSpPr>
        <p:spPr>
          <a:xfrm>
            <a:off x="3467100" y="3714750"/>
            <a:ext cx="2209800" cy="304800"/>
          </a:xfrm>
          <a:prstGeom prst="rect">
            <a:avLst/>
          </a:prstGeom>
          <a:noFill/>
          <a:ln/>
        </p:spPr>
        <p:txBody>
          <a:bodyPr wrap="square" lIns="0" tIns="0" rIns="0" bIns="0" rtlCol="0" anchor="t"/>
          <a:lstStyle/>
          <a:p>
            <a:pPr indent="0" marL="0">
              <a:buNone/>
            </a:pPr>
            <a:r>
              <a:rPr lang="fr-FR" sz="900" dirty="0">
                <a:solidFill>
                  <a:srgbClr val="01458E"/>
                </a:solidFill>
                <a:latin typeface="Source Sans 3" pitchFamily="34" charset="0"/>
                <a:ea typeface="Source Sans 3" pitchFamily="34" charset="-122"/>
                <a:cs typeface="Source Sans 3" pitchFamily="34" charset="-120"/>
              </a:rPr>
              <a:t>digi-uw.github.io/openelis-work/#/admin-config/additional-info-builder</a:t>
            </a:r>
            <a:endParaRPr lang="fr-FR" sz="900" dirty="0"/>
          </a:p>
        </p:txBody>
      </p:sp>
      <p:sp>
        <p:nvSpPr>
          <p:cNvPr id="21" name="Shape 19"/>
          <p:cNvSpPr/>
          <p:nvPr/>
        </p:nvSpPr>
        <p:spPr>
          <a:xfrm>
            <a:off x="6096000" y="1562100"/>
            <a:ext cx="2590800" cy="2495550"/>
          </a:xfrm>
          <a:prstGeom prst="rect">
            <a:avLst/>
          </a:prstGeom>
          <a:solidFill>
            <a:srgbClr val="F0F0FF"/>
          </a:solidFill>
          <a:ln w="12700">
            <a:solidFill>
              <a:srgbClr val="F0F0FF"/>
            </a:solidFill>
            <a:prstDash val="solid"/>
          </a:ln>
        </p:spPr>
      </p:sp>
      <p:sp>
        <p:nvSpPr>
          <p:cNvPr id="22" name="Shape 20"/>
          <p:cNvSpPr/>
          <p:nvPr/>
        </p:nvSpPr>
        <p:spPr>
          <a:xfrm>
            <a:off x="6096000" y="1562100"/>
            <a:ext cx="2590800" cy="38100"/>
          </a:xfrm>
          <a:prstGeom prst="rect">
            <a:avLst/>
          </a:prstGeom>
          <a:solidFill>
            <a:srgbClr val="006838"/>
          </a:solidFill>
          <a:ln w="12700">
            <a:solidFill>
              <a:srgbClr val="006838"/>
            </a:solidFill>
            <a:prstDash val="solid"/>
          </a:ln>
        </p:spPr>
      </p:sp>
      <p:sp>
        <p:nvSpPr>
          <p:cNvPr id="23" name="Text 21"/>
          <p:cNvSpPr txBox="1"/>
          <p:nvPr/>
        </p:nvSpPr>
        <p:spPr>
          <a:xfrm>
            <a:off x="6286500" y="1733550"/>
            <a:ext cx="2209800" cy="171450"/>
          </a:xfrm>
          <a:prstGeom prst="rect">
            <a:avLst/>
          </a:prstGeom>
          <a:noFill/>
          <a:ln/>
        </p:spPr>
        <p:txBody>
          <a:bodyPr wrap="square" lIns="0" tIns="0" rIns="0" bIns="0" rtlCol="0" anchor="t"/>
          <a:lstStyle/>
          <a:p>
            <a:pPr indent="0" marL="0">
              <a:buNone/>
            </a:pPr>
            <a:r>
              <a:rPr lang="fr-FR" sz="950" b="1" spc="100" kern="0" dirty="0">
                <a:solidFill>
                  <a:srgbClr val="006838"/>
                </a:solidFill>
                <a:latin typeface="Source Sans 3" pitchFamily="34" charset="0"/>
                <a:ea typeface="Source Sans 3" pitchFamily="34" charset="-122"/>
                <a:cs typeface="Source Sans 3" pitchFamily="34" charset="-120"/>
              </a:rPr>
              <a:t>VOTRE DEMANDE</a:t>
            </a:r>
            <a:endParaRPr lang="fr-FR" sz="950" dirty="0"/>
          </a:p>
        </p:txBody>
      </p:sp>
      <p:sp>
        <p:nvSpPr>
          <p:cNvPr id="24" name="Text 22"/>
          <p:cNvSpPr txBox="1"/>
          <p:nvPr/>
        </p:nvSpPr>
        <p:spPr>
          <a:xfrm>
            <a:off x="6286500" y="1924050"/>
            <a:ext cx="2209800" cy="666750"/>
          </a:xfrm>
          <a:prstGeom prst="rect">
            <a:avLst/>
          </a:prstGeom>
          <a:noFill/>
          <a:ln/>
        </p:spPr>
        <p:txBody>
          <a:bodyPr wrap="square" lIns="0" tIns="0" rIns="0" bIns="0" rtlCol="0" anchor="t"/>
          <a:lstStyle/>
          <a:p>
            <a:pPr indent="0" marL="0">
              <a:buNone/>
            </a:pPr>
            <a:r>
              <a:rPr lang="fr-FR" sz="1400" b="1" dirty="0">
                <a:solidFill>
                  <a:srgbClr val="33006F"/>
                </a:solidFill>
                <a:latin typeface="Source Sans 3" pitchFamily="34" charset="0"/>
                <a:ea typeface="Source Sans 3" pitchFamily="34" charset="-122"/>
                <a:cs typeface="Source Sans 3" pitchFamily="34" charset="-120"/>
              </a:rPr>
              <a:t>Conserver les échantillons sélectionnés entre les tests</a:t>
            </a:r>
            <a:endParaRPr lang="fr-FR" sz="1400" dirty="0"/>
          </a:p>
        </p:txBody>
      </p:sp>
      <p:sp>
        <p:nvSpPr>
          <p:cNvPr id="25" name="Shape 23"/>
          <p:cNvSpPr/>
          <p:nvPr/>
        </p:nvSpPr>
        <p:spPr>
          <a:xfrm>
            <a:off x="6286500" y="2628900"/>
            <a:ext cx="2209800" cy="9525"/>
          </a:xfrm>
          <a:prstGeom prst="rect">
            <a:avLst/>
          </a:prstGeom>
          <a:solidFill>
            <a:srgbClr val="BFBFBF"/>
          </a:solidFill>
          <a:ln w="12700">
            <a:solidFill>
              <a:srgbClr val="BFBFBF"/>
            </a:solidFill>
            <a:prstDash val="solid"/>
          </a:ln>
        </p:spPr>
      </p:sp>
      <p:sp>
        <p:nvSpPr>
          <p:cNvPr id="26" name="Text 24"/>
          <p:cNvSpPr txBox="1"/>
          <p:nvPr/>
        </p:nvSpPr>
        <p:spPr>
          <a:xfrm>
            <a:off x="6286500" y="2743200"/>
            <a:ext cx="2209800" cy="171450"/>
          </a:xfrm>
          <a:prstGeom prst="rect">
            <a:avLst/>
          </a:prstGeom>
          <a:noFill/>
          <a:ln/>
        </p:spPr>
        <p:txBody>
          <a:bodyPr wrap="square" lIns="0" tIns="0" rIns="0" bIns="0" rtlCol="0" anchor="t"/>
          <a:lstStyle/>
          <a:p>
            <a:pPr indent="0" marL="0">
              <a:buNone/>
            </a:pPr>
            <a:r>
              <a:rPr lang="fr-FR" sz="950" b="1" spc="100" kern="0" dirty="0">
                <a:solidFill>
                  <a:srgbClr val="006838"/>
                </a:solidFill>
                <a:latin typeface="Source Sans 3" pitchFamily="34" charset="0"/>
                <a:ea typeface="Source Sans 3" pitchFamily="34" charset="-122"/>
                <a:cs typeface="Source Sans 3" pitchFamily="34" charset="-120"/>
              </a:rPr>
              <a:t>CONCEPTION DANS LA GALERIE</a:t>
            </a:r>
            <a:endParaRPr lang="fr-FR" sz="950" dirty="0"/>
          </a:p>
        </p:txBody>
      </p:sp>
      <p:sp>
        <p:nvSpPr>
          <p:cNvPr id="27" name="Text 25"/>
          <p:cNvSpPr txBox="1"/>
          <p:nvPr/>
        </p:nvSpPr>
        <p:spPr>
          <a:xfrm>
            <a:off x="6286500" y="2933700"/>
            <a:ext cx="2209800" cy="762000"/>
          </a:xfrm>
          <a:prstGeom prst="rect">
            <a:avLst/>
          </a:prstGeom>
          <a:noFill/>
          <a:ln/>
        </p:spPr>
        <p:txBody>
          <a:bodyPr wrap="square" lIns="0" tIns="0" rIns="0" bIns="0" rtlCol="0" anchor="t"/>
          <a:lstStyle/>
          <a:p>
            <a:pPr indent="0" marL="0">
              <a:buNone/>
            </a:pPr>
            <a:r>
              <a:rPr lang="fr-FR" sz="1300" dirty="0">
                <a:solidFill>
                  <a:srgbClr val="434343"/>
                </a:solidFill>
                <a:latin typeface="Source Sans 3" pitchFamily="34" charset="0"/>
                <a:ea typeface="Source Sans 3" pitchFamily="34" charset="-122"/>
                <a:cs typeface="Source Sans 3" pitchFamily="34" charset="-120"/>
              </a:rPr>
              <a:t>Saisie de demande multi-échantillons (refonte du prélèvement)</a:t>
            </a:r>
            <a:endParaRPr lang="fr-FR" sz="1300" dirty="0"/>
          </a:p>
        </p:txBody>
      </p:sp>
      <p:sp>
        <p:nvSpPr>
          <p:cNvPr id="28" name="Text 26"/>
          <p:cNvSpPr txBox="1"/>
          <p:nvPr/>
        </p:nvSpPr>
        <p:spPr>
          <a:xfrm>
            <a:off x="6286500" y="3714750"/>
            <a:ext cx="2209800" cy="304800"/>
          </a:xfrm>
          <a:prstGeom prst="rect">
            <a:avLst/>
          </a:prstGeom>
          <a:noFill/>
          <a:ln/>
        </p:spPr>
        <p:txBody>
          <a:bodyPr wrap="square" lIns="0" tIns="0" rIns="0" bIns="0" rtlCol="0" anchor="t"/>
          <a:lstStyle/>
          <a:p>
            <a:pPr indent="0" marL="0">
              <a:buNone/>
            </a:pPr>
            <a:r>
              <a:rPr lang="fr-FR" sz="900" dirty="0">
                <a:solidFill>
                  <a:srgbClr val="01458E"/>
                </a:solidFill>
                <a:latin typeface="Source Sans 3" pitchFamily="34" charset="0"/>
                <a:ea typeface="Source Sans 3" pitchFamily="34" charset="-122"/>
                <a:cs typeface="Source Sans 3" pitchFamily="34" charset="-120"/>
              </a:rPr>
              <a:t>digi-uw.github.io/openelis-work/#/sample-collection/multiple-samples-per-test-at-order-entry</a:t>
            </a:r>
            <a:endParaRPr lang="fr-FR" sz="900" dirty="0"/>
          </a:p>
        </p:txBody>
      </p:sp>
      <p:sp>
        <p:nvSpPr>
          <p:cNvPr id="29" name="Text 27"/>
          <p:cNvSpPr txBox="1"/>
          <p:nvPr/>
        </p:nvSpPr>
        <p:spPr>
          <a:xfrm>
            <a:off x="457200" y="4191000"/>
            <a:ext cx="8229600" cy="476250"/>
          </a:xfrm>
          <a:prstGeom prst="rect">
            <a:avLst/>
          </a:prstGeom>
          <a:noFill/>
          <a:ln/>
        </p:spPr>
        <p:txBody>
          <a:bodyPr wrap="square" lIns="0" tIns="0" rIns="0" bIns="0" rtlCol="0" anchor="t"/>
          <a:lstStyle/>
          <a:p>
            <a:pPr indent="0" marL="0">
              <a:buNone/>
            </a:pPr>
            <a:r>
              <a:rPr lang="fr-FR" sz="1400" dirty="0">
                <a:solidFill>
                  <a:srgbClr val="434343"/>
                </a:solidFill>
                <a:latin typeface="Source Sans 3" pitchFamily="34" charset="0"/>
                <a:ea typeface="Source Sans 3" pitchFamily="34" charset="-122"/>
                <a:cs typeface="Source Sans 3" pitchFamily="34" charset="-120"/>
              </a:rPr>
              <a:t>Vous pouvez ouvrir chaque conception, la lire et la commenter. Les retours se font sur le forum, dans Development, avec le lien de la galerie.</a:t>
            </a:r>
            <a:endParaRPr lang="fr-FR" sz="1400" dirty="0"/>
          </a:p>
        </p:txBody>
      </p:sp>
      <p:sp>
        <p:nvSpPr>
          <p:cNvPr id="30" name="Text 28"/>
          <p:cNvSpPr txBox="1"/>
          <p:nvPr/>
        </p:nvSpPr>
        <p:spPr>
          <a:xfrm>
            <a:off x="7953375" y="4743450"/>
            <a:ext cx="952500" cy="228600"/>
          </a:xfrm>
          <a:prstGeom prst="rect">
            <a:avLst/>
          </a:prstGeom>
          <a:noFill/>
          <a:ln/>
        </p:spPr>
        <p:txBody>
          <a:bodyPr wrap="square" lIns="0" tIns="0" rIns="0" bIns="0" rtlCol="0" anchor="t"/>
          <a:lstStyle/>
          <a:p>
            <a:pPr algn="r" indent="0" marL="0">
              <a:buNone/>
            </a:pPr>
            <a:r>
              <a:rPr lang="fr-FR" sz="1000" dirty="0">
                <a:solidFill>
                  <a:srgbClr val="888888"/>
                </a:solidFill>
                <a:latin typeface="Source Sans 3" pitchFamily="34" charset="0"/>
                <a:ea typeface="Source Sans 3" pitchFamily="34" charset="-122"/>
                <a:cs typeface="Source Sans 3" pitchFamily="34" charset="-120"/>
              </a:rPr>
              <a:t>19</a:t>
            </a:r>
            <a:endParaRPr lang="fr-FR" sz="1000" dirty="0"/>
          </a:p>
        </p:txBody>
      </p:sp>
      <p:sp>
        <p:nvSpPr>
          <p:cNvPr id="31" name="Text 29"/>
          <p:cNvSpPr txBox="1"/>
          <p:nvPr/>
        </p:nvSpPr>
        <p:spPr>
          <a:xfrm>
            <a:off x="457200" y="4743450"/>
            <a:ext cx="3810000" cy="228600"/>
          </a:xfrm>
          <a:prstGeom prst="rect">
            <a:avLst/>
          </a:prstGeom>
          <a:noFill/>
          <a:ln/>
        </p:spPr>
        <p:txBody>
          <a:bodyPr wrap="square" lIns="0" tIns="0" rIns="0" bIns="0" rtlCol="0" anchor="t"/>
          <a:lstStyle/>
          <a:p>
            <a:pPr algn="l" indent="0" marL="0">
              <a:buNone/>
            </a:pPr>
            <a:r>
              <a:rPr lang="fr-FR" sz="1000" dirty="0">
                <a:solidFill>
                  <a:srgbClr val="888888"/>
                </a:solidFill>
                <a:latin typeface="Source Sans 3" pitchFamily="34" charset="0"/>
                <a:ea typeface="Source Sans 3" pitchFamily="34" charset="-122"/>
                <a:cs typeface="Source Sans 3" pitchFamily="34" charset="-120"/>
              </a:rPr>
              <a:t>Passation eSIL Madagascar</a:t>
            </a:r>
            <a:endParaRPr lang="fr-FR" sz="10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247650"/>
            <a:ext cx="8229600" cy="209550"/>
          </a:xfrm>
          <a:prstGeom prst="rect">
            <a:avLst/>
          </a:prstGeom>
          <a:noFill/>
          <a:ln/>
        </p:spPr>
        <p:txBody>
          <a:bodyPr wrap="square" lIns="0" tIns="0" rIns="0" bIns="0" rtlCol="0" anchor="t"/>
          <a:lstStyle/>
          <a:p>
            <a:pPr indent="0" marL="0">
              <a:buNone/>
            </a:pPr>
            <a:r>
              <a:rPr lang="fr-FR" sz="1200" b="1" spc="150" kern="0" dirty="0">
                <a:solidFill>
                  <a:srgbClr val="006838"/>
                </a:solidFill>
                <a:latin typeface="Source Sans 3" pitchFamily="34" charset="0"/>
                <a:ea typeface="Source Sans 3" pitchFamily="34" charset="-122"/>
                <a:cs typeface="Source Sans 3" pitchFamily="34" charset="-120"/>
              </a:rPr>
              <a:t>FEUILLE DE ROUTE ET GALERIE</a:t>
            </a:r>
            <a:pPr indent="0" marL="0">
              <a:buNone/>
            </a:pPr>
            <a:r>
              <a:rPr lang="fr-FR" sz="1200" dirty="0">
                <a:solidFill>
                  <a:srgbClr val="888888"/>
                </a:solidFill>
                <a:latin typeface="Source Sans 3" pitchFamily="34" charset="0"/>
                <a:ea typeface="Source Sans 3" pitchFamily="34" charset="-122"/>
                <a:cs typeface="Source Sans 3" pitchFamily="34" charset="-120"/>
              </a:rPr>
              <a:t>    Section 3 sur 7</a:t>
            </a:r>
            <a:endParaRPr lang="fr-FR" sz="1200" dirty="0"/>
          </a:p>
        </p:txBody>
      </p:sp>
      <p:sp>
        <p:nvSpPr>
          <p:cNvPr id="3" name="Shape 1"/>
          <p:cNvSpPr/>
          <p:nvPr/>
        </p:nvSpPr>
        <p:spPr>
          <a:xfrm>
            <a:off x="457200" y="533400"/>
            <a:ext cx="685800" cy="57150"/>
          </a:xfrm>
          <a:prstGeom prst="rect">
            <a:avLst/>
          </a:prstGeom>
          <a:solidFill>
            <a:srgbClr val="006838"/>
          </a:solidFill>
          <a:ln w="12700">
            <a:solidFill>
              <a:srgbClr val="006838"/>
            </a:solidFill>
            <a:prstDash val="solid"/>
          </a:ln>
        </p:spPr>
      </p:sp>
      <p:sp>
        <p:nvSpPr>
          <p:cNvPr id="4" name="Text 2"/>
          <p:cNvSpPr txBox="1"/>
          <p:nvPr/>
        </p:nvSpPr>
        <p:spPr>
          <a:xfrm>
            <a:off x="457200" y="704850"/>
            <a:ext cx="8229600" cy="800100"/>
          </a:xfrm>
          <a:prstGeom prst="rect">
            <a:avLst/>
          </a:prstGeom>
          <a:noFill/>
          <a:ln/>
        </p:spPr>
        <p:txBody>
          <a:bodyPr wrap="square" lIns="0" tIns="0" rIns="0" bIns="0" rtlCol="0" anchor="t">
            <a:normAutofit/>
          </a:bodyPr>
          <a:lstStyle/>
          <a:p>
            <a:pPr indent="0" marL="0">
              <a:buNone/>
            </a:pPr>
            <a:r>
              <a:rPr lang="fr-FR" sz="2350" b="1" dirty="0">
                <a:solidFill>
                  <a:srgbClr val="33006F"/>
                </a:solidFill>
                <a:latin typeface="Source Sans 3" pitchFamily="34" charset="0"/>
                <a:ea typeface="Source Sans 3" pitchFamily="34" charset="-122"/>
                <a:cs typeface="Source Sans 3" pitchFamily="34" charset="-120"/>
              </a:rPr>
              <a:t>Ce qui arrive dans OpenELIS Global</a:t>
            </a:r>
            <a:endParaRPr lang="fr-FR" sz="2350" dirty="0"/>
          </a:p>
        </p:txBody>
      </p:sp>
      <p:sp>
        <p:nvSpPr>
          <p:cNvPr id="5" name="Text 3"/>
          <p:cNvSpPr txBox="1"/>
          <p:nvPr/>
        </p:nvSpPr>
        <p:spPr>
          <a:xfrm>
            <a:off x="457200" y="1524000"/>
            <a:ext cx="8229600" cy="285750"/>
          </a:xfrm>
          <a:prstGeom prst="rect">
            <a:avLst/>
          </a:prstGeom>
          <a:noFill/>
          <a:ln/>
        </p:spPr>
        <p:txBody>
          <a:bodyPr wrap="square" lIns="0" tIns="0" rIns="0" bIns="0" rtlCol="0" anchor="t"/>
          <a:lstStyle/>
          <a:p>
            <a:pPr indent="0" marL="0">
              <a:buNone/>
            </a:pPr>
            <a:r>
              <a:rPr lang="fr-FR" sz="1400" dirty="0">
                <a:solidFill>
                  <a:srgbClr val="5B5670"/>
                </a:solidFill>
                <a:latin typeface="Source Sans 3" pitchFamily="34" charset="0"/>
                <a:ea typeface="Source Sans 3" pitchFamily="34" charset="-122"/>
                <a:cs typeface="Source Sans 3" pitchFamily="34" charset="-120"/>
              </a:rPr>
              <a:t>Travaux en cours pour d'autres pays. Ils arrivent à Madagascar par les versions normales.</a:t>
            </a:r>
            <a:endParaRPr lang="fr-FR" sz="1400" dirty="0"/>
          </a:p>
        </p:txBody>
      </p:sp>
      <p:sp>
        <p:nvSpPr>
          <p:cNvPr id="6" name="Shape 4"/>
          <p:cNvSpPr/>
          <p:nvPr/>
        </p:nvSpPr>
        <p:spPr>
          <a:xfrm>
            <a:off x="457200" y="1943100"/>
            <a:ext cx="95250" cy="95250"/>
          </a:xfrm>
          <a:prstGeom prst="rect">
            <a:avLst/>
          </a:prstGeom>
          <a:solidFill>
            <a:srgbClr val="006838"/>
          </a:solidFill>
          <a:ln w="12700">
            <a:solidFill>
              <a:srgbClr val="006838"/>
            </a:solidFill>
            <a:prstDash val="solid"/>
          </a:ln>
        </p:spPr>
      </p:sp>
      <p:sp>
        <p:nvSpPr>
          <p:cNvPr id="7" name="Text 5"/>
          <p:cNvSpPr txBox="1"/>
          <p:nvPr/>
        </p:nvSpPr>
        <p:spPr>
          <a:xfrm>
            <a:off x="666750" y="1905000"/>
            <a:ext cx="3829050" cy="628650"/>
          </a:xfrm>
          <a:prstGeom prst="rect">
            <a:avLst/>
          </a:prstGeom>
          <a:noFill/>
          <a:ln/>
        </p:spPr>
        <p:txBody>
          <a:bodyPr wrap="square" lIns="0" tIns="0" rIns="0" bIns="0" rtlCol="0" anchor="t"/>
          <a:lstStyle/>
          <a:p>
            <a:pPr indent="0" marL="0">
              <a:buNone/>
            </a:pPr>
            <a:r>
              <a:rPr lang="fr-FR" sz="1300" b="1" dirty="0">
                <a:solidFill>
                  <a:srgbClr val="33006F"/>
                </a:solidFill>
                <a:latin typeface="Source Sans 3" pitchFamily="34" charset="0"/>
                <a:ea typeface="Source Sans 3" pitchFamily="34" charset="-122"/>
                <a:cs typeface="Source Sans 3" pitchFamily="34" charset="-120"/>
              </a:rPr>
              <a:t>Module microbiologie et RAM. </a:t>
            </a:r>
            <a:pPr indent="0" marL="0">
              <a:buNone/>
            </a:pPr>
            <a:r>
              <a:rPr lang="fr-FR" sz="1300" dirty="0">
                <a:solidFill>
                  <a:srgbClr val="434343"/>
                </a:solidFill>
                <a:latin typeface="Source Sans 3" pitchFamily="34" charset="0"/>
                <a:ea typeface="Source Sans 3" pitchFamily="34" charset="-122"/>
                <a:cs typeface="Source Sans 3" pitchFamily="34" charset="-120"/>
              </a:rPr>
              <a:t>Culture, identification des germes, antibiogramme, interprétation automatique, rapportage national de la RAM.</a:t>
            </a:r>
            <a:endParaRPr lang="fr-FR" sz="1300" dirty="0"/>
          </a:p>
        </p:txBody>
      </p:sp>
      <p:sp>
        <p:nvSpPr>
          <p:cNvPr id="8" name="Shape 6"/>
          <p:cNvSpPr/>
          <p:nvPr/>
        </p:nvSpPr>
        <p:spPr>
          <a:xfrm>
            <a:off x="457200" y="2609850"/>
            <a:ext cx="95250" cy="95250"/>
          </a:xfrm>
          <a:prstGeom prst="rect">
            <a:avLst/>
          </a:prstGeom>
          <a:solidFill>
            <a:srgbClr val="006838"/>
          </a:solidFill>
          <a:ln w="12700">
            <a:solidFill>
              <a:srgbClr val="006838"/>
            </a:solidFill>
            <a:prstDash val="solid"/>
          </a:ln>
        </p:spPr>
      </p:sp>
      <p:sp>
        <p:nvSpPr>
          <p:cNvPr id="9" name="Text 7"/>
          <p:cNvSpPr txBox="1"/>
          <p:nvPr/>
        </p:nvSpPr>
        <p:spPr>
          <a:xfrm>
            <a:off x="666750" y="2571750"/>
            <a:ext cx="3829050" cy="628650"/>
          </a:xfrm>
          <a:prstGeom prst="rect">
            <a:avLst/>
          </a:prstGeom>
          <a:noFill/>
          <a:ln/>
        </p:spPr>
        <p:txBody>
          <a:bodyPr wrap="square" lIns="0" tIns="0" rIns="0" bIns="0" rtlCol="0" anchor="t"/>
          <a:lstStyle/>
          <a:p>
            <a:pPr indent="0" marL="0">
              <a:buNone/>
            </a:pPr>
            <a:r>
              <a:rPr lang="fr-FR" sz="1300" b="1" dirty="0">
                <a:solidFill>
                  <a:srgbClr val="33006F"/>
                </a:solidFill>
                <a:latin typeface="Source Sans 3" pitchFamily="34" charset="0"/>
                <a:ea typeface="Source Sans 3" pitchFamily="34" charset="-122"/>
                <a:cs typeface="Source Sans 3" pitchFamily="34" charset="-120"/>
              </a:rPr>
              <a:t>Notifications. </a:t>
            </a:r>
            <a:pPr indent="0" marL="0">
              <a:buNone/>
            </a:pPr>
            <a:r>
              <a:rPr lang="fr-FR" sz="1300" dirty="0">
                <a:solidFill>
                  <a:srgbClr val="434343"/>
                </a:solidFill>
                <a:latin typeface="Source Sans 3" pitchFamily="34" charset="0"/>
                <a:ea typeface="Source Sans 3" pitchFamily="34" charset="-122"/>
                <a:cs typeface="Source Sans 3" pitchFamily="34" charset="-120"/>
              </a:rPr>
              <a:t>SMS et courriel au clinicien quand un résultat est prêt.</a:t>
            </a:r>
            <a:endParaRPr lang="fr-FR" sz="1300" dirty="0"/>
          </a:p>
        </p:txBody>
      </p:sp>
      <p:sp>
        <p:nvSpPr>
          <p:cNvPr id="10" name="Shape 8"/>
          <p:cNvSpPr/>
          <p:nvPr/>
        </p:nvSpPr>
        <p:spPr>
          <a:xfrm>
            <a:off x="457200" y="3276600"/>
            <a:ext cx="95250" cy="95250"/>
          </a:xfrm>
          <a:prstGeom prst="rect">
            <a:avLst/>
          </a:prstGeom>
          <a:solidFill>
            <a:srgbClr val="006838"/>
          </a:solidFill>
          <a:ln w="12700">
            <a:solidFill>
              <a:srgbClr val="006838"/>
            </a:solidFill>
            <a:prstDash val="solid"/>
          </a:ln>
        </p:spPr>
      </p:sp>
      <p:sp>
        <p:nvSpPr>
          <p:cNvPr id="11" name="Text 9"/>
          <p:cNvSpPr txBox="1"/>
          <p:nvPr/>
        </p:nvSpPr>
        <p:spPr>
          <a:xfrm>
            <a:off x="666750" y="3238500"/>
            <a:ext cx="3829050" cy="628650"/>
          </a:xfrm>
          <a:prstGeom prst="rect">
            <a:avLst/>
          </a:prstGeom>
          <a:noFill/>
          <a:ln/>
        </p:spPr>
        <p:txBody>
          <a:bodyPr wrap="square" lIns="0" tIns="0" rIns="0" bIns="0" rtlCol="0" anchor="t"/>
          <a:lstStyle/>
          <a:p>
            <a:pPr indent="0" marL="0">
              <a:buNone/>
            </a:pPr>
            <a:r>
              <a:rPr lang="fr-FR" sz="1300" b="1" dirty="0">
                <a:solidFill>
                  <a:srgbClr val="33006F"/>
                </a:solidFill>
                <a:latin typeface="Source Sans 3" pitchFamily="34" charset="0"/>
                <a:ea typeface="Source Sans 3" pitchFamily="34" charset="-122"/>
                <a:cs typeface="Source Sans 3" pitchFamily="34" charset="-120"/>
              </a:rPr>
              <a:t>Rapportage national par FHIR. </a:t>
            </a:r>
            <a:pPr indent="0" marL="0">
              <a:buNone/>
            </a:pPr>
            <a:r>
              <a:rPr lang="fr-FR" sz="1300" dirty="0">
                <a:solidFill>
                  <a:srgbClr val="434343"/>
                </a:solidFill>
                <a:latin typeface="Source Sans 3" pitchFamily="34" charset="0"/>
                <a:ea typeface="Source Sans 3" pitchFamily="34" charset="-122"/>
                <a:cs typeface="Source Sans 3" pitchFamily="34" charset="-120"/>
              </a:rPr>
              <a:t>Résultats envoyés à un hub central dès leur validation.</a:t>
            </a:r>
            <a:endParaRPr lang="fr-FR" sz="1300" dirty="0"/>
          </a:p>
        </p:txBody>
      </p:sp>
      <p:sp>
        <p:nvSpPr>
          <p:cNvPr id="12" name="Shape 10"/>
          <p:cNvSpPr/>
          <p:nvPr/>
        </p:nvSpPr>
        <p:spPr>
          <a:xfrm>
            <a:off x="457200" y="3943350"/>
            <a:ext cx="95250" cy="95250"/>
          </a:xfrm>
          <a:prstGeom prst="rect">
            <a:avLst/>
          </a:prstGeom>
          <a:solidFill>
            <a:srgbClr val="006838"/>
          </a:solidFill>
          <a:ln w="12700">
            <a:solidFill>
              <a:srgbClr val="006838"/>
            </a:solidFill>
            <a:prstDash val="solid"/>
          </a:ln>
        </p:spPr>
      </p:sp>
      <p:sp>
        <p:nvSpPr>
          <p:cNvPr id="13" name="Text 11"/>
          <p:cNvSpPr txBox="1"/>
          <p:nvPr/>
        </p:nvSpPr>
        <p:spPr>
          <a:xfrm>
            <a:off x="666750" y="3905250"/>
            <a:ext cx="3829050" cy="628650"/>
          </a:xfrm>
          <a:prstGeom prst="rect">
            <a:avLst/>
          </a:prstGeom>
          <a:noFill/>
          <a:ln/>
        </p:spPr>
        <p:txBody>
          <a:bodyPr wrap="square" lIns="0" tIns="0" rIns="0" bIns="0" rtlCol="0" anchor="t"/>
          <a:lstStyle/>
          <a:p>
            <a:pPr indent="0" marL="0">
              <a:buNone/>
            </a:pPr>
            <a:r>
              <a:rPr lang="fr-FR" sz="1300" b="1" dirty="0">
                <a:solidFill>
                  <a:srgbClr val="33006F"/>
                </a:solidFill>
                <a:latin typeface="Source Sans 3" pitchFamily="34" charset="0"/>
                <a:ea typeface="Source Sans 3" pitchFamily="34" charset="-122"/>
                <a:cs typeface="Source Sans 3" pitchFamily="34" charset="-120"/>
              </a:rPr>
              <a:t>Tableaux de bord et export de données. </a:t>
            </a:r>
            <a:pPr indent="0" marL="0">
              <a:buNone/>
            </a:pPr>
            <a:r>
              <a:rPr lang="fr-FR" sz="1300" dirty="0">
                <a:solidFill>
                  <a:srgbClr val="434343"/>
                </a:solidFill>
                <a:latin typeface="Source Sans 3" pitchFamily="34" charset="0"/>
                <a:ea typeface="Source Sans 3" pitchFamily="34" charset="-122"/>
                <a:cs typeface="Source Sans 3" pitchFamily="34" charset="-120"/>
              </a:rPr>
              <a:t>Les responsables de laboratoire extraient leurs données sans expert en base de données.</a:t>
            </a:r>
            <a:endParaRPr lang="fr-FR" sz="1300" dirty="0"/>
          </a:p>
        </p:txBody>
      </p:sp>
      <p:sp>
        <p:nvSpPr>
          <p:cNvPr id="14" name="Shape 12"/>
          <p:cNvSpPr/>
          <p:nvPr/>
        </p:nvSpPr>
        <p:spPr>
          <a:xfrm>
            <a:off x="4648200" y="1943100"/>
            <a:ext cx="95250" cy="95250"/>
          </a:xfrm>
          <a:prstGeom prst="rect">
            <a:avLst/>
          </a:prstGeom>
          <a:solidFill>
            <a:srgbClr val="006838"/>
          </a:solidFill>
          <a:ln w="12700">
            <a:solidFill>
              <a:srgbClr val="006838"/>
            </a:solidFill>
            <a:prstDash val="solid"/>
          </a:ln>
        </p:spPr>
      </p:sp>
      <p:sp>
        <p:nvSpPr>
          <p:cNvPr id="15" name="Text 13"/>
          <p:cNvSpPr txBox="1"/>
          <p:nvPr/>
        </p:nvSpPr>
        <p:spPr>
          <a:xfrm>
            <a:off x="4857750" y="1905000"/>
            <a:ext cx="3829050" cy="628650"/>
          </a:xfrm>
          <a:prstGeom prst="rect">
            <a:avLst/>
          </a:prstGeom>
          <a:noFill/>
          <a:ln/>
        </p:spPr>
        <p:txBody>
          <a:bodyPr wrap="square" lIns="0" tIns="0" rIns="0" bIns="0" rtlCol="0" anchor="t"/>
          <a:lstStyle/>
          <a:p>
            <a:pPr indent="0" marL="0">
              <a:buNone/>
            </a:pPr>
            <a:r>
              <a:rPr lang="fr-FR" sz="1300" b="1" dirty="0">
                <a:solidFill>
                  <a:srgbClr val="33006F"/>
                </a:solidFill>
                <a:latin typeface="Source Sans 3" pitchFamily="34" charset="0"/>
                <a:ea typeface="Source Sans 3" pitchFamily="34" charset="-122"/>
                <a:cs typeface="Source Sans 3" pitchFamily="34" charset="-120"/>
              </a:rPr>
              <a:t>Contrôle d'accès par rôle. </a:t>
            </a:r>
            <a:pPr indent="0" marL="0">
              <a:buNone/>
            </a:pPr>
            <a:r>
              <a:rPr lang="fr-FR" sz="1300" dirty="0">
                <a:solidFill>
                  <a:srgbClr val="434343"/>
                </a:solidFill>
                <a:latin typeface="Source Sans 3" pitchFamily="34" charset="0"/>
                <a:ea typeface="Source Sans 3" pitchFamily="34" charset="-122"/>
                <a:cs typeface="Source Sans 3" pitchFamily="34" charset="-120"/>
              </a:rPr>
              <a:t>Des permissions qui correspondent au poste.</a:t>
            </a:r>
            <a:endParaRPr lang="fr-FR" sz="1300" dirty="0"/>
          </a:p>
        </p:txBody>
      </p:sp>
      <p:sp>
        <p:nvSpPr>
          <p:cNvPr id="16" name="Shape 14"/>
          <p:cNvSpPr/>
          <p:nvPr/>
        </p:nvSpPr>
        <p:spPr>
          <a:xfrm>
            <a:off x="4648200" y="2609850"/>
            <a:ext cx="95250" cy="95250"/>
          </a:xfrm>
          <a:prstGeom prst="rect">
            <a:avLst/>
          </a:prstGeom>
          <a:solidFill>
            <a:srgbClr val="006838"/>
          </a:solidFill>
          <a:ln w="12700">
            <a:solidFill>
              <a:srgbClr val="006838"/>
            </a:solidFill>
            <a:prstDash val="solid"/>
          </a:ln>
        </p:spPr>
      </p:sp>
      <p:sp>
        <p:nvSpPr>
          <p:cNvPr id="17" name="Text 15"/>
          <p:cNvSpPr txBox="1"/>
          <p:nvPr/>
        </p:nvSpPr>
        <p:spPr>
          <a:xfrm>
            <a:off x="4857750" y="2571750"/>
            <a:ext cx="3829050" cy="628650"/>
          </a:xfrm>
          <a:prstGeom prst="rect">
            <a:avLst/>
          </a:prstGeom>
          <a:noFill/>
          <a:ln/>
        </p:spPr>
        <p:txBody>
          <a:bodyPr wrap="square" lIns="0" tIns="0" rIns="0" bIns="0" rtlCol="0" anchor="t"/>
          <a:lstStyle/>
          <a:p>
            <a:pPr indent="0" marL="0">
              <a:buNone/>
            </a:pPr>
            <a:r>
              <a:rPr lang="fr-FR" sz="1300" b="1" dirty="0">
                <a:solidFill>
                  <a:srgbClr val="33006F"/>
                </a:solidFill>
                <a:latin typeface="Source Sans 3" pitchFamily="34" charset="0"/>
                <a:ea typeface="Source Sans 3" pitchFamily="34" charset="-122"/>
                <a:cs typeface="Source Sans 3" pitchFamily="34" charset="-120"/>
              </a:rPr>
              <a:t>Suivi du contrôle de qualité </a:t>
            </a:r>
            <a:pPr indent="0" marL="0">
              <a:buNone/>
            </a:pPr>
            <a:r>
              <a:rPr lang="fr-FR" sz="1300" dirty="0">
                <a:solidFill>
                  <a:srgbClr val="434343"/>
                </a:solidFill>
                <a:latin typeface="Source Sans 3" pitchFamily="34" charset="0"/>
                <a:ea typeface="Source Sans 3" pitchFamily="34" charset="-122"/>
                <a:cs typeface="Source Sans 3" pitchFamily="34" charset="-120"/>
              </a:rPr>
              <a:t>pour les tests manuels et sur analyseur.</a:t>
            </a:r>
            <a:endParaRPr lang="fr-FR" sz="1300" dirty="0"/>
          </a:p>
        </p:txBody>
      </p:sp>
      <p:sp>
        <p:nvSpPr>
          <p:cNvPr id="18" name="Shape 16"/>
          <p:cNvSpPr/>
          <p:nvPr/>
        </p:nvSpPr>
        <p:spPr>
          <a:xfrm>
            <a:off x="4648200" y="3276600"/>
            <a:ext cx="95250" cy="95250"/>
          </a:xfrm>
          <a:prstGeom prst="rect">
            <a:avLst/>
          </a:prstGeom>
          <a:solidFill>
            <a:srgbClr val="006838"/>
          </a:solidFill>
          <a:ln w="12700">
            <a:solidFill>
              <a:srgbClr val="006838"/>
            </a:solidFill>
            <a:prstDash val="solid"/>
          </a:ln>
        </p:spPr>
      </p:sp>
      <p:sp>
        <p:nvSpPr>
          <p:cNvPr id="19" name="Text 17"/>
          <p:cNvSpPr txBox="1"/>
          <p:nvPr/>
        </p:nvSpPr>
        <p:spPr>
          <a:xfrm>
            <a:off x="4857750" y="3238500"/>
            <a:ext cx="3829050" cy="628650"/>
          </a:xfrm>
          <a:prstGeom prst="rect">
            <a:avLst/>
          </a:prstGeom>
          <a:noFill/>
          <a:ln/>
        </p:spPr>
        <p:txBody>
          <a:bodyPr wrap="square" lIns="0" tIns="0" rIns="0" bIns="0" rtlCol="0" anchor="t"/>
          <a:lstStyle/>
          <a:p>
            <a:pPr indent="0" marL="0">
              <a:buNone/>
            </a:pPr>
            <a:r>
              <a:rPr lang="fr-FR" sz="1300" b="1" dirty="0">
                <a:solidFill>
                  <a:srgbClr val="33006F"/>
                </a:solidFill>
                <a:latin typeface="Source Sans 3" pitchFamily="34" charset="0"/>
                <a:ea typeface="Source Sans 3" pitchFamily="34" charset="-122"/>
                <a:cs typeface="Source Sans 3" pitchFamily="34" charset="-120"/>
              </a:rPr>
              <a:t>Suivi des non-conformités et des CAPA.</a:t>
            </a:r>
            <a:endParaRPr lang="fr-FR" sz="1300" dirty="0"/>
          </a:p>
        </p:txBody>
      </p:sp>
      <p:sp>
        <p:nvSpPr>
          <p:cNvPr id="20" name="Text 18"/>
          <p:cNvSpPr txBox="1"/>
          <p:nvPr/>
        </p:nvSpPr>
        <p:spPr>
          <a:xfrm>
            <a:off x="7953375" y="4743450"/>
            <a:ext cx="952500" cy="228600"/>
          </a:xfrm>
          <a:prstGeom prst="rect">
            <a:avLst/>
          </a:prstGeom>
          <a:noFill/>
          <a:ln/>
        </p:spPr>
        <p:txBody>
          <a:bodyPr wrap="square" lIns="0" tIns="0" rIns="0" bIns="0" rtlCol="0" anchor="t"/>
          <a:lstStyle/>
          <a:p>
            <a:pPr algn="r" indent="0" marL="0">
              <a:buNone/>
            </a:pPr>
            <a:r>
              <a:rPr lang="fr-FR" sz="1000" dirty="0">
                <a:solidFill>
                  <a:srgbClr val="888888"/>
                </a:solidFill>
                <a:latin typeface="Source Sans 3" pitchFamily="34" charset="0"/>
                <a:ea typeface="Source Sans 3" pitchFamily="34" charset="-122"/>
                <a:cs typeface="Source Sans 3" pitchFamily="34" charset="-120"/>
              </a:rPr>
              <a:t>20</a:t>
            </a:r>
            <a:endParaRPr lang="fr-FR" sz="1000" dirty="0"/>
          </a:p>
        </p:txBody>
      </p:sp>
      <p:sp>
        <p:nvSpPr>
          <p:cNvPr id="21" name="Text 19"/>
          <p:cNvSpPr txBox="1"/>
          <p:nvPr/>
        </p:nvSpPr>
        <p:spPr>
          <a:xfrm>
            <a:off x="457200" y="4743450"/>
            <a:ext cx="3810000" cy="228600"/>
          </a:xfrm>
          <a:prstGeom prst="rect">
            <a:avLst/>
          </a:prstGeom>
          <a:noFill/>
          <a:ln/>
        </p:spPr>
        <p:txBody>
          <a:bodyPr wrap="square" lIns="0" tIns="0" rIns="0" bIns="0" rtlCol="0" anchor="t"/>
          <a:lstStyle/>
          <a:p>
            <a:pPr algn="l" indent="0" marL="0">
              <a:buNone/>
            </a:pPr>
            <a:r>
              <a:rPr lang="fr-FR" sz="1000" dirty="0">
                <a:solidFill>
                  <a:srgbClr val="888888"/>
                </a:solidFill>
                <a:latin typeface="Source Sans 3" pitchFamily="34" charset="0"/>
                <a:ea typeface="Source Sans 3" pitchFamily="34" charset="-122"/>
                <a:cs typeface="Source Sans 3" pitchFamily="34" charset="-120"/>
              </a:rPr>
              <a:t>Passation eSIL Madagascar</a:t>
            </a:r>
            <a:endParaRPr lang="fr-FR" sz="10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067175" y="-1381125"/>
            <a:ext cx="8124825" cy="8124825"/>
          </a:xfrm>
          <a:prstGeom prst="ellipse">
            <a:avLst/>
          </a:prstGeom>
          <a:solidFill>
            <a:srgbClr val="33006F"/>
          </a:solidFill>
          <a:ln w="12700">
            <a:solidFill>
              <a:srgbClr val="33006F"/>
            </a:solidFill>
            <a:prstDash val="solid"/>
          </a:ln>
        </p:spPr>
      </p:sp>
      <p:sp>
        <p:nvSpPr>
          <p:cNvPr id="3" name="Text 1"/>
          <p:cNvSpPr txBox="1"/>
          <p:nvPr/>
        </p:nvSpPr>
        <p:spPr>
          <a:xfrm>
            <a:off x="4762500" y="1428750"/>
            <a:ext cx="3810000" cy="1238250"/>
          </a:xfrm>
          <a:prstGeom prst="rect">
            <a:avLst/>
          </a:prstGeom>
          <a:noFill/>
          <a:ln/>
        </p:spPr>
        <p:txBody>
          <a:bodyPr wrap="square" lIns="0" tIns="0" rIns="0" bIns="0" rtlCol="0" anchor="b">
            <a:normAutofit/>
          </a:bodyPr>
          <a:lstStyle/>
          <a:p>
            <a:pPr indent="0" marL="0">
              <a:buNone/>
            </a:pPr>
            <a:r>
              <a:rPr lang="fr-FR" sz="2600" b="1" dirty="0">
                <a:solidFill>
                  <a:srgbClr val="33006F"/>
                </a:solidFill>
                <a:latin typeface="Source Sans 3" pitchFamily="34" charset="0"/>
                <a:ea typeface="Source Sans 3" pitchFamily="34" charset="-122"/>
                <a:cs typeface="Source Sans 3" pitchFamily="34" charset="-120"/>
              </a:rPr>
              <a:t>4. Bogue, demande de fonctionnalité ou question</a:t>
            </a:r>
            <a:endParaRPr lang="fr-FR" sz="2600" dirty="0"/>
          </a:p>
        </p:txBody>
      </p:sp>
      <p:sp>
        <p:nvSpPr>
          <p:cNvPr id="4" name="Text 2"/>
          <p:cNvSpPr txBox="1"/>
          <p:nvPr/>
        </p:nvSpPr>
        <p:spPr>
          <a:xfrm>
            <a:off x="4762500" y="2781300"/>
            <a:ext cx="3810000" cy="1143000"/>
          </a:xfrm>
          <a:prstGeom prst="rect">
            <a:avLst/>
          </a:prstGeom>
          <a:noFill/>
          <a:ln/>
        </p:spPr>
        <p:txBody>
          <a:bodyPr wrap="square" lIns="0" tIns="0" rIns="0" bIns="0" rtlCol="0" anchor="t"/>
          <a:lstStyle/>
          <a:p>
            <a:pPr indent="0" marL="0">
              <a:buNone/>
            </a:pPr>
            <a:r>
              <a:rPr lang="fr-FR" sz="1650" dirty="0">
                <a:solidFill>
                  <a:srgbClr val="434343"/>
                </a:solidFill>
                <a:latin typeface="Source Sans 3" pitchFamily="34" charset="0"/>
                <a:ea typeface="Source Sans 3" pitchFamily="34" charset="-122"/>
                <a:cs typeface="Source Sans 3" pitchFamily="34" charset="-120"/>
              </a:rPr>
              <a:t>Choisir le bon canal, pour que votre message atteigne les bonnes personnes.</a:t>
            </a:r>
            <a:endParaRPr lang="fr-FR" sz="1650" dirty="0"/>
          </a:p>
        </p:txBody>
      </p:sp>
      <p:sp>
        <p:nvSpPr>
          <p:cNvPr id="5" name="Text 3"/>
          <p:cNvSpPr txBox="1"/>
          <p:nvPr/>
        </p:nvSpPr>
        <p:spPr>
          <a:xfrm>
            <a:off x="7953375" y="4743450"/>
            <a:ext cx="952500" cy="228600"/>
          </a:xfrm>
          <a:prstGeom prst="rect">
            <a:avLst/>
          </a:prstGeom>
          <a:noFill/>
          <a:ln/>
        </p:spPr>
        <p:txBody>
          <a:bodyPr wrap="square" lIns="0" tIns="0" rIns="0" bIns="0" rtlCol="0" anchor="t"/>
          <a:lstStyle/>
          <a:p>
            <a:pPr algn="r" indent="0" marL="0">
              <a:buNone/>
            </a:pPr>
            <a:r>
              <a:rPr lang="fr-FR" sz="1000" dirty="0">
                <a:solidFill>
                  <a:srgbClr val="888888"/>
                </a:solidFill>
                <a:latin typeface="Source Sans 3" pitchFamily="34" charset="0"/>
                <a:ea typeface="Source Sans 3" pitchFamily="34" charset="-122"/>
                <a:cs typeface="Source Sans 3" pitchFamily="34" charset="-120"/>
              </a:rPr>
              <a:t>21</a:t>
            </a:r>
            <a:endParaRPr lang="fr-FR" sz="1000" dirty="0"/>
          </a:p>
        </p:txBody>
      </p:sp>
      <p:sp>
        <p:nvSpPr>
          <p:cNvPr id="6" name="Text 4"/>
          <p:cNvSpPr txBox="1"/>
          <p:nvPr/>
        </p:nvSpPr>
        <p:spPr>
          <a:xfrm>
            <a:off x="457200" y="4743450"/>
            <a:ext cx="3810000" cy="228600"/>
          </a:xfrm>
          <a:prstGeom prst="rect">
            <a:avLst/>
          </a:prstGeom>
          <a:noFill/>
          <a:ln/>
        </p:spPr>
        <p:txBody>
          <a:bodyPr wrap="square" lIns="0" tIns="0" rIns="0" bIns="0" rtlCol="0" anchor="t"/>
          <a:lstStyle/>
          <a:p>
            <a:pPr algn="l" indent="0" marL="0">
              <a:buNone/>
            </a:pPr>
            <a:r>
              <a:rPr lang="fr-FR" sz="1000" dirty="0">
                <a:solidFill>
                  <a:srgbClr val="FFFFFF"/>
                </a:solidFill>
                <a:latin typeface="Source Sans 3" pitchFamily="34" charset="0"/>
                <a:ea typeface="Source Sans 3" pitchFamily="34" charset="-122"/>
                <a:cs typeface="Source Sans 3" pitchFamily="34" charset="-120"/>
              </a:rPr>
              <a:t>Passation eSIL Madagascar</a:t>
            </a:r>
            <a:endParaRPr lang="fr-FR" sz="10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247650"/>
            <a:ext cx="8229600" cy="209550"/>
          </a:xfrm>
          <a:prstGeom prst="rect">
            <a:avLst/>
          </a:prstGeom>
          <a:noFill/>
          <a:ln/>
        </p:spPr>
        <p:txBody>
          <a:bodyPr wrap="square" lIns="0" tIns="0" rIns="0" bIns="0" rtlCol="0" anchor="t"/>
          <a:lstStyle/>
          <a:p>
            <a:pPr indent="0" marL="0">
              <a:buNone/>
            </a:pPr>
            <a:r>
              <a:rPr lang="fr-FR" sz="1200" b="1" spc="150" kern="0" dirty="0">
                <a:solidFill>
                  <a:srgbClr val="01458E"/>
                </a:solidFill>
                <a:latin typeface="Source Sans 3" pitchFamily="34" charset="0"/>
                <a:ea typeface="Source Sans 3" pitchFamily="34" charset="-122"/>
                <a:cs typeface="Source Sans 3" pitchFamily="34" charset="-120"/>
              </a:rPr>
              <a:t>CHOISIR LE CANAL</a:t>
            </a:r>
            <a:pPr indent="0" marL="0">
              <a:buNone/>
            </a:pPr>
            <a:r>
              <a:rPr lang="fr-FR" sz="1200" dirty="0">
                <a:solidFill>
                  <a:srgbClr val="888888"/>
                </a:solidFill>
                <a:latin typeface="Source Sans 3" pitchFamily="34" charset="0"/>
                <a:ea typeface="Source Sans 3" pitchFamily="34" charset="-122"/>
                <a:cs typeface="Source Sans 3" pitchFamily="34" charset="-120"/>
              </a:rPr>
              <a:t>    Section 4 sur 7</a:t>
            </a:r>
            <a:endParaRPr lang="fr-FR" sz="1200" dirty="0"/>
          </a:p>
        </p:txBody>
      </p:sp>
      <p:sp>
        <p:nvSpPr>
          <p:cNvPr id="3" name="Shape 1"/>
          <p:cNvSpPr/>
          <p:nvPr/>
        </p:nvSpPr>
        <p:spPr>
          <a:xfrm>
            <a:off x="457200" y="533400"/>
            <a:ext cx="685800" cy="57150"/>
          </a:xfrm>
          <a:prstGeom prst="rect">
            <a:avLst/>
          </a:prstGeom>
          <a:solidFill>
            <a:srgbClr val="01458E"/>
          </a:solidFill>
          <a:ln w="12700">
            <a:solidFill>
              <a:srgbClr val="01458E"/>
            </a:solidFill>
            <a:prstDash val="solid"/>
          </a:ln>
        </p:spPr>
      </p:sp>
      <p:sp>
        <p:nvSpPr>
          <p:cNvPr id="4" name="Text 2"/>
          <p:cNvSpPr txBox="1"/>
          <p:nvPr/>
        </p:nvSpPr>
        <p:spPr>
          <a:xfrm>
            <a:off x="457200" y="704850"/>
            <a:ext cx="8229600" cy="800100"/>
          </a:xfrm>
          <a:prstGeom prst="rect">
            <a:avLst/>
          </a:prstGeom>
          <a:noFill/>
          <a:ln/>
        </p:spPr>
        <p:txBody>
          <a:bodyPr wrap="square" lIns="0" tIns="0" rIns="0" bIns="0" rtlCol="0" anchor="t">
            <a:normAutofit/>
          </a:bodyPr>
          <a:lstStyle/>
          <a:p>
            <a:pPr indent="0" marL="0">
              <a:buNone/>
            </a:pPr>
            <a:r>
              <a:rPr lang="fr-FR" sz="2350" b="1" dirty="0">
                <a:solidFill>
                  <a:srgbClr val="33006F"/>
                </a:solidFill>
                <a:latin typeface="Source Sans 3" pitchFamily="34" charset="0"/>
                <a:ea typeface="Source Sans 3" pitchFamily="34" charset="-122"/>
                <a:cs typeface="Source Sans 3" pitchFamily="34" charset="-120"/>
              </a:rPr>
              <a:t>Trois portes : le même message au mauvais endroit n'aboutit pas</a:t>
            </a:r>
            <a:endParaRPr lang="fr-FR" sz="2350" dirty="0"/>
          </a:p>
        </p:txBody>
      </p:sp>
      <p:sp>
        <p:nvSpPr>
          <p:cNvPr id="5" name="Shape 3"/>
          <p:cNvSpPr/>
          <p:nvPr/>
        </p:nvSpPr>
        <p:spPr>
          <a:xfrm>
            <a:off x="457200" y="1562100"/>
            <a:ext cx="2590800" cy="1104900"/>
          </a:xfrm>
          <a:prstGeom prst="rect">
            <a:avLst/>
          </a:prstGeom>
          <a:solidFill>
            <a:srgbClr val="F0F0FF"/>
          </a:solidFill>
          <a:ln w="12700">
            <a:solidFill>
              <a:srgbClr val="F0F0FF"/>
            </a:solidFill>
            <a:prstDash val="solid"/>
          </a:ln>
        </p:spPr>
      </p:sp>
      <p:sp>
        <p:nvSpPr>
          <p:cNvPr id="6" name="Shape 4"/>
          <p:cNvSpPr/>
          <p:nvPr/>
        </p:nvSpPr>
        <p:spPr>
          <a:xfrm>
            <a:off x="457200" y="1562100"/>
            <a:ext cx="2590800" cy="38100"/>
          </a:xfrm>
          <a:prstGeom prst="rect">
            <a:avLst/>
          </a:prstGeom>
          <a:solidFill>
            <a:srgbClr val="01458E"/>
          </a:solidFill>
          <a:ln w="12700">
            <a:solidFill>
              <a:srgbClr val="01458E"/>
            </a:solidFill>
            <a:prstDash val="solid"/>
          </a:ln>
        </p:spPr>
      </p:sp>
      <p:sp>
        <p:nvSpPr>
          <p:cNvPr id="7" name="Text 5"/>
          <p:cNvSpPr txBox="1"/>
          <p:nvPr/>
        </p:nvSpPr>
        <p:spPr>
          <a:xfrm>
            <a:off x="647700" y="1695450"/>
            <a:ext cx="2209800" cy="285750"/>
          </a:xfrm>
          <a:prstGeom prst="rect">
            <a:avLst/>
          </a:prstGeom>
          <a:noFill/>
          <a:ln/>
        </p:spPr>
        <p:txBody>
          <a:bodyPr wrap="square" lIns="0" tIns="0" rIns="0" bIns="0" rtlCol="0" anchor="t">
            <a:normAutofit/>
          </a:bodyPr>
          <a:lstStyle/>
          <a:p>
            <a:pPr indent="0" marL="0">
              <a:buNone/>
            </a:pPr>
            <a:r>
              <a:rPr lang="fr-FR" sz="1850" b="1" dirty="0">
                <a:solidFill>
                  <a:srgbClr val="33006F"/>
                </a:solidFill>
                <a:latin typeface="Source Sans 3" pitchFamily="34" charset="0"/>
                <a:ea typeface="Source Sans 3" pitchFamily="34" charset="-122"/>
                <a:cs typeface="Source Sans 3" pitchFamily="34" charset="-120"/>
              </a:rPr>
              <a:t>Bogue</a:t>
            </a:r>
            <a:endParaRPr lang="fr-FR" sz="1850" dirty="0"/>
          </a:p>
        </p:txBody>
      </p:sp>
      <p:sp>
        <p:nvSpPr>
          <p:cNvPr id="8" name="Text 6"/>
          <p:cNvSpPr txBox="1"/>
          <p:nvPr/>
        </p:nvSpPr>
        <p:spPr>
          <a:xfrm>
            <a:off x="647700" y="2057400"/>
            <a:ext cx="2209800" cy="571500"/>
          </a:xfrm>
          <a:prstGeom prst="rect">
            <a:avLst/>
          </a:prstGeom>
          <a:noFill/>
          <a:ln/>
        </p:spPr>
        <p:txBody>
          <a:bodyPr wrap="square" lIns="0" tIns="0" rIns="0" bIns="0" rtlCol="0" anchor="t"/>
          <a:lstStyle/>
          <a:p>
            <a:pPr indent="0" marL="0">
              <a:buNone/>
            </a:pPr>
            <a:r>
              <a:rPr lang="fr-FR" sz="1300" dirty="0">
                <a:solidFill>
                  <a:srgbClr val="434343"/>
                </a:solidFill>
                <a:latin typeface="Source Sans 3" pitchFamily="34" charset="0"/>
                <a:ea typeface="Source Sans 3" pitchFamily="34" charset="-122"/>
                <a:cs typeface="Source Sans 3" pitchFamily="34" charset="-120"/>
              </a:rPr>
              <a:t>Quelque chose devrait fonctionner et ne fonctionne pas.</a:t>
            </a:r>
            <a:endParaRPr lang="fr-FR" sz="1300" dirty="0"/>
          </a:p>
        </p:txBody>
      </p:sp>
      <p:sp>
        <p:nvSpPr>
          <p:cNvPr id="9" name="Shape 7"/>
          <p:cNvSpPr/>
          <p:nvPr/>
        </p:nvSpPr>
        <p:spPr>
          <a:xfrm>
            <a:off x="3276600" y="1562100"/>
            <a:ext cx="2590800" cy="1104900"/>
          </a:xfrm>
          <a:prstGeom prst="rect">
            <a:avLst/>
          </a:prstGeom>
          <a:solidFill>
            <a:srgbClr val="F0F0FF"/>
          </a:solidFill>
          <a:ln w="12700">
            <a:solidFill>
              <a:srgbClr val="F0F0FF"/>
            </a:solidFill>
            <a:prstDash val="solid"/>
          </a:ln>
        </p:spPr>
      </p:sp>
      <p:sp>
        <p:nvSpPr>
          <p:cNvPr id="10" name="Shape 8"/>
          <p:cNvSpPr/>
          <p:nvPr/>
        </p:nvSpPr>
        <p:spPr>
          <a:xfrm>
            <a:off x="3276600" y="1562100"/>
            <a:ext cx="2590800" cy="38100"/>
          </a:xfrm>
          <a:prstGeom prst="rect">
            <a:avLst/>
          </a:prstGeom>
          <a:solidFill>
            <a:srgbClr val="01458E"/>
          </a:solidFill>
          <a:ln w="12700">
            <a:solidFill>
              <a:srgbClr val="01458E"/>
            </a:solidFill>
            <a:prstDash val="solid"/>
          </a:ln>
        </p:spPr>
      </p:sp>
      <p:sp>
        <p:nvSpPr>
          <p:cNvPr id="11" name="Text 9"/>
          <p:cNvSpPr txBox="1"/>
          <p:nvPr/>
        </p:nvSpPr>
        <p:spPr>
          <a:xfrm>
            <a:off x="3467100" y="1695450"/>
            <a:ext cx="2209800" cy="285750"/>
          </a:xfrm>
          <a:prstGeom prst="rect">
            <a:avLst/>
          </a:prstGeom>
          <a:noFill/>
          <a:ln/>
        </p:spPr>
        <p:txBody>
          <a:bodyPr wrap="square" lIns="0" tIns="0" rIns="0" bIns="0" rtlCol="0" anchor="t">
            <a:normAutofit/>
          </a:bodyPr>
          <a:lstStyle/>
          <a:p>
            <a:pPr indent="0" marL="0">
              <a:buNone/>
            </a:pPr>
            <a:r>
              <a:rPr lang="fr-FR" sz="1850" b="1" dirty="0">
                <a:solidFill>
                  <a:srgbClr val="33006F"/>
                </a:solidFill>
                <a:latin typeface="Source Sans 3" pitchFamily="34" charset="0"/>
                <a:ea typeface="Source Sans 3" pitchFamily="34" charset="-122"/>
                <a:cs typeface="Source Sans 3" pitchFamily="34" charset="-120"/>
              </a:rPr>
              <a:t>Demande de fonctionnalité</a:t>
            </a:r>
            <a:endParaRPr lang="fr-FR" sz="1850" dirty="0"/>
          </a:p>
        </p:txBody>
      </p:sp>
      <p:sp>
        <p:nvSpPr>
          <p:cNvPr id="12" name="Text 10"/>
          <p:cNvSpPr txBox="1"/>
          <p:nvPr/>
        </p:nvSpPr>
        <p:spPr>
          <a:xfrm>
            <a:off x="3467100" y="2057400"/>
            <a:ext cx="2209800" cy="571500"/>
          </a:xfrm>
          <a:prstGeom prst="rect">
            <a:avLst/>
          </a:prstGeom>
          <a:noFill/>
          <a:ln/>
        </p:spPr>
        <p:txBody>
          <a:bodyPr wrap="square" lIns="0" tIns="0" rIns="0" bIns="0" rtlCol="0" anchor="t"/>
          <a:lstStyle/>
          <a:p>
            <a:pPr indent="0" marL="0">
              <a:buNone/>
            </a:pPr>
            <a:r>
              <a:rPr lang="fr-FR" sz="1300" dirty="0">
                <a:solidFill>
                  <a:srgbClr val="434343"/>
                </a:solidFill>
                <a:latin typeface="Source Sans 3" pitchFamily="34" charset="0"/>
                <a:ea typeface="Source Sans 3" pitchFamily="34" charset="-122"/>
                <a:cs typeface="Source Sans 3" pitchFamily="34" charset="-120"/>
              </a:rPr>
              <a:t>Quelque chose de nouveau qui n'existe pas encore.</a:t>
            </a:r>
            <a:endParaRPr lang="fr-FR" sz="1300" dirty="0"/>
          </a:p>
        </p:txBody>
      </p:sp>
      <p:sp>
        <p:nvSpPr>
          <p:cNvPr id="13" name="Shape 11"/>
          <p:cNvSpPr/>
          <p:nvPr/>
        </p:nvSpPr>
        <p:spPr>
          <a:xfrm>
            <a:off x="6096000" y="1562100"/>
            <a:ext cx="2590800" cy="1104900"/>
          </a:xfrm>
          <a:prstGeom prst="rect">
            <a:avLst/>
          </a:prstGeom>
          <a:solidFill>
            <a:srgbClr val="F0F0FF"/>
          </a:solidFill>
          <a:ln w="12700">
            <a:solidFill>
              <a:srgbClr val="F0F0FF"/>
            </a:solidFill>
            <a:prstDash val="solid"/>
          </a:ln>
        </p:spPr>
      </p:sp>
      <p:sp>
        <p:nvSpPr>
          <p:cNvPr id="14" name="Shape 12"/>
          <p:cNvSpPr/>
          <p:nvPr/>
        </p:nvSpPr>
        <p:spPr>
          <a:xfrm>
            <a:off x="6096000" y="1562100"/>
            <a:ext cx="2590800" cy="38100"/>
          </a:xfrm>
          <a:prstGeom prst="rect">
            <a:avLst/>
          </a:prstGeom>
          <a:solidFill>
            <a:srgbClr val="01458E"/>
          </a:solidFill>
          <a:ln w="12700">
            <a:solidFill>
              <a:srgbClr val="01458E"/>
            </a:solidFill>
            <a:prstDash val="solid"/>
          </a:ln>
        </p:spPr>
      </p:sp>
      <p:sp>
        <p:nvSpPr>
          <p:cNvPr id="15" name="Text 13"/>
          <p:cNvSpPr txBox="1"/>
          <p:nvPr/>
        </p:nvSpPr>
        <p:spPr>
          <a:xfrm>
            <a:off x="6286500" y="1695450"/>
            <a:ext cx="2209800" cy="285750"/>
          </a:xfrm>
          <a:prstGeom prst="rect">
            <a:avLst/>
          </a:prstGeom>
          <a:noFill/>
          <a:ln/>
        </p:spPr>
        <p:txBody>
          <a:bodyPr wrap="square" lIns="0" tIns="0" rIns="0" bIns="0" rtlCol="0" anchor="t">
            <a:normAutofit/>
          </a:bodyPr>
          <a:lstStyle/>
          <a:p>
            <a:pPr indent="0" marL="0">
              <a:buNone/>
            </a:pPr>
            <a:r>
              <a:rPr lang="fr-FR" sz="1850" b="1" dirty="0">
                <a:solidFill>
                  <a:srgbClr val="33006F"/>
                </a:solidFill>
                <a:latin typeface="Source Sans 3" pitchFamily="34" charset="0"/>
                <a:ea typeface="Source Sans 3" pitchFamily="34" charset="-122"/>
                <a:cs typeface="Source Sans 3" pitchFamily="34" charset="-120"/>
              </a:rPr>
              <a:t>Question</a:t>
            </a:r>
            <a:endParaRPr lang="fr-FR" sz="1850" dirty="0"/>
          </a:p>
        </p:txBody>
      </p:sp>
      <p:sp>
        <p:nvSpPr>
          <p:cNvPr id="16" name="Text 14"/>
          <p:cNvSpPr txBox="1"/>
          <p:nvPr/>
        </p:nvSpPr>
        <p:spPr>
          <a:xfrm>
            <a:off x="6286500" y="2057400"/>
            <a:ext cx="2209800" cy="571500"/>
          </a:xfrm>
          <a:prstGeom prst="rect">
            <a:avLst/>
          </a:prstGeom>
          <a:noFill/>
          <a:ln/>
        </p:spPr>
        <p:txBody>
          <a:bodyPr wrap="square" lIns="0" tIns="0" rIns="0" bIns="0" rtlCol="0" anchor="t"/>
          <a:lstStyle/>
          <a:p>
            <a:pPr indent="0" marL="0">
              <a:buNone/>
            </a:pPr>
            <a:r>
              <a:rPr lang="fr-FR" sz="1300" dirty="0">
                <a:solidFill>
                  <a:srgbClr val="434343"/>
                </a:solidFill>
                <a:latin typeface="Source Sans 3" pitchFamily="34" charset="0"/>
                <a:ea typeface="Source Sans 3" pitchFamily="34" charset="-122"/>
                <a:cs typeface="Source Sans 3" pitchFamily="34" charset="-120"/>
              </a:rPr>
              <a:t>Vous voulez savoir comment faire quelque chose.</a:t>
            </a:r>
            <a:endParaRPr lang="fr-FR" sz="1300" dirty="0"/>
          </a:p>
        </p:txBody>
      </p:sp>
      <p:sp>
        <p:nvSpPr>
          <p:cNvPr id="17" name="Text 15"/>
          <p:cNvSpPr txBox="1"/>
          <p:nvPr/>
        </p:nvSpPr>
        <p:spPr>
          <a:xfrm>
            <a:off x="457200" y="2819400"/>
            <a:ext cx="3810000" cy="228600"/>
          </a:xfrm>
          <a:prstGeom prst="rect">
            <a:avLst/>
          </a:prstGeom>
          <a:noFill/>
          <a:ln/>
        </p:spPr>
        <p:txBody>
          <a:bodyPr wrap="square" lIns="0" tIns="0" rIns="0" bIns="0" rtlCol="0" anchor="t"/>
          <a:lstStyle/>
          <a:p>
            <a:pPr indent="0" marL="0">
              <a:buNone/>
            </a:pPr>
            <a:r>
              <a:rPr lang="fr-FR" sz="1100" b="1" spc="150" kern="0" dirty="0">
                <a:solidFill>
                  <a:srgbClr val="01458E"/>
                </a:solidFill>
                <a:latin typeface="Source Sans 3" pitchFamily="34" charset="0"/>
                <a:ea typeface="Source Sans 3" pitchFamily="34" charset="-122"/>
                <a:cs typeface="Source Sans 3" pitchFamily="34" charset="-120"/>
              </a:rPr>
              <a:t>Posez-vous ces questions, dans l'ordre :</a:t>
            </a:r>
            <a:endParaRPr lang="fr-FR" sz="1100" dirty="0"/>
          </a:p>
        </p:txBody>
      </p:sp>
      <p:sp>
        <p:nvSpPr>
          <p:cNvPr id="18" name="Shape 16"/>
          <p:cNvSpPr/>
          <p:nvPr/>
        </p:nvSpPr>
        <p:spPr>
          <a:xfrm>
            <a:off x="457200" y="3067050"/>
            <a:ext cx="247650" cy="247650"/>
          </a:xfrm>
          <a:prstGeom prst="rect">
            <a:avLst/>
          </a:prstGeom>
          <a:solidFill>
            <a:srgbClr val="01458E"/>
          </a:solidFill>
          <a:ln w="12700">
            <a:solidFill>
              <a:srgbClr val="01458E"/>
            </a:solidFill>
            <a:prstDash val="solid"/>
          </a:ln>
        </p:spPr>
      </p:sp>
      <p:sp>
        <p:nvSpPr>
          <p:cNvPr id="19" name="Text 17"/>
          <p:cNvSpPr txBox="1"/>
          <p:nvPr/>
        </p:nvSpPr>
        <p:spPr>
          <a:xfrm>
            <a:off x="457200" y="3067050"/>
            <a:ext cx="247650" cy="247650"/>
          </a:xfrm>
          <a:prstGeom prst="rect">
            <a:avLst/>
          </a:prstGeom>
          <a:noFill/>
          <a:ln/>
        </p:spPr>
        <p:txBody>
          <a:bodyPr wrap="square" lIns="0" tIns="0" rIns="0" bIns="0" rtlCol="0" anchor="ctr"/>
          <a:lstStyle/>
          <a:p>
            <a:pPr algn="ctr" indent="0" marL="0">
              <a:buNone/>
            </a:pPr>
            <a:r>
              <a:rPr lang="fr-FR" sz="1100" b="1" dirty="0">
                <a:solidFill>
                  <a:srgbClr val="FFFFFF"/>
                </a:solidFill>
                <a:latin typeface="Source Sans 3" pitchFamily="34" charset="0"/>
                <a:ea typeface="Source Sans 3" pitchFamily="34" charset="-122"/>
                <a:cs typeface="Source Sans 3" pitchFamily="34" charset="-120"/>
              </a:rPr>
              <a:t>1</a:t>
            </a:r>
            <a:endParaRPr lang="fr-FR" sz="1100" dirty="0"/>
          </a:p>
        </p:txBody>
      </p:sp>
      <p:sp>
        <p:nvSpPr>
          <p:cNvPr id="20" name="Text 18"/>
          <p:cNvSpPr txBox="1"/>
          <p:nvPr/>
        </p:nvSpPr>
        <p:spPr>
          <a:xfrm>
            <a:off x="838200" y="3048000"/>
            <a:ext cx="7848600" cy="342900"/>
          </a:xfrm>
          <a:prstGeom prst="rect">
            <a:avLst/>
          </a:prstGeom>
          <a:noFill/>
          <a:ln/>
        </p:spPr>
        <p:txBody>
          <a:bodyPr wrap="square" lIns="0" tIns="0" rIns="0" bIns="0" rtlCol="0" anchor="t">
            <a:normAutofit/>
          </a:bodyPr>
          <a:lstStyle/>
          <a:p>
            <a:pPr indent="0" marL="0">
              <a:buNone/>
            </a:pPr>
            <a:r>
              <a:rPr lang="fr-FR" sz="1395" dirty="0">
                <a:solidFill>
                  <a:srgbClr val="434343"/>
                </a:solidFill>
                <a:latin typeface="Source Sans 3" pitchFamily="34" charset="0"/>
                <a:ea typeface="Source Sans 3" pitchFamily="34" charset="-122"/>
                <a:cs typeface="Source Sans 3" pitchFamily="34" charset="-120"/>
              </a:rPr>
              <a:t>Quelque chose est cassé ? </a:t>
            </a:r>
            <a:pPr indent="0" marL="0">
              <a:buNone/>
            </a:pPr>
            <a:r>
              <a:rPr lang="fr-FR" sz="1395" b="1" dirty="0">
                <a:solidFill>
                  <a:srgbClr val="33006F"/>
                </a:solidFill>
                <a:latin typeface="Source Sans 3" pitchFamily="34" charset="0"/>
                <a:ea typeface="Source Sans 3" pitchFamily="34" charset="-122"/>
                <a:cs typeface="Source Sans 3" pitchFamily="34" charset="-120"/>
              </a:rPr>
              <a:t>Oui : c'est un bogue.</a:t>
            </a:r>
            <a:endParaRPr lang="fr-FR" sz="1395" dirty="0"/>
          </a:p>
        </p:txBody>
      </p:sp>
      <p:sp>
        <p:nvSpPr>
          <p:cNvPr id="21" name="Shape 19"/>
          <p:cNvSpPr/>
          <p:nvPr/>
        </p:nvSpPr>
        <p:spPr>
          <a:xfrm>
            <a:off x="457200" y="3448050"/>
            <a:ext cx="247650" cy="247650"/>
          </a:xfrm>
          <a:prstGeom prst="rect">
            <a:avLst/>
          </a:prstGeom>
          <a:solidFill>
            <a:srgbClr val="01458E"/>
          </a:solidFill>
          <a:ln w="12700">
            <a:solidFill>
              <a:srgbClr val="01458E"/>
            </a:solidFill>
            <a:prstDash val="solid"/>
          </a:ln>
        </p:spPr>
      </p:sp>
      <p:sp>
        <p:nvSpPr>
          <p:cNvPr id="22" name="Text 20"/>
          <p:cNvSpPr txBox="1"/>
          <p:nvPr/>
        </p:nvSpPr>
        <p:spPr>
          <a:xfrm>
            <a:off x="457200" y="3448050"/>
            <a:ext cx="247650" cy="247650"/>
          </a:xfrm>
          <a:prstGeom prst="rect">
            <a:avLst/>
          </a:prstGeom>
          <a:noFill/>
          <a:ln/>
        </p:spPr>
        <p:txBody>
          <a:bodyPr wrap="square" lIns="0" tIns="0" rIns="0" bIns="0" rtlCol="0" anchor="ctr"/>
          <a:lstStyle/>
          <a:p>
            <a:pPr algn="ctr" indent="0" marL="0">
              <a:buNone/>
            </a:pPr>
            <a:r>
              <a:rPr lang="fr-FR" sz="1100" b="1" dirty="0">
                <a:solidFill>
                  <a:srgbClr val="FFFFFF"/>
                </a:solidFill>
                <a:latin typeface="Source Sans 3" pitchFamily="34" charset="0"/>
                <a:ea typeface="Source Sans 3" pitchFamily="34" charset="-122"/>
                <a:cs typeface="Source Sans 3" pitchFamily="34" charset="-120"/>
              </a:rPr>
              <a:t>2</a:t>
            </a:r>
            <a:endParaRPr lang="fr-FR" sz="1100" dirty="0"/>
          </a:p>
        </p:txBody>
      </p:sp>
      <p:sp>
        <p:nvSpPr>
          <p:cNvPr id="23" name="Text 21"/>
          <p:cNvSpPr txBox="1"/>
          <p:nvPr/>
        </p:nvSpPr>
        <p:spPr>
          <a:xfrm>
            <a:off x="838200" y="3429000"/>
            <a:ext cx="7848600" cy="342900"/>
          </a:xfrm>
          <a:prstGeom prst="rect">
            <a:avLst/>
          </a:prstGeom>
          <a:noFill/>
          <a:ln/>
        </p:spPr>
        <p:txBody>
          <a:bodyPr wrap="square" lIns="0" tIns="0" rIns="0" bIns="0" rtlCol="0" anchor="t">
            <a:normAutofit/>
          </a:bodyPr>
          <a:lstStyle/>
          <a:p>
            <a:pPr indent="0" marL="0">
              <a:buNone/>
            </a:pPr>
            <a:r>
              <a:rPr lang="fr-FR" sz="1395" dirty="0">
                <a:solidFill>
                  <a:srgbClr val="434343"/>
                </a:solidFill>
                <a:latin typeface="Source Sans 3" pitchFamily="34" charset="0"/>
                <a:ea typeface="Source Sans 3" pitchFamily="34" charset="-122"/>
                <a:cs typeface="Source Sans 3" pitchFamily="34" charset="-120"/>
              </a:rPr>
              <a:t>Cela fonctionne, mais vous voulez que cela fasse plus ? </a:t>
            </a:r>
            <a:pPr indent="0" marL="0">
              <a:buNone/>
            </a:pPr>
            <a:r>
              <a:rPr lang="fr-FR" sz="1395" b="1" dirty="0">
                <a:solidFill>
                  <a:srgbClr val="33006F"/>
                </a:solidFill>
                <a:latin typeface="Source Sans 3" pitchFamily="34" charset="0"/>
                <a:ea typeface="Source Sans 3" pitchFamily="34" charset="-122"/>
                <a:cs typeface="Source Sans 3" pitchFamily="34" charset="-120"/>
              </a:rPr>
              <a:t>Oui : c'est une demande de fonctionnalité.</a:t>
            </a:r>
            <a:endParaRPr lang="fr-FR" sz="1395" dirty="0"/>
          </a:p>
        </p:txBody>
      </p:sp>
      <p:sp>
        <p:nvSpPr>
          <p:cNvPr id="24" name="Shape 22"/>
          <p:cNvSpPr/>
          <p:nvPr/>
        </p:nvSpPr>
        <p:spPr>
          <a:xfrm>
            <a:off x="457200" y="3829050"/>
            <a:ext cx="247650" cy="247650"/>
          </a:xfrm>
          <a:prstGeom prst="rect">
            <a:avLst/>
          </a:prstGeom>
          <a:solidFill>
            <a:srgbClr val="01458E"/>
          </a:solidFill>
          <a:ln w="12700">
            <a:solidFill>
              <a:srgbClr val="01458E"/>
            </a:solidFill>
            <a:prstDash val="solid"/>
          </a:ln>
        </p:spPr>
      </p:sp>
      <p:sp>
        <p:nvSpPr>
          <p:cNvPr id="25" name="Text 23"/>
          <p:cNvSpPr txBox="1"/>
          <p:nvPr/>
        </p:nvSpPr>
        <p:spPr>
          <a:xfrm>
            <a:off x="457200" y="3829050"/>
            <a:ext cx="247650" cy="247650"/>
          </a:xfrm>
          <a:prstGeom prst="rect">
            <a:avLst/>
          </a:prstGeom>
          <a:noFill/>
          <a:ln/>
        </p:spPr>
        <p:txBody>
          <a:bodyPr wrap="square" lIns="0" tIns="0" rIns="0" bIns="0" rtlCol="0" anchor="ctr"/>
          <a:lstStyle/>
          <a:p>
            <a:pPr algn="ctr" indent="0" marL="0">
              <a:buNone/>
            </a:pPr>
            <a:r>
              <a:rPr lang="fr-FR" sz="1100" b="1" dirty="0">
                <a:solidFill>
                  <a:srgbClr val="FFFFFF"/>
                </a:solidFill>
                <a:latin typeface="Source Sans 3" pitchFamily="34" charset="0"/>
                <a:ea typeface="Source Sans 3" pitchFamily="34" charset="-122"/>
                <a:cs typeface="Source Sans 3" pitchFamily="34" charset="-120"/>
              </a:rPr>
              <a:t>3</a:t>
            </a:r>
            <a:endParaRPr lang="fr-FR" sz="1100" dirty="0"/>
          </a:p>
        </p:txBody>
      </p:sp>
      <p:sp>
        <p:nvSpPr>
          <p:cNvPr id="26" name="Text 24"/>
          <p:cNvSpPr txBox="1"/>
          <p:nvPr/>
        </p:nvSpPr>
        <p:spPr>
          <a:xfrm>
            <a:off x="838200" y="3810000"/>
            <a:ext cx="7848600" cy="342900"/>
          </a:xfrm>
          <a:prstGeom prst="rect">
            <a:avLst/>
          </a:prstGeom>
          <a:noFill/>
          <a:ln/>
        </p:spPr>
        <p:txBody>
          <a:bodyPr wrap="square" lIns="0" tIns="0" rIns="0" bIns="0" rtlCol="0" anchor="t">
            <a:normAutofit/>
          </a:bodyPr>
          <a:lstStyle/>
          <a:p>
            <a:pPr indent="0" marL="0">
              <a:buNone/>
            </a:pPr>
            <a:r>
              <a:rPr lang="fr-FR" sz="1395" dirty="0">
                <a:solidFill>
                  <a:srgbClr val="434343"/>
                </a:solidFill>
                <a:latin typeface="Source Sans 3" pitchFamily="34" charset="0"/>
                <a:ea typeface="Source Sans 3" pitchFamily="34" charset="-122"/>
                <a:cs typeface="Source Sans 3" pitchFamily="34" charset="-120"/>
              </a:rPr>
              <a:t>Vous voulez simplement comprendre quelque chose ? </a:t>
            </a:r>
            <a:pPr indent="0" marL="0">
              <a:buNone/>
            </a:pPr>
            <a:r>
              <a:rPr lang="fr-FR" sz="1395" b="1" dirty="0">
                <a:solidFill>
                  <a:srgbClr val="33006F"/>
                </a:solidFill>
                <a:latin typeface="Source Sans 3" pitchFamily="34" charset="0"/>
                <a:ea typeface="Source Sans 3" pitchFamily="34" charset="-122"/>
                <a:cs typeface="Source Sans 3" pitchFamily="34" charset="-120"/>
              </a:rPr>
              <a:t>Oui : c'est une question.</a:t>
            </a:r>
            <a:endParaRPr lang="fr-FR" sz="1395" dirty="0"/>
          </a:p>
        </p:txBody>
      </p:sp>
      <p:sp>
        <p:nvSpPr>
          <p:cNvPr id="27" name="Text 25"/>
          <p:cNvSpPr txBox="1"/>
          <p:nvPr/>
        </p:nvSpPr>
        <p:spPr>
          <a:xfrm>
            <a:off x="457200" y="4267200"/>
            <a:ext cx="8229600" cy="285750"/>
          </a:xfrm>
          <a:prstGeom prst="rect">
            <a:avLst/>
          </a:prstGeom>
          <a:noFill/>
          <a:ln/>
        </p:spPr>
        <p:txBody>
          <a:bodyPr wrap="square" lIns="0" tIns="0" rIns="0" bIns="0" rtlCol="0" anchor="t"/>
          <a:lstStyle/>
          <a:p>
            <a:pPr indent="0" marL="0">
              <a:buNone/>
            </a:pPr>
            <a:r>
              <a:rPr lang="fr-FR" sz="1300" dirty="0">
                <a:solidFill>
                  <a:srgbClr val="888888"/>
                </a:solidFill>
                <a:latin typeface="Source Sans 3" pitchFamily="34" charset="0"/>
                <a:ea typeface="Source Sans 3" pitchFamily="34" charset="-122"/>
                <a:cs typeface="Source Sans 3" pitchFamily="34" charset="-120"/>
              </a:rPr>
              <a:t>Pas sûr ? Publiez dans Ask OpenELIS. La communauté vous redirigera.</a:t>
            </a:r>
            <a:endParaRPr lang="fr-FR" sz="1300" dirty="0"/>
          </a:p>
        </p:txBody>
      </p:sp>
      <p:sp>
        <p:nvSpPr>
          <p:cNvPr id="28" name="Text 26"/>
          <p:cNvSpPr txBox="1"/>
          <p:nvPr/>
        </p:nvSpPr>
        <p:spPr>
          <a:xfrm>
            <a:off x="7953375" y="4743450"/>
            <a:ext cx="952500" cy="228600"/>
          </a:xfrm>
          <a:prstGeom prst="rect">
            <a:avLst/>
          </a:prstGeom>
          <a:noFill/>
          <a:ln/>
        </p:spPr>
        <p:txBody>
          <a:bodyPr wrap="square" lIns="0" tIns="0" rIns="0" bIns="0" rtlCol="0" anchor="t"/>
          <a:lstStyle/>
          <a:p>
            <a:pPr algn="r" indent="0" marL="0">
              <a:buNone/>
            </a:pPr>
            <a:r>
              <a:rPr lang="fr-FR" sz="1000" dirty="0">
                <a:solidFill>
                  <a:srgbClr val="888888"/>
                </a:solidFill>
                <a:latin typeface="Source Sans 3" pitchFamily="34" charset="0"/>
                <a:ea typeface="Source Sans 3" pitchFamily="34" charset="-122"/>
                <a:cs typeface="Source Sans 3" pitchFamily="34" charset="-120"/>
              </a:rPr>
              <a:t>22</a:t>
            </a:r>
            <a:endParaRPr lang="fr-FR" sz="1000" dirty="0"/>
          </a:p>
        </p:txBody>
      </p:sp>
      <p:sp>
        <p:nvSpPr>
          <p:cNvPr id="29" name="Text 27"/>
          <p:cNvSpPr txBox="1"/>
          <p:nvPr/>
        </p:nvSpPr>
        <p:spPr>
          <a:xfrm>
            <a:off x="457200" y="4743450"/>
            <a:ext cx="3810000" cy="228600"/>
          </a:xfrm>
          <a:prstGeom prst="rect">
            <a:avLst/>
          </a:prstGeom>
          <a:noFill/>
          <a:ln/>
        </p:spPr>
        <p:txBody>
          <a:bodyPr wrap="square" lIns="0" tIns="0" rIns="0" bIns="0" rtlCol="0" anchor="t"/>
          <a:lstStyle/>
          <a:p>
            <a:pPr algn="l" indent="0" marL="0">
              <a:buNone/>
            </a:pPr>
            <a:r>
              <a:rPr lang="fr-FR" sz="1000" dirty="0">
                <a:solidFill>
                  <a:srgbClr val="888888"/>
                </a:solidFill>
                <a:latin typeface="Source Sans 3" pitchFamily="34" charset="0"/>
                <a:ea typeface="Source Sans 3" pitchFamily="34" charset="-122"/>
                <a:cs typeface="Source Sans 3" pitchFamily="34" charset="-120"/>
              </a:rPr>
              <a:t>Passation eSIL Madagascar</a:t>
            </a:r>
            <a:endParaRPr lang="fr-FR" sz="10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247650"/>
            <a:ext cx="8229600" cy="209550"/>
          </a:xfrm>
          <a:prstGeom prst="rect">
            <a:avLst/>
          </a:prstGeom>
          <a:noFill/>
          <a:ln/>
        </p:spPr>
        <p:txBody>
          <a:bodyPr wrap="square" lIns="0" tIns="0" rIns="0" bIns="0" rtlCol="0" anchor="t"/>
          <a:lstStyle/>
          <a:p>
            <a:pPr indent="0" marL="0">
              <a:buNone/>
            </a:pPr>
            <a:r>
              <a:rPr lang="fr-FR" sz="1200" b="1" spc="150" kern="0" dirty="0">
                <a:solidFill>
                  <a:srgbClr val="01458E"/>
                </a:solidFill>
                <a:latin typeface="Source Sans 3" pitchFamily="34" charset="0"/>
                <a:ea typeface="Source Sans 3" pitchFamily="34" charset="-122"/>
                <a:cs typeface="Source Sans 3" pitchFamily="34" charset="-120"/>
              </a:rPr>
              <a:t>CHOISIR LE CANAL</a:t>
            </a:r>
            <a:pPr indent="0" marL="0">
              <a:buNone/>
            </a:pPr>
            <a:r>
              <a:rPr lang="fr-FR" sz="1200" dirty="0">
                <a:solidFill>
                  <a:srgbClr val="888888"/>
                </a:solidFill>
                <a:latin typeface="Source Sans 3" pitchFamily="34" charset="0"/>
                <a:ea typeface="Source Sans 3" pitchFamily="34" charset="-122"/>
                <a:cs typeface="Source Sans 3" pitchFamily="34" charset="-120"/>
              </a:rPr>
              <a:t>    Section 4 sur 7</a:t>
            </a:r>
            <a:endParaRPr lang="fr-FR" sz="1200" dirty="0"/>
          </a:p>
        </p:txBody>
      </p:sp>
      <p:sp>
        <p:nvSpPr>
          <p:cNvPr id="3" name="Shape 1"/>
          <p:cNvSpPr/>
          <p:nvPr/>
        </p:nvSpPr>
        <p:spPr>
          <a:xfrm>
            <a:off x="457200" y="533400"/>
            <a:ext cx="685800" cy="57150"/>
          </a:xfrm>
          <a:prstGeom prst="rect">
            <a:avLst/>
          </a:prstGeom>
          <a:solidFill>
            <a:srgbClr val="01458E"/>
          </a:solidFill>
          <a:ln w="12700">
            <a:solidFill>
              <a:srgbClr val="01458E"/>
            </a:solidFill>
            <a:prstDash val="solid"/>
          </a:ln>
        </p:spPr>
      </p:sp>
      <p:sp>
        <p:nvSpPr>
          <p:cNvPr id="4" name="Text 2"/>
          <p:cNvSpPr txBox="1"/>
          <p:nvPr/>
        </p:nvSpPr>
        <p:spPr>
          <a:xfrm>
            <a:off x="457200" y="704850"/>
            <a:ext cx="8229600" cy="800100"/>
          </a:xfrm>
          <a:prstGeom prst="rect">
            <a:avLst/>
          </a:prstGeom>
          <a:noFill/>
          <a:ln/>
        </p:spPr>
        <p:txBody>
          <a:bodyPr wrap="square" lIns="0" tIns="0" rIns="0" bIns="0" rtlCol="0" anchor="t">
            <a:normAutofit/>
          </a:bodyPr>
          <a:lstStyle/>
          <a:p>
            <a:pPr indent="0" marL="0">
              <a:buNone/>
            </a:pPr>
            <a:r>
              <a:rPr lang="fr-FR" sz="2350" b="1" dirty="0">
                <a:solidFill>
                  <a:srgbClr val="33006F"/>
                </a:solidFill>
                <a:latin typeface="Source Sans 3" pitchFamily="34" charset="0"/>
                <a:ea typeface="Source Sans 3" pitchFamily="34" charset="-122"/>
                <a:cs typeface="Source Sans 3" pitchFamily="34" charset="-120"/>
              </a:rPr>
              <a:t>Aide-mémoire : où va chaque type de message</a:t>
            </a:r>
            <a:endParaRPr lang="fr-FR" sz="2350" dirty="0"/>
          </a:p>
        </p:txBody>
      </p:sp>
      <p:graphicFrame>
        <p:nvGraphicFramePr>
          <p:cNvPr id="24" name="Table 0"/>
          <p:cNvGraphicFramePr>
            <a:graphicFrameLocks noGrp="1"/>
          </p:cNvGraphicFramePr>
          <p:nvPr>
            <p:extLst>
              <p:ext uri="{D42A27DB-BD31-4B8C-83A1-F6EECF244321}">
                <p14:modId xmlns:p14="http://schemas.microsoft.com/office/powerpoint/2010/main" val="1579011935"/>
              </p:ext>
            </p:extLst>
          </p:nvPr>
        </p:nvGraphicFramePr>
        <p:xfrm>
          <a:off x="457200" y="1562100"/>
          <a:ext cx="8229600" cy="914400"/>
        </p:xfrm>
        <a:graphic>
          <a:graphicData uri="http://schemas.openxmlformats.org/drawingml/2006/table">
            <a:tbl>
              <a:tblPr/>
              <a:tblGrid>
                <a:gridCol w="1428750"/>
                <a:gridCol w="2095500"/>
                <a:gridCol w="2514600"/>
                <a:gridCol w="2190750"/>
              </a:tblGrid>
              <a:tr h="628650">
                <a:tc>
                  <a:txBody>
                    <a:bodyPr/>
                    <a:lstStyle/>
                    <a:p>
                      <a:pPr indent="0" marL="0">
                        <a:buNone/>
                      </a:pPr>
                      <a:endParaRPr lang="fr-FR" sz="1116" dirty="0">
                        <a:latin typeface="Source Sans 3" charset="0"/>
                        <a:ea typeface="Source Sans 3" charset="0"/>
                        <a:cs typeface="Source Sans 3" charset="0"/>
                      </a:endParaRPr>
                    </a:p>
                  </a:txBody>
                  <a:tcPr marL="76200" marR="76200" marT="47625" marB="47625"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rgbClr val="01458E"/>
                    </a:solidFill>
                  </a:tcPr>
                </a:tc>
                <a:tc>
                  <a:txBody>
                    <a:bodyPr/>
                    <a:lstStyle/>
                    <a:p>
                      <a:pPr indent="0" marL="0">
                        <a:buNone/>
                      </a:pPr>
                      <a:r>
                        <a:rPr lang="fr-FR" sz="1116" b="1" dirty="0">
                          <a:solidFill>
                            <a:srgbClr val="FFFFFF"/>
                          </a:solidFill>
                          <a:latin typeface="Source Sans 3" pitchFamily="34" charset="0"/>
                          <a:ea typeface="Source Sans 3" pitchFamily="34" charset="-122"/>
                          <a:cs typeface="Source Sans 3" pitchFamily="34" charset="-120"/>
                        </a:rPr>
                        <a:t>Où</a:t>
                      </a:r>
                      <a:endParaRPr lang="fr-FR" sz="1116" dirty="0">
                        <a:latin typeface="Source Sans 3" charset="0"/>
                        <a:ea typeface="Source Sans 3" charset="0"/>
                        <a:cs typeface="Source Sans 3" charset="0"/>
                      </a:endParaRPr>
                    </a:p>
                  </a:txBody>
                  <a:tcPr marL="76200" marR="76200" marT="47625" marB="47625"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rgbClr val="01458E"/>
                    </a:solidFill>
                  </a:tcPr>
                </a:tc>
                <a:tc>
                  <a:txBody>
                    <a:bodyPr/>
                    <a:lstStyle/>
                    <a:p>
                      <a:pPr indent="0" marL="0">
                        <a:buNone/>
                      </a:pPr>
                      <a:r>
                        <a:rPr lang="fr-FR" sz="1116" b="1" dirty="0">
                          <a:solidFill>
                            <a:srgbClr val="FFFFFF"/>
                          </a:solidFill>
                          <a:latin typeface="Source Sans 3" pitchFamily="34" charset="0"/>
                          <a:ea typeface="Source Sans 3" pitchFamily="34" charset="-122"/>
                          <a:cs typeface="Source Sans 3" pitchFamily="34" charset="-120"/>
                        </a:rPr>
                        <a:t>Quoi inclure</a:t>
                      </a:r>
                      <a:endParaRPr lang="fr-FR" sz="1116" dirty="0">
                        <a:latin typeface="Source Sans 3" charset="0"/>
                        <a:ea typeface="Source Sans 3" charset="0"/>
                        <a:cs typeface="Source Sans 3" charset="0"/>
                      </a:endParaRPr>
                    </a:p>
                  </a:txBody>
                  <a:tcPr marL="76200" marR="76200" marT="47625" marB="47625"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rgbClr val="01458E"/>
                    </a:solidFill>
                  </a:tcPr>
                </a:tc>
                <a:tc>
                  <a:txBody>
                    <a:bodyPr/>
                    <a:lstStyle/>
                    <a:p>
                      <a:pPr indent="0" marL="0">
                        <a:buNone/>
                      </a:pPr>
                      <a:r>
                        <a:rPr lang="fr-FR" sz="1116" b="1" dirty="0">
                          <a:solidFill>
                            <a:srgbClr val="FFFFFF"/>
                          </a:solidFill>
                          <a:latin typeface="Source Sans 3" pitchFamily="34" charset="0"/>
                          <a:ea typeface="Source Sans 3" pitchFamily="34" charset="-122"/>
                          <a:cs typeface="Source Sans 3" pitchFamily="34" charset="-120"/>
                        </a:rPr>
                        <a:t>Ce qui se passe ensuite</a:t>
                      </a:r>
                      <a:endParaRPr lang="fr-FR" sz="1116" dirty="0">
                        <a:latin typeface="Source Sans 3" charset="0"/>
                        <a:ea typeface="Source Sans 3" charset="0"/>
                        <a:cs typeface="Source Sans 3" charset="0"/>
                      </a:endParaRPr>
                    </a:p>
                  </a:txBody>
                  <a:tcPr marL="76200" marR="76200" marT="47625" marB="47625"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rgbClr val="01458E"/>
                    </a:solidFill>
                  </a:tcPr>
                </a:tc>
              </a:tr>
              <a:tr h="628650">
                <a:tc>
                  <a:txBody>
                    <a:bodyPr/>
                    <a:lstStyle/>
                    <a:p>
                      <a:pPr indent="0" marL="0">
                        <a:buNone/>
                      </a:pPr>
                      <a:r>
                        <a:rPr lang="fr-FR" sz="1116" dirty="0">
                          <a:solidFill>
                            <a:srgbClr val="434343"/>
                          </a:solidFill>
                          <a:latin typeface="Source Sans 3" pitchFamily="34" charset="0"/>
                          <a:ea typeface="Source Sans 3" pitchFamily="34" charset="-122"/>
                          <a:cs typeface="Source Sans 3" pitchFamily="34" charset="-120"/>
                        </a:rPr>
                        <a:t>Bogue</a:t>
                      </a:r>
                      <a:endParaRPr lang="fr-FR" sz="1116" dirty="0">
                        <a:latin typeface="Source Sans 3" charset="0"/>
                        <a:ea typeface="Source Sans 3" charset="0"/>
                        <a:cs typeface="Source Sans 3" charset="0"/>
                      </a:endParaRPr>
                    </a:p>
                  </a:txBody>
                  <a:tcPr marL="76200" marR="76200" marT="47625" marB="47625"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c>
                  <a:txBody>
                    <a:bodyPr/>
                    <a:lstStyle/>
                    <a:p>
                      <a:pPr indent="0" marL="0">
                        <a:buNone/>
                      </a:pPr>
                      <a:r>
                        <a:rPr lang="fr-FR" sz="1116" dirty="0">
                          <a:solidFill>
                            <a:srgbClr val="434343"/>
                          </a:solidFill>
                          <a:latin typeface="Source Sans 3" pitchFamily="34" charset="0"/>
                          <a:ea typeface="Source Sans 3" pitchFamily="34" charset="-122"/>
                          <a:cs typeface="Source Sans 3" pitchFamily="34" charset="-120"/>
                        </a:rPr>
                        <a:t>Forum : Development. Ou un ticket GitHub.</a:t>
                      </a:r>
                      <a:endParaRPr lang="fr-FR" sz="1116" dirty="0">
                        <a:latin typeface="Source Sans 3" charset="0"/>
                        <a:ea typeface="Source Sans 3" charset="0"/>
                        <a:cs typeface="Source Sans 3" charset="0"/>
                      </a:endParaRPr>
                    </a:p>
                  </a:txBody>
                  <a:tcPr marL="76200" marR="76200" marT="47625" marB="47625"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c>
                  <a:txBody>
                    <a:bodyPr/>
                    <a:lstStyle/>
                    <a:p>
                      <a:pPr indent="0" marL="0">
                        <a:buNone/>
                      </a:pPr>
                      <a:r>
                        <a:rPr lang="fr-FR" sz="1116" dirty="0">
                          <a:solidFill>
                            <a:srgbClr val="434343"/>
                          </a:solidFill>
                          <a:latin typeface="Source Sans 3" pitchFamily="34" charset="0"/>
                          <a:ea typeface="Source Sans 3" pitchFamily="34" charset="-122"/>
                          <a:cs typeface="Source Sans 3" pitchFamily="34" charset="-120"/>
                        </a:rPr>
                        <a:t>Version, étapes pour reproduire, résultat attendu et résultat obtenu, capture d'écran ou journal</a:t>
                      </a:r>
                      <a:endParaRPr lang="fr-FR" sz="1116" dirty="0">
                        <a:latin typeface="Source Sans 3" charset="0"/>
                        <a:ea typeface="Source Sans 3" charset="0"/>
                        <a:cs typeface="Source Sans 3" charset="0"/>
                      </a:endParaRPr>
                    </a:p>
                  </a:txBody>
                  <a:tcPr marL="76200" marR="76200" marT="47625" marB="47625"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c>
                  <a:txBody>
                    <a:bodyPr/>
                    <a:lstStyle/>
                    <a:p>
                      <a:pPr indent="0" marL="0">
                        <a:buNone/>
                      </a:pPr>
                      <a:r>
                        <a:rPr lang="fr-FR" sz="1116" dirty="0">
                          <a:solidFill>
                            <a:srgbClr val="434343"/>
                          </a:solidFill>
                          <a:latin typeface="Source Sans 3" pitchFamily="34" charset="0"/>
                          <a:ea typeface="Source Sans 3" pitchFamily="34" charset="-122"/>
                          <a:cs typeface="Source Sans 3" pitchFamily="34" charset="-120"/>
                        </a:rPr>
                        <a:t>Devient un ticket GitHub. Corrigé dans une version future.</a:t>
                      </a:r>
                      <a:endParaRPr lang="fr-FR" sz="1116" dirty="0">
                        <a:latin typeface="Source Sans 3" charset="0"/>
                        <a:ea typeface="Source Sans 3" charset="0"/>
                        <a:cs typeface="Source Sans 3" charset="0"/>
                      </a:endParaRPr>
                    </a:p>
                  </a:txBody>
                  <a:tcPr marL="76200" marR="76200" marT="47625" marB="47625"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r>
              <a:tr h="628650">
                <a:tc>
                  <a:txBody>
                    <a:bodyPr/>
                    <a:lstStyle/>
                    <a:p>
                      <a:pPr indent="0" marL="0">
                        <a:buNone/>
                      </a:pPr>
                      <a:r>
                        <a:rPr lang="fr-FR" sz="1116" dirty="0">
                          <a:solidFill>
                            <a:srgbClr val="434343"/>
                          </a:solidFill>
                          <a:latin typeface="Source Sans 3" pitchFamily="34" charset="0"/>
                          <a:ea typeface="Source Sans 3" pitchFamily="34" charset="-122"/>
                          <a:cs typeface="Source Sans 3" pitchFamily="34" charset="-120"/>
                        </a:rPr>
                        <a:t>Demande de fonctionnalité</a:t>
                      </a:r>
                      <a:endParaRPr lang="fr-FR" sz="1116" dirty="0">
                        <a:latin typeface="Source Sans 3" charset="0"/>
                        <a:ea typeface="Source Sans 3" charset="0"/>
                        <a:cs typeface="Source Sans 3" charset="0"/>
                      </a:endParaRPr>
                    </a:p>
                  </a:txBody>
                  <a:tcPr marL="76200" marR="76200" marT="47625" marB="47625"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c>
                  <a:txBody>
                    <a:bodyPr/>
                    <a:lstStyle/>
                    <a:p>
                      <a:pPr indent="0" marL="0">
                        <a:buNone/>
                      </a:pPr>
                      <a:r>
                        <a:rPr lang="fr-FR" sz="1116" dirty="0">
                          <a:solidFill>
                            <a:srgbClr val="434343"/>
                          </a:solidFill>
                          <a:latin typeface="Source Sans 3" pitchFamily="34" charset="0"/>
                          <a:ea typeface="Source Sans 3" pitchFamily="34" charset="-122"/>
                          <a:cs typeface="Source Sans 3" pitchFamily="34" charset="-120"/>
                        </a:rPr>
                        <a:t>Forum : Development, sous forme de proposition</a:t>
                      </a:r>
                      <a:endParaRPr lang="fr-FR" sz="1116" dirty="0">
                        <a:latin typeface="Source Sans 3" charset="0"/>
                        <a:ea typeface="Source Sans 3" charset="0"/>
                        <a:cs typeface="Source Sans 3" charset="0"/>
                      </a:endParaRPr>
                    </a:p>
                  </a:txBody>
                  <a:tcPr marL="76200" marR="76200" marT="47625" marB="47625"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c>
                  <a:txBody>
                    <a:bodyPr/>
                    <a:lstStyle/>
                    <a:p>
                      <a:pPr indent="0" marL="0">
                        <a:buNone/>
                      </a:pPr>
                      <a:r>
                        <a:rPr lang="fr-FR" sz="1116" dirty="0">
                          <a:solidFill>
                            <a:srgbClr val="434343"/>
                          </a:solidFill>
                          <a:latin typeface="Source Sans 3" pitchFamily="34" charset="0"/>
                          <a:ea typeface="Source Sans 3" pitchFamily="34" charset="-122"/>
                          <a:cs typeface="Source Sans 3" pitchFamily="34" charset="-120"/>
                        </a:rPr>
                        <a:t>Le problème, à qui cela sert, une idée de conception, le lien de la galerie s'il existe</a:t>
                      </a:r>
                      <a:endParaRPr lang="fr-FR" sz="1116" dirty="0">
                        <a:latin typeface="Source Sans 3" charset="0"/>
                        <a:ea typeface="Source Sans 3" charset="0"/>
                        <a:cs typeface="Source Sans 3" charset="0"/>
                      </a:endParaRPr>
                    </a:p>
                  </a:txBody>
                  <a:tcPr marL="76200" marR="76200" marT="47625" marB="47625"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c>
                  <a:txBody>
                    <a:bodyPr/>
                    <a:lstStyle/>
                    <a:p>
                      <a:pPr indent="0" marL="0">
                        <a:buNone/>
                      </a:pPr>
                      <a:r>
                        <a:rPr lang="fr-FR" sz="1116" dirty="0">
                          <a:solidFill>
                            <a:srgbClr val="434343"/>
                          </a:solidFill>
                          <a:latin typeface="Source Sans 3" pitchFamily="34" charset="0"/>
                          <a:ea typeface="Source Sans 3" pitchFamily="34" charset="-122"/>
                          <a:cs typeface="Source Sans 3" pitchFamily="34" charset="-120"/>
                        </a:rPr>
                        <a:t>Discuté. Puis un ticket, s'il y a accord.</a:t>
                      </a:r>
                      <a:endParaRPr lang="fr-FR" sz="1116" dirty="0">
                        <a:latin typeface="Source Sans 3" charset="0"/>
                        <a:ea typeface="Source Sans 3" charset="0"/>
                        <a:cs typeface="Source Sans 3" charset="0"/>
                      </a:endParaRPr>
                    </a:p>
                  </a:txBody>
                  <a:tcPr marL="76200" marR="76200" marT="47625" marB="47625"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r>
              <a:tr h="628650">
                <a:tc>
                  <a:txBody>
                    <a:bodyPr/>
                    <a:lstStyle/>
                    <a:p>
                      <a:pPr indent="0" marL="0">
                        <a:buNone/>
                      </a:pPr>
                      <a:r>
                        <a:rPr lang="fr-FR" sz="1116" dirty="0">
                          <a:solidFill>
                            <a:srgbClr val="434343"/>
                          </a:solidFill>
                          <a:latin typeface="Source Sans 3" pitchFamily="34" charset="0"/>
                          <a:ea typeface="Source Sans 3" pitchFamily="34" charset="-122"/>
                          <a:cs typeface="Source Sans 3" pitchFamily="34" charset="-120"/>
                        </a:rPr>
                        <a:t>Question</a:t>
                      </a:r>
                      <a:endParaRPr lang="fr-FR" sz="1116" dirty="0">
                        <a:latin typeface="Source Sans 3" charset="0"/>
                        <a:ea typeface="Source Sans 3" charset="0"/>
                        <a:cs typeface="Source Sans 3" charset="0"/>
                      </a:endParaRPr>
                    </a:p>
                  </a:txBody>
                  <a:tcPr marL="76200" marR="76200" marT="47625" marB="47625"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c>
                  <a:txBody>
                    <a:bodyPr/>
                    <a:lstStyle/>
                    <a:p>
                      <a:pPr indent="0" marL="0">
                        <a:buNone/>
                      </a:pPr>
                      <a:r>
                        <a:rPr lang="fr-FR" sz="1116" dirty="0">
                          <a:solidFill>
                            <a:srgbClr val="434343"/>
                          </a:solidFill>
                          <a:latin typeface="Source Sans 3" pitchFamily="34" charset="0"/>
                          <a:ea typeface="Source Sans 3" pitchFamily="34" charset="-122"/>
                          <a:cs typeface="Source Sans 3" pitchFamily="34" charset="-120"/>
                        </a:rPr>
                        <a:t>Forum : Ask OpenELIS. Ou Slack pour les choses rapides.</a:t>
                      </a:r>
                      <a:endParaRPr lang="fr-FR" sz="1116" dirty="0">
                        <a:latin typeface="Source Sans 3" charset="0"/>
                        <a:ea typeface="Source Sans 3" charset="0"/>
                        <a:cs typeface="Source Sans 3" charset="0"/>
                      </a:endParaRPr>
                    </a:p>
                  </a:txBody>
                  <a:tcPr marL="76200" marR="76200" marT="47625" marB="47625"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c>
                  <a:txBody>
                    <a:bodyPr/>
                    <a:lstStyle/>
                    <a:p>
                      <a:pPr indent="0" marL="0">
                        <a:buNone/>
                      </a:pPr>
                      <a:r>
                        <a:rPr lang="fr-FR" sz="1116" dirty="0">
                          <a:solidFill>
                            <a:srgbClr val="434343"/>
                          </a:solidFill>
                          <a:latin typeface="Source Sans 3" pitchFamily="34" charset="0"/>
                          <a:ea typeface="Source Sans 3" pitchFamily="34" charset="-122"/>
                          <a:cs typeface="Source Sans 3" pitchFamily="34" charset="-120"/>
                        </a:rPr>
                        <a:t>Ce que vous essayez de faire, ce que vous avez essayé, votre version</a:t>
                      </a:r>
                      <a:endParaRPr lang="fr-FR" sz="1116" dirty="0">
                        <a:latin typeface="Source Sans 3" charset="0"/>
                        <a:ea typeface="Source Sans 3" charset="0"/>
                        <a:cs typeface="Source Sans 3" charset="0"/>
                      </a:endParaRPr>
                    </a:p>
                  </a:txBody>
                  <a:tcPr marL="76200" marR="76200" marT="47625" marB="47625"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c>
                  <a:txBody>
                    <a:bodyPr/>
                    <a:lstStyle/>
                    <a:p>
                      <a:pPr indent="0" marL="0">
                        <a:buNone/>
                      </a:pPr>
                      <a:r>
                        <a:rPr lang="fr-FR" sz="1116" dirty="0">
                          <a:solidFill>
                            <a:srgbClr val="434343"/>
                          </a:solidFill>
                          <a:latin typeface="Source Sans 3" pitchFamily="34" charset="0"/>
                          <a:ea typeface="Source Sans 3" pitchFamily="34" charset="-122"/>
                          <a:cs typeface="Source Sans 3" pitchFamily="34" charset="-120"/>
                        </a:rPr>
                        <a:t>Réponse directe. En général sans ticket.</a:t>
                      </a:r>
                      <a:endParaRPr lang="fr-FR" sz="1116" dirty="0">
                        <a:latin typeface="Source Sans 3" charset="0"/>
                        <a:ea typeface="Source Sans 3" charset="0"/>
                        <a:cs typeface="Source Sans 3" charset="0"/>
                      </a:endParaRPr>
                    </a:p>
                  </a:txBody>
                  <a:tcPr marL="76200" marR="76200" marT="47625" marB="47625"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r>
            </a:tbl>
          </a:graphicData>
        </a:graphic>
      </p:graphicFrame>
      <p:sp>
        <p:nvSpPr>
          <p:cNvPr id="6" name="Text 3"/>
          <p:cNvSpPr txBox="1"/>
          <p:nvPr/>
        </p:nvSpPr>
        <p:spPr>
          <a:xfrm>
            <a:off x="457200" y="4305300"/>
            <a:ext cx="8229600" cy="285750"/>
          </a:xfrm>
          <a:prstGeom prst="rect">
            <a:avLst/>
          </a:prstGeom>
          <a:noFill/>
          <a:ln/>
        </p:spPr>
        <p:txBody>
          <a:bodyPr wrap="square" lIns="0" tIns="0" rIns="0" bIns="0" rtlCol="0" anchor="t"/>
          <a:lstStyle/>
          <a:p>
            <a:pPr indent="0" marL="0">
              <a:buNone/>
            </a:pPr>
            <a:r>
              <a:rPr lang="fr-FR" sz="1200" dirty="0">
                <a:solidFill>
                  <a:srgbClr val="888888"/>
                </a:solidFill>
                <a:latin typeface="Source Sans 3" pitchFamily="34" charset="0"/>
                <a:ea typeface="Source Sans 3" pitchFamily="34" charset="-122"/>
                <a:cs typeface="Source Sans 3" pitchFamily="34" charset="-120"/>
              </a:rPr>
              <a:t>Imprimez cette diapositive. C'est le guide d'une page pour l'équipe.</a:t>
            </a:r>
            <a:endParaRPr lang="fr-FR" sz="1200" dirty="0"/>
          </a:p>
        </p:txBody>
      </p:sp>
      <p:sp>
        <p:nvSpPr>
          <p:cNvPr id="7" name="Text 4"/>
          <p:cNvSpPr txBox="1"/>
          <p:nvPr/>
        </p:nvSpPr>
        <p:spPr>
          <a:xfrm>
            <a:off x="7953375" y="4743450"/>
            <a:ext cx="952500" cy="228600"/>
          </a:xfrm>
          <a:prstGeom prst="rect">
            <a:avLst/>
          </a:prstGeom>
          <a:noFill/>
          <a:ln/>
        </p:spPr>
        <p:txBody>
          <a:bodyPr wrap="square" lIns="0" tIns="0" rIns="0" bIns="0" rtlCol="0" anchor="t"/>
          <a:lstStyle/>
          <a:p>
            <a:pPr algn="r" indent="0" marL="0">
              <a:buNone/>
            </a:pPr>
            <a:r>
              <a:rPr lang="fr-FR" sz="1000" dirty="0">
                <a:solidFill>
                  <a:srgbClr val="888888"/>
                </a:solidFill>
                <a:latin typeface="Source Sans 3" pitchFamily="34" charset="0"/>
                <a:ea typeface="Source Sans 3" pitchFamily="34" charset="-122"/>
                <a:cs typeface="Source Sans 3" pitchFamily="34" charset="-120"/>
              </a:rPr>
              <a:t>23</a:t>
            </a:r>
            <a:endParaRPr lang="fr-FR" sz="1000" dirty="0"/>
          </a:p>
        </p:txBody>
      </p:sp>
      <p:sp>
        <p:nvSpPr>
          <p:cNvPr id="8" name="Text 5"/>
          <p:cNvSpPr txBox="1"/>
          <p:nvPr/>
        </p:nvSpPr>
        <p:spPr>
          <a:xfrm>
            <a:off x="457200" y="4743450"/>
            <a:ext cx="3810000" cy="228600"/>
          </a:xfrm>
          <a:prstGeom prst="rect">
            <a:avLst/>
          </a:prstGeom>
          <a:noFill/>
          <a:ln/>
        </p:spPr>
        <p:txBody>
          <a:bodyPr wrap="square" lIns="0" tIns="0" rIns="0" bIns="0" rtlCol="0" anchor="t"/>
          <a:lstStyle/>
          <a:p>
            <a:pPr algn="l" indent="0" marL="0">
              <a:buNone/>
            </a:pPr>
            <a:r>
              <a:rPr lang="fr-FR" sz="1000" dirty="0">
                <a:solidFill>
                  <a:srgbClr val="888888"/>
                </a:solidFill>
                <a:latin typeface="Source Sans 3" pitchFamily="34" charset="0"/>
                <a:ea typeface="Source Sans 3" pitchFamily="34" charset="-122"/>
                <a:cs typeface="Source Sans 3" pitchFamily="34" charset="-120"/>
              </a:rPr>
              <a:t>Passation eSIL Madagascar</a:t>
            </a:r>
            <a:endParaRPr lang="fr-FR" sz="100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247650"/>
            <a:ext cx="8229600" cy="209550"/>
          </a:xfrm>
          <a:prstGeom prst="rect">
            <a:avLst/>
          </a:prstGeom>
          <a:noFill/>
          <a:ln/>
        </p:spPr>
        <p:txBody>
          <a:bodyPr wrap="square" lIns="0" tIns="0" rIns="0" bIns="0" rtlCol="0" anchor="t"/>
          <a:lstStyle/>
          <a:p>
            <a:pPr indent="0" marL="0">
              <a:buNone/>
            </a:pPr>
            <a:r>
              <a:rPr lang="fr-FR" sz="1200" b="1" spc="150" kern="0" dirty="0">
                <a:solidFill>
                  <a:srgbClr val="01458E"/>
                </a:solidFill>
                <a:latin typeface="Source Sans 3" pitchFamily="34" charset="0"/>
                <a:ea typeface="Source Sans 3" pitchFamily="34" charset="-122"/>
                <a:cs typeface="Source Sans 3" pitchFamily="34" charset="-120"/>
              </a:rPr>
              <a:t>CHOISIR LE CANAL</a:t>
            </a:r>
            <a:pPr indent="0" marL="0">
              <a:buNone/>
            </a:pPr>
            <a:r>
              <a:rPr lang="fr-FR" sz="1200" dirty="0">
                <a:solidFill>
                  <a:srgbClr val="888888"/>
                </a:solidFill>
                <a:latin typeface="Source Sans 3" pitchFamily="34" charset="0"/>
                <a:ea typeface="Source Sans 3" pitchFamily="34" charset="-122"/>
                <a:cs typeface="Source Sans 3" pitchFamily="34" charset="-120"/>
              </a:rPr>
              <a:t>    Section 4 sur 7</a:t>
            </a:r>
            <a:endParaRPr lang="fr-FR" sz="1200" dirty="0"/>
          </a:p>
        </p:txBody>
      </p:sp>
      <p:sp>
        <p:nvSpPr>
          <p:cNvPr id="3" name="Shape 1"/>
          <p:cNvSpPr/>
          <p:nvPr/>
        </p:nvSpPr>
        <p:spPr>
          <a:xfrm>
            <a:off x="457200" y="533400"/>
            <a:ext cx="685800" cy="57150"/>
          </a:xfrm>
          <a:prstGeom prst="rect">
            <a:avLst/>
          </a:prstGeom>
          <a:solidFill>
            <a:srgbClr val="01458E"/>
          </a:solidFill>
          <a:ln w="12700">
            <a:solidFill>
              <a:srgbClr val="01458E"/>
            </a:solidFill>
            <a:prstDash val="solid"/>
          </a:ln>
        </p:spPr>
      </p:sp>
      <p:sp>
        <p:nvSpPr>
          <p:cNvPr id="4" name="Text 2"/>
          <p:cNvSpPr txBox="1"/>
          <p:nvPr/>
        </p:nvSpPr>
        <p:spPr>
          <a:xfrm>
            <a:off x="457200" y="704850"/>
            <a:ext cx="8229600" cy="800100"/>
          </a:xfrm>
          <a:prstGeom prst="rect">
            <a:avLst/>
          </a:prstGeom>
          <a:noFill/>
          <a:ln/>
        </p:spPr>
        <p:txBody>
          <a:bodyPr wrap="square" lIns="0" tIns="0" rIns="0" bIns="0" rtlCol="0" anchor="t">
            <a:normAutofit/>
          </a:bodyPr>
          <a:lstStyle/>
          <a:p>
            <a:pPr indent="0" marL="0">
              <a:buNone/>
            </a:pPr>
            <a:r>
              <a:rPr lang="fr-FR" sz="2350" b="1" dirty="0">
                <a:solidFill>
                  <a:srgbClr val="33006F"/>
                </a:solidFill>
                <a:latin typeface="Source Sans 3" pitchFamily="34" charset="0"/>
                <a:ea typeface="Source Sans 3" pitchFamily="34" charset="-122"/>
                <a:cs typeface="Source Sans 3" pitchFamily="34" charset="-120"/>
              </a:rPr>
              <a:t>Bien signaler un bogue</a:t>
            </a:r>
            <a:endParaRPr lang="fr-FR" sz="2350" dirty="0"/>
          </a:p>
        </p:txBody>
      </p:sp>
      <p:sp>
        <p:nvSpPr>
          <p:cNvPr id="5" name="Shape 3"/>
          <p:cNvSpPr/>
          <p:nvPr/>
        </p:nvSpPr>
        <p:spPr>
          <a:xfrm>
            <a:off x="457200" y="1562100"/>
            <a:ext cx="323850" cy="323850"/>
          </a:xfrm>
          <a:prstGeom prst="rect">
            <a:avLst/>
          </a:prstGeom>
          <a:solidFill>
            <a:srgbClr val="01458E"/>
          </a:solidFill>
          <a:ln w="12700">
            <a:solidFill>
              <a:srgbClr val="01458E"/>
            </a:solidFill>
            <a:prstDash val="solid"/>
          </a:ln>
        </p:spPr>
      </p:sp>
      <p:sp>
        <p:nvSpPr>
          <p:cNvPr id="6" name="Text 4"/>
          <p:cNvSpPr txBox="1"/>
          <p:nvPr/>
        </p:nvSpPr>
        <p:spPr>
          <a:xfrm>
            <a:off x="457200" y="1562100"/>
            <a:ext cx="323850" cy="323850"/>
          </a:xfrm>
          <a:prstGeom prst="rect">
            <a:avLst/>
          </a:prstGeom>
          <a:noFill/>
          <a:ln/>
        </p:spPr>
        <p:txBody>
          <a:bodyPr wrap="square" lIns="0" tIns="0" rIns="0" bIns="0" rtlCol="0" anchor="ctr"/>
          <a:lstStyle/>
          <a:p>
            <a:pPr algn="ctr" indent="0" marL="0">
              <a:buNone/>
            </a:pPr>
            <a:r>
              <a:rPr lang="fr-FR" sz="1400" b="1" dirty="0">
                <a:solidFill>
                  <a:srgbClr val="FFFFFF"/>
                </a:solidFill>
                <a:latin typeface="Source Sans 3" pitchFamily="34" charset="0"/>
                <a:ea typeface="Source Sans 3" pitchFamily="34" charset="-122"/>
                <a:cs typeface="Source Sans 3" pitchFamily="34" charset="-120"/>
              </a:rPr>
              <a:t>1</a:t>
            </a:r>
            <a:endParaRPr lang="fr-FR" sz="1400" dirty="0"/>
          </a:p>
        </p:txBody>
      </p:sp>
      <p:sp>
        <p:nvSpPr>
          <p:cNvPr id="7" name="Text 5"/>
          <p:cNvSpPr txBox="1"/>
          <p:nvPr/>
        </p:nvSpPr>
        <p:spPr>
          <a:xfrm>
            <a:off x="971550" y="1543050"/>
            <a:ext cx="4819650" cy="533400"/>
          </a:xfrm>
          <a:prstGeom prst="rect">
            <a:avLst/>
          </a:prstGeom>
          <a:noFill/>
          <a:ln/>
        </p:spPr>
        <p:txBody>
          <a:bodyPr wrap="square" lIns="0" tIns="0" rIns="0" bIns="0" rtlCol="0" anchor="t">
            <a:normAutofit/>
          </a:bodyPr>
          <a:lstStyle/>
          <a:p>
            <a:pPr indent="0" marL="0">
              <a:buNone/>
            </a:pPr>
            <a:r>
              <a:rPr lang="fr-FR" sz="1500" dirty="0">
                <a:solidFill>
                  <a:srgbClr val="434343"/>
                </a:solidFill>
                <a:latin typeface="Source Sans 3" pitchFamily="34" charset="0"/>
                <a:ea typeface="Source Sans 3" pitchFamily="34" charset="-122"/>
                <a:cs typeface="Source Sans 3" pitchFamily="34" charset="-120"/>
              </a:rPr>
              <a:t>Un bogue par message.</a:t>
            </a:r>
            <a:endParaRPr lang="fr-FR" sz="1500" dirty="0"/>
          </a:p>
        </p:txBody>
      </p:sp>
      <p:sp>
        <p:nvSpPr>
          <p:cNvPr id="8" name="Shape 6"/>
          <p:cNvSpPr/>
          <p:nvPr/>
        </p:nvSpPr>
        <p:spPr>
          <a:xfrm>
            <a:off x="457200" y="2133600"/>
            <a:ext cx="323850" cy="323850"/>
          </a:xfrm>
          <a:prstGeom prst="rect">
            <a:avLst/>
          </a:prstGeom>
          <a:solidFill>
            <a:srgbClr val="01458E"/>
          </a:solidFill>
          <a:ln w="12700">
            <a:solidFill>
              <a:srgbClr val="01458E"/>
            </a:solidFill>
            <a:prstDash val="solid"/>
          </a:ln>
        </p:spPr>
      </p:sp>
      <p:sp>
        <p:nvSpPr>
          <p:cNvPr id="9" name="Text 7"/>
          <p:cNvSpPr txBox="1"/>
          <p:nvPr/>
        </p:nvSpPr>
        <p:spPr>
          <a:xfrm>
            <a:off x="457200" y="2133600"/>
            <a:ext cx="323850" cy="323850"/>
          </a:xfrm>
          <a:prstGeom prst="rect">
            <a:avLst/>
          </a:prstGeom>
          <a:noFill/>
          <a:ln/>
        </p:spPr>
        <p:txBody>
          <a:bodyPr wrap="square" lIns="0" tIns="0" rIns="0" bIns="0" rtlCol="0" anchor="ctr"/>
          <a:lstStyle/>
          <a:p>
            <a:pPr algn="ctr" indent="0" marL="0">
              <a:buNone/>
            </a:pPr>
            <a:r>
              <a:rPr lang="fr-FR" sz="1400" b="1" dirty="0">
                <a:solidFill>
                  <a:srgbClr val="FFFFFF"/>
                </a:solidFill>
                <a:latin typeface="Source Sans 3" pitchFamily="34" charset="0"/>
                <a:ea typeface="Source Sans 3" pitchFamily="34" charset="-122"/>
                <a:cs typeface="Source Sans 3" pitchFamily="34" charset="-120"/>
              </a:rPr>
              <a:t>2</a:t>
            </a:r>
            <a:endParaRPr lang="fr-FR" sz="1400" dirty="0"/>
          </a:p>
        </p:txBody>
      </p:sp>
      <p:sp>
        <p:nvSpPr>
          <p:cNvPr id="10" name="Text 8"/>
          <p:cNvSpPr txBox="1"/>
          <p:nvPr/>
        </p:nvSpPr>
        <p:spPr>
          <a:xfrm>
            <a:off x="971550" y="2114550"/>
            <a:ext cx="4819650" cy="533400"/>
          </a:xfrm>
          <a:prstGeom prst="rect">
            <a:avLst/>
          </a:prstGeom>
          <a:noFill/>
          <a:ln/>
        </p:spPr>
        <p:txBody>
          <a:bodyPr wrap="square" lIns="0" tIns="0" rIns="0" bIns="0" rtlCol="0" anchor="t">
            <a:normAutofit/>
          </a:bodyPr>
          <a:lstStyle/>
          <a:p>
            <a:pPr indent="0" marL="0">
              <a:buNone/>
            </a:pPr>
            <a:r>
              <a:rPr lang="fr-FR" sz="1500" dirty="0">
                <a:solidFill>
                  <a:srgbClr val="434343"/>
                </a:solidFill>
                <a:latin typeface="Source Sans 3" pitchFamily="34" charset="0"/>
                <a:ea typeface="Source Sans 3" pitchFamily="34" charset="-122"/>
                <a:cs typeface="Source Sans 3" pitchFamily="34" charset="-120"/>
              </a:rPr>
              <a:t>Dites ce que vous attendiez, et ce qui s'est passé à la place.</a:t>
            </a:r>
            <a:endParaRPr lang="fr-FR" sz="1500" dirty="0"/>
          </a:p>
        </p:txBody>
      </p:sp>
      <p:sp>
        <p:nvSpPr>
          <p:cNvPr id="11" name="Shape 9"/>
          <p:cNvSpPr/>
          <p:nvPr/>
        </p:nvSpPr>
        <p:spPr>
          <a:xfrm>
            <a:off x="457200" y="2705100"/>
            <a:ext cx="323850" cy="323850"/>
          </a:xfrm>
          <a:prstGeom prst="rect">
            <a:avLst/>
          </a:prstGeom>
          <a:solidFill>
            <a:srgbClr val="01458E"/>
          </a:solidFill>
          <a:ln w="12700">
            <a:solidFill>
              <a:srgbClr val="01458E"/>
            </a:solidFill>
            <a:prstDash val="solid"/>
          </a:ln>
        </p:spPr>
      </p:sp>
      <p:sp>
        <p:nvSpPr>
          <p:cNvPr id="12" name="Text 10"/>
          <p:cNvSpPr txBox="1"/>
          <p:nvPr/>
        </p:nvSpPr>
        <p:spPr>
          <a:xfrm>
            <a:off x="457200" y="2705100"/>
            <a:ext cx="323850" cy="323850"/>
          </a:xfrm>
          <a:prstGeom prst="rect">
            <a:avLst/>
          </a:prstGeom>
          <a:noFill/>
          <a:ln/>
        </p:spPr>
        <p:txBody>
          <a:bodyPr wrap="square" lIns="0" tIns="0" rIns="0" bIns="0" rtlCol="0" anchor="ctr"/>
          <a:lstStyle/>
          <a:p>
            <a:pPr algn="ctr" indent="0" marL="0">
              <a:buNone/>
            </a:pPr>
            <a:r>
              <a:rPr lang="fr-FR" sz="1400" b="1" dirty="0">
                <a:solidFill>
                  <a:srgbClr val="FFFFFF"/>
                </a:solidFill>
                <a:latin typeface="Source Sans 3" pitchFamily="34" charset="0"/>
                <a:ea typeface="Source Sans 3" pitchFamily="34" charset="-122"/>
                <a:cs typeface="Source Sans 3" pitchFamily="34" charset="-120"/>
              </a:rPr>
              <a:t>3</a:t>
            </a:r>
            <a:endParaRPr lang="fr-FR" sz="1400" dirty="0"/>
          </a:p>
        </p:txBody>
      </p:sp>
      <p:sp>
        <p:nvSpPr>
          <p:cNvPr id="13" name="Text 11"/>
          <p:cNvSpPr txBox="1"/>
          <p:nvPr/>
        </p:nvSpPr>
        <p:spPr>
          <a:xfrm>
            <a:off x="971550" y="2686050"/>
            <a:ext cx="4819650" cy="533400"/>
          </a:xfrm>
          <a:prstGeom prst="rect">
            <a:avLst/>
          </a:prstGeom>
          <a:noFill/>
          <a:ln/>
        </p:spPr>
        <p:txBody>
          <a:bodyPr wrap="square" lIns="0" tIns="0" rIns="0" bIns="0" rtlCol="0" anchor="t">
            <a:normAutofit/>
          </a:bodyPr>
          <a:lstStyle/>
          <a:p>
            <a:pPr indent="0" marL="0">
              <a:buNone/>
            </a:pPr>
            <a:r>
              <a:rPr lang="fr-FR" sz="1500" dirty="0">
                <a:solidFill>
                  <a:srgbClr val="434343"/>
                </a:solidFill>
                <a:latin typeface="Source Sans 3" pitchFamily="34" charset="0"/>
                <a:ea typeface="Source Sans 3" pitchFamily="34" charset="-122"/>
                <a:cs typeface="Source Sans 3" pitchFamily="34" charset="-120"/>
              </a:rPr>
              <a:t>Indiquez votre version de la Distribution Madagascar et d'OpenELIS Global.</a:t>
            </a:r>
            <a:endParaRPr lang="fr-FR" sz="1500" dirty="0"/>
          </a:p>
        </p:txBody>
      </p:sp>
      <p:sp>
        <p:nvSpPr>
          <p:cNvPr id="14" name="Shape 12"/>
          <p:cNvSpPr/>
          <p:nvPr/>
        </p:nvSpPr>
        <p:spPr>
          <a:xfrm>
            <a:off x="457200" y="3276600"/>
            <a:ext cx="323850" cy="323850"/>
          </a:xfrm>
          <a:prstGeom prst="rect">
            <a:avLst/>
          </a:prstGeom>
          <a:solidFill>
            <a:srgbClr val="01458E"/>
          </a:solidFill>
          <a:ln w="12700">
            <a:solidFill>
              <a:srgbClr val="01458E"/>
            </a:solidFill>
            <a:prstDash val="solid"/>
          </a:ln>
        </p:spPr>
      </p:sp>
      <p:sp>
        <p:nvSpPr>
          <p:cNvPr id="15" name="Text 13"/>
          <p:cNvSpPr txBox="1"/>
          <p:nvPr/>
        </p:nvSpPr>
        <p:spPr>
          <a:xfrm>
            <a:off x="457200" y="3276600"/>
            <a:ext cx="323850" cy="323850"/>
          </a:xfrm>
          <a:prstGeom prst="rect">
            <a:avLst/>
          </a:prstGeom>
          <a:noFill/>
          <a:ln/>
        </p:spPr>
        <p:txBody>
          <a:bodyPr wrap="square" lIns="0" tIns="0" rIns="0" bIns="0" rtlCol="0" anchor="ctr"/>
          <a:lstStyle/>
          <a:p>
            <a:pPr algn="ctr" indent="0" marL="0">
              <a:buNone/>
            </a:pPr>
            <a:r>
              <a:rPr lang="fr-FR" sz="1400" b="1" dirty="0">
                <a:solidFill>
                  <a:srgbClr val="FFFFFF"/>
                </a:solidFill>
                <a:latin typeface="Source Sans 3" pitchFamily="34" charset="0"/>
                <a:ea typeface="Source Sans 3" pitchFamily="34" charset="-122"/>
                <a:cs typeface="Source Sans 3" pitchFamily="34" charset="-120"/>
              </a:rPr>
              <a:t>4</a:t>
            </a:r>
            <a:endParaRPr lang="fr-FR" sz="1400" dirty="0"/>
          </a:p>
        </p:txBody>
      </p:sp>
      <p:sp>
        <p:nvSpPr>
          <p:cNvPr id="16" name="Text 14"/>
          <p:cNvSpPr txBox="1"/>
          <p:nvPr/>
        </p:nvSpPr>
        <p:spPr>
          <a:xfrm>
            <a:off x="971550" y="3257550"/>
            <a:ext cx="4819650" cy="533400"/>
          </a:xfrm>
          <a:prstGeom prst="rect">
            <a:avLst/>
          </a:prstGeom>
          <a:noFill/>
          <a:ln/>
        </p:spPr>
        <p:txBody>
          <a:bodyPr wrap="square" lIns="0" tIns="0" rIns="0" bIns="0" rtlCol="0" anchor="t">
            <a:normAutofit/>
          </a:bodyPr>
          <a:lstStyle/>
          <a:p>
            <a:pPr indent="0" marL="0">
              <a:buNone/>
            </a:pPr>
            <a:r>
              <a:rPr lang="fr-FR" sz="1500" dirty="0">
                <a:solidFill>
                  <a:srgbClr val="434343"/>
                </a:solidFill>
                <a:latin typeface="Source Sans 3" pitchFamily="34" charset="0"/>
                <a:ea typeface="Source Sans 3" pitchFamily="34" charset="-122"/>
                <a:cs typeface="Source Sans 3" pitchFamily="34" charset="-120"/>
              </a:rPr>
              <a:t>Donnez les étapes pour reproduire le problème.</a:t>
            </a:r>
            <a:endParaRPr lang="fr-FR" sz="1500" dirty="0"/>
          </a:p>
        </p:txBody>
      </p:sp>
      <p:sp>
        <p:nvSpPr>
          <p:cNvPr id="17" name="Shape 15"/>
          <p:cNvSpPr/>
          <p:nvPr/>
        </p:nvSpPr>
        <p:spPr>
          <a:xfrm>
            <a:off x="457200" y="3848100"/>
            <a:ext cx="323850" cy="323850"/>
          </a:xfrm>
          <a:prstGeom prst="rect">
            <a:avLst/>
          </a:prstGeom>
          <a:solidFill>
            <a:srgbClr val="01458E"/>
          </a:solidFill>
          <a:ln w="12700">
            <a:solidFill>
              <a:srgbClr val="01458E"/>
            </a:solidFill>
            <a:prstDash val="solid"/>
          </a:ln>
        </p:spPr>
      </p:sp>
      <p:sp>
        <p:nvSpPr>
          <p:cNvPr id="18" name="Text 16"/>
          <p:cNvSpPr txBox="1"/>
          <p:nvPr/>
        </p:nvSpPr>
        <p:spPr>
          <a:xfrm>
            <a:off x="457200" y="3848100"/>
            <a:ext cx="323850" cy="323850"/>
          </a:xfrm>
          <a:prstGeom prst="rect">
            <a:avLst/>
          </a:prstGeom>
          <a:noFill/>
          <a:ln/>
        </p:spPr>
        <p:txBody>
          <a:bodyPr wrap="square" lIns="0" tIns="0" rIns="0" bIns="0" rtlCol="0" anchor="ctr"/>
          <a:lstStyle/>
          <a:p>
            <a:pPr algn="ctr" indent="0" marL="0">
              <a:buNone/>
            </a:pPr>
            <a:r>
              <a:rPr lang="fr-FR" sz="1400" b="1" dirty="0">
                <a:solidFill>
                  <a:srgbClr val="FFFFFF"/>
                </a:solidFill>
                <a:latin typeface="Source Sans 3" pitchFamily="34" charset="0"/>
                <a:ea typeface="Source Sans 3" pitchFamily="34" charset="-122"/>
                <a:cs typeface="Source Sans 3" pitchFamily="34" charset="-120"/>
              </a:rPr>
              <a:t>5</a:t>
            </a:r>
            <a:endParaRPr lang="fr-FR" sz="1400" dirty="0"/>
          </a:p>
        </p:txBody>
      </p:sp>
      <p:sp>
        <p:nvSpPr>
          <p:cNvPr id="19" name="Text 17"/>
          <p:cNvSpPr txBox="1"/>
          <p:nvPr/>
        </p:nvSpPr>
        <p:spPr>
          <a:xfrm>
            <a:off x="971550" y="3829050"/>
            <a:ext cx="4819650" cy="533400"/>
          </a:xfrm>
          <a:prstGeom prst="rect">
            <a:avLst/>
          </a:prstGeom>
          <a:noFill/>
          <a:ln/>
        </p:spPr>
        <p:txBody>
          <a:bodyPr wrap="square" lIns="0" tIns="0" rIns="0" bIns="0" rtlCol="0" anchor="t">
            <a:normAutofit/>
          </a:bodyPr>
          <a:lstStyle/>
          <a:p>
            <a:pPr indent="0" marL="0">
              <a:buNone/>
            </a:pPr>
            <a:r>
              <a:rPr lang="fr-FR" sz="1500" dirty="0">
                <a:solidFill>
                  <a:srgbClr val="434343"/>
                </a:solidFill>
                <a:latin typeface="Source Sans 3" pitchFamily="34" charset="0"/>
                <a:ea typeface="Source Sans 3" pitchFamily="34" charset="-122"/>
                <a:cs typeface="Source Sans 3" pitchFamily="34" charset="-120"/>
              </a:rPr>
              <a:t>Joignez le message d'erreur exact, une capture d'écran ou le journal.</a:t>
            </a:r>
            <a:endParaRPr lang="fr-FR" sz="1500" dirty="0"/>
          </a:p>
        </p:txBody>
      </p:sp>
      <p:sp>
        <p:nvSpPr>
          <p:cNvPr id="20" name="Shape 18"/>
          <p:cNvSpPr/>
          <p:nvPr/>
        </p:nvSpPr>
        <p:spPr>
          <a:xfrm>
            <a:off x="6210300" y="1562100"/>
            <a:ext cx="2476500" cy="2667000"/>
          </a:xfrm>
          <a:prstGeom prst="rect">
            <a:avLst/>
          </a:prstGeom>
          <a:solidFill>
            <a:srgbClr val="01458E"/>
          </a:solidFill>
          <a:ln w="12700">
            <a:solidFill>
              <a:srgbClr val="01458E"/>
            </a:solidFill>
            <a:prstDash val="solid"/>
          </a:ln>
        </p:spPr>
      </p:sp>
      <p:sp>
        <p:nvSpPr>
          <p:cNvPr id="21" name="Text 19"/>
          <p:cNvSpPr txBox="1"/>
          <p:nvPr/>
        </p:nvSpPr>
        <p:spPr>
          <a:xfrm>
            <a:off x="6438900" y="1562100"/>
            <a:ext cx="2019300" cy="2667000"/>
          </a:xfrm>
          <a:prstGeom prst="rect">
            <a:avLst/>
          </a:prstGeom>
          <a:noFill/>
          <a:ln/>
        </p:spPr>
        <p:txBody>
          <a:bodyPr wrap="square" lIns="0" tIns="0" rIns="0" bIns="0" rtlCol="0" anchor="ctr"/>
          <a:lstStyle/>
          <a:p>
            <a:pPr indent="0" marL="0">
              <a:buNone/>
            </a:pPr>
            <a:r>
              <a:rPr lang="fr-FR" sz="2050" b="1" dirty="0">
                <a:solidFill>
                  <a:srgbClr val="FFFFFF"/>
                </a:solidFill>
                <a:latin typeface="Source Sans 3" pitchFamily="34" charset="0"/>
                <a:ea typeface="Source Sans 3" pitchFamily="34" charset="-122"/>
                <a:cs typeface="Source Sans 3" pitchFamily="34" charset="-120"/>
              </a:rPr>
              <a:t>Un bon signalement est corrigé plus vite.</a:t>
            </a:r>
            <a:endParaRPr lang="fr-FR" sz="2050" dirty="0"/>
          </a:p>
        </p:txBody>
      </p:sp>
      <p:sp>
        <p:nvSpPr>
          <p:cNvPr id="22" name="Text 20"/>
          <p:cNvSpPr txBox="1"/>
          <p:nvPr/>
        </p:nvSpPr>
        <p:spPr>
          <a:xfrm>
            <a:off x="7953375" y="4743450"/>
            <a:ext cx="952500" cy="228600"/>
          </a:xfrm>
          <a:prstGeom prst="rect">
            <a:avLst/>
          </a:prstGeom>
          <a:noFill/>
          <a:ln/>
        </p:spPr>
        <p:txBody>
          <a:bodyPr wrap="square" lIns="0" tIns="0" rIns="0" bIns="0" rtlCol="0" anchor="t"/>
          <a:lstStyle/>
          <a:p>
            <a:pPr algn="r" indent="0" marL="0">
              <a:buNone/>
            </a:pPr>
            <a:r>
              <a:rPr lang="fr-FR" sz="1000" dirty="0">
                <a:solidFill>
                  <a:srgbClr val="888888"/>
                </a:solidFill>
                <a:latin typeface="Source Sans 3" pitchFamily="34" charset="0"/>
                <a:ea typeface="Source Sans 3" pitchFamily="34" charset="-122"/>
                <a:cs typeface="Source Sans 3" pitchFamily="34" charset="-120"/>
              </a:rPr>
              <a:t>24</a:t>
            </a:r>
            <a:endParaRPr lang="fr-FR" sz="1000" dirty="0"/>
          </a:p>
        </p:txBody>
      </p:sp>
      <p:sp>
        <p:nvSpPr>
          <p:cNvPr id="23" name="Text 21"/>
          <p:cNvSpPr txBox="1"/>
          <p:nvPr/>
        </p:nvSpPr>
        <p:spPr>
          <a:xfrm>
            <a:off x="457200" y="4743450"/>
            <a:ext cx="3810000" cy="228600"/>
          </a:xfrm>
          <a:prstGeom prst="rect">
            <a:avLst/>
          </a:prstGeom>
          <a:noFill/>
          <a:ln/>
        </p:spPr>
        <p:txBody>
          <a:bodyPr wrap="square" lIns="0" tIns="0" rIns="0" bIns="0" rtlCol="0" anchor="t"/>
          <a:lstStyle/>
          <a:p>
            <a:pPr algn="l" indent="0" marL="0">
              <a:buNone/>
            </a:pPr>
            <a:r>
              <a:rPr lang="fr-FR" sz="1000" dirty="0">
                <a:solidFill>
                  <a:srgbClr val="888888"/>
                </a:solidFill>
                <a:latin typeface="Source Sans 3" pitchFamily="34" charset="0"/>
                <a:ea typeface="Source Sans 3" pitchFamily="34" charset="-122"/>
                <a:cs typeface="Source Sans 3" pitchFamily="34" charset="-120"/>
              </a:rPr>
              <a:t>Passation eSIL Madagascar</a:t>
            </a:r>
            <a:endParaRPr lang="fr-FR" sz="100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247650"/>
            <a:ext cx="8229600" cy="209550"/>
          </a:xfrm>
          <a:prstGeom prst="rect">
            <a:avLst/>
          </a:prstGeom>
          <a:noFill/>
          <a:ln/>
        </p:spPr>
        <p:txBody>
          <a:bodyPr wrap="square" lIns="0" tIns="0" rIns="0" bIns="0" rtlCol="0" anchor="t"/>
          <a:lstStyle/>
          <a:p>
            <a:pPr indent="0" marL="0">
              <a:buNone/>
            </a:pPr>
            <a:r>
              <a:rPr lang="fr-FR" sz="1200" b="1" spc="150" kern="0" dirty="0">
                <a:solidFill>
                  <a:srgbClr val="01458E"/>
                </a:solidFill>
                <a:latin typeface="Source Sans 3" pitchFamily="34" charset="0"/>
                <a:ea typeface="Source Sans 3" pitchFamily="34" charset="-122"/>
                <a:cs typeface="Source Sans 3" pitchFamily="34" charset="-120"/>
              </a:rPr>
              <a:t>CHOISIR LE CANAL</a:t>
            </a:r>
            <a:pPr indent="0" marL="0">
              <a:buNone/>
            </a:pPr>
            <a:r>
              <a:rPr lang="fr-FR" sz="1200" dirty="0">
                <a:solidFill>
                  <a:srgbClr val="888888"/>
                </a:solidFill>
                <a:latin typeface="Source Sans 3" pitchFamily="34" charset="0"/>
                <a:ea typeface="Source Sans 3" pitchFamily="34" charset="-122"/>
                <a:cs typeface="Source Sans 3" pitchFamily="34" charset="-120"/>
              </a:rPr>
              <a:t>    Section 4 sur 7</a:t>
            </a:r>
            <a:endParaRPr lang="fr-FR" sz="1200" dirty="0"/>
          </a:p>
        </p:txBody>
      </p:sp>
      <p:sp>
        <p:nvSpPr>
          <p:cNvPr id="3" name="Shape 1"/>
          <p:cNvSpPr/>
          <p:nvPr/>
        </p:nvSpPr>
        <p:spPr>
          <a:xfrm>
            <a:off x="457200" y="533400"/>
            <a:ext cx="685800" cy="57150"/>
          </a:xfrm>
          <a:prstGeom prst="rect">
            <a:avLst/>
          </a:prstGeom>
          <a:solidFill>
            <a:srgbClr val="01458E"/>
          </a:solidFill>
          <a:ln w="12700">
            <a:solidFill>
              <a:srgbClr val="01458E"/>
            </a:solidFill>
            <a:prstDash val="solid"/>
          </a:ln>
        </p:spPr>
      </p:sp>
      <p:sp>
        <p:nvSpPr>
          <p:cNvPr id="4" name="Text 2"/>
          <p:cNvSpPr txBox="1"/>
          <p:nvPr/>
        </p:nvSpPr>
        <p:spPr>
          <a:xfrm>
            <a:off x="457200" y="704850"/>
            <a:ext cx="8229600" cy="800100"/>
          </a:xfrm>
          <a:prstGeom prst="rect">
            <a:avLst/>
          </a:prstGeom>
          <a:noFill/>
          <a:ln/>
        </p:spPr>
        <p:txBody>
          <a:bodyPr wrap="square" lIns="0" tIns="0" rIns="0" bIns="0" rtlCol="0" anchor="t">
            <a:normAutofit/>
          </a:bodyPr>
          <a:lstStyle/>
          <a:p>
            <a:pPr indent="0" marL="0">
              <a:buNone/>
            </a:pPr>
            <a:r>
              <a:rPr lang="fr-FR" sz="2350" b="1" dirty="0">
                <a:solidFill>
                  <a:srgbClr val="33006F"/>
                </a:solidFill>
                <a:latin typeface="Source Sans 3" pitchFamily="34" charset="0"/>
                <a:ea typeface="Source Sans 3" pitchFamily="34" charset="-122"/>
                <a:cs typeface="Source Sans 3" pitchFamily="34" charset="-120"/>
              </a:rPr>
              <a:t>Bien proposer une fonctionnalité</a:t>
            </a:r>
            <a:endParaRPr lang="fr-FR" sz="2350" dirty="0"/>
          </a:p>
        </p:txBody>
      </p:sp>
      <p:sp>
        <p:nvSpPr>
          <p:cNvPr id="5" name="Shape 3"/>
          <p:cNvSpPr/>
          <p:nvPr/>
        </p:nvSpPr>
        <p:spPr>
          <a:xfrm>
            <a:off x="457200" y="1562100"/>
            <a:ext cx="285750" cy="285750"/>
          </a:xfrm>
          <a:prstGeom prst="rect">
            <a:avLst/>
          </a:prstGeom>
          <a:solidFill>
            <a:srgbClr val="01458E"/>
          </a:solidFill>
          <a:ln w="12700">
            <a:solidFill>
              <a:srgbClr val="01458E"/>
            </a:solidFill>
            <a:prstDash val="solid"/>
          </a:ln>
        </p:spPr>
      </p:sp>
      <p:sp>
        <p:nvSpPr>
          <p:cNvPr id="6" name="Text 4"/>
          <p:cNvSpPr txBox="1"/>
          <p:nvPr/>
        </p:nvSpPr>
        <p:spPr>
          <a:xfrm>
            <a:off x="457200" y="1562100"/>
            <a:ext cx="285750" cy="285750"/>
          </a:xfrm>
          <a:prstGeom prst="rect">
            <a:avLst/>
          </a:prstGeom>
          <a:noFill/>
          <a:ln/>
        </p:spPr>
        <p:txBody>
          <a:bodyPr wrap="square" lIns="0" tIns="0" rIns="0" bIns="0" rtlCol="0" anchor="ctr"/>
          <a:lstStyle/>
          <a:p>
            <a:pPr algn="ctr" indent="0" marL="0">
              <a:buNone/>
            </a:pPr>
            <a:r>
              <a:rPr lang="fr-FR" sz="1300" b="1" dirty="0">
                <a:solidFill>
                  <a:srgbClr val="FFFFFF"/>
                </a:solidFill>
                <a:latin typeface="Source Sans 3" pitchFamily="34" charset="0"/>
                <a:ea typeface="Source Sans 3" pitchFamily="34" charset="-122"/>
                <a:cs typeface="Source Sans 3" pitchFamily="34" charset="-120"/>
              </a:rPr>
              <a:t>1</a:t>
            </a:r>
            <a:endParaRPr lang="fr-FR" sz="1300" dirty="0"/>
          </a:p>
        </p:txBody>
      </p:sp>
      <p:sp>
        <p:nvSpPr>
          <p:cNvPr id="7" name="Text 5"/>
          <p:cNvSpPr txBox="1"/>
          <p:nvPr/>
        </p:nvSpPr>
        <p:spPr>
          <a:xfrm>
            <a:off x="895350" y="1543050"/>
            <a:ext cx="4895850" cy="438150"/>
          </a:xfrm>
          <a:prstGeom prst="rect">
            <a:avLst/>
          </a:prstGeom>
          <a:noFill/>
          <a:ln/>
        </p:spPr>
        <p:txBody>
          <a:bodyPr wrap="square" lIns="0" tIns="0" rIns="0" bIns="0" rtlCol="0" anchor="t">
            <a:normAutofit/>
          </a:bodyPr>
          <a:lstStyle/>
          <a:p>
            <a:pPr indent="0" marL="0">
              <a:buNone/>
            </a:pPr>
            <a:r>
              <a:rPr lang="fr-FR" sz="1349" dirty="0">
                <a:solidFill>
                  <a:srgbClr val="434343"/>
                </a:solidFill>
                <a:latin typeface="Source Sans 3" pitchFamily="34" charset="0"/>
                <a:ea typeface="Source Sans 3" pitchFamily="34" charset="-122"/>
                <a:cs typeface="Source Sans 3" pitchFamily="34" charset="-120"/>
              </a:rPr>
              <a:t>Consultez d'abord la galerie de conception. </a:t>
            </a:r>
            <a:pPr indent="0" marL="0">
              <a:buNone/>
            </a:pPr>
            <a:r>
              <a:rPr lang="fr-FR" sz="1349" b="1" dirty="0">
                <a:solidFill>
                  <a:srgbClr val="33006F"/>
                </a:solidFill>
                <a:latin typeface="Source Sans 3" pitchFamily="34" charset="0"/>
                <a:ea typeface="Source Sans 3" pitchFamily="34" charset="-122"/>
                <a:cs typeface="Source Sans 3" pitchFamily="34" charset="-120"/>
              </a:rPr>
              <a:t>Si une conception existe, commentez-la là.</a:t>
            </a:r>
            <a:endParaRPr lang="fr-FR" sz="1349" dirty="0"/>
          </a:p>
        </p:txBody>
      </p:sp>
      <p:sp>
        <p:nvSpPr>
          <p:cNvPr id="8" name="Shape 6"/>
          <p:cNvSpPr/>
          <p:nvPr/>
        </p:nvSpPr>
        <p:spPr>
          <a:xfrm>
            <a:off x="457200" y="2038350"/>
            <a:ext cx="285750" cy="285750"/>
          </a:xfrm>
          <a:prstGeom prst="rect">
            <a:avLst/>
          </a:prstGeom>
          <a:solidFill>
            <a:srgbClr val="01458E"/>
          </a:solidFill>
          <a:ln w="12700">
            <a:solidFill>
              <a:srgbClr val="01458E"/>
            </a:solidFill>
            <a:prstDash val="solid"/>
          </a:ln>
        </p:spPr>
      </p:sp>
      <p:sp>
        <p:nvSpPr>
          <p:cNvPr id="9" name="Text 7"/>
          <p:cNvSpPr txBox="1"/>
          <p:nvPr/>
        </p:nvSpPr>
        <p:spPr>
          <a:xfrm>
            <a:off x="457200" y="2038350"/>
            <a:ext cx="285750" cy="285750"/>
          </a:xfrm>
          <a:prstGeom prst="rect">
            <a:avLst/>
          </a:prstGeom>
          <a:noFill/>
          <a:ln/>
        </p:spPr>
        <p:txBody>
          <a:bodyPr wrap="square" lIns="0" tIns="0" rIns="0" bIns="0" rtlCol="0" anchor="ctr"/>
          <a:lstStyle/>
          <a:p>
            <a:pPr algn="ctr" indent="0" marL="0">
              <a:buNone/>
            </a:pPr>
            <a:r>
              <a:rPr lang="fr-FR" sz="1300" b="1" dirty="0">
                <a:solidFill>
                  <a:srgbClr val="FFFFFF"/>
                </a:solidFill>
                <a:latin typeface="Source Sans 3" pitchFamily="34" charset="0"/>
                <a:ea typeface="Source Sans 3" pitchFamily="34" charset="-122"/>
                <a:cs typeface="Source Sans 3" pitchFamily="34" charset="-120"/>
              </a:rPr>
              <a:t>2</a:t>
            </a:r>
            <a:endParaRPr lang="fr-FR" sz="1300" dirty="0"/>
          </a:p>
        </p:txBody>
      </p:sp>
      <p:sp>
        <p:nvSpPr>
          <p:cNvPr id="10" name="Text 8"/>
          <p:cNvSpPr txBox="1"/>
          <p:nvPr/>
        </p:nvSpPr>
        <p:spPr>
          <a:xfrm>
            <a:off x="895350" y="2019300"/>
            <a:ext cx="4895850" cy="438150"/>
          </a:xfrm>
          <a:prstGeom prst="rect">
            <a:avLst/>
          </a:prstGeom>
          <a:noFill/>
          <a:ln/>
        </p:spPr>
        <p:txBody>
          <a:bodyPr wrap="square" lIns="0" tIns="0" rIns="0" bIns="0" rtlCol="0" anchor="t">
            <a:normAutofit/>
          </a:bodyPr>
          <a:lstStyle/>
          <a:p>
            <a:pPr indent="0" marL="0">
              <a:buNone/>
            </a:pPr>
            <a:r>
              <a:rPr lang="fr-FR" sz="1350" dirty="0">
                <a:solidFill>
                  <a:srgbClr val="434343"/>
                </a:solidFill>
                <a:latin typeface="Source Sans 3" pitchFamily="34" charset="0"/>
                <a:ea typeface="Source Sans 3" pitchFamily="34" charset="-122"/>
                <a:cs typeface="Source Sans 3" pitchFamily="34" charset="-120"/>
              </a:rPr>
              <a:t>Décrivez le problème avant la solution.</a:t>
            </a:r>
            <a:endParaRPr lang="fr-FR" sz="1350" dirty="0"/>
          </a:p>
        </p:txBody>
      </p:sp>
      <p:sp>
        <p:nvSpPr>
          <p:cNvPr id="11" name="Shape 9"/>
          <p:cNvSpPr/>
          <p:nvPr/>
        </p:nvSpPr>
        <p:spPr>
          <a:xfrm>
            <a:off x="457200" y="2514600"/>
            <a:ext cx="285750" cy="285750"/>
          </a:xfrm>
          <a:prstGeom prst="rect">
            <a:avLst/>
          </a:prstGeom>
          <a:solidFill>
            <a:srgbClr val="01458E"/>
          </a:solidFill>
          <a:ln w="12700">
            <a:solidFill>
              <a:srgbClr val="01458E"/>
            </a:solidFill>
            <a:prstDash val="solid"/>
          </a:ln>
        </p:spPr>
      </p:sp>
      <p:sp>
        <p:nvSpPr>
          <p:cNvPr id="12" name="Text 10"/>
          <p:cNvSpPr txBox="1"/>
          <p:nvPr/>
        </p:nvSpPr>
        <p:spPr>
          <a:xfrm>
            <a:off x="457200" y="2514600"/>
            <a:ext cx="285750" cy="285750"/>
          </a:xfrm>
          <a:prstGeom prst="rect">
            <a:avLst/>
          </a:prstGeom>
          <a:noFill/>
          <a:ln/>
        </p:spPr>
        <p:txBody>
          <a:bodyPr wrap="square" lIns="0" tIns="0" rIns="0" bIns="0" rtlCol="0" anchor="ctr"/>
          <a:lstStyle/>
          <a:p>
            <a:pPr algn="ctr" indent="0" marL="0">
              <a:buNone/>
            </a:pPr>
            <a:r>
              <a:rPr lang="fr-FR" sz="1300" b="1" dirty="0">
                <a:solidFill>
                  <a:srgbClr val="FFFFFF"/>
                </a:solidFill>
                <a:latin typeface="Source Sans 3" pitchFamily="34" charset="0"/>
                <a:ea typeface="Source Sans 3" pitchFamily="34" charset="-122"/>
                <a:cs typeface="Source Sans 3" pitchFamily="34" charset="-120"/>
              </a:rPr>
              <a:t>3</a:t>
            </a:r>
            <a:endParaRPr lang="fr-FR" sz="1300" dirty="0"/>
          </a:p>
        </p:txBody>
      </p:sp>
      <p:sp>
        <p:nvSpPr>
          <p:cNvPr id="13" name="Text 11"/>
          <p:cNvSpPr txBox="1"/>
          <p:nvPr/>
        </p:nvSpPr>
        <p:spPr>
          <a:xfrm>
            <a:off x="895350" y="2495550"/>
            <a:ext cx="4895850" cy="438150"/>
          </a:xfrm>
          <a:prstGeom prst="rect">
            <a:avLst/>
          </a:prstGeom>
          <a:noFill/>
          <a:ln/>
        </p:spPr>
        <p:txBody>
          <a:bodyPr wrap="square" lIns="0" tIns="0" rIns="0" bIns="0" rtlCol="0" anchor="t">
            <a:normAutofit/>
          </a:bodyPr>
          <a:lstStyle/>
          <a:p>
            <a:pPr indent="0" marL="0">
              <a:buNone/>
            </a:pPr>
            <a:r>
              <a:rPr lang="fr-FR" sz="1350" dirty="0">
                <a:solidFill>
                  <a:srgbClr val="434343"/>
                </a:solidFill>
                <a:latin typeface="Source Sans 3" pitchFamily="34" charset="0"/>
                <a:ea typeface="Source Sans 3" pitchFamily="34" charset="-122"/>
                <a:cs typeface="Source Sans 3" pitchFamily="34" charset="-120"/>
              </a:rPr>
              <a:t>Dites à qui cela sert : « À Madagascar, les laboratoires en ont besoin parce que... »</a:t>
            </a:r>
            <a:endParaRPr lang="fr-FR" sz="1350" dirty="0"/>
          </a:p>
        </p:txBody>
      </p:sp>
      <p:sp>
        <p:nvSpPr>
          <p:cNvPr id="14" name="Shape 12"/>
          <p:cNvSpPr/>
          <p:nvPr/>
        </p:nvSpPr>
        <p:spPr>
          <a:xfrm>
            <a:off x="457200" y="2990850"/>
            <a:ext cx="285750" cy="285750"/>
          </a:xfrm>
          <a:prstGeom prst="rect">
            <a:avLst/>
          </a:prstGeom>
          <a:solidFill>
            <a:srgbClr val="01458E"/>
          </a:solidFill>
          <a:ln w="12700">
            <a:solidFill>
              <a:srgbClr val="01458E"/>
            </a:solidFill>
            <a:prstDash val="solid"/>
          </a:ln>
        </p:spPr>
      </p:sp>
      <p:sp>
        <p:nvSpPr>
          <p:cNvPr id="15" name="Text 13"/>
          <p:cNvSpPr txBox="1"/>
          <p:nvPr/>
        </p:nvSpPr>
        <p:spPr>
          <a:xfrm>
            <a:off x="457200" y="2990850"/>
            <a:ext cx="285750" cy="285750"/>
          </a:xfrm>
          <a:prstGeom prst="rect">
            <a:avLst/>
          </a:prstGeom>
          <a:noFill/>
          <a:ln/>
        </p:spPr>
        <p:txBody>
          <a:bodyPr wrap="square" lIns="0" tIns="0" rIns="0" bIns="0" rtlCol="0" anchor="ctr"/>
          <a:lstStyle/>
          <a:p>
            <a:pPr algn="ctr" indent="0" marL="0">
              <a:buNone/>
            </a:pPr>
            <a:r>
              <a:rPr lang="fr-FR" sz="1300" b="1" dirty="0">
                <a:solidFill>
                  <a:srgbClr val="FFFFFF"/>
                </a:solidFill>
                <a:latin typeface="Source Sans 3" pitchFamily="34" charset="0"/>
                <a:ea typeface="Source Sans 3" pitchFamily="34" charset="-122"/>
                <a:cs typeface="Source Sans 3" pitchFamily="34" charset="-120"/>
              </a:rPr>
              <a:t>4</a:t>
            </a:r>
            <a:endParaRPr lang="fr-FR" sz="1300" dirty="0"/>
          </a:p>
        </p:txBody>
      </p:sp>
      <p:sp>
        <p:nvSpPr>
          <p:cNvPr id="16" name="Text 14"/>
          <p:cNvSpPr txBox="1"/>
          <p:nvPr/>
        </p:nvSpPr>
        <p:spPr>
          <a:xfrm>
            <a:off x="895350" y="2971800"/>
            <a:ext cx="4895850" cy="438150"/>
          </a:xfrm>
          <a:prstGeom prst="rect">
            <a:avLst/>
          </a:prstGeom>
          <a:noFill/>
          <a:ln/>
        </p:spPr>
        <p:txBody>
          <a:bodyPr wrap="square" lIns="0" tIns="0" rIns="0" bIns="0" rtlCol="0" anchor="t">
            <a:normAutofit/>
          </a:bodyPr>
          <a:lstStyle/>
          <a:p>
            <a:pPr indent="0" marL="0">
              <a:buNone/>
            </a:pPr>
            <a:r>
              <a:rPr lang="fr-FR" sz="1350" dirty="0">
                <a:solidFill>
                  <a:srgbClr val="434343"/>
                </a:solidFill>
                <a:latin typeface="Source Sans 3" pitchFamily="34" charset="0"/>
                <a:ea typeface="Source Sans 3" pitchFamily="34" charset="-122"/>
                <a:cs typeface="Source Sans 3" pitchFamily="34" charset="-120"/>
              </a:rPr>
              <a:t>Attendez-vous à une discussion. Les fonctionnalités sont débattues, pas approuvées automatiquement.</a:t>
            </a:r>
            <a:endParaRPr lang="fr-FR" sz="1350" dirty="0"/>
          </a:p>
        </p:txBody>
      </p:sp>
      <p:sp>
        <p:nvSpPr>
          <p:cNvPr id="17" name="Shape 15"/>
          <p:cNvSpPr/>
          <p:nvPr/>
        </p:nvSpPr>
        <p:spPr>
          <a:xfrm>
            <a:off x="457200" y="3467100"/>
            <a:ext cx="285750" cy="285750"/>
          </a:xfrm>
          <a:prstGeom prst="rect">
            <a:avLst/>
          </a:prstGeom>
          <a:solidFill>
            <a:srgbClr val="01458E"/>
          </a:solidFill>
          <a:ln w="12700">
            <a:solidFill>
              <a:srgbClr val="01458E"/>
            </a:solidFill>
            <a:prstDash val="solid"/>
          </a:ln>
        </p:spPr>
      </p:sp>
      <p:sp>
        <p:nvSpPr>
          <p:cNvPr id="18" name="Text 16"/>
          <p:cNvSpPr txBox="1"/>
          <p:nvPr/>
        </p:nvSpPr>
        <p:spPr>
          <a:xfrm>
            <a:off x="457200" y="3467100"/>
            <a:ext cx="285750" cy="285750"/>
          </a:xfrm>
          <a:prstGeom prst="rect">
            <a:avLst/>
          </a:prstGeom>
          <a:noFill/>
          <a:ln/>
        </p:spPr>
        <p:txBody>
          <a:bodyPr wrap="square" lIns="0" tIns="0" rIns="0" bIns="0" rtlCol="0" anchor="ctr"/>
          <a:lstStyle/>
          <a:p>
            <a:pPr algn="ctr" indent="0" marL="0">
              <a:buNone/>
            </a:pPr>
            <a:r>
              <a:rPr lang="fr-FR" sz="1300" b="1" dirty="0">
                <a:solidFill>
                  <a:srgbClr val="FFFFFF"/>
                </a:solidFill>
                <a:latin typeface="Source Sans 3" pitchFamily="34" charset="0"/>
                <a:ea typeface="Source Sans 3" pitchFamily="34" charset="-122"/>
                <a:cs typeface="Source Sans 3" pitchFamily="34" charset="-120"/>
              </a:rPr>
              <a:t>5</a:t>
            </a:r>
            <a:endParaRPr lang="fr-FR" sz="1300" dirty="0"/>
          </a:p>
        </p:txBody>
      </p:sp>
      <p:sp>
        <p:nvSpPr>
          <p:cNvPr id="19" name="Text 17"/>
          <p:cNvSpPr txBox="1"/>
          <p:nvPr/>
        </p:nvSpPr>
        <p:spPr>
          <a:xfrm>
            <a:off x="895350" y="3448050"/>
            <a:ext cx="4895850" cy="438150"/>
          </a:xfrm>
          <a:prstGeom prst="rect">
            <a:avLst/>
          </a:prstGeom>
          <a:noFill/>
          <a:ln/>
        </p:spPr>
        <p:txBody>
          <a:bodyPr wrap="square" lIns="0" tIns="0" rIns="0" bIns="0" rtlCol="0" anchor="t">
            <a:normAutofit/>
          </a:bodyPr>
          <a:lstStyle/>
          <a:p>
            <a:pPr indent="0" marL="0">
              <a:buNone/>
            </a:pPr>
            <a:r>
              <a:rPr lang="fr-FR" sz="1350" dirty="0">
                <a:solidFill>
                  <a:srgbClr val="434343"/>
                </a:solidFill>
                <a:latin typeface="Source Sans 3" pitchFamily="34" charset="0"/>
                <a:ea typeface="Source Sans 3" pitchFamily="34" charset="-122"/>
                <a:cs typeface="Source Sans 3" pitchFamily="34" charset="-120"/>
              </a:rPr>
              <a:t>Un ticket suit l'accord.</a:t>
            </a:r>
            <a:endParaRPr lang="fr-FR" sz="1350" dirty="0"/>
          </a:p>
        </p:txBody>
      </p:sp>
      <p:sp>
        <p:nvSpPr>
          <p:cNvPr id="20" name="Shape 18"/>
          <p:cNvSpPr/>
          <p:nvPr/>
        </p:nvSpPr>
        <p:spPr>
          <a:xfrm>
            <a:off x="457200" y="3943350"/>
            <a:ext cx="285750" cy="285750"/>
          </a:xfrm>
          <a:prstGeom prst="rect">
            <a:avLst/>
          </a:prstGeom>
          <a:solidFill>
            <a:srgbClr val="01458E"/>
          </a:solidFill>
          <a:ln w="12700">
            <a:solidFill>
              <a:srgbClr val="01458E"/>
            </a:solidFill>
            <a:prstDash val="solid"/>
          </a:ln>
        </p:spPr>
      </p:sp>
      <p:sp>
        <p:nvSpPr>
          <p:cNvPr id="21" name="Text 19"/>
          <p:cNvSpPr txBox="1"/>
          <p:nvPr/>
        </p:nvSpPr>
        <p:spPr>
          <a:xfrm>
            <a:off x="457200" y="3943350"/>
            <a:ext cx="285750" cy="285750"/>
          </a:xfrm>
          <a:prstGeom prst="rect">
            <a:avLst/>
          </a:prstGeom>
          <a:noFill/>
          <a:ln/>
        </p:spPr>
        <p:txBody>
          <a:bodyPr wrap="square" lIns="0" tIns="0" rIns="0" bIns="0" rtlCol="0" anchor="ctr"/>
          <a:lstStyle/>
          <a:p>
            <a:pPr algn="ctr" indent="0" marL="0">
              <a:buNone/>
            </a:pPr>
            <a:r>
              <a:rPr lang="fr-FR" sz="1300" b="1" dirty="0">
                <a:solidFill>
                  <a:srgbClr val="FFFFFF"/>
                </a:solidFill>
                <a:latin typeface="Source Sans 3" pitchFamily="34" charset="0"/>
                <a:ea typeface="Source Sans 3" pitchFamily="34" charset="-122"/>
                <a:cs typeface="Source Sans 3" pitchFamily="34" charset="-120"/>
              </a:rPr>
              <a:t>6</a:t>
            </a:r>
            <a:endParaRPr lang="fr-FR" sz="1300" dirty="0"/>
          </a:p>
        </p:txBody>
      </p:sp>
      <p:sp>
        <p:nvSpPr>
          <p:cNvPr id="22" name="Text 20"/>
          <p:cNvSpPr txBox="1"/>
          <p:nvPr/>
        </p:nvSpPr>
        <p:spPr>
          <a:xfrm>
            <a:off x="895350" y="3924300"/>
            <a:ext cx="4895850" cy="438150"/>
          </a:xfrm>
          <a:prstGeom prst="rect">
            <a:avLst/>
          </a:prstGeom>
          <a:noFill/>
          <a:ln/>
        </p:spPr>
        <p:txBody>
          <a:bodyPr wrap="square" lIns="0" tIns="0" rIns="0" bIns="0" rtlCol="0" anchor="t">
            <a:normAutofit/>
          </a:bodyPr>
          <a:lstStyle/>
          <a:p>
            <a:pPr indent="0" marL="0">
              <a:buNone/>
            </a:pPr>
            <a:r>
              <a:rPr lang="fr-FR" sz="1349" dirty="0">
                <a:solidFill>
                  <a:srgbClr val="434343"/>
                </a:solidFill>
                <a:latin typeface="Source Sans 3" pitchFamily="34" charset="0"/>
                <a:ea typeface="Source Sans 3" pitchFamily="34" charset="-122"/>
                <a:cs typeface="Source Sans 3" pitchFamily="34" charset="-120"/>
              </a:rPr>
              <a:t>Pour les fonctionnalités qui entrent dans OpenELIS Global, </a:t>
            </a:r>
            <a:pPr indent="0" marL="0">
              <a:buNone/>
            </a:pPr>
            <a:r>
              <a:rPr lang="fr-FR" sz="1349" b="1" dirty="0">
                <a:solidFill>
                  <a:srgbClr val="33006F"/>
                </a:solidFill>
                <a:latin typeface="Source Sans 3" pitchFamily="34" charset="0"/>
                <a:ea typeface="Source Sans 3" pitchFamily="34" charset="-122"/>
                <a:cs typeface="Source Sans 3" pitchFamily="34" charset="-120"/>
              </a:rPr>
              <a:t>l'équipe produit de DIGI peut aider à la conception.</a:t>
            </a:r>
            <a:endParaRPr lang="fr-FR" sz="1349" dirty="0"/>
          </a:p>
        </p:txBody>
      </p:sp>
      <p:sp>
        <p:nvSpPr>
          <p:cNvPr id="23" name="Shape 21"/>
          <p:cNvSpPr/>
          <p:nvPr/>
        </p:nvSpPr>
        <p:spPr>
          <a:xfrm>
            <a:off x="6210300" y="1562100"/>
            <a:ext cx="2476500" cy="2667000"/>
          </a:xfrm>
          <a:prstGeom prst="rect">
            <a:avLst/>
          </a:prstGeom>
          <a:solidFill>
            <a:srgbClr val="01458E"/>
          </a:solidFill>
          <a:ln w="12700">
            <a:solidFill>
              <a:srgbClr val="01458E"/>
            </a:solidFill>
            <a:prstDash val="solid"/>
          </a:ln>
        </p:spPr>
      </p:sp>
      <p:sp>
        <p:nvSpPr>
          <p:cNvPr id="24" name="Text 22"/>
          <p:cNvSpPr txBox="1"/>
          <p:nvPr/>
        </p:nvSpPr>
        <p:spPr>
          <a:xfrm>
            <a:off x="6438900" y="1562100"/>
            <a:ext cx="2019300" cy="2667000"/>
          </a:xfrm>
          <a:prstGeom prst="rect">
            <a:avLst/>
          </a:prstGeom>
          <a:noFill/>
          <a:ln/>
        </p:spPr>
        <p:txBody>
          <a:bodyPr wrap="square" lIns="0" tIns="0" rIns="0" bIns="0" rtlCol="0" anchor="ctr"/>
          <a:lstStyle/>
          <a:p>
            <a:pPr indent="0" marL="0">
              <a:buNone/>
            </a:pPr>
            <a:r>
              <a:rPr lang="fr-FR" sz="2050" b="1" dirty="0">
                <a:solidFill>
                  <a:srgbClr val="FFFFFF"/>
                </a:solidFill>
                <a:latin typeface="Source Sans 3" pitchFamily="34" charset="0"/>
                <a:ea typeface="Source Sans 3" pitchFamily="34" charset="-122"/>
                <a:cs typeface="Source Sans 3" pitchFamily="34" charset="-120"/>
              </a:rPr>
              <a:t>Un cas d'usage clair est pris au sérieux.</a:t>
            </a:r>
            <a:endParaRPr lang="fr-FR" sz="2050" dirty="0"/>
          </a:p>
        </p:txBody>
      </p:sp>
      <p:sp>
        <p:nvSpPr>
          <p:cNvPr id="25" name="Text 23"/>
          <p:cNvSpPr txBox="1"/>
          <p:nvPr/>
        </p:nvSpPr>
        <p:spPr>
          <a:xfrm>
            <a:off x="7953375" y="4743450"/>
            <a:ext cx="952500" cy="228600"/>
          </a:xfrm>
          <a:prstGeom prst="rect">
            <a:avLst/>
          </a:prstGeom>
          <a:noFill/>
          <a:ln/>
        </p:spPr>
        <p:txBody>
          <a:bodyPr wrap="square" lIns="0" tIns="0" rIns="0" bIns="0" rtlCol="0" anchor="t"/>
          <a:lstStyle/>
          <a:p>
            <a:pPr algn="r" indent="0" marL="0">
              <a:buNone/>
            </a:pPr>
            <a:r>
              <a:rPr lang="fr-FR" sz="1000" dirty="0">
                <a:solidFill>
                  <a:srgbClr val="888888"/>
                </a:solidFill>
                <a:latin typeface="Source Sans 3" pitchFamily="34" charset="0"/>
                <a:ea typeface="Source Sans 3" pitchFamily="34" charset="-122"/>
                <a:cs typeface="Source Sans 3" pitchFamily="34" charset="-120"/>
              </a:rPr>
              <a:t>25</a:t>
            </a:r>
            <a:endParaRPr lang="fr-FR" sz="1000" dirty="0"/>
          </a:p>
        </p:txBody>
      </p:sp>
      <p:sp>
        <p:nvSpPr>
          <p:cNvPr id="26" name="Text 24"/>
          <p:cNvSpPr txBox="1"/>
          <p:nvPr/>
        </p:nvSpPr>
        <p:spPr>
          <a:xfrm>
            <a:off x="457200" y="4743450"/>
            <a:ext cx="3810000" cy="228600"/>
          </a:xfrm>
          <a:prstGeom prst="rect">
            <a:avLst/>
          </a:prstGeom>
          <a:noFill/>
          <a:ln/>
        </p:spPr>
        <p:txBody>
          <a:bodyPr wrap="square" lIns="0" tIns="0" rIns="0" bIns="0" rtlCol="0" anchor="t"/>
          <a:lstStyle/>
          <a:p>
            <a:pPr algn="l" indent="0" marL="0">
              <a:buNone/>
            </a:pPr>
            <a:r>
              <a:rPr lang="fr-FR" sz="1000" dirty="0">
                <a:solidFill>
                  <a:srgbClr val="888888"/>
                </a:solidFill>
                <a:latin typeface="Source Sans 3" pitchFamily="34" charset="0"/>
                <a:ea typeface="Source Sans 3" pitchFamily="34" charset="-122"/>
                <a:cs typeface="Source Sans 3" pitchFamily="34" charset="-120"/>
              </a:rPr>
              <a:t>Passation eSIL Madagascar</a:t>
            </a:r>
            <a:endParaRPr lang="fr-FR" sz="100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247650"/>
            <a:ext cx="8229600" cy="209550"/>
          </a:xfrm>
          <a:prstGeom prst="rect">
            <a:avLst/>
          </a:prstGeom>
          <a:noFill/>
          <a:ln/>
        </p:spPr>
        <p:txBody>
          <a:bodyPr wrap="square" lIns="0" tIns="0" rIns="0" bIns="0" rtlCol="0" anchor="t"/>
          <a:lstStyle/>
          <a:p>
            <a:pPr indent="0" marL="0">
              <a:buNone/>
            </a:pPr>
            <a:r>
              <a:rPr lang="fr-FR" sz="1200" b="1" spc="150" kern="0" dirty="0">
                <a:solidFill>
                  <a:srgbClr val="01458E"/>
                </a:solidFill>
                <a:latin typeface="Source Sans 3" pitchFamily="34" charset="0"/>
                <a:ea typeface="Source Sans 3" pitchFamily="34" charset="-122"/>
                <a:cs typeface="Source Sans 3" pitchFamily="34" charset="-120"/>
              </a:rPr>
              <a:t>CHOISIR LE CANAL</a:t>
            </a:r>
            <a:pPr indent="0" marL="0">
              <a:buNone/>
            </a:pPr>
            <a:r>
              <a:rPr lang="fr-FR" sz="1200" dirty="0">
                <a:solidFill>
                  <a:srgbClr val="888888"/>
                </a:solidFill>
                <a:latin typeface="Source Sans 3" pitchFamily="34" charset="0"/>
                <a:ea typeface="Source Sans 3" pitchFamily="34" charset="-122"/>
                <a:cs typeface="Source Sans 3" pitchFamily="34" charset="-120"/>
              </a:rPr>
              <a:t>    Section 4 sur 7</a:t>
            </a:r>
            <a:endParaRPr lang="fr-FR" sz="1200" dirty="0"/>
          </a:p>
        </p:txBody>
      </p:sp>
      <p:sp>
        <p:nvSpPr>
          <p:cNvPr id="3" name="Shape 1"/>
          <p:cNvSpPr/>
          <p:nvPr/>
        </p:nvSpPr>
        <p:spPr>
          <a:xfrm>
            <a:off x="457200" y="533400"/>
            <a:ext cx="685800" cy="57150"/>
          </a:xfrm>
          <a:prstGeom prst="rect">
            <a:avLst/>
          </a:prstGeom>
          <a:solidFill>
            <a:srgbClr val="01458E"/>
          </a:solidFill>
          <a:ln w="12700">
            <a:solidFill>
              <a:srgbClr val="01458E"/>
            </a:solidFill>
            <a:prstDash val="solid"/>
          </a:ln>
        </p:spPr>
      </p:sp>
      <p:sp>
        <p:nvSpPr>
          <p:cNvPr id="4" name="Text 2"/>
          <p:cNvSpPr txBox="1"/>
          <p:nvPr/>
        </p:nvSpPr>
        <p:spPr>
          <a:xfrm>
            <a:off x="457200" y="704850"/>
            <a:ext cx="8229600" cy="800100"/>
          </a:xfrm>
          <a:prstGeom prst="rect">
            <a:avLst/>
          </a:prstGeom>
          <a:noFill/>
          <a:ln/>
        </p:spPr>
        <p:txBody>
          <a:bodyPr wrap="square" lIns="0" tIns="0" rIns="0" bIns="0" rtlCol="0" anchor="t">
            <a:normAutofit/>
          </a:bodyPr>
          <a:lstStyle/>
          <a:p>
            <a:pPr indent="0" marL="0">
              <a:buNone/>
            </a:pPr>
            <a:r>
              <a:rPr lang="fr-FR" sz="2350" b="1" dirty="0">
                <a:solidFill>
                  <a:srgbClr val="33006F"/>
                </a:solidFill>
                <a:latin typeface="Source Sans 3" pitchFamily="34" charset="0"/>
                <a:ea typeface="Source Sans 3" pitchFamily="34" charset="-122"/>
                <a:cs typeface="Source Sans 3" pitchFamily="34" charset="-120"/>
              </a:rPr>
              <a:t>Travailler avec vos propres développeurs</a:t>
            </a:r>
            <a:endParaRPr lang="fr-FR" sz="2350" dirty="0"/>
          </a:p>
        </p:txBody>
      </p:sp>
      <p:sp>
        <p:nvSpPr>
          <p:cNvPr id="5" name="Text 3"/>
          <p:cNvSpPr txBox="1"/>
          <p:nvPr/>
        </p:nvSpPr>
        <p:spPr>
          <a:xfrm>
            <a:off x="457200" y="1504950"/>
            <a:ext cx="8229600" cy="323850"/>
          </a:xfrm>
          <a:prstGeom prst="rect">
            <a:avLst/>
          </a:prstGeom>
          <a:noFill/>
          <a:ln/>
        </p:spPr>
        <p:txBody>
          <a:bodyPr wrap="square" lIns="0" tIns="0" rIns="0" bIns="0" rtlCol="0" anchor="t"/>
          <a:lstStyle/>
          <a:p>
            <a:pPr indent="0" marL="0">
              <a:buNone/>
            </a:pPr>
            <a:r>
              <a:rPr lang="fr-FR" sz="1200" dirty="0">
                <a:solidFill>
                  <a:srgbClr val="5B5670"/>
                </a:solidFill>
                <a:latin typeface="Source Sans 3" pitchFamily="34" charset="0"/>
                <a:ea typeface="Source Sans 3" pitchFamily="34" charset="-122"/>
                <a:cs typeface="Source Sans 3" pitchFamily="34" charset="-120"/>
              </a:rPr>
              <a:t>Si le Ministère engage un développeur ou une entreprise pour développer une fonctionnalité ou corriger un bogue :</a:t>
            </a:r>
            <a:endParaRPr lang="fr-FR" sz="1200" dirty="0"/>
          </a:p>
        </p:txBody>
      </p:sp>
      <p:sp>
        <p:nvSpPr>
          <p:cNvPr id="6" name="Shape 4"/>
          <p:cNvSpPr/>
          <p:nvPr/>
        </p:nvSpPr>
        <p:spPr>
          <a:xfrm>
            <a:off x="457200" y="1847850"/>
            <a:ext cx="266700" cy="266700"/>
          </a:xfrm>
          <a:prstGeom prst="rect">
            <a:avLst/>
          </a:prstGeom>
          <a:solidFill>
            <a:srgbClr val="01458E"/>
          </a:solidFill>
          <a:ln w="12700">
            <a:solidFill>
              <a:srgbClr val="01458E"/>
            </a:solidFill>
            <a:prstDash val="solid"/>
          </a:ln>
        </p:spPr>
      </p:sp>
      <p:sp>
        <p:nvSpPr>
          <p:cNvPr id="7" name="Text 5"/>
          <p:cNvSpPr txBox="1"/>
          <p:nvPr/>
        </p:nvSpPr>
        <p:spPr>
          <a:xfrm>
            <a:off x="457200" y="1847850"/>
            <a:ext cx="266700" cy="266700"/>
          </a:xfrm>
          <a:prstGeom prst="rect">
            <a:avLst/>
          </a:prstGeom>
          <a:noFill/>
          <a:ln/>
        </p:spPr>
        <p:txBody>
          <a:bodyPr wrap="square" lIns="0" tIns="0" rIns="0" bIns="0" rtlCol="0" anchor="ctr"/>
          <a:lstStyle/>
          <a:p>
            <a:pPr algn="ctr" indent="0" marL="0">
              <a:buNone/>
            </a:pPr>
            <a:r>
              <a:rPr lang="fr-FR" sz="1200" b="1" dirty="0">
                <a:solidFill>
                  <a:srgbClr val="FFFFFF"/>
                </a:solidFill>
                <a:latin typeface="Source Sans 3" pitchFamily="34" charset="0"/>
                <a:ea typeface="Source Sans 3" pitchFamily="34" charset="-122"/>
                <a:cs typeface="Source Sans 3" pitchFamily="34" charset="-120"/>
              </a:rPr>
              <a:t>1</a:t>
            </a:r>
            <a:endParaRPr lang="fr-FR" sz="1200" dirty="0"/>
          </a:p>
        </p:txBody>
      </p:sp>
      <p:sp>
        <p:nvSpPr>
          <p:cNvPr id="8" name="Text 6"/>
          <p:cNvSpPr txBox="1"/>
          <p:nvPr/>
        </p:nvSpPr>
        <p:spPr>
          <a:xfrm>
            <a:off x="876300" y="1828800"/>
            <a:ext cx="7810500" cy="381000"/>
          </a:xfrm>
          <a:prstGeom prst="rect">
            <a:avLst/>
          </a:prstGeom>
          <a:noFill/>
          <a:ln/>
        </p:spPr>
        <p:txBody>
          <a:bodyPr wrap="square" lIns="0" tIns="0" rIns="0" bIns="0" rtlCol="0" anchor="t">
            <a:normAutofit/>
          </a:bodyPr>
          <a:lstStyle/>
          <a:p>
            <a:pPr indent="0" marL="0">
              <a:buNone/>
            </a:pPr>
            <a:r>
              <a:rPr lang="fr-FR" sz="1302" dirty="0">
                <a:solidFill>
                  <a:srgbClr val="434343"/>
                </a:solidFill>
                <a:latin typeface="Source Sans 3" pitchFamily="34" charset="0"/>
                <a:ea typeface="Source Sans 3" pitchFamily="34" charset="-122"/>
                <a:cs typeface="Source Sans 3" pitchFamily="34" charset="-120"/>
              </a:rPr>
              <a:t>Le développeur publie son plan dans Development avant d'écrire du code. </a:t>
            </a:r>
            <a:pPr indent="0" marL="0">
              <a:buNone/>
            </a:pPr>
            <a:r>
              <a:rPr lang="fr-FR" sz="1302" dirty="0">
                <a:solidFill>
                  <a:srgbClr val="888888"/>
                </a:solidFill>
                <a:latin typeface="Source Sans 3" pitchFamily="34" charset="0"/>
                <a:ea typeface="Source Sans 3" pitchFamily="34" charset="-122"/>
                <a:cs typeface="Source Sans 3" pitchFamily="34" charset="-120"/>
              </a:rPr>
              <a:t>Cela évite le travail en double.</a:t>
            </a:r>
            <a:endParaRPr lang="fr-FR" sz="1302" dirty="0"/>
          </a:p>
        </p:txBody>
      </p:sp>
      <p:sp>
        <p:nvSpPr>
          <p:cNvPr id="9" name="Shape 7"/>
          <p:cNvSpPr/>
          <p:nvPr/>
        </p:nvSpPr>
        <p:spPr>
          <a:xfrm>
            <a:off x="457200" y="2266950"/>
            <a:ext cx="266700" cy="266700"/>
          </a:xfrm>
          <a:prstGeom prst="rect">
            <a:avLst/>
          </a:prstGeom>
          <a:solidFill>
            <a:srgbClr val="01458E"/>
          </a:solidFill>
          <a:ln w="12700">
            <a:solidFill>
              <a:srgbClr val="01458E"/>
            </a:solidFill>
            <a:prstDash val="solid"/>
          </a:ln>
        </p:spPr>
      </p:sp>
      <p:sp>
        <p:nvSpPr>
          <p:cNvPr id="10" name="Text 8"/>
          <p:cNvSpPr txBox="1"/>
          <p:nvPr/>
        </p:nvSpPr>
        <p:spPr>
          <a:xfrm>
            <a:off x="457200" y="2266950"/>
            <a:ext cx="266700" cy="266700"/>
          </a:xfrm>
          <a:prstGeom prst="rect">
            <a:avLst/>
          </a:prstGeom>
          <a:noFill/>
          <a:ln/>
        </p:spPr>
        <p:txBody>
          <a:bodyPr wrap="square" lIns="0" tIns="0" rIns="0" bIns="0" rtlCol="0" anchor="ctr"/>
          <a:lstStyle/>
          <a:p>
            <a:pPr algn="ctr" indent="0" marL="0">
              <a:buNone/>
            </a:pPr>
            <a:r>
              <a:rPr lang="fr-FR" sz="1200" b="1" dirty="0">
                <a:solidFill>
                  <a:srgbClr val="FFFFFF"/>
                </a:solidFill>
                <a:latin typeface="Source Sans 3" pitchFamily="34" charset="0"/>
                <a:ea typeface="Source Sans 3" pitchFamily="34" charset="-122"/>
                <a:cs typeface="Source Sans 3" pitchFamily="34" charset="-120"/>
              </a:rPr>
              <a:t>2</a:t>
            </a:r>
            <a:endParaRPr lang="fr-FR" sz="1200" dirty="0"/>
          </a:p>
        </p:txBody>
      </p:sp>
      <p:sp>
        <p:nvSpPr>
          <p:cNvPr id="11" name="Text 9"/>
          <p:cNvSpPr txBox="1"/>
          <p:nvPr/>
        </p:nvSpPr>
        <p:spPr>
          <a:xfrm>
            <a:off x="876300" y="2247900"/>
            <a:ext cx="7810500" cy="381000"/>
          </a:xfrm>
          <a:prstGeom prst="rect">
            <a:avLst/>
          </a:prstGeom>
          <a:noFill/>
          <a:ln/>
        </p:spPr>
        <p:txBody>
          <a:bodyPr wrap="square" lIns="0" tIns="0" rIns="0" bIns="0" rtlCol="0" anchor="t">
            <a:normAutofit/>
          </a:bodyPr>
          <a:lstStyle/>
          <a:p>
            <a:pPr indent="0" marL="0">
              <a:buNone/>
            </a:pPr>
            <a:r>
              <a:rPr lang="fr-FR" sz="1300" dirty="0">
                <a:solidFill>
                  <a:srgbClr val="434343"/>
                </a:solidFill>
                <a:latin typeface="Source Sans 3" pitchFamily="34" charset="0"/>
                <a:ea typeface="Source Sans 3" pitchFamily="34" charset="-122"/>
                <a:cs typeface="Source Sans 3" pitchFamily="34" charset="-120"/>
              </a:rPr>
              <a:t>Le développeur pose ses questions techniques sur le forum, Slack et l'appel du jeudi.</a:t>
            </a:r>
            <a:endParaRPr lang="fr-FR" sz="1300" dirty="0"/>
          </a:p>
        </p:txBody>
      </p:sp>
      <p:sp>
        <p:nvSpPr>
          <p:cNvPr id="12" name="Shape 10"/>
          <p:cNvSpPr/>
          <p:nvPr/>
        </p:nvSpPr>
        <p:spPr>
          <a:xfrm>
            <a:off x="457200" y="2686050"/>
            <a:ext cx="266700" cy="266700"/>
          </a:xfrm>
          <a:prstGeom prst="rect">
            <a:avLst/>
          </a:prstGeom>
          <a:solidFill>
            <a:srgbClr val="01458E"/>
          </a:solidFill>
          <a:ln w="12700">
            <a:solidFill>
              <a:srgbClr val="01458E"/>
            </a:solidFill>
            <a:prstDash val="solid"/>
          </a:ln>
        </p:spPr>
      </p:sp>
      <p:sp>
        <p:nvSpPr>
          <p:cNvPr id="13" name="Text 11"/>
          <p:cNvSpPr txBox="1"/>
          <p:nvPr/>
        </p:nvSpPr>
        <p:spPr>
          <a:xfrm>
            <a:off x="457200" y="2686050"/>
            <a:ext cx="266700" cy="266700"/>
          </a:xfrm>
          <a:prstGeom prst="rect">
            <a:avLst/>
          </a:prstGeom>
          <a:noFill/>
          <a:ln/>
        </p:spPr>
        <p:txBody>
          <a:bodyPr wrap="square" lIns="0" tIns="0" rIns="0" bIns="0" rtlCol="0" anchor="ctr"/>
          <a:lstStyle/>
          <a:p>
            <a:pPr algn="ctr" indent="0" marL="0">
              <a:buNone/>
            </a:pPr>
            <a:r>
              <a:rPr lang="fr-FR" sz="1200" b="1" dirty="0">
                <a:solidFill>
                  <a:srgbClr val="FFFFFF"/>
                </a:solidFill>
                <a:latin typeface="Source Sans 3" pitchFamily="34" charset="0"/>
                <a:ea typeface="Source Sans 3" pitchFamily="34" charset="-122"/>
                <a:cs typeface="Source Sans 3" pitchFamily="34" charset="-120"/>
              </a:rPr>
              <a:t>3</a:t>
            </a:r>
            <a:endParaRPr lang="fr-FR" sz="1200" dirty="0"/>
          </a:p>
        </p:txBody>
      </p:sp>
      <p:sp>
        <p:nvSpPr>
          <p:cNvPr id="14" name="Text 12"/>
          <p:cNvSpPr txBox="1"/>
          <p:nvPr/>
        </p:nvSpPr>
        <p:spPr>
          <a:xfrm>
            <a:off x="876300" y="2667000"/>
            <a:ext cx="7810500" cy="381000"/>
          </a:xfrm>
          <a:prstGeom prst="rect">
            <a:avLst/>
          </a:prstGeom>
          <a:noFill/>
          <a:ln/>
        </p:spPr>
        <p:txBody>
          <a:bodyPr wrap="square" lIns="0" tIns="0" rIns="0" bIns="0" rtlCol="0" anchor="t">
            <a:normAutofit/>
          </a:bodyPr>
          <a:lstStyle/>
          <a:p>
            <a:pPr indent="0" marL="0">
              <a:buNone/>
            </a:pPr>
            <a:r>
              <a:rPr lang="fr-FR" sz="1300" dirty="0">
                <a:solidFill>
                  <a:srgbClr val="434343"/>
                </a:solidFill>
                <a:latin typeface="Source Sans 3" pitchFamily="34" charset="0"/>
                <a:ea typeface="Source Sans 3" pitchFamily="34" charset="-122"/>
                <a:cs typeface="Source Sans 3" pitchFamily="34" charset="-120"/>
              </a:rPr>
              <a:t>Le code est soumis sous forme de pull request sur github.com/DIGI-UW/OpenELIS-Global-2.</a:t>
            </a:r>
            <a:endParaRPr lang="fr-FR" sz="1300" dirty="0"/>
          </a:p>
        </p:txBody>
      </p:sp>
      <p:sp>
        <p:nvSpPr>
          <p:cNvPr id="15" name="Shape 13"/>
          <p:cNvSpPr/>
          <p:nvPr/>
        </p:nvSpPr>
        <p:spPr>
          <a:xfrm>
            <a:off x="457200" y="3105150"/>
            <a:ext cx="266700" cy="266700"/>
          </a:xfrm>
          <a:prstGeom prst="rect">
            <a:avLst/>
          </a:prstGeom>
          <a:solidFill>
            <a:srgbClr val="01458E"/>
          </a:solidFill>
          <a:ln w="12700">
            <a:solidFill>
              <a:srgbClr val="01458E"/>
            </a:solidFill>
            <a:prstDash val="solid"/>
          </a:ln>
        </p:spPr>
      </p:sp>
      <p:sp>
        <p:nvSpPr>
          <p:cNvPr id="16" name="Text 14"/>
          <p:cNvSpPr txBox="1"/>
          <p:nvPr/>
        </p:nvSpPr>
        <p:spPr>
          <a:xfrm>
            <a:off x="457200" y="3105150"/>
            <a:ext cx="266700" cy="266700"/>
          </a:xfrm>
          <a:prstGeom prst="rect">
            <a:avLst/>
          </a:prstGeom>
          <a:noFill/>
          <a:ln/>
        </p:spPr>
        <p:txBody>
          <a:bodyPr wrap="square" lIns="0" tIns="0" rIns="0" bIns="0" rtlCol="0" anchor="ctr"/>
          <a:lstStyle/>
          <a:p>
            <a:pPr algn="ctr" indent="0" marL="0">
              <a:buNone/>
            </a:pPr>
            <a:r>
              <a:rPr lang="fr-FR" sz="1200" b="1" dirty="0">
                <a:solidFill>
                  <a:srgbClr val="FFFFFF"/>
                </a:solidFill>
                <a:latin typeface="Source Sans 3" pitchFamily="34" charset="0"/>
                <a:ea typeface="Source Sans 3" pitchFamily="34" charset="-122"/>
                <a:cs typeface="Source Sans 3" pitchFamily="34" charset="-120"/>
              </a:rPr>
              <a:t>4</a:t>
            </a:r>
            <a:endParaRPr lang="fr-FR" sz="1200" dirty="0"/>
          </a:p>
        </p:txBody>
      </p:sp>
      <p:sp>
        <p:nvSpPr>
          <p:cNvPr id="17" name="Text 15"/>
          <p:cNvSpPr txBox="1"/>
          <p:nvPr/>
        </p:nvSpPr>
        <p:spPr>
          <a:xfrm>
            <a:off x="876300" y="3086100"/>
            <a:ext cx="7810500" cy="381000"/>
          </a:xfrm>
          <a:prstGeom prst="rect">
            <a:avLst/>
          </a:prstGeom>
          <a:noFill/>
          <a:ln/>
        </p:spPr>
        <p:txBody>
          <a:bodyPr wrap="square" lIns="0" tIns="0" rIns="0" bIns="0" rtlCol="0" anchor="t">
            <a:normAutofit/>
          </a:bodyPr>
          <a:lstStyle/>
          <a:p>
            <a:pPr indent="0" marL="0">
              <a:buNone/>
            </a:pPr>
            <a:r>
              <a:rPr lang="fr-FR" sz="1302" dirty="0">
                <a:solidFill>
                  <a:srgbClr val="434343"/>
                </a:solidFill>
                <a:latin typeface="Source Sans 3" pitchFamily="34" charset="0"/>
                <a:ea typeface="Source Sans 3" pitchFamily="34" charset="-122"/>
                <a:cs typeface="Source Sans 3" pitchFamily="34" charset="-120"/>
              </a:rPr>
              <a:t>Les mainteneurs de la communauté le relisent. </a:t>
            </a:r>
            <a:pPr indent="0" marL="0">
              <a:buNone/>
            </a:pPr>
            <a:r>
              <a:rPr lang="fr-FR" sz="1302" dirty="0">
                <a:solidFill>
                  <a:srgbClr val="888888"/>
                </a:solidFill>
                <a:latin typeface="Source Sans 3" pitchFamily="34" charset="0"/>
                <a:ea typeface="Source Sans 3" pitchFamily="34" charset="-122"/>
                <a:cs typeface="Source Sans 3" pitchFamily="34" charset="-120"/>
              </a:rPr>
              <a:t>La relecture peut prendre plusieurs tours.</a:t>
            </a:r>
            <a:endParaRPr lang="fr-FR" sz="1302" dirty="0"/>
          </a:p>
        </p:txBody>
      </p:sp>
      <p:sp>
        <p:nvSpPr>
          <p:cNvPr id="18" name="Shape 16"/>
          <p:cNvSpPr/>
          <p:nvPr/>
        </p:nvSpPr>
        <p:spPr>
          <a:xfrm>
            <a:off x="457200" y="3524250"/>
            <a:ext cx="266700" cy="266700"/>
          </a:xfrm>
          <a:prstGeom prst="rect">
            <a:avLst/>
          </a:prstGeom>
          <a:solidFill>
            <a:srgbClr val="01458E"/>
          </a:solidFill>
          <a:ln w="12700">
            <a:solidFill>
              <a:srgbClr val="01458E"/>
            </a:solidFill>
            <a:prstDash val="solid"/>
          </a:ln>
        </p:spPr>
      </p:sp>
      <p:sp>
        <p:nvSpPr>
          <p:cNvPr id="19" name="Text 17"/>
          <p:cNvSpPr txBox="1"/>
          <p:nvPr/>
        </p:nvSpPr>
        <p:spPr>
          <a:xfrm>
            <a:off x="457200" y="3524250"/>
            <a:ext cx="266700" cy="266700"/>
          </a:xfrm>
          <a:prstGeom prst="rect">
            <a:avLst/>
          </a:prstGeom>
          <a:noFill/>
          <a:ln/>
        </p:spPr>
        <p:txBody>
          <a:bodyPr wrap="square" lIns="0" tIns="0" rIns="0" bIns="0" rtlCol="0" anchor="ctr"/>
          <a:lstStyle/>
          <a:p>
            <a:pPr algn="ctr" indent="0" marL="0">
              <a:buNone/>
            </a:pPr>
            <a:r>
              <a:rPr lang="fr-FR" sz="1200" b="1" dirty="0">
                <a:solidFill>
                  <a:srgbClr val="FFFFFF"/>
                </a:solidFill>
                <a:latin typeface="Source Sans 3" pitchFamily="34" charset="0"/>
                <a:ea typeface="Source Sans 3" pitchFamily="34" charset="-122"/>
                <a:cs typeface="Source Sans 3" pitchFamily="34" charset="-120"/>
              </a:rPr>
              <a:t>5</a:t>
            </a:r>
            <a:endParaRPr lang="fr-FR" sz="1200" dirty="0"/>
          </a:p>
        </p:txBody>
      </p:sp>
      <p:sp>
        <p:nvSpPr>
          <p:cNvPr id="20" name="Text 18"/>
          <p:cNvSpPr txBox="1"/>
          <p:nvPr/>
        </p:nvSpPr>
        <p:spPr>
          <a:xfrm>
            <a:off x="876300" y="3505200"/>
            <a:ext cx="7810500" cy="381000"/>
          </a:xfrm>
          <a:prstGeom prst="rect">
            <a:avLst/>
          </a:prstGeom>
          <a:noFill/>
          <a:ln/>
        </p:spPr>
        <p:txBody>
          <a:bodyPr wrap="square" lIns="0" tIns="0" rIns="0" bIns="0" rtlCol="0" anchor="t">
            <a:normAutofit/>
          </a:bodyPr>
          <a:lstStyle/>
          <a:p>
            <a:pPr indent="0" marL="0">
              <a:buNone/>
            </a:pPr>
            <a:r>
              <a:rPr lang="fr-FR" sz="1300" dirty="0">
                <a:solidFill>
                  <a:srgbClr val="434343"/>
                </a:solidFill>
                <a:latin typeface="Source Sans 3" pitchFamily="34" charset="0"/>
                <a:ea typeface="Source Sans 3" pitchFamily="34" charset="-122"/>
                <a:cs typeface="Source Sans 3" pitchFamily="34" charset="-120"/>
              </a:rPr>
              <a:t>Une fois fusionné, il est dans la prochaine version pour tout le monde, et il reste maintenu.</a:t>
            </a:r>
            <a:endParaRPr lang="fr-FR" sz="1300" dirty="0"/>
          </a:p>
        </p:txBody>
      </p:sp>
      <p:sp>
        <p:nvSpPr>
          <p:cNvPr id="21" name="Shape 19"/>
          <p:cNvSpPr/>
          <p:nvPr/>
        </p:nvSpPr>
        <p:spPr>
          <a:xfrm>
            <a:off x="457200" y="4000500"/>
            <a:ext cx="8229600" cy="571500"/>
          </a:xfrm>
          <a:prstGeom prst="rect">
            <a:avLst/>
          </a:prstGeom>
          <a:solidFill>
            <a:srgbClr val="33006F"/>
          </a:solidFill>
          <a:ln w="12700">
            <a:solidFill>
              <a:srgbClr val="33006F"/>
            </a:solidFill>
            <a:prstDash val="solid"/>
          </a:ln>
        </p:spPr>
      </p:sp>
      <p:sp>
        <p:nvSpPr>
          <p:cNvPr id="22" name="Text 20"/>
          <p:cNvSpPr txBox="1"/>
          <p:nvPr/>
        </p:nvSpPr>
        <p:spPr>
          <a:xfrm>
            <a:off x="685800" y="4000500"/>
            <a:ext cx="7772400" cy="571500"/>
          </a:xfrm>
          <a:prstGeom prst="rect">
            <a:avLst/>
          </a:prstGeom>
          <a:noFill/>
          <a:ln/>
        </p:spPr>
        <p:txBody>
          <a:bodyPr wrap="square" lIns="0" tIns="0" rIns="0" bIns="0" rtlCol="0" anchor="ctr"/>
          <a:lstStyle/>
          <a:p>
            <a:pPr indent="0" marL="0">
              <a:buNone/>
            </a:pPr>
            <a:r>
              <a:rPr lang="fr-FR" sz="1400" b="1" dirty="0">
                <a:solidFill>
                  <a:srgbClr val="FFFFFF"/>
                </a:solidFill>
                <a:latin typeface="Source Sans 3" pitchFamily="34" charset="0"/>
                <a:ea typeface="Source Sans 3" pitchFamily="34" charset="-122"/>
                <a:cs typeface="Source Sans 3" pitchFamily="34" charset="-120"/>
              </a:rPr>
              <a:t>Demandez à votre développeur de travailler sur le produit partagé, pas sur une copie privée. Une copie privée ne peut pas être mise à jour.</a:t>
            </a:r>
            <a:endParaRPr lang="fr-FR" sz="1400" dirty="0"/>
          </a:p>
        </p:txBody>
      </p:sp>
      <p:sp>
        <p:nvSpPr>
          <p:cNvPr id="23" name="Text 21"/>
          <p:cNvSpPr txBox="1"/>
          <p:nvPr/>
        </p:nvSpPr>
        <p:spPr>
          <a:xfrm>
            <a:off x="7953375" y="4743450"/>
            <a:ext cx="952500" cy="228600"/>
          </a:xfrm>
          <a:prstGeom prst="rect">
            <a:avLst/>
          </a:prstGeom>
          <a:noFill/>
          <a:ln/>
        </p:spPr>
        <p:txBody>
          <a:bodyPr wrap="square" lIns="0" tIns="0" rIns="0" bIns="0" rtlCol="0" anchor="t"/>
          <a:lstStyle/>
          <a:p>
            <a:pPr algn="r" indent="0" marL="0">
              <a:buNone/>
            </a:pPr>
            <a:r>
              <a:rPr lang="fr-FR" sz="1000" dirty="0">
                <a:solidFill>
                  <a:srgbClr val="888888"/>
                </a:solidFill>
                <a:latin typeface="Source Sans 3" pitchFamily="34" charset="0"/>
                <a:ea typeface="Source Sans 3" pitchFamily="34" charset="-122"/>
                <a:cs typeface="Source Sans 3" pitchFamily="34" charset="-120"/>
              </a:rPr>
              <a:t>26</a:t>
            </a:r>
            <a:endParaRPr lang="fr-FR" sz="1000" dirty="0"/>
          </a:p>
        </p:txBody>
      </p:sp>
      <p:sp>
        <p:nvSpPr>
          <p:cNvPr id="24" name="Text 22"/>
          <p:cNvSpPr txBox="1"/>
          <p:nvPr/>
        </p:nvSpPr>
        <p:spPr>
          <a:xfrm>
            <a:off x="457200" y="4743450"/>
            <a:ext cx="3810000" cy="228600"/>
          </a:xfrm>
          <a:prstGeom prst="rect">
            <a:avLst/>
          </a:prstGeom>
          <a:noFill/>
          <a:ln/>
        </p:spPr>
        <p:txBody>
          <a:bodyPr wrap="square" lIns="0" tIns="0" rIns="0" bIns="0" rtlCol="0" anchor="t"/>
          <a:lstStyle/>
          <a:p>
            <a:pPr algn="l" indent="0" marL="0">
              <a:buNone/>
            </a:pPr>
            <a:r>
              <a:rPr lang="fr-FR" sz="1000" dirty="0">
                <a:solidFill>
                  <a:srgbClr val="888888"/>
                </a:solidFill>
                <a:latin typeface="Source Sans 3" pitchFamily="34" charset="0"/>
                <a:ea typeface="Source Sans 3" pitchFamily="34" charset="-122"/>
                <a:cs typeface="Source Sans 3" pitchFamily="34" charset="-120"/>
              </a:rPr>
              <a:t>Passation eSIL Madagascar</a:t>
            </a:r>
            <a:endParaRPr lang="fr-FR" sz="100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247650"/>
            <a:ext cx="8229600" cy="209550"/>
          </a:xfrm>
          <a:prstGeom prst="rect">
            <a:avLst/>
          </a:prstGeom>
          <a:noFill/>
          <a:ln/>
        </p:spPr>
        <p:txBody>
          <a:bodyPr wrap="square" lIns="0" tIns="0" rIns="0" bIns="0" rtlCol="0" anchor="t"/>
          <a:lstStyle/>
          <a:p>
            <a:pPr indent="0" marL="0">
              <a:buNone/>
            </a:pPr>
            <a:r>
              <a:rPr lang="fr-FR" sz="1200" b="1" spc="150" kern="0" dirty="0">
                <a:solidFill>
                  <a:srgbClr val="01458E"/>
                </a:solidFill>
                <a:latin typeface="Source Sans 3" pitchFamily="34" charset="0"/>
                <a:ea typeface="Source Sans 3" pitchFamily="34" charset="-122"/>
                <a:cs typeface="Source Sans 3" pitchFamily="34" charset="-120"/>
              </a:rPr>
              <a:t>CHOISIR LE CANAL</a:t>
            </a:r>
            <a:pPr indent="0" marL="0">
              <a:buNone/>
            </a:pPr>
            <a:r>
              <a:rPr lang="fr-FR" sz="1200" dirty="0">
                <a:solidFill>
                  <a:srgbClr val="888888"/>
                </a:solidFill>
                <a:latin typeface="Source Sans 3" pitchFamily="34" charset="0"/>
                <a:ea typeface="Source Sans 3" pitchFamily="34" charset="-122"/>
                <a:cs typeface="Source Sans 3" pitchFamily="34" charset="-120"/>
              </a:rPr>
              <a:t>    Section 4 sur 7</a:t>
            </a:r>
            <a:endParaRPr lang="fr-FR" sz="1200" dirty="0"/>
          </a:p>
        </p:txBody>
      </p:sp>
      <p:sp>
        <p:nvSpPr>
          <p:cNvPr id="3" name="Shape 1"/>
          <p:cNvSpPr/>
          <p:nvPr/>
        </p:nvSpPr>
        <p:spPr>
          <a:xfrm>
            <a:off x="457200" y="533400"/>
            <a:ext cx="685800" cy="57150"/>
          </a:xfrm>
          <a:prstGeom prst="rect">
            <a:avLst/>
          </a:prstGeom>
          <a:solidFill>
            <a:srgbClr val="01458E"/>
          </a:solidFill>
          <a:ln w="12700">
            <a:solidFill>
              <a:srgbClr val="01458E"/>
            </a:solidFill>
            <a:prstDash val="solid"/>
          </a:ln>
        </p:spPr>
      </p:sp>
      <p:sp>
        <p:nvSpPr>
          <p:cNvPr id="4" name="Text 2"/>
          <p:cNvSpPr txBox="1"/>
          <p:nvPr/>
        </p:nvSpPr>
        <p:spPr>
          <a:xfrm>
            <a:off x="457200" y="704850"/>
            <a:ext cx="8229600" cy="800100"/>
          </a:xfrm>
          <a:prstGeom prst="rect">
            <a:avLst/>
          </a:prstGeom>
          <a:noFill/>
          <a:ln/>
        </p:spPr>
        <p:txBody>
          <a:bodyPr wrap="square" lIns="0" tIns="0" rIns="0" bIns="0" rtlCol="0" anchor="t">
            <a:normAutofit/>
          </a:bodyPr>
          <a:lstStyle/>
          <a:p>
            <a:pPr indent="0" marL="0">
              <a:buNone/>
            </a:pPr>
            <a:r>
              <a:rPr lang="fr-FR" sz="2350" b="1" dirty="0">
                <a:solidFill>
                  <a:srgbClr val="33006F"/>
                </a:solidFill>
                <a:latin typeface="Source Sans 3" pitchFamily="34" charset="0"/>
                <a:ea typeface="Source Sans 3" pitchFamily="34" charset="-122"/>
                <a:cs typeface="Source Sans 3" pitchFamily="34" charset="-120"/>
              </a:rPr>
              <a:t>Un exemple réel : comment la demande d'un pays est devenue un travail communautaire</a:t>
            </a:r>
            <a:endParaRPr lang="fr-FR" sz="2350" dirty="0"/>
          </a:p>
        </p:txBody>
      </p:sp>
      <p:sp>
        <p:nvSpPr>
          <p:cNvPr id="5" name="Shape 3"/>
          <p:cNvSpPr/>
          <p:nvPr/>
        </p:nvSpPr>
        <p:spPr>
          <a:xfrm>
            <a:off x="457200" y="1562100"/>
            <a:ext cx="323850" cy="323850"/>
          </a:xfrm>
          <a:prstGeom prst="rect">
            <a:avLst/>
          </a:prstGeom>
          <a:solidFill>
            <a:srgbClr val="01458E"/>
          </a:solidFill>
          <a:ln w="12700">
            <a:solidFill>
              <a:srgbClr val="01458E"/>
            </a:solidFill>
            <a:prstDash val="solid"/>
          </a:ln>
        </p:spPr>
      </p:sp>
      <p:sp>
        <p:nvSpPr>
          <p:cNvPr id="6" name="Text 4"/>
          <p:cNvSpPr txBox="1"/>
          <p:nvPr/>
        </p:nvSpPr>
        <p:spPr>
          <a:xfrm>
            <a:off x="457200" y="1562100"/>
            <a:ext cx="323850" cy="323850"/>
          </a:xfrm>
          <a:prstGeom prst="rect">
            <a:avLst/>
          </a:prstGeom>
          <a:noFill/>
          <a:ln/>
        </p:spPr>
        <p:txBody>
          <a:bodyPr wrap="square" lIns="0" tIns="0" rIns="0" bIns="0" rtlCol="0" anchor="ctr"/>
          <a:lstStyle/>
          <a:p>
            <a:pPr algn="ctr" indent="0" marL="0">
              <a:buNone/>
            </a:pPr>
            <a:r>
              <a:rPr lang="fr-FR" sz="1400" b="1" dirty="0">
                <a:solidFill>
                  <a:srgbClr val="FFFFFF"/>
                </a:solidFill>
                <a:latin typeface="Source Sans 3" pitchFamily="34" charset="0"/>
                <a:ea typeface="Source Sans 3" pitchFamily="34" charset="-122"/>
                <a:cs typeface="Source Sans 3" pitchFamily="34" charset="-120"/>
              </a:rPr>
              <a:t>1</a:t>
            </a:r>
            <a:endParaRPr lang="fr-FR" sz="1400" dirty="0"/>
          </a:p>
        </p:txBody>
      </p:sp>
      <p:sp>
        <p:nvSpPr>
          <p:cNvPr id="7" name="Text 5"/>
          <p:cNvSpPr txBox="1"/>
          <p:nvPr/>
        </p:nvSpPr>
        <p:spPr>
          <a:xfrm>
            <a:off x="457200" y="1981200"/>
            <a:ext cx="1847850" cy="285750"/>
          </a:xfrm>
          <a:prstGeom prst="rect">
            <a:avLst/>
          </a:prstGeom>
          <a:noFill/>
          <a:ln/>
        </p:spPr>
        <p:txBody>
          <a:bodyPr wrap="square" lIns="0" tIns="0" rIns="0" bIns="0" rtlCol="0" anchor="t"/>
          <a:lstStyle/>
          <a:p>
            <a:pPr indent="0" marL="0">
              <a:buNone/>
            </a:pPr>
            <a:r>
              <a:rPr lang="fr-FR" sz="1600" b="1" dirty="0">
                <a:solidFill>
                  <a:srgbClr val="33006F"/>
                </a:solidFill>
                <a:latin typeface="Source Sans 3" pitchFamily="34" charset="0"/>
                <a:ea typeface="Source Sans 3" pitchFamily="34" charset="-122"/>
                <a:cs typeface="Source Sans 3" pitchFamily="34" charset="-120"/>
              </a:rPr>
              <a:t>Demande</a:t>
            </a:r>
            <a:endParaRPr lang="fr-FR" sz="1600" dirty="0"/>
          </a:p>
        </p:txBody>
      </p:sp>
      <p:sp>
        <p:nvSpPr>
          <p:cNvPr id="8" name="Text 6"/>
          <p:cNvSpPr txBox="1"/>
          <p:nvPr/>
        </p:nvSpPr>
        <p:spPr>
          <a:xfrm>
            <a:off x="457200" y="2305050"/>
            <a:ext cx="1847850" cy="1047750"/>
          </a:xfrm>
          <a:prstGeom prst="rect">
            <a:avLst/>
          </a:prstGeom>
          <a:noFill/>
          <a:ln/>
        </p:spPr>
        <p:txBody>
          <a:bodyPr wrap="square" lIns="0" tIns="0" rIns="0" bIns="0" rtlCol="0" anchor="t"/>
          <a:lstStyle/>
          <a:p>
            <a:pPr indent="0" marL="0">
              <a:buNone/>
            </a:pPr>
            <a:r>
              <a:rPr lang="fr-FR" sz="1200" dirty="0">
                <a:solidFill>
                  <a:srgbClr val="434343"/>
                </a:solidFill>
                <a:latin typeface="Source Sans 3" pitchFamily="34" charset="0"/>
                <a:ea typeface="Source Sans 3" pitchFamily="34" charset="-122"/>
                <a:cs typeface="Source Sans 3" pitchFamily="34" charset="-120"/>
              </a:rPr>
              <a:t>Maurice avait besoin de changements dans le module d'anatomopathologie. Ils ont décrit le besoin et partagé une conception.</a:t>
            </a:r>
            <a:endParaRPr lang="fr-FR" sz="1200" dirty="0"/>
          </a:p>
        </p:txBody>
      </p:sp>
      <p:sp>
        <p:nvSpPr>
          <p:cNvPr id="9" name="Shape 7"/>
          <p:cNvSpPr/>
          <p:nvPr/>
        </p:nvSpPr>
        <p:spPr>
          <a:xfrm>
            <a:off x="2552700" y="1562100"/>
            <a:ext cx="323850" cy="323850"/>
          </a:xfrm>
          <a:prstGeom prst="rect">
            <a:avLst/>
          </a:prstGeom>
          <a:solidFill>
            <a:srgbClr val="01458E"/>
          </a:solidFill>
          <a:ln w="12700">
            <a:solidFill>
              <a:srgbClr val="01458E"/>
            </a:solidFill>
            <a:prstDash val="solid"/>
          </a:ln>
        </p:spPr>
      </p:sp>
      <p:sp>
        <p:nvSpPr>
          <p:cNvPr id="10" name="Text 8"/>
          <p:cNvSpPr txBox="1"/>
          <p:nvPr/>
        </p:nvSpPr>
        <p:spPr>
          <a:xfrm>
            <a:off x="2552700" y="1562100"/>
            <a:ext cx="323850" cy="323850"/>
          </a:xfrm>
          <a:prstGeom prst="rect">
            <a:avLst/>
          </a:prstGeom>
          <a:noFill/>
          <a:ln/>
        </p:spPr>
        <p:txBody>
          <a:bodyPr wrap="square" lIns="0" tIns="0" rIns="0" bIns="0" rtlCol="0" anchor="ctr"/>
          <a:lstStyle/>
          <a:p>
            <a:pPr algn="ctr" indent="0" marL="0">
              <a:buNone/>
            </a:pPr>
            <a:r>
              <a:rPr lang="fr-FR" sz="1400" b="1" dirty="0">
                <a:solidFill>
                  <a:srgbClr val="FFFFFF"/>
                </a:solidFill>
                <a:latin typeface="Source Sans 3" pitchFamily="34" charset="0"/>
                <a:ea typeface="Source Sans 3" pitchFamily="34" charset="-122"/>
                <a:cs typeface="Source Sans 3" pitchFamily="34" charset="-120"/>
              </a:rPr>
              <a:t>2</a:t>
            </a:r>
            <a:endParaRPr lang="fr-FR" sz="1400" dirty="0"/>
          </a:p>
        </p:txBody>
      </p:sp>
      <p:sp>
        <p:nvSpPr>
          <p:cNvPr id="11" name="Text 9"/>
          <p:cNvSpPr txBox="1"/>
          <p:nvPr/>
        </p:nvSpPr>
        <p:spPr>
          <a:xfrm>
            <a:off x="2552700" y="1981200"/>
            <a:ext cx="1847850" cy="285750"/>
          </a:xfrm>
          <a:prstGeom prst="rect">
            <a:avLst/>
          </a:prstGeom>
          <a:noFill/>
          <a:ln/>
        </p:spPr>
        <p:txBody>
          <a:bodyPr wrap="square" lIns="0" tIns="0" rIns="0" bIns="0" rtlCol="0" anchor="t"/>
          <a:lstStyle/>
          <a:p>
            <a:pPr indent="0" marL="0">
              <a:buNone/>
            </a:pPr>
            <a:r>
              <a:rPr lang="fr-FR" sz="1600" b="1" dirty="0">
                <a:solidFill>
                  <a:srgbClr val="33006F"/>
                </a:solidFill>
                <a:latin typeface="Source Sans 3" pitchFamily="34" charset="0"/>
                <a:ea typeface="Source Sans 3" pitchFamily="34" charset="-122"/>
                <a:cs typeface="Source Sans 3" pitchFamily="34" charset="-120"/>
              </a:rPr>
              <a:t>Revue de conception</a:t>
            </a:r>
            <a:endParaRPr lang="fr-FR" sz="1600" dirty="0"/>
          </a:p>
        </p:txBody>
      </p:sp>
      <p:sp>
        <p:nvSpPr>
          <p:cNvPr id="12" name="Text 10"/>
          <p:cNvSpPr txBox="1"/>
          <p:nvPr/>
        </p:nvSpPr>
        <p:spPr>
          <a:xfrm>
            <a:off x="2552700" y="2305050"/>
            <a:ext cx="1847850" cy="1047750"/>
          </a:xfrm>
          <a:prstGeom prst="rect">
            <a:avLst/>
          </a:prstGeom>
          <a:noFill/>
          <a:ln/>
        </p:spPr>
        <p:txBody>
          <a:bodyPr wrap="square" lIns="0" tIns="0" rIns="0" bIns="0" rtlCol="0" anchor="t"/>
          <a:lstStyle/>
          <a:p>
            <a:pPr indent="0" marL="0">
              <a:buNone/>
            </a:pPr>
            <a:r>
              <a:rPr lang="fr-FR" sz="1200" dirty="0">
                <a:solidFill>
                  <a:srgbClr val="434343"/>
                </a:solidFill>
                <a:latin typeface="Source Sans 3" pitchFamily="34" charset="0"/>
                <a:ea typeface="Source Sans 3" pitchFamily="34" charset="-122"/>
                <a:cs typeface="Source Sans 3" pitchFamily="34" charset="-120"/>
              </a:rPr>
              <a:t>L'équipe produit de DIGI a ajusté la conception aux normes d'interface et d'expérience utilisateur d'OpenELIS.</a:t>
            </a:r>
            <a:endParaRPr lang="fr-FR" sz="1200" dirty="0"/>
          </a:p>
        </p:txBody>
      </p:sp>
      <p:sp>
        <p:nvSpPr>
          <p:cNvPr id="13" name="Shape 11"/>
          <p:cNvSpPr/>
          <p:nvPr/>
        </p:nvSpPr>
        <p:spPr>
          <a:xfrm>
            <a:off x="4648200" y="1562100"/>
            <a:ext cx="323850" cy="323850"/>
          </a:xfrm>
          <a:prstGeom prst="rect">
            <a:avLst/>
          </a:prstGeom>
          <a:solidFill>
            <a:srgbClr val="01458E"/>
          </a:solidFill>
          <a:ln w="12700">
            <a:solidFill>
              <a:srgbClr val="01458E"/>
            </a:solidFill>
            <a:prstDash val="solid"/>
          </a:ln>
        </p:spPr>
      </p:sp>
      <p:sp>
        <p:nvSpPr>
          <p:cNvPr id="14" name="Text 12"/>
          <p:cNvSpPr txBox="1"/>
          <p:nvPr/>
        </p:nvSpPr>
        <p:spPr>
          <a:xfrm>
            <a:off x="4648200" y="1562100"/>
            <a:ext cx="323850" cy="323850"/>
          </a:xfrm>
          <a:prstGeom prst="rect">
            <a:avLst/>
          </a:prstGeom>
          <a:noFill/>
          <a:ln/>
        </p:spPr>
        <p:txBody>
          <a:bodyPr wrap="square" lIns="0" tIns="0" rIns="0" bIns="0" rtlCol="0" anchor="ctr"/>
          <a:lstStyle/>
          <a:p>
            <a:pPr algn="ctr" indent="0" marL="0">
              <a:buNone/>
            </a:pPr>
            <a:r>
              <a:rPr lang="fr-FR" sz="1400" b="1" dirty="0">
                <a:solidFill>
                  <a:srgbClr val="FFFFFF"/>
                </a:solidFill>
                <a:latin typeface="Source Sans 3" pitchFamily="34" charset="0"/>
                <a:ea typeface="Source Sans 3" pitchFamily="34" charset="-122"/>
                <a:cs typeface="Source Sans 3" pitchFamily="34" charset="-120"/>
              </a:rPr>
              <a:t>3</a:t>
            </a:r>
            <a:endParaRPr lang="fr-FR" sz="1400" dirty="0"/>
          </a:p>
        </p:txBody>
      </p:sp>
      <p:sp>
        <p:nvSpPr>
          <p:cNvPr id="15" name="Text 13"/>
          <p:cNvSpPr txBox="1"/>
          <p:nvPr/>
        </p:nvSpPr>
        <p:spPr>
          <a:xfrm>
            <a:off x="4648200" y="1981200"/>
            <a:ext cx="1847850" cy="285750"/>
          </a:xfrm>
          <a:prstGeom prst="rect">
            <a:avLst/>
          </a:prstGeom>
          <a:noFill/>
          <a:ln/>
        </p:spPr>
        <p:txBody>
          <a:bodyPr wrap="square" lIns="0" tIns="0" rIns="0" bIns="0" rtlCol="0" anchor="t"/>
          <a:lstStyle/>
          <a:p>
            <a:pPr indent="0" marL="0">
              <a:buNone/>
            </a:pPr>
            <a:r>
              <a:rPr lang="fr-FR" sz="1600" b="1" dirty="0">
                <a:solidFill>
                  <a:srgbClr val="33006F"/>
                </a:solidFill>
                <a:latin typeface="Source Sans 3" pitchFamily="34" charset="0"/>
                <a:ea typeface="Source Sans 3" pitchFamily="34" charset="-122"/>
                <a:cs typeface="Source Sans 3" pitchFamily="34" charset="-120"/>
              </a:rPr>
              <a:t>Dans la file</a:t>
            </a:r>
            <a:endParaRPr lang="fr-FR" sz="1600" dirty="0"/>
          </a:p>
        </p:txBody>
      </p:sp>
      <p:sp>
        <p:nvSpPr>
          <p:cNvPr id="16" name="Text 14"/>
          <p:cNvSpPr txBox="1"/>
          <p:nvPr/>
        </p:nvSpPr>
        <p:spPr>
          <a:xfrm>
            <a:off x="4648200" y="2305050"/>
            <a:ext cx="1847850" cy="1047750"/>
          </a:xfrm>
          <a:prstGeom prst="rect">
            <a:avLst/>
          </a:prstGeom>
          <a:noFill/>
          <a:ln/>
        </p:spPr>
        <p:txBody>
          <a:bodyPr wrap="square" lIns="0" tIns="0" rIns="0" bIns="0" rtlCol="0" anchor="t"/>
          <a:lstStyle/>
          <a:p>
            <a:pPr indent="0" marL="0">
              <a:buNone/>
            </a:pPr>
            <a:r>
              <a:rPr lang="fr-FR" sz="1200" dirty="0">
                <a:solidFill>
                  <a:srgbClr val="434343"/>
                </a:solidFill>
                <a:latin typeface="Source Sans 3" pitchFamily="34" charset="0"/>
                <a:ea typeface="Source Sans 3" pitchFamily="34" charset="-122"/>
                <a:cs typeface="Source Sans 3" pitchFamily="34" charset="-120"/>
              </a:rPr>
              <a:t>La conception est entrée dans la galerie et dans la file de travail de la communauté.</a:t>
            </a:r>
            <a:endParaRPr lang="fr-FR" sz="1200" dirty="0"/>
          </a:p>
        </p:txBody>
      </p:sp>
      <p:sp>
        <p:nvSpPr>
          <p:cNvPr id="17" name="Shape 15"/>
          <p:cNvSpPr/>
          <p:nvPr/>
        </p:nvSpPr>
        <p:spPr>
          <a:xfrm>
            <a:off x="6743700" y="1562100"/>
            <a:ext cx="323850" cy="323850"/>
          </a:xfrm>
          <a:prstGeom prst="rect">
            <a:avLst/>
          </a:prstGeom>
          <a:solidFill>
            <a:srgbClr val="01458E"/>
          </a:solidFill>
          <a:ln w="12700">
            <a:solidFill>
              <a:srgbClr val="01458E"/>
            </a:solidFill>
            <a:prstDash val="solid"/>
          </a:ln>
        </p:spPr>
      </p:sp>
      <p:sp>
        <p:nvSpPr>
          <p:cNvPr id="18" name="Text 16"/>
          <p:cNvSpPr txBox="1"/>
          <p:nvPr/>
        </p:nvSpPr>
        <p:spPr>
          <a:xfrm>
            <a:off x="6743700" y="1562100"/>
            <a:ext cx="323850" cy="323850"/>
          </a:xfrm>
          <a:prstGeom prst="rect">
            <a:avLst/>
          </a:prstGeom>
          <a:noFill/>
          <a:ln/>
        </p:spPr>
        <p:txBody>
          <a:bodyPr wrap="square" lIns="0" tIns="0" rIns="0" bIns="0" rtlCol="0" anchor="ctr"/>
          <a:lstStyle/>
          <a:p>
            <a:pPr algn="ctr" indent="0" marL="0">
              <a:buNone/>
            </a:pPr>
            <a:r>
              <a:rPr lang="fr-FR" sz="1400" b="1" dirty="0">
                <a:solidFill>
                  <a:srgbClr val="FFFFFF"/>
                </a:solidFill>
                <a:latin typeface="Source Sans 3" pitchFamily="34" charset="0"/>
                <a:ea typeface="Source Sans 3" pitchFamily="34" charset="-122"/>
                <a:cs typeface="Source Sans 3" pitchFamily="34" charset="-120"/>
              </a:rPr>
              <a:t>4</a:t>
            </a:r>
            <a:endParaRPr lang="fr-FR" sz="1400" dirty="0"/>
          </a:p>
        </p:txBody>
      </p:sp>
      <p:sp>
        <p:nvSpPr>
          <p:cNvPr id="19" name="Text 17"/>
          <p:cNvSpPr txBox="1"/>
          <p:nvPr/>
        </p:nvSpPr>
        <p:spPr>
          <a:xfrm>
            <a:off x="6743700" y="1981200"/>
            <a:ext cx="1847850" cy="285750"/>
          </a:xfrm>
          <a:prstGeom prst="rect">
            <a:avLst/>
          </a:prstGeom>
          <a:noFill/>
          <a:ln/>
        </p:spPr>
        <p:txBody>
          <a:bodyPr wrap="square" lIns="0" tIns="0" rIns="0" bIns="0" rtlCol="0" anchor="t"/>
          <a:lstStyle/>
          <a:p>
            <a:pPr indent="0" marL="0">
              <a:buNone/>
            </a:pPr>
            <a:r>
              <a:rPr lang="fr-FR" sz="1600" b="1" dirty="0">
                <a:solidFill>
                  <a:srgbClr val="33006F"/>
                </a:solidFill>
                <a:latin typeface="Source Sans 3" pitchFamily="34" charset="0"/>
                <a:ea typeface="Source Sans 3" pitchFamily="34" charset="-122"/>
                <a:cs typeface="Source Sans 3" pitchFamily="34" charset="-120"/>
              </a:rPr>
              <a:t>Pris en charge</a:t>
            </a:r>
            <a:endParaRPr lang="fr-FR" sz="1600" dirty="0"/>
          </a:p>
        </p:txBody>
      </p:sp>
      <p:sp>
        <p:nvSpPr>
          <p:cNvPr id="20" name="Text 18"/>
          <p:cNvSpPr txBox="1"/>
          <p:nvPr/>
        </p:nvSpPr>
        <p:spPr>
          <a:xfrm>
            <a:off x="6743700" y="2305050"/>
            <a:ext cx="1847850" cy="1047750"/>
          </a:xfrm>
          <a:prstGeom prst="rect">
            <a:avLst/>
          </a:prstGeom>
          <a:noFill/>
          <a:ln/>
        </p:spPr>
        <p:txBody>
          <a:bodyPr wrap="square" lIns="0" tIns="0" rIns="0" bIns="0" rtlCol="0" anchor="t"/>
          <a:lstStyle/>
          <a:p>
            <a:pPr indent="0" marL="0">
              <a:buNone/>
            </a:pPr>
            <a:r>
              <a:rPr lang="fr-FR" sz="1200" dirty="0">
                <a:solidFill>
                  <a:srgbClr val="434343"/>
                </a:solidFill>
                <a:latin typeface="Source Sans 3" pitchFamily="34" charset="0"/>
                <a:ea typeface="Source Sans 3" pitchFamily="34" charset="-122"/>
                <a:cs typeface="Source Sans 3" pitchFamily="34" charset="-120"/>
              </a:rPr>
              <a:t>Un membre de la communauté s'est porté volontaire. Les bénévoles ne terminent pas toujours : les partenariats aident.</a:t>
            </a:r>
            <a:endParaRPr lang="fr-FR" sz="1200" dirty="0"/>
          </a:p>
        </p:txBody>
      </p:sp>
      <p:sp>
        <p:nvSpPr>
          <p:cNvPr id="21" name="Shape 19"/>
          <p:cNvSpPr/>
          <p:nvPr/>
        </p:nvSpPr>
        <p:spPr>
          <a:xfrm>
            <a:off x="457200" y="3505200"/>
            <a:ext cx="8229600" cy="1028700"/>
          </a:xfrm>
          <a:prstGeom prst="rect">
            <a:avLst/>
          </a:prstGeom>
          <a:solidFill>
            <a:srgbClr val="F0F0FF"/>
          </a:solidFill>
          <a:ln w="12700">
            <a:solidFill>
              <a:srgbClr val="F0F0FF"/>
            </a:solidFill>
            <a:prstDash val="solid"/>
          </a:ln>
        </p:spPr>
      </p:sp>
      <p:sp>
        <p:nvSpPr>
          <p:cNvPr id="22" name="Shape 20"/>
          <p:cNvSpPr/>
          <p:nvPr/>
        </p:nvSpPr>
        <p:spPr>
          <a:xfrm>
            <a:off x="457200" y="3505200"/>
            <a:ext cx="8229600" cy="38100"/>
          </a:xfrm>
          <a:prstGeom prst="rect">
            <a:avLst/>
          </a:prstGeom>
          <a:solidFill>
            <a:srgbClr val="01458E"/>
          </a:solidFill>
          <a:ln w="12700">
            <a:solidFill>
              <a:srgbClr val="01458E"/>
            </a:solidFill>
            <a:prstDash val="solid"/>
          </a:ln>
        </p:spPr>
      </p:sp>
      <p:sp>
        <p:nvSpPr>
          <p:cNvPr id="23" name="Text 21"/>
          <p:cNvSpPr txBox="1"/>
          <p:nvPr/>
        </p:nvSpPr>
        <p:spPr>
          <a:xfrm>
            <a:off x="685800" y="3638550"/>
            <a:ext cx="4762500" cy="190500"/>
          </a:xfrm>
          <a:prstGeom prst="rect">
            <a:avLst/>
          </a:prstGeom>
          <a:noFill/>
          <a:ln/>
        </p:spPr>
        <p:txBody>
          <a:bodyPr wrap="square" lIns="0" tIns="0" rIns="0" bIns="0" rtlCol="0" anchor="t"/>
          <a:lstStyle/>
          <a:p>
            <a:pPr indent="0" marL="0">
              <a:buNone/>
            </a:pPr>
            <a:r>
              <a:rPr lang="fr-FR" sz="1000" b="1" spc="150" kern="0" dirty="0">
                <a:solidFill>
                  <a:srgbClr val="01458E"/>
                </a:solidFill>
                <a:latin typeface="Source Sans 3" pitchFamily="34" charset="0"/>
                <a:ea typeface="Source Sans 3" pitchFamily="34" charset="-122"/>
                <a:cs typeface="Source Sans 3" pitchFamily="34" charset="-120"/>
              </a:rPr>
              <a:t>LE FORUM EST AUSSI UNE PLACE DE MARCHÉ</a:t>
            </a:r>
            <a:endParaRPr lang="fr-FR" sz="1000" dirty="0"/>
          </a:p>
        </p:txBody>
      </p:sp>
      <p:sp>
        <p:nvSpPr>
          <p:cNvPr id="24" name="Text 22"/>
          <p:cNvSpPr txBox="1"/>
          <p:nvPr/>
        </p:nvSpPr>
        <p:spPr>
          <a:xfrm>
            <a:off x="685800" y="3848100"/>
            <a:ext cx="7772400" cy="628650"/>
          </a:xfrm>
          <a:prstGeom prst="rect">
            <a:avLst/>
          </a:prstGeom>
          <a:noFill/>
          <a:ln/>
        </p:spPr>
        <p:txBody>
          <a:bodyPr wrap="square" lIns="0" tIns="0" rIns="0" bIns="0" rtlCol="0" anchor="t"/>
          <a:lstStyle/>
          <a:p>
            <a:pPr indent="0" marL="0">
              <a:buNone/>
            </a:pPr>
            <a:r>
              <a:rPr lang="fr-FR" sz="1300" dirty="0">
                <a:solidFill>
                  <a:srgbClr val="434343"/>
                </a:solidFill>
                <a:latin typeface="Source Sans 3" pitchFamily="34" charset="0"/>
                <a:ea typeface="Source Sans 3" pitchFamily="34" charset="-122"/>
                <a:cs typeface="Source Sans 3" pitchFamily="34" charset="-120"/>
              </a:rPr>
              <a:t>Vous pouvez publier un appel d'offres, une offre d'emploi, ou une proposition de partenariat avec un membre de la communauté sur une fonctionnalité. Votre équipe plus un développeur de la communauté est une façon courante de terminer un travail.</a:t>
            </a:r>
            <a:endParaRPr lang="fr-FR" sz="1300" dirty="0"/>
          </a:p>
        </p:txBody>
      </p:sp>
      <p:sp>
        <p:nvSpPr>
          <p:cNvPr id="25" name="Text 23"/>
          <p:cNvSpPr txBox="1"/>
          <p:nvPr/>
        </p:nvSpPr>
        <p:spPr>
          <a:xfrm>
            <a:off x="7953375" y="4743450"/>
            <a:ext cx="952500" cy="228600"/>
          </a:xfrm>
          <a:prstGeom prst="rect">
            <a:avLst/>
          </a:prstGeom>
          <a:noFill/>
          <a:ln/>
        </p:spPr>
        <p:txBody>
          <a:bodyPr wrap="square" lIns="0" tIns="0" rIns="0" bIns="0" rtlCol="0" anchor="t"/>
          <a:lstStyle/>
          <a:p>
            <a:pPr algn="r" indent="0" marL="0">
              <a:buNone/>
            </a:pPr>
            <a:r>
              <a:rPr lang="fr-FR" sz="1000" dirty="0">
                <a:solidFill>
                  <a:srgbClr val="888888"/>
                </a:solidFill>
                <a:latin typeface="Source Sans 3" pitchFamily="34" charset="0"/>
                <a:ea typeface="Source Sans 3" pitchFamily="34" charset="-122"/>
                <a:cs typeface="Source Sans 3" pitchFamily="34" charset="-120"/>
              </a:rPr>
              <a:t>27</a:t>
            </a:r>
            <a:endParaRPr lang="fr-FR" sz="1000" dirty="0"/>
          </a:p>
        </p:txBody>
      </p:sp>
      <p:sp>
        <p:nvSpPr>
          <p:cNvPr id="26" name="Text 24"/>
          <p:cNvSpPr txBox="1"/>
          <p:nvPr/>
        </p:nvSpPr>
        <p:spPr>
          <a:xfrm>
            <a:off x="457200" y="4743450"/>
            <a:ext cx="3810000" cy="228600"/>
          </a:xfrm>
          <a:prstGeom prst="rect">
            <a:avLst/>
          </a:prstGeom>
          <a:noFill/>
          <a:ln/>
        </p:spPr>
        <p:txBody>
          <a:bodyPr wrap="square" lIns="0" tIns="0" rIns="0" bIns="0" rtlCol="0" anchor="t"/>
          <a:lstStyle/>
          <a:p>
            <a:pPr algn="l" indent="0" marL="0">
              <a:buNone/>
            </a:pPr>
            <a:r>
              <a:rPr lang="fr-FR" sz="1000" dirty="0">
                <a:solidFill>
                  <a:srgbClr val="888888"/>
                </a:solidFill>
                <a:latin typeface="Source Sans 3" pitchFamily="34" charset="0"/>
                <a:ea typeface="Source Sans 3" pitchFamily="34" charset="-122"/>
                <a:cs typeface="Source Sans 3" pitchFamily="34" charset="-120"/>
              </a:rPr>
              <a:t>Passation eSIL Madagascar</a:t>
            </a:r>
            <a:endParaRPr lang="fr-FR" sz="100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086350" y="-1381125"/>
            <a:ext cx="8124825" cy="8124825"/>
          </a:xfrm>
          <a:prstGeom prst="ellipse">
            <a:avLst/>
          </a:prstGeom>
          <a:solidFill>
            <a:srgbClr val="33006F"/>
          </a:solidFill>
          <a:ln w="12700">
            <a:solidFill>
              <a:srgbClr val="33006F"/>
            </a:solidFill>
            <a:prstDash val="solid"/>
          </a:ln>
        </p:spPr>
      </p:sp>
      <p:sp>
        <p:nvSpPr>
          <p:cNvPr id="3" name="Text 1"/>
          <p:cNvSpPr txBox="1"/>
          <p:nvPr/>
        </p:nvSpPr>
        <p:spPr>
          <a:xfrm>
            <a:off x="857250" y="1428750"/>
            <a:ext cx="3619500" cy="1238250"/>
          </a:xfrm>
          <a:prstGeom prst="rect">
            <a:avLst/>
          </a:prstGeom>
          <a:noFill/>
          <a:ln/>
        </p:spPr>
        <p:txBody>
          <a:bodyPr wrap="square" lIns="0" tIns="0" rIns="0" bIns="0" rtlCol="0" anchor="b">
            <a:normAutofit/>
          </a:bodyPr>
          <a:lstStyle/>
          <a:p>
            <a:pPr indent="0" marL="0">
              <a:buNone/>
            </a:pPr>
            <a:r>
              <a:rPr lang="fr-FR" sz="2600" b="1" dirty="0">
                <a:solidFill>
                  <a:srgbClr val="33006F"/>
                </a:solidFill>
                <a:latin typeface="Source Sans 3" pitchFamily="34" charset="0"/>
                <a:ea typeface="Source Sans 3" pitchFamily="34" charset="-122"/>
                <a:cs typeface="Source Sans 3" pitchFamily="34" charset="-120"/>
              </a:rPr>
              <a:t>5. Comment fonctionnent les versions d'OpenELIS Global</a:t>
            </a:r>
            <a:endParaRPr lang="fr-FR" sz="2600" dirty="0"/>
          </a:p>
        </p:txBody>
      </p:sp>
      <p:sp>
        <p:nvSpPr>
          <p:cNvPr id="4" name="Text 2"/>
          <p:cNvSpPr txBox="1"/>
          <p:nvPr/>
        </p:nvSpPr>
        <p:spPr>
          <a:xfrm>
            <a:off x="857250" y="2781300"/>
            <a:ext cx="3619500" cy="1143000"/>
          </a:xfrm>
          <a:prstGeom prst="rect">
            <a:avLst/>
          </a:prstGeom>
          <a:noFill/>
          <a:ln/>
        </p:spPr>
        <p:txBody>
          <a:bodyPr wrap="square" lIns="0" tIns="0" rIns="0" bIns="0" rtlCol="0" anchor="t"/>
          <a:lstStyle/>
          <a:p>
            <a:pPr indent="0" marL="0">
              <a:buNone/>
            </a:pPr>
            <a:r>
              <a:rPr lang="fr-FR" sz="1650" dirty="0">
                <a:solidFill>
                  <a:srgbClr val="434343"/>
                </a:solidFill>
                <a:latin typeface="Source Sans 3" pitchFamily="34" charset="0"/>
                <a:ea typeface="Source Sans 3" pitchFamily="34" charset="-122"/>
                <a:cs typeface="Source Sans 3" pitchFamily="34" charset="-120"/>
              </a:rPr>
              <a:t>D'une idée à quelque chose que vous pouvez installer.</a:t>
            </a:r>
            <a:endParaRPr lang="fr-FR" sz="1650" dirty="0"/>
          </a:p>
        </p:txBody>
      </p:sp>
      <p:sp>
        <p:nvSpPr>
          <p:cNvPr id="5" name="Text 3"/>
          <p:cNvSpPr txBox="1"/>
          <p:nvPr/>
        </p:nvSpPr>
        <p:spPr>
          <a:xfrm>
            <a:off x="7953375" y="4743450"/>
            <a:ext cx="952500" cy="228600"/>
          </a:xfrm>
          <a:prstGeom prst="rect">
            <a:avLst/>
          </a:prstGeom>
          <a:noFill/>
          <a:ln/>
        </p:spPr>
        <p:txBody>
          <a:bodyPr wrap="square" lIns="0" tIns="0" rIns="0" bIns="0" rtlCol="0" anchor="t"/>
          <a:lstStyle/>
          <a:p>
            <a:pPr algn="r" indent="0" marL="0">
              <a:buNone/>
            </a:pPr>
            <a:r>
              <a:rPr lang="fr-FR" sz="1000" dirty="0">
                <a:solidFill>
                  <a:srgbClr val="FFFFFF"/>
                </a:solidFill>
                <a:latin typeface="Source Sans 3" pitchFamily="34" charset="0"/>
                <a:ea typeface="Source Sans 3" pitchFamily="34" charset="-122"/>
                <a:cs typeface="Source Sans 3" pitchFamily="34" charset="-120"/>
              </a:rPr>
              <a:t>28</a:t>
            </a:r>
            <a:endParaRPr lang="fr-FR" sz="1000" dirty="0"/>
          </a:p>
        </p:txBody>
      </p:sp>
      <p:sp>
        <p:nvSpPr>
          <p:cNvPr id="6" name="Text 4"/>
          <p:cNvSpPr txBox="1"/>
          <p:nvPr/>
        </p:nvSpPr>
        <p:spPr>
          <a:xfrm>
            <a:off x="457200" y="4743450"/>
            <a:ext cx="3810000" cy="228600"/>
          </a:xfrm>
          <a:prstGeom prst="rect">
            <a:avLst/>
          </a:prstGeom>
          <a:noFill/>
          <a:ln/>
        </p:spPr>
        <p:txBody>
          <a:bodyPr wrap="square" lIns="0" tIns="0" rIns="0" bIns="0" rtlCol="0" anchor="t"/>
          <a:lstStyle/>
          <a:p>
            <a:pPr algn="l" indent="0" marL="0">
              <a:buNone/>
            </a:pPr>
            <a:r>
              <a:rPr lang="fr-FR" sz="1000" dirty="0">
                <a:solidFill>
                  <a:srgbClr val="888888"/>
                </a:solidFill>
                <a:latin typeface="Source Sans 3" pitchFamily="34" charset="0"/>
                <a:ea typeface="Source Sans 3" pitchFamily="34" charset="-122"/>
                <a:cs typeface="Source Sans 3" pitchFamily="34" charset="-120"/>
              </a:rPr>
              <a:t>Passation eSIL Madagascar</a:t>
            </a:r>
            <a:endParaRPr lang="fr-FR" sz="100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247650"/>
            <a:ext cx="8229600" cy="209550"/>
          </a:xfrm>
          <a:prstGeom prst="rect">
            <a:avLst/>
          </a:prstGeom>
          <a:noFill/>
          <a:ln/>
        </p:spPr>
        <p:txBody>
          <a:bodyPr wrap="square" lIns="0" tIns="0" rIns="0" bIns="0" rtlCol="0" anchor="t"/>
          <a:lstStyle/>
          <a:p>
            <a:pPr indent="0" marL="0">
              <a:buNone/>
            </a:pPr>
            <a:r>
              <a:rPr lang="fr-FR" sz="1200" b="1" spc="150" kern="0" dirty="0">
                <a:solidFill>
                  <a:srgbClr val="33006F"/>
                </a:solidFill>
                <a:latin typeface="Source Sans 3" pitchFamily="34" charset="0"/>
                <a:ea typeface="Source Sans 3" pitchFamily="34" charset="-122"/>
                <a:cs typeface="Source Sans 3" pitchFamily="34" charset="-120"/>
              </a:rPr>
              <a:t>VERSIONS</a:t>
            </a:r>
            <a:pPr indent="0" marL="0">
              <a:buNone/>
            </a:pPr>
            <a:r>
              <a:rPr lang="fr-FR" sz="1200" dirty="0">
                <a:solidFill>
                  <a:srgbClr val="888888"/>
                </a:solidFill>
                <a:latin typeface="Source Sans 3" pitchFamily="34" charset="0"/>
                <a:ea typeface="Source Sans 3" pitchFamily="34" charset="-122"/>
                <a:cs typeface="Source Sans 3" pitchFamily="34" charset="-120"/>
              </a:rPr>
              <a:t>    Section 5 sur 7</a:t>
            </a:r>
            <a:endParaRPr lang="fr-FR" sz="1200" dirty="0"/>
          </a:p>
        </p:txBody>
      </p:sp>
      <p:sp>
        <p:nvSpPr>
          <p:cNvPr id="3" name="Shape 1"/>
          <p:cNvSpPr/>
          <p:nvPr/>
        </p:nvSpPr>
        <p:spPr>
          <a:xfrm>
            <a:off x="457200" y="533400"/>
            <a:ext cx="685800" cy="57150"/>
          </a:xfrm>
          <a:prstGeom prst="rect">
            <a:avLst/>
          </a:prstGeom>
          <a:solidFill>
            <a:srgbClr val="33006F"/>
          </a:solidFill>
          <a:ln w="12700">
            <a:solidFill>
              <a:srgbClr val="33006F"/>
            </a:solidFill>
            <a:prstDash val="solid"/>
          </a:ln>
        </p:spPr>
      </p:sp>
      <p:sp>
        <p:nvSpPr>
          <p:cNvPr id="4" name="Text 2"/>
          <p:cNvSpPr txBox="1"/>
          <p:nvPr/>
        </p:nvSpPr>
        <p:spPr>
          <a:xfrm>
            <a:off x="457200" y="704850"/>
            <a:ext cx="8229600" cy="800100"/>
          </a:xfrm>
          <a:prstGeom prst="rect">
            <a:avLst/>
          </a:prstGeom>
          <a:noFill/>
          <a:ln/>
        </p:spPr>
        <p:txBody>
          <a:bodyPr wrap="square" lIns="0" tIns="0" rIns="0" bIns="0" rtlCol="0" anchor="t">
            <a:normAutofit/>
          </a:bodyPr>
          <a:lstStyle/>
          <a:p>
            <a:pPr indent="0" marL="0">
              <a:buNone/>
            </a:pPr>
            <a:r>
              <a:rPr lang="fr-FR" sz="2350" b="1" dirty="0">
                <a:solidFill>
                  <a:srgbClr val="33006F"/>
                </a:solidFill>
                <a:latin typeface="Source Sans 3" pitchFamily="34" charset="0"/>
                <a:ea typeface="Source Sans 3" pitchFamily="34" charset="-122"/>
                <a:cs typeface="Source Sans 3" pitchFamily="34" charset="-120"/>
              </a:rPr>
              <a:t>D'une idée à quelque chose que vous pouvez installer</a:t>
            </a:r>
            <a:endParaRPr lang="fr-FR" sz="2350" dirty="0"/>
          </a:p>
        </p:txBody>
      </p:sp>
      <p:sp>
        <p:nvSpPr>
          <p:cNvPr id="5" name="Shape 3"/>
          <p:cNvSpPr/>
          <p:nvPr/>
        </p:nvSpPr>
        <p:spPr>
          <a:xfrm>
            <a:off x="457200" y="1562100"/>
            <a:ext cx="323850" cy="323850"/>
          </a:xfrm>
          <a:prstGeom prst="rect">
            <a:avLst/>
          </a:prstGeom>
          <a:solidFill>
            <a:srgbClr val="33006F"/>
          </a:solidFill>
          <a:ln w="12700">
            <a:solidFill>
              <a:srgbClr val="33006F"/>
            </a:solidFill>
            <a:prstDash val="solid"/>
          </a:ln>
        </p:spPr>
      </p:sp>
      <p:sp>
        <p:nvSpPr>
          <p:cNvPr id="6" name="Text 4"/>
          <p:cNvSpPr txBox="1"/>
          <p:nvPr/>
        </p:nvSpPr>
        <p:spPr>
          <a:xfrm>
            <a:off x="457200" y="1562100"/>
            <a:ext cx="323850" cy="323850"/>
          </a:xfrm>
          <a:prstGeom prst="rect">
            <a:avLst/>
          </a:prstGeom>
          <a:noFill/>
          <a:ln/>
        </p:spPr>
        <p:txBody>
          <a:bodyPr wrap="square" lIns="0" tIns="0" rIns="0" bIns="0" rtlCol="0" anchor="ctr"/>
          <a:lstStyle/>
          <a:p>
            <a:pPr algn="ctr" indent="0" marL="0">
              <a:buNone/>
            </a:pPr>
            <a:r>
              <a:rPr lang="fr-FR" sz="1400" b="1" dirty="0">
                <a:solidFill>
                  <a:srgbClr val="FFFFFF"/>
                </a:solidFill>
                <a:latin typeface="Source Sans 3" pitchFamily="34" charset="0"/>
                <a:ea typeface="Source Sans 3" pitchFamily="34" charset="-122"/>
                <a:cs typeface="Source Sans 3" pitchFamily="34" charset="-120"/>
              </a:rPr>
              <a:t>1</a:t>
            </a:r>
            <a:endParaRPr lang="fr-FR" sz="1400" dirty="0"/>
          </a:p>
        </p:txBody>
      </p:sp>
      <p:sp>
        <p:nvSpPr>
          <p:cNvPr id="7" name="Text 5"/>
          <p:cNvSpPr txBox="1"/>
          <p:nvPr/>
        </p:nvSpPr>
        <p:spPr>
          <a:xfrm>
            <a:off x="457200" y="1981200"/>
            <a:ext cx="1447800" cy="285750"/>
          </a:xfrm>
          <a:prstGeom prst="rect">
            <a:avLst/>
          </a:prstGeom>
          <a:noFill/>
          <a:ln/>
        </p:spPr>
        <p:txBody>
          <a:bodyPr wrap="square" lIns="0" tIns="0" rIns="0" bIns="0" rtlCol="0" anchor="t"/>
          <a:lstStyle/>
          <a:p>
            <a:pPr indent="0" marL="0">
              <a:buNone/>
            </a:pPr>
            <a:r>
              <a:rPr lang="fr-FR" sz="1500" b="1" dirty="0">
                <a:solidFill>
                  <a:srgbClr val="33006F"/>
                </a:solidFill>
                <a:latin typeface="Source Sans 3" pitchFamily="34" charset="0"/>
                <a:ea typeface="Source Sans 3" pitchFamily="34" charset="-122"/>
                <a:cs typeface="Source Sans 3" pitchFamily="34" charset="-120"/>
              </a:rPr>
              <a:t>Proposé</a:t>
            </a:r>
            <a:endParaRPr lang="fr-FR" sz="1500" dirty="0"/>
          </a:p>
        </p:txBody>
      </p:sp>
      <p:sp>
        <p:nvSpPr>
          <p:cNvPr id="8" name="Text 6"/>
          <p:cNvSpPr txBox="1"/>
          <p:nvPr/>
        </p:nvSpPr>
        <p:spPr>
          <a:xfrm>
            <a:off x="457200" y="2305050"/>
            <a:ext cx="1447800" cy="1428750"/>
          </a:xfrm>
          <a:prstGeom prst="rect">
            <a:avLst/>
          </a:prstGeom>
          <a:noFill/>
          <a:ln/>
        </p:spPr>
        <p:txBody>
          <a:bodyPr wrap="square" lIns="0" tIns="0" rIns="0" bIns="0" rtlCol="0" anchor="t"/>
          <a:lstStyle/>
          <a:p>
            <a:pPr indent="0" marL="0">
              <a:buNone/>
            </a:pPr>
            <a:r>
              <a:rPr lang="fr-FR" sz="1200" dirty="0">
                <a:solidFill>
                  <a:srgbClr val="434343"/>
                </a:solidFill>
                <a:latin typeface="Source Sans 3" pitchFamily="34" charset="0"/>
                <a:ea typeface="Source Sans 3" pitchFamily="34" charset="-122"/>
                <a:cs typeface="Source Sans 3" pitchFamily="34" charset="-120"/>
              </a:rPr>
              <a:t>Un besoin devient un ticket Jira (OGC-...).</a:t>
            </a:r>
            <a:endParaRPr lang="fr-FR" sz="1200" dirty="0"/>
          </a:p>
        </p:txBody>
      </p:sp>
      <p:sp>
        <p:nvSpPr>
          <p:cNvPr id="9" name="Shape 7"/>
          <p:cNvSpPr/>
          <p:nvPr/>
        </p:nvSpPr>
        <p:spPr>
          <a:xfrm>
            <a:off x="2133600" y="1562100"/>
            <a:ext cx="323850" cy="323850"/>
          </a:xfrm>
          <a:prstGeom prst="rect">
            <a:avLst/>
          </a:prstGeom>
          <a:solidFill>
            <a:srgbClr val="33006F"/>
          </a:solidFill>
          <a:ln w="12700">
            <a:solidFill>
              <a:srgbClr val="33006F"/>
            </a:solidFill>
            <a:prstDash val="solid"/>
          </a:ln>
        </p:spPr>
      </p:sp>
      <p:sp>
        <p:nvSpPr>
          <p:cNvPr id="10" name="Text 8"/>
          <p:cNvSpPr txBox="1"/>
          <p:nvPr/>
        </p:nvSpPr>
        <p:spPr>
          <a:xfrm>
            <a:off x="2133600" y="1562100"/>
            <a:ext cx="323850" cy="323850"/>
          </a:xfrm>
          <a:prstGeom prst="rect">
            <a:avLst/>
          </a:prstGeom>
          <a:noFill/>
          <a:ln/>
        </p:spPr>
        <p:txBody>
          <a:bodyPr wrap="square" lIns="0" tIns="0" rIns="0" bIns="0" rtlCol="0" anchor="ctr"/>
          <a:lstStyle/>
          <a:p>
            <a:pPr algn="ctr" indent="0" marL="0">
              <a:buNone/>
            </a:pPr>
            <a:r>
              <a:rPr lang="fr-FR" sz="1400" b="1" dirty="0">
                <a:solidFill>
                  <a:srgbClr val="FFFFFF"/>
                </a:solidFill>
                <a:latin typeface="Source Sans 3" pitchFamily="34" charset="0"/>
                <a:ea typeface="Source Sans 3" pitchFamily="34" charset="-122"/>
                <a:cs typeface="Source Sans 3" pitchFamily="34" charset="-120"/>
              </a:rPr>
              <a:t>2</a:t>
            </a:r>
            <a:endParaRPr lang="fr-FR" sz="1400" dirty="0"/>
          </a:p>
        </p:txBody>
      </p:sp>
      <p:sp>
        <p:nvSpPr>
          <p:cNvPr id="11" name="Text 9"/>
          <p:cNvSpPr txBox="1"/>
          <p:nvPr/>
        </p:nvSpPr>
        <p:spPr>
          <a:xfrm>
            <a:off x="2133600" y="1981200"/>
            <a:ext cx="1447800" cy="285750"/>
          </a:xfrm>
          <a:prstGeom prst="rect">
            <a:avLst/>
          </a:prstGeom>
          <a:noFill/>
          <a:ln/>
        </p:spPr>
        <p:txBody>
          <a:bodyPr wrap="square" lIns="0" tIns="0" rIns="0" bIns="0" rtlCol="0" anchor="t"/>
          <a:lstStyle/>
          <a:p>
            <a:pPr indent="0" marL="0">
              <a:buNone/>
            </a:pPr>
            <a:r>
              <a:rPr lang="fr-FR" sz="1500" b="1" dirty="0">
                <a:solidFill>
                  <a:srgbClr val="33006F"/>
                </a:solidFill>
                <a:latin typeface="Source Sans 3" pitchFamily="34" charset="0"/>
                <a:ea typeface="Source Sans 3" pitchFamily="34" charset="-122"/>
                <a:cs typeface="Source Sans 3" pitchFamily="34" charset="-120"/>
              </a:rPr>
              <a:t>Développé</a:t>
            </a:r>
            <a:endParaRPr lang="fr-FR" sz="1500" dirty="0"/>
          </a:p>
        </p:txBody>
      </p:sp>
      <p:sp>
        <p:nvSpPr>
          <p:cNvPr id="12" name="Text 10"/>
          <p:cNvSpPr txBox="1"/>
          <p:nvPr/>
        </p:nvSpPr>
        <p:spPr>
          <a:xfrm>
            <a:off x="2133600" y="2305050"/>
            <a:ext cx="1447800" cy="1428750"/>
          </a:xfrm>
          <a:prstGeom prst="rect">
            <a:avLst/>
          </a:prstGeom>
          <a:noFill/>
          <a:ln/>
        </p:spPr>
        <p:txBody>
          <a:bodyPr wrap="square" lIns="0" tIns="0" rIns="0" bIns="0" rtlCol="0" anchor="t"/>
          <a:lstStyle/>
          <a:p>
            <a:pPr indent="0" marL="0">
              <a:buNone/>
            </a:pPr>
            <a:r>
              <a:rPr lang="fr-FR" sz="1200" dirty="0">
                <a:solidFill>
                  <a:srgbClr val="434343"/>
                </a:solidFill>
                <a:latin typeface="Source Sans 3" pitchFamily="34" charset="0"/>
                <a:ea typeface="Source Sans 3" pitchFamily="34" charset="-122"/>
                <a:cs typeface="Source Sans 3" pitchFamily="34" charset="-120"/>
              </a:rPr>
              <a:t>Les développeurs ouvrent des pull requests sur GitHub. Les relecteurs les fusionnent.</a:t>
            </a:r>
            <a:endParaRPr lang="fr-FR" sz="1200" dirty="0"/>
          </a:p>
        </p:txBody>
      </p:sp>
      <p:sp>
        <p:nvSpPr>
          <p:cNvPr id="13" name="Shape 11"/>
          <p:cNvSpPr/>
          <p:nvPr/>
        </p:nvSpPr>
        <p:spPr>
          <a:xfrm>
            <a:off x="3810000" y="1562100"/>
            <a:ext cx="323850" cy="323850"/>
          </a:xfrm>
          <a:prstGeom prst="rect">
            <a:avLst/>
          </a:prstGeom>
          <a:solidFill>
            <a:srgbClr val="33006F"/>
          </a:solidFill>
          <a:ln w="12700">
            <a:solidFill>
              <a:srgbClr val="33006F"/>
            </a:solidFill>
            <a:prstDash val="solid"/>
          </a:ln>
        </p:spPr>
      </p:sp>
      <p:sp>
        <p:nvSpPr>
          <p:cNvPr id="14" name="Text 12"/>
          <p:cNvSpPr txBox="1"/>
          <p:nvPr/>
        </p:nvSpPr>
        <p:spPr>
          <a:xfrm>
            <a:off x="3810000" y="1562100"/>
            <a:ext cx="323850" cy="323850"/>
          </a:xfrm>
          <a:prstGeom prst="rect">
            <a:avLst/>
          </a:prstGeom>
          <a:noFill/>
          <a:ln/>
        </p:spPr>
        <p:txBody>
          <a:bodyPr wrap="square" lIns="0" tIns="0" rIns="0" bIns="0" rtlCol="0" anchor="ctr"/>
          <a:lstStyle/>
          <a:p>
            <a:pPr algn="ctr" indent="0" marL="0">
              <a:buNone/>
            </a:pPr>
            <a:r>
              <a:rPr lang="fr-FR" sz="1400" b="1" dirty="0">
                <a:solidFill>
                  <a:srgbClr val="FFFFFF"/>
                </a:solidFill>
                <a:latin typeface="Source Sans 3" pitchFamily="34" charset="0"/>
                <a:ea typeface="Source Sans 3" pitchFamily="34" charset="-122"/>
                <a:cs typeface="Source Sans 3" pitchFamily="34" charset="-120"/>
              </a:rPr>
              <a:t>3</a:t>
            </a:r>
            <a:endParaRPr lang="fr-FR" sz="1400" dirty="0"/>
          </a:p>
        </p:txBody>
      </p:sp>
      <p:sp>
        <p:nvSpPr>
          <p:cNvPr id="15" name="Text 13"/>
          <p:cNvSpPr txBox="1"/>
          <p:nvPr/>
        </p:nvSpPr>
        <p:spPr>
          <a:xfrm>
            <a:off x="3810000" y="1981200"/>
            <a:ext cx="1447800" cy="285750"/>
          </a:xfrm>
          <a:prstGeom prst="rect">
            <a:avLst/>
          </a:prstGeom>
          <a:noFill/>
          <a:ln/>
        </p:spPr>
        <p:txBody>
          <a:bodyPr wrap="square" lIns="0" tIns="0" rIns="0" bIns="0" rtlCol="0" anchor="t"/>
          <a:lstStyle/>
          <a:p>
            <a:pPr indent="0" marL="0">
              <a:buNone/>
            </a:pPr>
            <a:r>
              <a:rPr lang="fr-FR" sz="1500" b="1" dirty="0">
                <a:solidFill>
                  <a:srgbClr val="33006F"/>
                </a:solidFill>
                <a:latin typeface="Source Sans 3" pitchFamily="34" charset="0"/>
                <a:ea typeface="Source Sans 3" pitchFamily="34" charset="-122"/>
                <a:cs typeface="Source Sans 3" pitchFamily="34" charset="-120"/>
              </a:rPr>
              <a:t>Traduit</a:t>
            </a:r>
            <a:endParaRPr lang="fr-FR" sz="1500" dirty="0"/>
          </a:p>
        </p:txBody>
      </p:sp>
      <p:sp>
        <p:nvSpPr>
          <p:cNvPr id="16" name="Text 14"/>
          <p:cNvSpPr txBox="1"/>
          <p:nvPr/>
        </p:nvSpPr>
        <p:spPr>
          <a:xfrm>
            <a:off x="3810000" y="2305050"/>
            <a:ext cx="1447800" cy="1428750"/>
          </a:xfrm>
          <a:prstGeom prst="rect">
            <a:avLst/>
          </a:prstGeom>
          <a:noFill/>
          <a:ln/>
        </p:spPr>
        <p:txBody>
          <a:bodyPr wrap="square" lIns="0" tIns="0" rIns="0" bIns="0" rtlCol="0" anchor="t"/>
          <a:lstStyle/>
          <a:p>
            <a:pPr indent="0" marL="0">
              <a:buNone/>
            </a:pPr>
            <a:r>
              <a:rPr lang="fr-FR" sz="1200" dirty="0">
                <a:solidFill>
                  <a:srgbClr val="434343"/>
                </a:solidFill>
                <a:latin typeface="Source Sans 3" pitchFamily="34" charset="0"/>
                <a:ea typeface="Source Sans 3" pitchFamily="34" charset="-122"/>
                <a:cs typeface="Source Sans 3" pitchFamily="34" charset="-120"/>
              </a:rPr>
              <a:t>Transifex apporte les textes de l'interface dans chaque langue.</a:t>
            </a:r>
            <a:endParaRPr lang="fr-FR" sz="1200" dirty="0"/>
          </a:p>
        </p:txBody>
      </p:sp>
      <p:sp>
        <p:nvSpPr>
          <p:cNvPr id="17" name="Shape 15"/>
          <p:cNvSpPr/>
          <p:nvPr/>
        </p:nvSpPr>
        <p:spPr>
          <a:xfrm>
            <a:off x="5486400" y="1562100"/>
            <a:ext cx="323850" cy="323850"/>
          </a:xfrm>
          <a:prstGeom prst="rect">
            <a:avLst/>
          </a:prstGeom>
          <a:solidFill>
            <a:srgbClr val="33006F"/>
          </a:solidFill>
          <a:ln w="12700">
            <a:solidFill>
              <a:srgbClr val="33006F"/>
            </a:solidFill>
            <a:prstDash val="solid"/>
          </a:ln>
        </p:spPr>
      </p:sp>
      <p:sp>
        <p:nvSpPr>
          <p:cNvPr id="18" name="Text 16"/>
          <p:cNvSpPr txBox="1"/>
          <p:nvPr/>
        </p:nvSpPr>
        <p:spPr>
          <a:xfrm>
            <a:off x="5486400" y="1562100"/>
            <a:ext cx="323850" cy="323850"/>
          </a:xfrm>
          <a:prstGeom prst="rect">
            <a:avLst/>
          </a:prstGeom>
          <a:noFill/>
          <a:ln/>
        </p:spPr>
        <p:txBody>
          <a:bodyPr wrap="square" lIns="0" tIns="0" rIns="0" bIns="0" rtlCol="0" anchor="ctr"/>
          <a:lstStyle/>
          <a:p>
            <a:pPr algn="ctr" indent="0" marL="0">
              <a:buNone/>
            </a:pPr>
            <a:r>
              <a:rPr lang="fr-FR" sz="1400" b="1" dirty="0">
                <a:solidFill>
                  <a:srgbClr val="FFFFFF"/>
                </a:solidFill>
                <a:latin typeface="Source Sans 3" pitchFamily="34" charset="0"/>
                <a:ea typeface="Source Sans 3" pitchFamily="34" charset="-122"/>
                <a:cs typeface="Source Sans 3" pitchFamily="34" charset="-120"/>
              </a:rPr>
              <a:t>4</a:t>
            </a:r>
            <a:endParaRPr lang="fr-FR" sz="1400" dirty="0"/>
          </a:p>
        </p:txBody>
      </p:sp>
      <p:sp>
        <p:nvSpPr>
          <p:cNvPr id="19" name="Text 17"/>
          <p:cNvSpPr txBox="1"/>
          <p:nvPr/>
        </p:nvSpPr>
        <p:spPr>
          <a:xfrm>
            <a:off x="5486400" y="1981200"/>
            <a:ext cx="1447800" cy="285750"/>
          </a:xfrm>
          <a:prstGeom prst="rect">
            <a:avLst/>
          </a:prstGeom>
          <a:noFill/>
          <a:ln/>
        </p:spPr>
        <p:txBody>
          <a:bodyPr wrap="square" lIns="0" tIns="0" rIns="0" bIns="0" rtlCol="0" anchor="t"/>
          <a:lstStyle/>
          <a:p>
            <a:pPr indent="0" marL="0">
              <a:buNone/>
            </a:pPr>
            <a:r>
              <a:rPr lang="fr-FR" sz="1500" b="1" dirty="0">
                <a:solidFill>
                  <a:srgbClr val="33006F"/>
                </a:solidFill>
                <a:latin typeface="Source Sans 3" pitchFamily="34" charset="0"/>
                <a:ea typeface="Source Sans 3" pitchFamily="34" charset="-122"/>
                <a:cs typeface="Source Sans 3" pitchFamily="34" charset="-120"/>
              </a:rPr>
              <a:t>Étiqueté</a:t>
            </a:r>
            <a:endParaRPr lang="fr-FR" sz="1500" dirty="0"/>
          </a:p>
        </p:txBody>
      </p:sp>
      <p:sp>
        <p:nvSpPr>
          <p:cNvPr id="20" name="Text 18"/>
          <p:cNvSpPr txBox="1"/>
          <p:nvPr/>
        </p:nvSpPr>
        <p:spPr>
          <a:xfrm>
            <a:off x="5486400" y="2305050"/>
            <a:ext cx="1447800" cy="1428750"/>
          </a:xfrm>
          <a:prstGeom prst="rect">
            <a:avLst/>
          </a:prstGeom>
          <a:noFill/>
          <a:ln/>
        </p:spPr>
        <p:txBody>
          <a:bodyPr wrap="square" lIns="0" tIns="0" rIns="0" bIns="0" rtlCol="0" anchor="t"/>
          <a:lstStyle/>
          <a:p>
            <a:pPr indent="0" marL="0">
              <a:buNone/>
            </a:pPr>
            <a:r>
              <a:rPr lang="fr-FR" sz="1200" dirty="0">
                <a:solidFill>
                  <a:srgbClr val="434343"/>
                </a:solidFill>
                <a:latin typeface="Source Sans 3" pitchFamily="34" charset="0"/>
                <a:ea typeface="Source Sans 3" pitchFamily="34" charset="-122"/>
                <a:cs typeface="Source Sans 3" pitchFamily="34" charset="-120"/>
              </a:rPr>
              <a:t>Une version numérotée est publiée avec ses notes de version.</a:t>
            </a:r>
            <a:endParaRPr lang="fr-FR" sz="1200" dirty="0"/>
          </a:p>
        </p:txBody>
      </p:sp>
      <p:sp>
        <p:nvSpPr>
          <p:cNvPr id="21" name="Shape 19"/>
          <p:cNvSpPr/>
          <p:nvPr/>
        </p:nvSpPr>
        <p:spPr>
          <a:xfrm>
            <a:off x="7162800" y="1562100"/>
            <a:ext cx="323850" cy="323850"/>
          </a:xfrm>
          <a:prstGeom prst="rect">
            <a:avLst/>
          </a:prstGeom>
          <a:solidFill>
            <a:srgbClr val="33006F"/>
          </a:solidFill>
          <a:ln w="12700">
            <a:solidFill>
              <a:srgbClr val="33006F"/>
            </a:solidFill>
            <a:prstDash val="solid"/>
          </a:ln>
        </p:spPr>
      </p:sp>
      <p:sp>
        <p:nvSpPr>
          <p:cNvPr id="22" name="Text 20"/>
          <p:cNvSpPr txBox="1"/>
          <p:nvPr/>
        </p:nvSpPr>
        <p:spPr>
          <a:xfrm>
            <a:off x="7162800" y="1562100"/>
            <a:ext cx="323850" cy="323850"/>
          </a:xfrm>
          <a:prstGeom prst="rect">
            <a:avLst/>
          </a:prstGeom>
          <a:noFill/>
          <a:ln/>
        </p:spPr>
        <p:txBody>
          <a:bodyPr wrap="square" lIns="0" tIns="0" rIns="0" bIns="0" rtlCol="0" anchor="ctr"/>
          <a:lstStyle/>
          <a:p>
            <a:pPr algn="ctr" indent="0" marL="0">
              <a:buNone/>
            </a:pPr>
            <a:r>
              <a:rPr lang="fr-FR" sz="1400" b="1" dirty="0">
                <a:solidFill>
                  <a:srgbClr val="FFFFFF"/>
                </a:solidFill>
                <a:latin typeface="Source Sans 3" pitchFamily="34" charset="0"/>
                <a:ea typeface="Source Sans 3" pitchFamily="34" charset="-122"/>
                <a:cs typeface="Source Sans 3" pitchFamily="34" charset="-120"/>
              </a:rPr>
              <a:t>5</a:t>
            </a:r>
            <a:endParaRPr lang="fr-FR" sz="1400" dirty="0"/>
          </a:p>
        </p:txBody>
      </p:sp>
      <p:sp>
        <p:nvSpPr>
          <p:cNvPr id="23" name="Text 21"/>
          <p:cNvSpPr txBox="1"/>
          <p:nvPr/>
        </p:nvSpPr>
        <p:spPr>
          <a:xfrm>
            <a:off x="7162800" y="1981200"/>
            <a:ext cx="1447800" cy="285750"/>
          </a:xfrm>
          <a:prstGeom prst="rect">
            <a:avLst/>
          </a:prstGeom>
          <a:noFill/>
          <a:ln/>
        </p:spPr>
        <p:txBody>
          <a:bodyPr wrap="square" lIns="0" tIns="0" rIns="0" bIns="0" rtlCol="0" anchor="t"/>
          <a:lstStyle/>
          <a:p>
            <a:pPr indent="0" marL="0">
              <a:buNone/>
            </a:pPr>
            <a:r>
              <a:rPr lang="fr-FR" sz="1500" b="1" dirty="0">
                <a:solidFill>
                  <a:srgbClr val="33006F"/>
                </a:solidFill>
                <a:latin typeface="Source Sans 3" pitchFamily="34" charset="0"/>
                <a:ea typeface="Source Sans 3" pitchFamily="34" charset="-122"/>
                <a:cs typeface="Source Sans 3" pitchFamily="34" charset="-120"/>
              </a:rPr>
              <a:t>Empaqueté</a:t>
            </a:r>
            <a:endParaRPr lang="fr-FR" sz="1500" dirty="0"/>
          </a:p>
        </p:txBody>
      </p:sp>
      <p:sp>
        <p:nvSpPr>
          <p:cNvPr id="24" name="Text 22"/>
          <p:cNvSpPr txBox="1"/>
          <p:nvPr/>
        </p:nvSpPr>
        <p:spPr>
          <a:xfrm>
            <a:off x="7162800" y="2305050"/>
            <a:ext cx="1447800" cy="1428750"/>
          </a:xfrm>
          <a:prstGeom prst="rect">
            <a:avLst/>
          </a:prstGeom>
          <a:noFill/>
          <a:ln/>
        </p:spPr>
        <p:txBody>
          <a:bodyPr wrap="square" lIns="0" tIns="0" rIns="0" bIns="0" rtlCol="0" anchor="t"/>
          <a:lstStyle/>
          <a:p>
            <a:pPr indent="0" marL="0">
              <a:buNone/>
            </a:pPr>
            <a:r>
              <a:rPr lang="fr-FR" sz="1200" dirty="0">
                <a:solidFill>
                  <a:srgbClr val="434343"/>
                </a:solidFill>
                <a:latin typeface="Source Sans 3" pitchFamily="34" charset="0"/>
                <a:ea typeface="Source Sans 3" pitchFamily="34" charset="-122"/>
                <a:cs typeface="Source Sans 3" pitchFamily="34" charset="-120"/>
              </a:rPr>
              <a:t>La Distribution Madagascar regroupe la nouvelle version avec l'Analyzer Bridge et les paramètres de Madagascar.</a:t>
            </a:r>
            <a:endParaRPr lang="fr-FR" sz="1200" dirty="0"/>
          </a:p>
        </p:txBody>
      </p:sp>
      <p:sp>
        <p:nvSpPr>
          <p:cNvPr id="25" name="Shape 23"/>
          <p:cNvSpPr/>
          <p:nvPr/>
        </p:nvSpPr>
        <p:spPr>
          <a:xfrm>
            <a:off x="457200" y="3886200"/>
            <a:ext cx="8229600" cy="9525"/>
          </a:xfrm>
          <a:prstGeom prst="rect">
            <a:avLst/>
          </a:prstGeom>
          <a:solidFill>
            <a:srgbClr val="BFBFBF"/>
          </a:solidFill>
          <a:ln w="12700">
            <a:solidFill>
              <a:srgbClr val="BFBFBF"/>
            </a:solidFill>
            <a:prstDash val="solid"/>
          </a:ln>
        </p:spPr>
      </p:sp>
      <p:sp>
        <p:nvSpPr>
          <p:cNvPr id="26" name="Text 24"/>
          <p:cNvSpPr txBox="1"/>
          <p:nvPr/>
        </p:nvSpPr>
        <p:spPr>
          <a:xfrm>
            <a:off x="457200" y="4000500"/>
            <a:ext cx="8229600" cy="533400"/>
          </a:xfrm>
          <a:prstGeom prst="rect">
            <a:avLst/>
          </a:prstGeom>
          <a:noFill/>
          <a:ln/>
        </p:spPr>
        <p:txBody>
          <a:bodyPr wrap="square" lIns="0" tIns="0" rIns="0" bIns="0" rtlCol="0" anchor="t"/>
          <a:lstStyle/>
          <a:p>
            <a:pPr indent="0" marL="0">
              <a:buNone/>
            </a:pPr>
            <a:r>
              <a:rPr lang="fr-FR" sz="1400" dirty="0">
                <a:solidFill>
                  <a:srgbClr val="434343"/>
                </a:solidFill>
                <a:latin typeface="Source Sans 3" pitchFamily="34" charset="0"/>
                <a:ea typeface="Source Sans 3" pitchFamily="34" charset="-122"/>
                <a:cs typeface="Source Sans 3" pitchFamily="34" charset="-120"/>
              </a:rPr>
              <a:t>N'importe qui peut lancer l'étape 1 avec un message sur le forum.</a:t>
            </a:r>
            <a:endParaRPr lang="fr-FR" sz="1400" dirty="0"/>
          </a:p>
        </p:txBody>
      </p:sp>
      <p:sp>
        <p:nvSpPr>
          <p:cNvPr id="27" name="Text 25"/>
          <p:cNvSpPr txBox="1"/>
          <p:nvPr/>
        </p:nvSpPr>
        <p:spPr>
          <a:xfrm>
            <a:off x="7953375" y="4743450"/>
            <a:ext cx="952500" cy="228600"/>
          </a:xfrm>
          <a:prstGeom prst="rect">
            <a:avLst/>
          </a:prstGeom>
          <a:noFill/>
          <a:ln/>
        </p:spPr>
        <p:txBody>
          <a:bodyPr wrap="square" lIns="0" tIns="0" rIns="0" bIns="0" rtlCol="0" anchor="t"/>
          <a:lstStyle/>
          <a:p>
            <a:pPr algn="r" indent="0" marL="0">
              <a:buNone/>
            </a:pPr>
            <a:r>
              <a:rPr lang="fr-FR" sz="1000" dirty="0">
                <a:solidFill>
                  <a:srgbClr val="888888"/>
                </a:solidFill>
                <a:latin typeface="Source Sans 3" pitchFamily="34" charset="0"/>
                <a:ea typeface="Source Sans 3" pitchFamily="34" charset="-122"/>
                <a:cs typeface="Source Sans 3" pitchFamily="34" charset="-120"/>
              </a:rPr>
              <a:t>29</a:t>
            </a:r>
            <a:endParaRPr lang="fr-FR" sz="1000" dirty="0"/>
          </a:p>
        </p:txBody>
      </p:sp>
      <p:sp>
        <p:nvSpPr>
          <p:cNvPr id="28" name="Text 26"/>
          <p:cNvSpPr txBox="1"/>
          <p:nvPr/>
        </p:nvSpPr>
        <p:spPr>
          <a:xfrm>
            <a:off x="457200" y="4743450"/>
            <a:ext cx="3810000" cy="228600"/>
          </a:xfrm>
          <a:prstGeom prst="rect">
            <a:avLst/>
          </a:prstGeom>
          <a:noFill/>
          <a:ln/>
        </p:spPr>
        <p:txBody>
          <a:bodyPr wrap="square" lIns="0" tIns="0" rIns="0" bIns="0" rtlCol="0" anchor="t"/>
          <a:lstStyle/>
          <a:p>
            <a:pPr algn="l" indent="0" marL="0">
              <a:buNone/>
            </a:pPr>
            <a:r>
              <a:rPr lang="fr-FR" sz="1000" dirty="0">
                <a:solidFill>
                  <a:srgbClr val="888888"/>
                </a:solidFill>
                <a:latin typeface="Source Sans 3" pitchFamily="34" charset="0"/>
                <a:ea typeface="Source Sans 3" pitchFamily="34" charset="-122"/>
                <a:cs typeface="Source Sans 3" pitchFamily="34" charset="-120"/>
              </a:rPr>
              <a:t>Passation eSIL Madagascar</a:t>
            </a:r>
            <a:endParaRPr lang="fr-FR" sz="1000"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247650"/>
            <a:ext cx="8229600" cy="209550"/>
          </a:xfrm>
          <a:prstGeom prst="rect">
            <a:avLst/>
          </a:prstGeom>
          <a:noFill/>
          <a:ln/>
        </p:spPr>
        <p:txBody>
          <a:bodyPr wrap="square" lIns="0" tIns="0" rIns="0" bIns="0" rtlCol="0" anchor="t"/>
          <a:lstStyle/>
          <a:p>
            <a:pPr indent="0" marL="0">
              <a:buNone/>
            </a:pPr>
            <a:r>
              <a:rPr lang="fr-FR" sz="1200" b="1" spc="150" kern="0" dirty="0">
                <a:solidFill>
                  <a:srgbClr val="33006F"/>
                </a:solidFill>
                <a:latin typeface="Source Sans 3" pitchFamily="34" charset="0"/>
                <a:ea typeface="Source Sans 3" pitchFamily="34" charset="-122"/>
                <a:cs typeface="Source Sans 3" pitchFamily="34" charset="-120"/>
              </a:rPr>
              <a:t>VERSIONS</a:t>
            </a:r>
            <a:pPr indent="0" marL="0">
              <a:buNone/>
            </a:pPr>
            <a:r>
              <a:rPr lang="fr-FR" sz="1200" dirty="0">
                <a:solidFill>
                  <a:srgbClr val="888888"/>
                </a:solidFill>
                <a:latin typeface="Source Sans 3" pitchFamily="34" charset="0"/>
                <a:ea typeface="Source Sans 3" pitchFamily="34" charset="-122"/>
                <a:cs typeface="Source Sans 3" pitchFamily="34" charset="-120"/>
              </a:rPr>
              <a:t>    Section 5 sur 7</a:t>
            </a:r>
            <a:endParaRPr lang="fr-FR" sz="1200" dirty="0"/>
          </a:p>
        </p:txBody>
      </p:sp>
      <p:sp>
        <p:nvSpPr>
          <p:cNvPr id="3" name="Shape 1"/>
          <p:cNvSpPr/>
          <p:nvPr/>
        </p:nvSpPr>
        <p:spPr>
          <a:xfrm>
            <a:off x="457200" y="533400"/>
            <a:ext cx="685800" cy="57150"/>
          </a:xfrm>
          <a:prstGeom prst="rect">
            <a:avLst/>
          </a:prstGeom>
          <a:solidFill>
            <a:srgbClr val="33006F"/>
          </a:solidFill>
          <a:ln w="12700">
            <a:solidFill>
              <a:srgbClr val="33006F"/>
            </a:solidFill>
            <a:prstDash val="solid"/>
          </a:ln>
        </p:spPr>
      </p:sp>
      <p:sp>
        <p:nvSpPr>
          <p:cNvPr id="4" name="Text 2"/>
          <p:cNvSpPr txBox="1"/>
          <p:nvPr/>
        </p:nvSpPr>
        <p:spPr>
          <a:xfrm>
            <a:off x="457200" y="704850"/>
            <a:ext cx="8229600" cy="800100"/>
          </a:xfrm>
          <a:prstGeom prst="rect">
            <a:avLst/>
          </a:prstGeom>
          <a:noFill/>
          <a:ln/>
        </p:spPr>
        <p:txBody>
          <a:bodyPr wrap="square" lIns="0" tIns="0" rIns="0" bIns="0" rtlCol="0" anchor="t">
            <a:normAutofit/>
          </a:bodyPr>
          <a:lstStyle/>
          <a:p>
            <a:pPr indent="0" marL="0">
              <a:buNone/>
            </a:pPr>
            <a:r>
              <a:rPr lang="fr-FR" sz="2350" b="1" dirty="0">
                <a:solidFill>
                  <a:srgbClr val="33006F"/>
                </a:solidFill>
                <a:latin typeface="Source Sans 3" pitchFamily="34" charset="0"/>
                <a:ea typeface="Source Sans 3" pitchFamily="34" charset="-122"/>
                <a:cs typeface="Source Sans 3" pitchFamily="34" charset="-120"/>
              </a:rPr>
              <a:t>Un numéro de version est un ensemble, pas un seul programme</a:t>
            </a:r>
            <a:endParaRPr lang="fr-FR" sz="2350" dirty="0"/>
          </a:p>
        </p:txBody>
      </p:sp>
      <p:sp>
        <p:nvSpPr>
          <p:cNvPr id="5" name="Text 3"/>
          <p:cNvSpPr txBox="1"/>
          <p:nvPr/>
        </p:nvSpPr>
        <p:spPr>
          <a:xfrm>
            <a:off x="457200" y="1504950"/>
            <a:ext cx="8229600" cy="323850"/>
          </a:xfrm>
          <a:prstGeom prst="rect">
            <a:avLst/>
          </a:prstGeom>
          <a:noFill/>
          <a:ln/>
        </p:spPr>
        <p:txBody>
          <a:bodyPr wrap="square" lIns="0" tIns="0" rIns="0" bIns="0" rtlCol="0" anchor="t"/>
          <a:lstStyle/>
          <a:p>
            <a:pPr indent="0" marL="0">
              <a:buNone/>
            </a:pPr>
            <a:r>
              <a:rPr lang="fr-FR" sz="1300" dirty="0">
                <a:solidFill>
                  <a:srgbClr val="5B5670"/>
                </a:solidFill>
                <a:latin typeface="Source Sans 3" pitchFamily="34" charset="0"/>
                <a:ea typeface="Source Sans 3" pitchFamily="34" charset="-122"/>
                <a:cs typeface="Source Sans 3" pitchFamily="34" charset="-120"/>
              </a:rPr>
              <a:t>Madagascar installe une version de distribution. Elle contient trois parties, chacune avec sa propre version.</a:t>
            </a:r>
            <a:endParaRPr lang="fr-FR" sz="1300" dirty="0"/>
          </a:p>
        </p:txBody>
      </p:sp>
      <p:sp>
        <p:nvSpPr>
          <p:cNvPr id="6" name="Shape 4"/>
          <p:cNvSpPr/>
          <p:nvPr/>
        </p:nvSpPr>
        <p:spPr>
          <a:xfrm>
            <a:off x="457200" y="1905000"/>
            <a:ext cx="2590800" cy="2000250"/>
          </a:xfrm>
          <a:prstGeom prst="rect">
            <a:avLst/>
          </a:prstGeom>
          <a:solidFill>
            <a:srgbClr val="33006F"/>
          </a:solidFill>
          <a:ln w="12700">
            <a:solidFill>
              <a:srgbClr val="33006F"/>
            </a:solidFill>
            <a:prstDash val="solid"/>
          </a:ln>
        </p:spPr>
      </p:sp>
      <p:sp>
        <p:nvSpPr>
          <p:cNvPr id="7" name="Text 5"/>
          <p:cNvSpPr txBox="1"/>
          <p:nvPr/>
        </p:nvSpPr>
        <p:spPr>
          <a:xfrm>
            <a:off x="647700" y="2095500"/>
            <a:ext cx="2209800" cy="285750"/>
          </a:xfrm>
          <a:prstGeom prst="rect">
            <a:avLst/>
          </a:prstGeom>
          <a:noFill/>
          <a:ln/>
        </p:spPr>
        <p:txBody>
          <a:bodyPr wrap="square" lIns="0" tIns="0" rIns="0" bIns="0" rtlCol="0" anchor="t"/>
          <a:lstStyle/>
          <a:p>
            <a:pPr indent="0" marL="0">
              <a:buNone/>
            </a:pPr>
            <a:r>
              <a:rPr lang="fr-FR" sz="1600" b="1" dirty="0">
                <a:solidFill>
                  <a:srgbClr val="FFFFFF"/>
                </a:solidFill>
                <a:latin typeface="Source Sans 3" pitchFamily="34" charset="0"/>
                <a:ea typeface="Source Sans 3" pitchFamily="34" charset="-122"/>
                <a:cs typeface="Source Sans 3" pitchFamily="34" charset="-120"/>
              </a:rPr>
              <a:t>Distribution Madagascar</a:t>
            </a:r>
            <a:endParaRPr lang="fr-FR" sz="1600" dirty="0"/>
          </a:p>
        </p:txBody>
      </p:sp>
      <p:sp>
        <p:nvSpPr>
          <p:cNvPr id="8" name="Text 6"/>
          <p:cNvSpPr txBox="1"/>
          <p:nvPr/>
        </p:nvSpPr>
        <p:spPr>
          <a:xfrm>
            <a:off x="647700" y="2400300"/>
            <a:ext cx="2209800" cy="476250"/>
          </a:xfrm>
          <a:prstGeom prst="rect">
            <a:avLst/>
          </a:prstGeom>
          <a:noFill/>
          <a:ln/>
        </p:spPr>
        <p:txBody>
          <a:bodyPr wrap="square" lIns="0" tIns="0" rIns="0" bIns="0" rtlCol="0" anchor="t"/>
          <a:lstStyle/>
          <a:p>
            <a:pPr indent="0" marL="0">
              <a:buNone/>
            </a:pPr>
            <a:r>
              <a:rPr lang="fr-FR" sz="3150" b="1" dirty="0">
                <a:solidFill>
                  <a:srgbClr val="FFC000"/>
                </a:solidFill>
                <a:latin typeface="Source Sans 3" pitchFamily="34" charset="0"/>
                <a:ea typeface="Source Sans 3" pitchFamily="34" charset="-122"/>
                <a:cs typeface="Source Sans 3" pitchFamily="34" charset="-120"/>
              </a:rPr>
              <a:t>3.2.2.0</a:t>
            </a:r>
            <a:endParaRPr lang="fr-FR" sz="3150" dirty="0"/>
          </a:p>
        </p:txBody>
      </p:sp>
      <p:sp>
        <p:nvSpPr>
          <p:cNvPr id="9" name="Text 7"/>
          <p:cNvSpPr txBox="1"/>
          <p:nvPr/>
        </p:nvSpPr>
        <p:spPr>
          <a:xfrm>
            <a:off x="647700" y="2971800"/>
            <a:ext cx="2209800" cy="857250"/>
          </a:xfrm>
          <a:prstGeom prst="rect">
            <a:avLst/>
          </a:prstGeom>
          <a:noFill/>
          <a:ln/>
        </p:spPr>
        <p:txBody>
          <a:bodyPr wrap="square" lIns="0" tIns="0" rIns="0" bIns="0" rtlCol="0" anchor="t">
            <a:normAutofit/>
          </a:bodyPr>
          <a:lstStyle/>
          <a:p>
            <a:pPr indent="0" marL="0">
              <a:buNone/>
            </a:pPr>
            <a:r>
              <a:rPr lang="fr-FR" sz="1200" dirty="0">
                <a:solidFill>
                  <a:srgbClr val="FFFFFF"/>
                </a:solidFill>
                <a:latin typeface="Source Sans 3" pitchFamily="34" charset="0"/>
                <a:ea typeface="Source Sans 3" pitchFamily="34" charset="-122"/>
                <a:cs typeface="Source Sans 3" pitchFamily="34" charset="-120"/>
              </a:rPr>
              <a:t>Le paquet installable : configuration Docker, paramètres d'environnement, corrections propres à Madagascar.</a:t>
            </a:r>
            <a:endParaRPr lang="fr-FR" sz="1200" dirty="0"/>
          </a:p>
        </p:txBody>
      </p:sp>
      <p:sp>
        <p:nvSpPr>
          <p:cNvPr id="10" name="Shape 8"/>
          <p:cNvSpPr/>
          <p:nvPr/>
        </p:nvSpPr>
        <p:spPr>
          <a:xfrm>
            <a:off x="3276600" y="1905000"/>
            <a:ext cx="2590800" cy="2000250"/>
          </a:xfrm>
          <a:prstGeom prst="rect">
            <a:avLst/>
          </a:prstGeom>
          <a:solidFill>
            <a:srgbClr val="F0F0FF"/>
          </a:solidFill>
          <a:ln w="12700">
            <a:solidFill>
              <a:srgbClr val="F0F0FF"/>
            </a:solidFill>
            <a:prstDash val="solid"/>
          </a:ln>
        </p:spPr>
      </p:sp>
      <p:sp>
        <p:nvSpPr>
          <p:cNvPr id="11" name="Shape 9"/>
          <p:cNvSpPr/>
          <p:nvPr/>
        </p:nvSpPr>
        <p:spPr>
          <a:xfrm>
            <a:off x="3276600" y="1905000"/>
            <a:ext cx="2590800" cy="38100"/>
          </a:xfrm>
          <a:prstGeom prst="rect">
            <a:avLst/>
          </a:prstGeom>
          <a:solidFill>
            <a:srgbClr val="33006F"/>
          </a:solidFill>
          <a:ln w="12700">
            <a:solidFill>
              <a:srgbClr val="33006F"/>
            </a:solidFill>
            <a:prstDash val="solid"/>
          </a:ln>
        </p:spPr>
      </p:sp>
      <p:sp>
        <p:nvSpPr>
          <p:cNvPr id="12" name="Text 10"/>
          <p:cNvSpPr txBox="1"/>
          <p:nvPr/>
        </p:nvSpPr>
        <p:spPr>
          <a:xfrm>
            <a:off x="3467100" y="2095500"/>
            <a:ext cx="2209800" cy="285750"/>
          </a:xfrm>
          <a:prstGeom prst="rect">
            <a:avLst/>
          </a:prstGeom>
          <a:noFill/>
          <a:ln/>
        </p:spPr>
        <p:txBody>
          <a:bodyPr wrap="square" lIns="0" tIns="0" rIns="0" bIns="0" rtlCol="0" anchor="t"/>
          <a:lstStyle/>
          <a:p>
            <a:pPr indent="0" marL="0">
              <a:buNone/>
            </a:pPr>
            <a:r>
              <a:rPr lang="fr-FR" sz="1600" b="1" dirty="0">
                <a:solidFill>
                  <a:srgbClr val="33006F"/>
                </a:solidFill>
                <a:latin typeface="Source Sans 3" pitchFamily="34" charset="0"/>
                <a:ea typeface="Source Sans 3" pitchFamily="34" charset="-122"/>
                <a:cs typeface="Source Sans 3" pitchFamily="34" charset="-120"/>
              </a:rPr>
              <a:t>OpenELIS Global</a:t>
            </a:r>
            <a:endParaRPr lang="fr-FR" sz="1600" dirty="0"/>
          </a:p>
        </p:txBody>
      </p:sp>
      <p:sp>
        <p:nvSpPr>
          <p:cNvPr id="13" name="Text 11"/>
          <p:cNvSpPr txBox="1"/>
          <p:nvPr/>
        </p:nvSpPr>
        <p:spPr>
          <a:xfrm>
            <a:off x="3467100" y="2400300"/>
            <a:ext cx="2209800" cy="476250"/>
          </a:xfrm>
          <a:prstGeom prst="rect">
            <a:avLst/>
          </a:prstGeom>
          <a:noFill/>
          <a:ln/>
        </p:spPr>
        <p:txBody>
          <a:bodyPr wrap="square" lIns="0" tIns="0" rIns="0" bIns="0" rtlCol="0" anchor="t"/>
          <a:lstStyle/>
          <a:p>
            <a:pPr indent="0" marL="0">
              <a:buNone/>
            </a:pPr>
            <a:r>
              <a:rPr lang="fr-FR" sz="3150" b="1" dirty="0">
                <a:solidFill>
                  <a:srgbClr val="33006F"/>
                </a:solidFill>
                <a:latin typeface="Source Sans 3" pitchFamily="34" charset="0"/>
                <a:ea typeface="Source Sans 3" pitchFamily="34" charset="-122"/>
                <a:cs typeface="Source Sans 3" pitchFamily="34" charset="-120"/>
              </a:rPr>
              <a:t>3.2.2.0</a:t>
            </a:r>
            <a:endParaRPr lang="fr-FR" sz="3150" dirty="0"/>
          </a:p>
        </p:txBody>
      </p:sp>
      <p:sp>
        <p:nvSpPr>
          <p:cNvPr id="14" name="Text 12"/>
          <p:cNvSpPr txBox="1"/>
          <p:nvPr/>
        </p:nvSpPr>
        <p:spPr>
          <a:xfrm>
            <a:off x="3467100" y="2971800"/>
            <a:ext cx="2209800" cy="857250"/>
          </a:xfrm>
          <a:prstGeom prst="rect">
            <a:avLst/>
          </a:prstGeom>
          <a:noFill/>
          <a:ln/>
        </p:spPr>
        <p:txBody>
          <a:bodyPr wrap="square" lIns="0" tIns="0" rIns="0" bIns="0" rtlCol="0" anchor="t">
            <a:normAutofit/>
          </a:bodyPr>
          <a:lstStyle/>
          <a:p>
            <a:pPr indent="0" marL="0">
              <a:buNone/>
            </a:pPr>
            <a:r>
              <a:rPr lang="fr-FR" sz="1200" dirty="0">
                <a:solidFill>
                  <a:srgbClr val="434343"/>
                </a:solidFill>
                <a:latin typeface="Source Sans 3" pitchFamily="34" charset="0"/>
                <a:ea typeface="Source Sans 3" pitchFamily="34" charset="-122"/>
                <a:cs typeface="Source Sans 3" pitchFamily="34" charset="-120"/>
              </a:rPr>
              <a:t>Le système de laboratoire central : demandes, résultats, catalogue, rapports.</a:t>
            </a:r>
            <a:endParaRPr lang="fr-FR" sz="1200" dirty="0"/>
          </a:p>
        </p:txBody>
      </p:sp>
      <p:sp>
        <p:nvSpPr>
          <p:cNvPr id="15" name="Shape 13"/>
          <p:cNvSpPr/>
          <p:nvPr/>
        </p:nvSpPr>
        <p:spPr>
          <a:xfrm>
            <a:off x="6096000" y="1905000"/>
            <a:ext cx="2590800" cy="2000250"/>
          </a:xfrm>
          <a:prstGeom prst="rect">
            <a:avLst/>
          </a:prstGeom>
          <a:solidFill>
            <a:srgbClr val="F0F0FF"/>
          </a:solidFill>
          <a:ln w="12700">
            <a:solidFill>
              <a:srgbClr val="F0F0FF"/>
            </a:solidFill>
            <a:prstDash val="solid"/>
          </a:ln>
        </p:spPr>
      </p:sp>
      <p:sp>
        <p:nvSpPr>
          <p:cNvPr id="16" name="Shape 14"/>
          <p:cNvSpPr/>
          <p:nvPr/>
        </p:nvSpPr>
        <p:spPr>
          <a:xfrm>
            <a:off x="6096000" y="1905000"/>
            <a:ext cx="2590800" cy="38100"/>
          </a:xfrm>
          <a:prstGeom prst="rect">
            <a:avLst/>
          </a:prstGeom>
          <a:solidFill>
            <a:srgbClr val="33006F"/>
          </a:solidFill>
          <a:ln w="12700">
            <a:solidFill>
              <a:srgbClr val="33006F"/>
            </a:solidFill>
            <a:prstDash val="solid"/>
          </a:ln>
        </p:spPr>
      </p:sp>
      <p:sp>
        <p:nvSpPr>
          <p:cNvPr id="17" name="Text 15"/>
          <p:cNvSpPr txBox="1"/>
          <p:nvPr/>
        </p:nvSpPr>
        <p:spPr>
          <a:xfrm>
            <a:off x="6286500" y="2095500"/>
            <a:ext cx="2209800" cy="285750"/>
          </a:xfrm>
          <a:prstGeom prst="rect">
            <a:avLst/>
          </a:prstGeom>
          <a:noFill/>
          <a:ln/>
        </p:spPr>
        <p:txBody>
          <a:bodyPr wrap="square" lIns="0" tIns="0" rIns="0" bIns="0" rtlCol="0" anchor="t"/>
          <a:lstStyle/>
          <a:p>
            <a:pPr indent="0" marL="0">
              <a:buNone/>
            </a:pPr>
            <a:r>
              <a:rPr lang="fr-FR" sz="1600" b="1" dirty="0">
                <a:solidFill>
                  <a:srgbClr val="33006F"/>
                </a:solidFill>
                <a:latin typeface="Source Sans 3" pitchFamily="34" charset="0"/>
                <a:ea typeface="Source Sans 3" pitchFamily="34" charset="-122"/>
                <a:cs typeface="Source Sans 3" pitchFamily="34" charset="-120"/>
              </a:rPr>
              <a:t>Analyzer Bridge</a:t>
            </a:r>
            <a:endParaRPr lang="fr-FR" sz="1600" dirty="0"/>
          </a:p>
        </p:txBody>
      </p:sp>
      <p:sp>
        <p:nvSpPr>
          <p:cNvPr id="18" name="Text 16"/>
          <p:cNvSpPr txBox="1"/>
          <p:nvPr/>
        </p:nvSpPr>
        <p:spPr>
          <a:xfrm>
            <a:off x="6286500" y="2400300"/>
            <a:ext cx="2209800" cy="476250"/>
          </a:xfrm>
          <a:prstGeom prst="rect">
            <a:avLst/>
          </a:prstGeom>
          <a:noFill/>
          <a:ln/>
        </p:spPr>
        <p:txBody>
          <a:bodyPr wrap="square" lIns="0" tIns="0" rIns="0" bIns="0" rtlCol="0" anchor="t"/>
          <a:lstStyle/>
          <a:p>
            <a:pPr indent="0" marL="0">
              <a:buNone/>
            </a:pPr>
            <a:r>
              <a:rPr lang="fr-FR" sz="3150" b="1" dirty="0">
                <a:solidFill>
                  <a:srgbClr val="33006F"/>
                </a:solidFill>
                <a:latin typeface="Source Sans 3" pitchFamily="34" charset="0"/>
                <a:ea typeface="Source Sans 3" pitchFamily="34" charset="-122"/>
                <a:cs typeface="Source Sans 3" pitchFamily="34" charset="-120"/>
              </a:rPr>
              <a:t>3.0.4</a:t>
            </a:r>
            <a:endParaRPr lang="fr-FR" sz="3150" dirty="0"/>
          </a:p>
        </p:txBody>
      </p:sp>
      <p:sp>
        <p:nvSpPr>
          <p:cNvPr id="19" name="Text 17"/>
          <p:cNvSpPr txBox="1"/>
          <p:nvPr/>
        </p:nvSpPr>
        <p:spPr>
          <a:xfrm>
            <a:off x="6286500" y="2971800"/>
            <a:ext cx="2209800" cy="857250"/>
          </a:xfrm>
          <a:prstGeom prst="rect">
            <a:avLst/>
          </a:prstGeom>
          <a:noFill/>
          <a:ln/>
        </p:spPr>
        <p:txBody>
          <a:bodyPr wrap="square" lIns="0" tIns="0" rIns="0" bIns="0" rtlCol="0" anchor="t">
            <a:normAutofit/>
          </a:bodyPr>
          <a:lstStyle/>
          <a:p>
            <a:pPr indent="0" marL="0">
              <a:buNone/>
            </a:pPr>
            <a:r>
              <a:rPr lang="fr-FR" sz="1200" dirty="0">
                <a:solidFill>
                  <a:srgbClr val="434343"/>
                </a:solidFill>
                <a:latin typeface="Source Sans 3" pitchFamily="34" charset="0"/>
                <a:ea typeface="Source Sans 3" pitchFamily="34" charset="-122"/>
                <a:cs typeface="Source Sans 3" pitchFamily="34" charset="-120"/>
              </a:rPr>
              <a:t>Connecte les instruments via HL7 et ASTM.</a:t>
            </a:r>
            <a:endParaRPr lang="fr-FR" sz="1200" dirty="0"/>
          </a:p>
        </p:txBody>
      </p:sp>
      <p:sp>
        <p:nvSpPr>
          <p:cNvPr id="20" name="Text 18"/>
          <p:cNvSpPr txBox="1"/>
          <p:nvPr/>
        </p:nvSpPr>
        <p:spPr>
          <a:xfrm>
            <a:off x="457200" y="4095750"/>
            <a:ext cx="8229600" cy="381000"/>
          </a:xfrm>
          <a:prstGeom prst="rect">
            <a:avLst/>
          </a:prstGeom>
          <a:noFill/>
          <a:ln/>
        </p:spPr>
        <p:txBody>
          <a:bodyPr wrap="square" lIns="0" tIns="0" rIns="0" bIns="0" rtlCol="0" anchor="t"/>
          <a:lstStyle/>
          <a:p>
            <a:pPr indent="0" marL="0">
              <a:buNone/>
            </a:pPr>
            <a:r>
              <a:rPr lang="fr-FR" sz="1400" dirty="0">
                <a:solidFill>
                  <a:srgbClr val="434343"/>
                </a:solidFill>
                <a:latin typeface="Source Sans 3" pitchFamily="34" charset="0"/>
                <a:ea typeface="Source Sans 3" pitchFamily="34" charset="-122"/>
                <a:cs typeface="Source Sans 3" pitchFamily="34" charset="-120"/>
              </a:rPr>
              <a:t>Lisez les notes de la distribution et celles d'OpenELIS Global. Une correction peut être dans l'une ou l'autre.</a:t>
            </a:r>
            <a:endParaRPr lang="fr-FR" sz="1400" dirty="0"/>
          </a:p>
        </p:txBody>
      </p:sp>
      <p:sp>
        <p:nvSpPr>
          <p:cNvPr id="21" name="Text 19"/>
          <p:cNvSpPr txBox="1"/>
          <p:nvPr/>
        </p:nvSpPr>
        <p:spPr>
          <a:xfrm>
            <a:off x="7953375" y="4743450"/>
            <a:ext cx="952500" cy="228600"/>
          </a:xfrm>
          <a:prstGeom prst="rect">
            <a:avLst/>
          </a:prstGeom>
          <a:noFill/>
          <a:ln/>
        </p:spPr>
        <p:txBody>
          <a:bodyPr wrap="square" lIns="0" tIns="0" rIns="0" bIns="0" rtlCol="0" anchor="t"/>
          <a:lstStyle/>
          <a:p>
            <a:pPr algn="r" indent="0" marL="0">
              <a:buNone/>
            </a:pPr>
            <a:r>
              <a:rPr lang="fr-FR" sz="1000" dirty="0">
                <a:solidFill>
                  <a:srgbClr val="888888"/>
                </a:solidFill>
                <a:latin typeface="Source Sans 3" pitchFamily="34" charset="0"/>
                <a:ea typeface="Source Sans 3" pitchFamily="34" charset="-122"/>
                <a:cs typeface="Source Sans 3" pitchFamily="34" charset="-120"/>
              </a:rPr>
              <a:t>30</a:t>
            </a:r>
            <a:endParaRPr lang="fr-FR" sz="1000" dirty="0"/>
          </a:p>
        </p:txBody>
      </p:sp>
      <p:sp>
        <p:nvSpPr>
          <p:cNvPr id="22" name="Text 20"/>
          <p:cNvSpPr txBox="1"/>
          <p:nvPr/>
        </p:nvSpPr>
        <p:spPr>
          <a:xfrm>
            <a:off x="457200" y="4743450"/>
            <a:ext cx="3810000" cy="228600"/>
          </a:xfrm>
          <a:prstGeom prst="rect">
            <a:avLst/>
          </a:prstGeom>
          <a:noFill/>
          <a:ln/>
        </p:spPr>
        <p:txBody>
          <a:bodyPr wrap="square" lIns="0" tIns="0" rIns="0" bIns="0" rtlCol="0" anchor="t"/>
          <a:lstStyle/>
          <a:p>
            <a:pPr algn="l" indent="0" marL="0">
              <a:buNone/>
            </a:pPr>
            <a:r>
              <a:rPr lang="fr-FR" sz="1000" dirty="0">
                <a:solidFill>
                  <a:srgbClr val="888888"/>
                </a:solidFill>
                <a:latin typeface="Source Sans 3" pitchFamily="34" charset="0"/>
                <a:ea typeface="Source Sans 3" pitchFamily="34" charset="-122"/>
                <a:cs typeface="Source Sans 3" pitchFamily="34" charset="-120"/>
              </a:rPr>
              <a:t>Passation eSIL Madagascar</a:t>
            </a:r>
            <a:endParaRPr lang="fr-FR" sz="1000"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247650"/>
            <a:ext cx="8229600" cy="209550"/>
          </a:xfrm>
          <a:prstGeom prst="rect">
            <a:avLst/>
          </a:prstGeom>
          <a:noFill/>
          <a:ln/>
        </p:spPr>
        <p:txBody>
          <a:bodyPr wrap="square" lIns="0" tIns="0" rIns="0" bIns="0" rtlCol="0" anchor="t"/>
          <a:lstStyle/>
          <a:p>
            <a:pPr indent="0" marL="0">
              <a:buNone/>
            </a:pPr>
            <a:r>
              <a:rPr lang="fr-FR" sz="1200" b="1" spc="150" kern="0" dirty="0">
                <a:solidFill>
                  <a:srgbClr val="33006F"/>
                </a:solidFill>
                <a:latin typeface="Source Sans 3" pitchFamily="34" charset="0"/>
                <a:ea typeface="Source Sans 3" pitchFamily="34" charset="-122"/>
                <a:cs typeface="Source Sans 3" pitchFamily="34" charset="-120"/>
              </a:rPr>
              <a:t>VERSIONS</a:t>
            </a:r>
            <a:pPr indent="0" marL="0">
              <a:buNone/>
            </a:pPr>
            <a:r>
              <a:rPr lang="fr-FR" sz="1200" dirty="0">
                <a:solidFill>
                  <a:srgbClr val="888888"/>
                </a:solidFill>
                <a:latin typeface="Source Sans 3" pitchFamily="34" charset="0"/>
                <a:ea typeface="Source Sans 3" pitchFamily="34" charset="-122"/>
                <a:cs typeface="Source Sans 3" pitchFamily="34" charset="-120"/>
              </a:rPr>
              <a:t>    Section 5 sur 7</a:t>
            </a:r>
            <a:endParaRPr lang="fr-FR" sz="1200" dirty="0"/>
          </a:p>
        </p:txBody>
      </p:sp>
      <p:sp>
        <p:nvSpPr>
          <p:cNvPr id="3" name="Shape 1"/>
          <p:cNvSpPr/>
          <p:nvPr/>
        </p:nvSpPr>
        <p:spPr>
          <a:xfrm>
            <a:off x="457200" y="533400"/>
            <a:ext cx="685800" cy="57150"/>
          </a:xfrm>
          <a:prstGeom prst="rect">
            <a:avLst/>
          </a:prstGeom>
          <a:solidFill>
            <a:srgbClr val="33006F"/>
          </a:solidFill>
          <a:ln w="12700">
            <a:solidFill>
              <a:srgbClr val="33006F"/>
            </a:solidFill>
            <a:prstDash val="solid"/>
          </a:ln>
        </p:spPr>
      </p:sp>
      <p:sp>
        <p:nvSpPr>
          <p:cNvPr id="4" name="Text 2"/>
          <p:cNvSpPr txBox="1"/>
          <p:nvPr/>
        </p:nvSpPr>
        <p:spPr>
          <a:xfrm>
            <a:off x="457200" y="704850"/>
            <a:ext cx="8229600" cy="800100"/>
          </a:xfrm>
          <a:prstGeom prst="rect">
            <a:avLst/>
          </a:prstGeom>
          <a:noFill/>
          <a:ln/>
        </p:spPr>
        <p:txBody>
          <a:bodyPr wrap="square" lIns="0" tIns="0" rIns="0" bIns="0" rtlCol="0" anchor="t">
            <a:normAutofit/>
          </a:bodyPr>
          <a:lstStyle/>
          <a:p>
            <a:pPr indent="0" marL="0">
              <a:buNone/>
            </a:pPr>
            <a:r>
              <a:rPr lang="fr-FR" sz="2350" b="1" dirty="0">
                <a:solidFill>
                  <a:srgbClr val="33006F"/>
                </a:solidFill>
                <a:latin typeface="Source Sans 3" pitchFamily="34" charset="0"/>
                <a:ea typeface="Source Sans 3" pitchFamily="34" charset="-122"/>
                <a:cs typeface="Source Sans 3" pitchFamily="34" charset="-120"/>
              </a:rPr>
              <a:t>Des versions petites et fréquentes</a:t>
            </a:r>
            <a:endParaRPr lang="fr-FR" sz="2350" dirty="0"/>
          </a:p>
        </p:txBody>
      </p:sp>
      <p:sp>
        <p:nvSpPr>
          <p:cNvPr id="5" name="Shape 3"/>
          <p:cNvSpPr/>
          <p:nvPr/>
        </p:nvSpPr>
        <p:spPr>
          <a:xfrm>
            <a:off x="457200" y="1600200"/>
            <a:ext cx="57150" cy="495300"/>
          </a:xfrm>
          <a:prstGeom prst="rect">
            <a:avLst/>
          </a:prstGeom>
          <a:solidFill>
            <a:srgbClr val="33006F"/>
          </a:solidFill>
          <a:ln w="12700">
            <a:solidFill>
              <a:srgbClr val="33006F"/>
            </a:solidFill>
            <a:prstDash val="solid"/>
          </a:ln>
        </p:spPr>
      </p:sp>
      <p:sp>
        <p:nvSpPr>
          <p:cNvPr id="6" name="Text 4"/>
          <p:cNvSpPr txBox="1"/>
          <p:nvPr/>
        </p:nvSpPr>
        <p:spPr>
          <a:xfrm>
            <a:off x="666750" y="1600200"/>
            <a:ext cx="2095500" cy="247650"/>
          </a:xfrm>
          <a:prstGeom prst="rect">
            <a:avLst/>
          </a:prstGeom>
          <a:noFill/>
          <a:ln/>
        </p:spPr>
        <p:txBody>
          <a:bodyPr wrap="square" lIns="0" tIns="0" rIns="0" bIns="0" rtlCol="0" anchor="t"/>
          <a:lstStyle/>
          <a:p>
            <a:pPr indent="0" marL="0">
              <a:buNone/>
            </a:pPr>
            <a:r>
              <a:rPr lang="fr-FR" sz="1200" dirty="0">
                <a:solidFill>
                  <a:srgbClr val="888888"/>
                </a:solidFill>
                <a:latin typeface="Source Sans 3" pitchFamily="34" charset="0"/>
                <a:ea typeface="Source Sans 3" pitchFamily="34" charset="-122"/>
                <a:cs typeface="Source Sans 3" pitchFamily="34" charset="-120"/>
              </a:rPr>
              <a:t>14 juillet 2026</a:t>
            </a:r>
            <a:endParaRPr lang="fr-FR" sz="1200" dirty="0"/>
          </a:p>
        </p:txBody>
      </p:sp>
      <p:sp>
        <p:nvSpPr>
          <p:cNvPr id="7" name="Text 5"/>
          <p:cNvSpPr txBox="1"/>
          <p:nvPr/>
        </p:nvSpPr>
        <p:spPr>
          <a:xfrm>
            <a:off x="666750" y="1809750"/>
            <a:ext cx="2095500" cy="285750"/>
          </a:xfrm>
          <a:prstGeom prst="rect">
            <a:avLst/>
          </a:prstGeom>
          <a:noFill/>
          <a:ln/>
        </p:spPr>
        <p:txBody>
          <a:bodyPr wrap="square" lIns="0" tIns="0" rIns="0" bIns="0" rtlCol="0" anchor="t"/>
          <a:lstStyle/>
          <a:p>
            <a:pPr indent="0" marL="0">
              <a:buNone/>
            </a:pPr>
            <a:r>
              <a:rPr lang="fr-FR" sz="1850" b="1" dirty="0">
                <a:solidFill>
                  <a:srgbClr val="33006F"/>
                </a:solidFill>
                <a:latin typeface="Source Sans 3" pitchFamily="34" charset="0"/>
                <a:ea typeface="Source Sans 3" pitchFamily="34" charset="-122"/>
                <a:cs typeface="Source Sans 3" pitchFamily="34" charset="-120"/>
              </a:rPr>
              <a:t>3.2.1.11</a:t>
            </a:r>
            <a:endParaRPr lang="fr-FR" sz="1850" dirty="0"/>
          </a:p>
        </p:txBody>
      </p:sp>
      <p:sp>
        <p:nvSpPr>
          <p:cNvPr id="8" name="Text 6"/>
          <p:cNvSpPr txBox="1"/>
          <p:nvPr/>
        </p:nvSpPr>
        <p:spPr>
          <a:xfrm>
            <a:off x="2857500" y="1638300"/>
            <a:ext cx="5829300" cy="457200"/>
          </a:xfrm>
          <a:prstGeom prst="rect">
            <a:avLst/>
          </a:prstGeom>
          <a:noFill/>
          <a:ln/>
        </p:spPr>
        <p:txBody>
          <a:bodyPr wrap="square" lIns="0" tIns="0" rIns="0" bIns="0" rtlCol="0" anchor="ctr"/>
          <a:lstStyle/>
          <a:p>
            <a:pPr indent="0" marL="0">
              <a:buNone/>
            </a:pPr>
            <a:r>
              <a:rPr lang="fr-FR" sz="1400" dirty="0">
                <a:solidFill>
                  <a:srgbClr val="434343"/>
                </a:solidFill>
                <a:latin typeface="Source Sans 3" pitchFamily="34" charset="0"/>
                <a:ea typeface="Source Sans 3" pitchFamily="34" charset="-122"/>
                <a:cs typeface="Source Sans 3" pitchFamily="34" charset="-120"/>
              </a:rPr>
              <a:t>Éditeur de catalogue de tests v2.5, résultats à plusieurs composantes, étiquettes code-barres v2</a:t>
            </a:r>
            <a:endParaRPr lang="fr-FR" sz="1400" dirty="0"/>
          </a:p>
        </p:txBody>
      </p:sp>
      <p:sp>
        <p:nvSpPr>
          <p:cNvPr id="9" name="Shape 7"/>
          <p:cNvSpPr/>
          <p:nvPr/>
        </p:nvSpPr>
        <p:spPr>
          <a:xfrm>
            <a:off x="457200" y="2247900"/>
            <a:ext cx="57150" cy="495300"/>
          </a:xfrm>
          <a:prstGeom prst="rect">
            <a:avLst/>
          </a:prstGeom>
          <a:solidFill>
            <a:srgbClr val="33006F"/>
          </a:solidFill>
          <a:ln w="12700">
            <a:solidFill>
              <a:srgbClr val="33006F"/>
            </a:solidFill>
            <a:prstDash val="solid"/>
          </a:ln>
        </p:spPr>
      </p:sp>
      <p:sp>
        <p:nvSpPr>
          <p:cNvPr id="10" name="Text 8"/>
          <p:cNvSpPr txBox="1"/>
          <p:nvPr/>
        </p:nvSpPr>
        <p:spPr>
          <a:xfrm>
            <a:off x="666750" y="2247900"/>
            <a:ext cx="2095500" cy="247650"/>
          </a:xfrm>
          <a:prstGeom prst="rect">
            <a:avLst/>
          </a:prstGeom>
          <a:noFill/>
          <a:ln/>
        </p:spPr>
        <p:txBody>
          <a:bodyPr wrap="square" lIns="0" tIns="0" rIns="0" bIns="0" rtlCol="0" anchor="t"/>
          <a:lstStyle/>
          <a:p>
            <a:pPr indent="0" marL="0">
              <a:buNone/>
            </a:pPr>
            <a:r>
              <a:rPr lang="fr-FR" sz="1200" dirty="0">
                <a:solidFill>
                  <a:srgbClr val="888888"/>
                </a:solidFill>
                <a:latin typeface="Source Sans 3" pitchFamily="34" charset="0"/>
                <a:ea typeface="Source Sans 3" pitchFamily="34" charset="-122"/>
                <a:cs typeface="Source Sans 3" pitchFamily="34" charset="-120"/>
              </a:rPr>
              <a:t>18 août 2026</a:t>
            </a:r>
            <a:endParaRPr lang="fr-FR" sz="1200" dirty="0"/>
          </a:p>
        </p:txBody>
      </p:sp>
      <p:sp>
        <p:nvSpPr>
          <p:cNvPr id="11" name="Text 9"/>
          <p:cNvSpPr txBox="1"/>
          <p:nvPr/>
        </p:nvSpPr>
        <p:spPr>
          <a:xfrm>
            <a:off x="666750" y="2457450"/>
            <a:ext cx="2095500" cy="285750"/>
          </a:xfrm>
          <a:prstGeom prst="rect">
            <a:avLst/>
          </a:prstGeom>
          <a:noFill/>
          <a:ln/>
        </p:spPr>
        <p:txBody>
          <a:bodyPr wrap="square" lIns="0" tIns="0" rIns="0" bIns="0" rtlCol="0" anchor="t"/>
          <a:lstStyle/>
          <a:p>
            <a:pPr indent="0" marL="0">
              <a:buNone/>
            </a:pPr>
            <a:r>
              <a:rPr lang="fr-FR" sz="1850" b="1" dirty="0">
                <a:solidFill>
                  <a:srgbClr val="33006F"/>
                </a:solidFill>
                <a:latin typeface="Source Sans 3" pitchFamily="34" charset="0"/>
                <a:ea typeface="Source Sans 3" pitchFamily="34" charset="-122"/>
                <a:cs typeface="Source Sans 3" pitchFamily="34" charset="-120"/>
              </a:rPr>
              <a:t>3.2.2.0</a:t>
            </a:r>
            <a:endParaRPr lang="fr-FR" sz="1850" dirty="0"/>
          </a:p>
        </p:txBody>
      </p:sp>
      <p:sp>
        <p:nvSpPr>
          <p:cNvPr id="12" name="Text 10"/>
          <p:cNvSpPr txBox="1"/>
          <p:nvPr/>
        </p:nvSpPr>
        <p:spPr>
          <a:xfrm>
            <a:off x="2857500" y="2286000"/>
            <a:ext cx="5829300" cy="457200"/>
          </a:xfrm>
          <a:prstGeom prst="rect">
            <a:avLst/>
          </a:prstGeom>
          <a:noFill/>
          <a:ln/>
        </p:spPr>
        <p:txBody>
          <a:bodyPr wrap="square" lIns="0" tIns="0" rIns="0" bIns="0" rtlCol="0" anchor="ctr"/>
          <a:lstStyle/>
          <a:p>
            <a:pPr indent="0" marL="0">
              <a:buNone/>
            </a:pPr>
            <a:r>
              <a:rPr lang="fr-FR" sz="1400" dirty="0">
                <a:solidFill>
                  <a:srgbClr val="434343"/>
                </a:solidFill>
                <a:latin typeface="Source Sans 3" pitchFamily="34" charset="0"/>
                <a:ea typeface="Source Sans 3" pitchFamily="34" charset="-122"/>
                <a:cs typeface="Source Sans 3" pitchFamily="34" charset="-120"/>
              </a:rPr>
              <a:t>Saisie des résultats v3, gestion des types d'échantillons, éditeur de panels</a:t>
            </a:r>
            <a:endParaRPr lang="fr-FR" sz="1400" dirty="0"/>
          </a:p>
        </p:txBody>
      </p:sp>
      <p:sp>
        <p:nvSpPr>
          <p:cNvPr id="13" name="Shape 11"/>
          <p:cNvSpPr/>
          <p:nvPr/>
        </p:nvSpPr>
        <p:spPr>
          <a:xfrm>
            <a:off x="457200" y="2895600"/>
            <a:ext cx="57150" cy="495300"/>
          </a:xfrm>
          <a:prstGeom prst="rect">
            <a:avLst/>
          </a:prstGeom>
          <a:solidFill>
            <a:srgbClr val="33006F"/>
          </a:solidFill>
          <a:ln w="12700">
            <a:solidFill>
              <a:srgbClr val="33006F"/>
            </a:solidFill>
            <a:prstDash val="solid"/>
          </a:ln>
        </p:spPr>
      </p:sp>
      <p:sp>
        <p:nvSpPr>
          <p:cNvPr id="14" name="Text 12"/>
          <p:cNvSpPr txBox="1"/>
          <p:nvPr/>
        </p:nvSpPr>
        <p:spPr>
          <a:xfrm>
            <a:off x="666750" y="2895600"/>
            <a:ext cx="2095500" cy="247650"/>
          </a:xfrm>
          <a:prstGeom prst="rect">
            <a:avLst/>
          </a:prstGeom>
          <a:noFill/>
          <a:ln/>
        </p:spPr>
        <p:txBody>
          <a:bodyPr wrap="square" lIns="0" tIns="0" rIns="0" bIns="0" rtlCol="0" anchor="t"/>
          <a:lstStyle/>
          <a:p>
            <a:pPr indent="0" marL="0">
              <a:buNone/>
            </a:pPr>
            <a:r>
              <a:rPr lang="fr-FR" sz="1200" dirty="0">
                <a:solidFill>
                  <a:srgbClr val="888888"/>
                </a:solidFill>
                <a:latin typeface="Source Sans 3" pitchFamily="34" charset="0"/>
                <a:ea typeface="Source Sans 3" pitchFamily="34" charset="-122"/>
                <a:cs typeface="Source Sans 3" pitchFamily="34" charset="-120"/>
              </a:rPr>
              <a:t>Vers le 20 septembre 2026</a:t>
            </a:r>
            <a:endParaRPr lang="fr-FR" sz="1200" dirty="0"/>
          </a:p>
        </p:txBody>
      </p:sp>
      <p:sp>
        <p:nvSpPr>
          <p:cNvPr id="15" name="Text 13"/>
          <p:cNvSpPr txBox="1"/>
          <p:nvPr/>
        </p:nvSpPr>
        <p:spPr>
          <a:xfrm>
            <a:off x="666750" y="3105150"/>
            <a:ext cx="2095500" cy="285750"/>
          </a:xfrm>
          <a:prstGeom prst="rect">
            <a:avLst/>
          </a:prstGeom>
          <a:noFill/>
          <a:ln/>
        </p:spPr>
        <p:txBody>
          <a:bodyPr wrap="square" lIns="0" tIns="0" rIns="0" bIns="0" rtlCol="0" anchor="t"/>
          <a:lstStyle/>
          <a:p>
            <a:pPr indent="0" marL="0">
              <a:buNone/>
            </a:pPr>
            <a:r>
              <a:rPr lang="fr-FR" sz="1850" b="1" dirty="0">
                <a:solidFill>
                  <a:srgbClr val="33006F"/>
                </a:solidFill>
                <a:latin typeface="Source Sans 3" pitchFamily="34" charset="0"/>
                <a:ea typeface="Source Sans 3" pitchFamily="34" charset="-122"/>
                <a:cs typeface="Source Sans 3" pitchFamily="34" charset="-120"/>
              </a:rPr>
              <a:t>3.2.2.1</a:t>
            </a:r>
            <a:endParaRPr lang="fr-FR" sz="1850" dirty="0"/>
          </a:p>
        </p:txBody>
      </p:sp>
      <p:sp>
        <p:nvSpPr>
          <p:cNvPr id="16" name="Text 14"/>
          <p:cNvSpPr txBox="1"/>
          <p:nvPr/>
        </p:nvSpPr>
        <p:spPr>
          <a:xfrm>
            <a:off x="2857500" y="2933700"/>
            <a:ext cx="5829300" cy="457200"/>
          </a:xfrm>
          <a:prstGeom prst="rect">
            <a:avLst/>
          </a:prstGeom>
          <a:noFill/>
          <a:ln/>
        </p:spPr>
        <p:txBody>
          <a:bodyPr wrap="square" lIns="0" tIns="0" rIns="0" bIns="0" rtlCol="0" anchor="ctr"/>
          <a:lstStyle/>
          <a:p>
            <a:pPr indent="0" marL="0">
              <a:buNone/>
            </a:pPr>
            <a:r>
              <a:rPr lang="fr-FR" sz="1400" dirty="0">
                <a:solidFill>
                  <a:srgbClr val="434343"/>
                </a:solidFill>
                <a:latin typeface="Source Sans 3" pitchFamily="34" charset="0"/>
                <a:ea typeface="Source Sans 3" pitchFamily="34" charset="-122"/>
                <a:cs typeface="Source Sans 3" pitchFamily="34" charset="-120"/>
              </a:rPr>
              <a:t>Version finale du projet</a:t>
            </a:r>
            <a:endParaRPr lang="fr-FR" sz="1400" dirty="0"/>
          </a:p>
        </p:txBody>
      </p:sp>
      <p:sp>
        <p:nvSpPr>
          <p:cNvPr id="17" name="Shape 15"/>
          <p:cNvSpPr/>
          <p:nvPr/>
        </p:nvSpPr>
        <p:spPr>
          <a:xfrm>
            <a:off x="457200" y="3676650"/>
            <a:ext cx="8229600" cy="857250"/>
          </a:xfrm>
          <a:prstGeom prst="rect">
            <a:avLst/>
          </a:prstGeom>
          <a:solidFill>
            <a:srgbClr val="F0F0FF"/>
          </a:solidFill>
          <a:ln w="12700">
            <a:solidFill>
              <a:srgbClr val="F0F0FF"/>
            </a:solidFill>
            <a:prstDash val="solid"/>
          </a:ln>
        </p:spPr>
      </p:sp>
      <p:sp>
        <p:nvSpPr>
          <p:cNvPr id="18" name="Shape 16"/>
          <p:cNvSpPr/>
          <p:nvPr/>
        </p:nvSpPr>
        <p:spPr>
          <a:xfrm>
            <a:off x="457200" y="3676650"/>
            <a:ext cx="8229600" cy="38100"/>
          </a:xfrm>
          <a:prstGeom prst="rect">
            <a:avLst/>
          </a:prstGeom>
          <a:solidFill>
            <a:srgbClr val="33006F"/>
          </a:solidFill>
          <a:ln w="12700">
            <a:solidFill>
              <a:srgbClr val="33006F"/>
            </a:solidFill>
            <a:prstDash val="solid"/>
          </a:ln>
        </p:spPr>
      </p:sp>
      <p:sp>
        <p:nvSpPr>
          <p:cNvPr id="19" name="Text 17"/>
          <p:cNvSpPr txBox="1"/>
          <p:nvPr/>
        </p:nvSpPr>
        <p:spPr>
          <a:xfrm>
            <a:off x="685800" y="3676650"/>
            <a:ext cx="7772400" cy="857250"/>
          </a:xfrm>
          <a:prstGeom prst="rect">
            <a:avLst/>
          </a:prstGeom>
          <a:noFill/>
          <a:ln/>
        </p:spPr>
        <p:txBody>
          <a:bodyPr wrap="square" lIns="0" tIns="0" rIns="0" bIns="0" rtlCol="0" anchor="ctr"/>
          <a:lstStyle/>
          <a:p>
            <a:pPr indent="0" marL="0">
              <a:buNone/>
            </a:pPr>
            <a:r>
              <a:rPr lang="fr-FR" sz="1500" b="1" dirty="0">
                <a:solidFill>
                  <a:srgbClr val="33006F"/>
                </a:solidFill>
                <a:latin typeface="Source Sans 3" pitchFamily="34" charset="0"/>
                <a:ea typeface="Source Sans 3" pitchFamily="34" charset="-122"/>
                <a:cs typeface="Source Sans 3" pitchFamily="34" charset="-120"/>
              </a:rPr>
              <a:t>Environ une version par mois. </a:t>
            </a:r>
            <a:pPr indent="0" marL="0">
              <a:buNone/>
            </a:pPr>
            <a:r>
              <a:rPr lang="fr-FR" sz="1500" dirty="0">
                <a:solidFill>
                  <a:srgbClr val="434343"/>
                </a:solidFill>
                <a:latin typeface="Source Sans 3" pitchFamily="34" charset="0"/>
                <a:ea typeface="Source Sans 3" pitchFamily="34" charset="-122"/>
                <a:cs typeface="Source Sans 3" pitchFamily="34" charset="-120"/>
              </a:rPr>
              <a:t>Mettre à jour souvent, c'est de petits changements à chaque fois. Attendre un an, c'est beaucoup de changements d'un coup.</a:t>
            </a:r>
            <a:endParaRPr lang="fr-FR" sz="1500" dirty="0"/>
          </a:p>
        </p:txBody>
      </p:sp>
      <p:sp>
        <p:nvSpPr>
          <p:cNvPr id="20" name="Text 18"/>
          <p:cNvSpPr txBox="1"/>
          <p:nvPr/>
        </p:nvSpPr>
        <p:spPr>
          <a:xfrm>
            <a:off x="7953375" y="4743450"/>
            <a:ext cx="952500" cy="228600"/>
          </a:xfrm>
          <a:prstGeom prst="rect">
            <a:avLst/>
          </a:prstGeom>
          <a:noFill/>
          <a:ln/>
        </p:spPr>
        <p:txBody>
          <a:bodyPr wrap="square" lIns="0" tIns="0" rIns="0" bIns="0" rtlCol="0" anchor="t"/>
          <a:lstStyle/>
          <a:p>
            <a:pPr algn="r" indent="0" marL="0">
              <a:buNone/>
            </a:pPr>
            <a:r>
              <a:rPr lang="fr-FR" sz="1000" dirty="0">
                <a:solidFill>
                  <a:srgbClr val="888888"/>
                </a:solidFill>
                <a:latin typeface="Source Sans 3" pitchFamily="34" charset="0"/>
                <a:ea typeface="Source Sans 3" pitchFamily="34" charset="-122"/>
                <a:cs typeface="Source Sans 3" pitchFamily="34" charset="-120"/>
              </a:rPr>
              <a:t>31</a:t>
            </a:r>
            <a:endParaRPr lang="fr-FR" sz="1000" dirty="0"/>
          </a:p>
        </p:txBody>
      </p:sp>
      <p:sp>
        <p:nvSpPr>
          <p:cNvPr id="21" name="Text 19"/>
          <p:cNvSpPr txBox="1"/>
          <p:nvPr/>
        </p:nvSpPr>
        <p:spPr>
          <a:xfrm>
            <a:off x="457200" y="4743450"/>
            <a:ext cx="3810000" cy="228600"/>
          </a:xfrm>
          <a:prstGeom prst="rect">
            <a:avLst/>
          </a:prstGeom>
          <a:noFill/>
          <a:ln/>
        </p:spPr>
        <p:txBody>
          <a:bodyPr wrap="square" lIns="0" tIns="0" rIns="0" bIns="0" rtlCol="0" anchor="t"/>
          <a:lstStyle/>
          <a:p>
            <a:pPr algn="l" indent="0" marL="0">
              <a:buNone/>
            </a:pPr>
            <a:r>
              <a:rPr lang="fr-FR" sz="1000" dirty="0">
                <a:solidFill>
                  <a:srgbClr val="888888"/>
                </a:solidFill>
                <a:latin typeface="Source Sans 3" pitchFamily="34" charset="0"/>
                <a:ea typeface="Source Sans 3" pitchFamily="34" charset="-122"/>
                <a:cs typeface="Source Sans 3" pitchFamily="34" charset="-120"/>
              </a:rPr>
              <a:t>Passation eSIL Madagascar</a:t>
            </a:r>
            <a:endParaRPr lang="fr-FR" sz="1000" dirty="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067175" y="-1381125"/>
            <a:ext cx="8124825" cy="8124825"/>
          </a:xfrm>
          <a:prstGeom prst="ellipse">
            <a:avLst/>
          </a:prstGeom>
          <a:solidFill>
            <a:srgbClr val="33006F"/>
          </a:solidFill>
          <a:ln w="12700">
            <a:solidFill>
              <a:srgbClr val="33006F"/>
            </a:solidFill>
            <a:prstDash val="solid"/>
          </a:ln>
        </p:spPr>
      </p:sp>
      <p:sp>
        <p:nvSpPr>
          <p:cNvPr id="3" name="Text 1"/>
          <p:cNvSpPr txBox="1"/>
          <p:nvPr/>
        </p:nvSpPr>
        <p:spPr>
          <a:xfrm>
            <a:off x="4762500" y="1428750"/>
            <a:ext cx="3810000" cy="1238250"/>
          </a:xfrm>
          <a:prstGeom prst="rect">
            <a:avLst/>
          </a:prstGeom>
          <a:noFill/>
          <a:ln/>
        </p:spPr>
        <p:txBody>
          <a:bodyPr wrap="square" lIns="0" tIns="0" rIns="0" bIns="0" rtlCol="0" anchor="b">
            <a:normAutofit/>
          </a:bodyPr>
          <a:lstStyle/>
          <a:p>
            <a:pPr indent="0" marL="0">
              <a:buNone/>
            </a:pPr>
            <a:r>
              <a:rPr lang="fr-FR" sz="2600" b="1" dirty="0">
                <a:solidFill>
                  <a:srgbClr val="33006F"/>
                </a:solidFill>
                <a:latin typeface="Source Sans 3" pitchFamily="34" charset="0"/>
                <a:ea typeface="Source Sans 3" pitchFamily="34" charset="-122"/>
                <a:cs typeface="Source Sans 3" pitchFamily="34" charset="-120"/>
              </a:rPr>
              <a:t>6. Comment maintenir eSIL Madagascar</a:t>
            </a:r>
            <a:endParaRPr lang="fr-FR" sz="2600" dirty="0"/>
          </a:p>
        </p:txBody>
      </p:sp>
      <p:sp>
        <p:nvSpPr>
          <p:cNvPr id="4" name="Text 2"/>
          <p:cNvSpPr txBox="1"/>
          <p:nvPr/>
        </p:nvSpPr>
        <p:spPr>
          <a:xfrm>
            <a:off x="4762500" y="2781300"/>
            <a:ext cx="3810000" cy="1143000"/>
          </a:xfrm>
          <a:prstGeom prst="rect">
            <a:avLst/>
          </a:prstGeom>
          <a:noFill/>
          <a:ln/>
        </p:spPr>
        <p:txBody>
          <a:bodyPr wrap="square" lIns="0" tIns="0" rIns="0" bIns="0" rtlCol="0" anchor="t"/>
          <a:lstStyle/>
          <a:p>
            <a:pPr indent="0" marL="0">
              <a:buNone/>
            </a:pPr>
            <a:r>
              <a:rPr lang="fr-FR" sz="1650" dirty="0">
                <a:solidFill>
                  <a:srgbClr val="434343"/>
                </a:solidFill>
                <a:latin typeface="Source Sans 3" pitchFamily="34" charset="0"/>
                <a:ea typeface="Source Sans 3" pitchFamily="34" charset="-122"/>
                <a:cs typeface="Source Sans 3" pitchFamily="34" charset="-120"/>
              </a:rPr>
              <a:t>Traductions et mises à jour : les deux tâches que votre équipe fera le plus souvent.</a:t>
            </a:r>
            <a:endParaRPr lang="fr-FR" sz="1650" dirty="0"/>
          </a:p>
        </p:txBody>
      </p:sp>
      <p:sp>
        <p:nvSpPr>
          <p:cNvPr id="5" name="Text 3"/>
          <p:cNvSpPr txBox="1"/>
          <p:nvPr/>
        </p:nvSpPr>
        <p:spPr>
          <a:xfrm>
            <a:off x="7953375" y="4743450"/>
            <a:ext cx="952500" cy="228600"/>
          </a:xfrm>
          <a:prstGeom prst="rect">
            <a:avLst/>
          </a:prstGeom>
          <a:noFill/>
          <a:ln/>
        </p:spPr>
        <p:txBody>
          <a:bodyPr wrap="square" lIns="0" tIns="0" rIns="0" bIns="0" rtlCol="0" anchor="t"/>
          <a:lstStyle/>
          <a:p>
            <a:pPr algn="r" indent="0" marL="0">
              <a:buNone/>
            </a:pPr>
            <a:r>
              <a:rPr lang="fr-FR" sz="1000" dirty="0">
                <a:solidFill>
                  <a:srgbClr val="888888"/>
                </a:solidFill>
                <a:latin typeface="Source Sans 3" pitchFamily="34" charset="0"/>
                <a:ea typeface="Source Sans 3" pitchFamily="34" charset="-122"/>
                <a:cs typeface="Source Sans 3" pitchFamily="34" charset="-120"/>
              </a:rPr>
              <a:t>32</a:t>
            </a:r>
            <a:endParaRPr lang="fr-FR" sz="1000" dirty="0"/>
          </a:p>
        </p:txBody>
      </p:sp>
      <p:sp>
        <p:nvSpPr>
          <p:cNvPr id="6" name="Text 4"/>
          <p:cNvSpPr txBox="1"/>
          <p:nvPr/>
        </p:nvSpPr>
        <p:spPr>
          <a:xfrm>
            <a:off x="457200" y="4743450"/>
            <a:ext cx="3810000" cy="228600"/>
          </a:xfrm>
          <a:prstGeom prst="rect">
            <a:avLst/>
          </a:prstGeom>
          <a:noFill/>
          <a:ln/>
        </p:spPr>
        <p:txBody>
          <a:bodyPr wrap="square" lIns="0" tIns="0" rIns="0" bIns="0" rtlCol="0" anchor="t"/>
          <a:lstStyle/>
          <a:p>
            <a:pPr algn="l" indent="0" marL="0">
              <a:buNone/>
            </a:pPr>
            <a:r>
              <a:rPr lang="fr-FR" sz="1000" dirty="0">
                <a:solidFill>
                  <a:srgbClr val="FFFFFF"/>
                </a:solidFill>
                <a:latin typeface="Source Sans 3" pitchFamily="34" charset="0"/>
                <a:ea typeface="Source Sans 3" pitchFamily="34" charset="-122"/>
                <a:cs typeface="Source Sans 3" pitchFamily="34" charset="-120"/>
              </a:rPr>
              <a:t>Passation eSIL Madagascar</a:t>
            </a:r>
            <a:endParaRPr lang="fr-FR" sz="1000" dirty="0"/>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247650"/>
            <a:ext cx="8229600" cy="209550"/>
          </a:xfrm>
          <a:prstGeom prst="rect">
            <a:avLst/>
          </a:prstGeom>
          <a:noFill/>
          <a:ln/>
        </p:spPr>
        <p:txBody>
          <a:bodyPr wrap="square" lIns="0" tIns="0" rIns="0" bIns="0" rtlCol="0" anchor="t"/>
          <a:lstStyle/>
          <a:p>
            <a:pPr indent="0" marL="0">
              <a:buNone/>
            </a:pPr>
            <a:r>
              <a:rPr lang="fr-FR" sz="1200" b="1" spc="150" kern="0" dirty="0">
                <a:solidFill>
                  <a:srgbClr val="006838"/>
                </a:solidFill>
                <a:latin typeface="Source Sans 3" pitchFamily="34" charset="0"/>
                <a:ea typeface="Source Sans 3" pitchFamily="34" charset="-122"/>
                <a:cs typeface="Source Sans 3" pitchFamily="34" charset="-120"/>
              </a:rPr>
              <a:t>MAINTENIR ESIL</a:t>
            </a:r>
            <a:pPr indent="0" marL="0">
              <a:buNone/>
            </a:pPr>
            <a:r>
              <a:rPr lang="fr-FR" sz="1200" dirty="0">
                <a:solidFill>
                  <a:srgbClr val="888888"/>
                </a:solidFill>
                <a:latin typeface="Source Sans 3" pitchFamily="34" charset="0"/>
                <a:ea typeface="Source Sans 3" pitchFamily="34" charset="-122"/>
                <a:cs typeface="Source Sans 3" pitchFamily="34" charset="-120"/>
              </a:rPr>
              <a:t>    Section 6 sur 7</a:t>
            </a:r>
            <a:endParaRPr lang="fr-FR" sz="1200" dirty="0"/>
          </a:p>
        </p:txBody>
      </p:sp>
      <p:sp>
        <p:nvSpPr>
          <p:cNvPr id="3" name="Shape 1"/>
          <p:cNvSpPr/>
          <p:nvPr/>
        </p:nvSpPr>
        <p:spPr>
          <a:xfrm>
            <a:off x="457200" y="533400"/>
            <a:ext cx="685800" cy="57150"/>
          </a:xfrm>
          <a:prstGeom prst="rect">
            <a:avLst/>
          </a:prstGeom>
          <a:solidFill>
            <a:srgbClr val="006838"/>
          </a:solidFill>
          <a:ln w="12700">
            <a:solidFill>
              <a:srgbClr val="006838"/>
            </a:solidFill>
            <a:prstDash val="solid"/>
          </a:ln>
        </p:spPr>
      </p:sp>
      <p:sp>
        <p:nvSpPr>
          <p:cNvPr id="4" name="Text 2"/>
          <p:cNvSpPr txBox="1"/>
          <p:nvPr/>
        </p:nvSpPr>
        <p:spPr>
          <a:xfrm>
            <a:off x="457200" y="704850"/>
            <a:ext cx="8229600" cy="800100"/>
          </a:xfrm>
          <a:prstGeom prst="rect">
            <a:avLst/>
          </a:prstGeom>
          <a:noFill/>
          <a:ln/>
        </p:spPr>
        <p:txBody>
          <a:bodyPr wrap="square" lIns="0" tIns="0" rIns="0" bIns="0" rtlCol="0" anchor="t">
            <a:normAutofit/>
          </a:bodyPr>
          <a:lstStyle/>
          <a:p>
            <a:pPr indent="0" marL="0">
              <a:buNone/>
            </a:pPr>
            <a:r>
              <a:rPr lang="fr-FR" sz="2350" b="1" dirty="0">
                <a:solidFill>
                  <a:srgbClr val="33006F"/>
                </a:solidFill>
                <a:latin typeface="Source Sans 3" pitchFamily="34" charset="0"/>
                <a:ea typeface="Source Sans 3" pitchFamily="34" charset="-122"/>
                <a:cs typeface="Source Sans 3" pitchFamily="34" charset="-120"/>
              </a:rPr>
              <a:t>Corriger les traductions vous-mêmes</a:t>
            </a:r>
            <a:endParaRPr lang="fr-FR" sz="2350" dirty="0"/>
          </a:p>
        </p:txBody>
      </p:sp>
      <p:sp>
        <p:nvSpPr>
          <p:cNvPr id="5" name="Text 3"/>
          <p:cNvSpPr txBox="1"/>
          <p:nvPr/>
        </p:nvSpPr>
        <p:spPr>
          <a:xfrm>
            <a:off x="457200" y="1524000"/>
            <a:ext cx="8229600" cy="419100"/>
          </a:xfrm>
          <a:prstGeom prst="rect">
            <a:avLst/>
          </a:prstGeom>
          <a:noFill/>
          <a:ln/>
        </p:spPr>
        <p:txBody>
          <a:bodyPr wrap="square" lIns="0" tIns="0" rIns="0" bIns="0" rtlCol="0" anchor="t"/>
          <a:lstStyle/>
          <a:p>
            <a:pPr indent="0" marL="0">
              <a:buNone/>
            </a:pPr>
            <a:r>
              <a:rPr lang="fr-FR" sz="1300" dirty="0">
                <a:solidFill>
                  <a:srgbClr val="5B5670"/>
                </a:solidFill>
                <a:latin typeface="Source Sans 3" pitchFamily="34" charset="0"/>
                <a:ea typeface="Source Sans 3" pitchFamily="34" charset="-122"/>
                <a:cs typeface="Source Sans 3" pitchFamily="34" charset="-120"/>
              </a:rPr>
              <a:t>Les textes d'écran d'OpenELIS Global sont traduits dans Transifex. eSIL y charge ses traductions. Deux traductions françaises existent :</a:t>
            </a:r>
            <a:endParaRPr lang="fr-FR" sz="1300" dirty="0"/>
          </a:p>
        </p:txBody>
      </p:sp>
      <p:sp>
        <p:nvSpPr>
          <p:cNvPr id="6" name="Shape 4"/>
          <p:cNvSpPr/>
          <p:nvPr/>
        </p:nvSpPr>
        <p:spPr>
          <a:xfrm>
            <a:off x="457200" y="1981200"/>
            <a:ext cx="4038600" cy="1143000"/>
          </a:xfrm>
          <a:prstGeom prst="rect">
            <a:avLst/>
          </a:prstGeom>
          <a:solidFill>
            <a:srgbClr val="F0F0FF"/>
          </a:solidFill>
          <a:ln w="12700">
            <a:solidFill>
              <a:srgbClr val="F0F0FF"/>
            </a:solidFill>
            <a:prstDash val="solid"/>
          </a:ln>
        </p:spPr>
      </p:sp>
      <p:sp>
        <p:nvSpPr>
          <p:cNvPr id="7" name="Shape 5"/>
          <p:cNvSpPr/>
          <p:nvPr/>
        </p:nvSpPr>
        <p:spPr>
          <a:xfrm>
            <a:off x="457200" y="1981200"/>
            <a:ext cx="4038600" cy="38100"/>
          </a:xfrm>
          <a:prstGeom prst="rect">
            <a:avLst/>
          </a:prstGeom>
          <a:solidFill>
            <a:srgbClr val="006838"/>
          </a:solidFill>
          <a:ln w="12700">
            <a:solidFill>
              <a:srgbClr val="006838"/>
            </a:solidFill>
            <a:prstDash val="solid"/>
          </a:ln>
        </p:spPr>
      </p:sp>
      <p:sp>
        <p:nvSpPr>
          <p:cNvPr id="8" name="Text 6"/>
          <p:cNvSpPr txBox="1"/>
          <p:nvPr/>
        </p:nvSpPr>
        <p:spPr>
          <a:xfrm>
            <a:off x="685800" y="2114550"/>
            <a:ext cx="3581400" cy="266700"/>
          </a:xfrm>
          <a:prstGeom prst="rect">
            <a:avLst/>
          </a:prstGeom>
          <a:noFill/>
          <a:ln/>
        </p:spPr>
        <p:txBody>
          <a:bodyPr wrap="square" lIns="0" tIns="0" rIns="0" bIns="0" rtlCol="0" anchor="t"/>
          <a:lstStyle/>
          <a:p>
            <a:pPr indent="0" marL="0">
              <a:buNone/>
            </a:pPr>
            <a:r>
              <a:rPr lang="fr-FR" sz="1650" b="1" dirty="0">
                <a:solidFill>
                  <a:srgbClr val="33006F"/>
                </a:solidFill>
                <a:latin typeface="Source Sans 3" pitchFamily="34" charset="0"/>
                <a:ea typeface="Source Sans 3" pitchFamily="34" charset="-122"/>
                <a:cs typeface="Source Sans 3" pitchFamily="34" charset="-120"/>
              </a:rPr>
              <a:t>Français (fr)</a:t>
            </a:r>
            <a:endParaRPr lang="fr-FR" sz="1650" dirty="0"/>
          </a:p>
        </p:txBody>
      </p:sp>
      <p:sp>
        <p:nvSpPr>
          <p:cNvPr id="9" name="Text 7"/>
          <p:cNvSpPr txBox="1"/>
          <p:nvPr/>
        </p:nvSpPr>
        <p:spPr>
          <a:xfrm>
            <a:off x="685800" y="2419350"/>
            <a:ext cx="3581400" cy="666750"/>
          </a:xfrm>
          <a:prstGeom prst="rect">
            <a:avLst/>
          </a:prstGeom>
          <a:noFill/>
          <a:ln/>
        </p:spPr>
        <p:txBody>
          <a:bodyPr wrap="square" lIns="0" tIns="0" rIns="0" bIns="0" rtlCol="0" anchor="t"/>
          <a:lstStyle/>
          <a:p>
            <a:pPr indent="0" marL="0">
              <a:buNone/>
            </a:pPr>
            <a:r>
              <a:rPr lang="fr-FR" sz="1200" dirty="0">
                <a:solidFill>
                  <a:srgbClr val="434343"/>
                </a:solidFill>
                <a:latin typeface="Source Sans 3" pitchFamily="34" charset="0"/>
                <a:ea typeface="Source Sans 3" pitchFamily="34" charset="-122"/>
                <a:cs typeface="Source Sans 3" pitchFamily="34" charset="-120"/>
              </a:rPr>
              <a:t>Le français principal, partagé par tous les pays francophones. Si un mot français est faux, corrigez-le ici. Tout le monde en profite.</a:t>
            </a:r>
            <a:endParaRPr lang="fr-FR" sz="1200" dirty="0"/>
          </a:p>
        </p:txBody>
      </p:sp>
      <p:sp>
        <p:nvSpPr>
          <p:cNvPr id="10" name="Shape 8"/>
          <p:cNvSpPr/>
          <p:nvPr/>
        </p:nvSpPr>
        <p:spPr>
          <a:xfrm>
            <a:off x="4648200" y="1981200"/>
            <a:ext cx="4038600" cy="1143000"/>
          </a:xfrm>
          <a:prstGeom prst="rect">
            <a:avLst/>
          </a:prstGeom>
          <a:solidFill>
            <a:srgbClr val="F0F0FF"/>
          </a:solidFill>
          <a:ln w="12700">
            <a:solidFill>
              <a:srgbClr val="F0F0FF"/>
            </a:solidFill>
            <a:prstDash val="solid"/>
          </a:ln>
        </p:spPr>
      </p:sp>
      <p:sp>
        <p:nvSpPr>
          <p:cNvPr id="11" name="Shape 9"/>
          <p:cNvSpPr/>
          <p:nvPr/>
        </p:nvSpPr>
        <p:spPr>
          <a:xfrm>
            <a:off x="4648200" y="1981200"/>
            <a:ext cx="4038600" cy="38100"/>
          </a:xfrm>
          <a:prstGeom prst="rect">
            <a:avLst/>
          </a:prstGeom>
          <a:solidFill>
            <a:srgbClr val="006838"/>
          </a:solidFill>
          <a:ln w="12700">
            <a:solidFill>
              <a:srgbClr val="006838"/>
            </a:solidFill>
            <a:prstDash val="solid"/>
          </a:ln>
        </p:spPr>
      </p:sp>
      <p:sp>
        <p:nvSpPr>
          <p:cNvPr id="12" name="Text 10"/>
          <p:cNvSpPr txBox="1"/>
          <p:nvPr/>
        </p:nvSpPr>
        <p:spPr>
          <a:xfrm>
            <a:off x="4876800" y="2114550"/>
            <a:ext cx="3581400" cy="266700"/>
          </a:xfrm>
          <a:prstGeom prst="rect">
            <a:avLst/>
          </a:prstGeom>
          <a:noFill/>
          <a:ln/>
        </p:spPr>
        <p:txBody>
          <a:bodyPr wrap="square" lIns="0" tIns="0" rIns="0" bIns="0" rtlCol="0" anchor="t">
            <a:normAutofit/>
          </a:bodyPr>
          <a:lstStyle/>
          <a:p>
            <a:pPr indent="0" marL="0">
              <a:buNone/>
            </a:pPr>
            <a:r>
              <a:rPr lang="fr-FR" sz="1650" b="1" dirty="0">
                <a:solidFill>
                  <a:srgbClr val="33006F"/>
                </a:solidFill>
                <a:latin typeface="Source Sans 3" pitchFamily="34" charset="0"/>
                <a:ea typeface="Source Sans 3" pitchFamily="34" charset="-122"/>
                <a:cs typeface="Source Sans 3" pitchFamily="34" charset="-120"/>
              </a:rPr>
              <a:t>Français, Madagascar (fr_MG)</a:t>
            </a:r>
            <a:endParaRPr lang="fr-FR" sz="1650" dirty="0"/>
          </a:p>
        </p:txBody>
      </p:sp>
      <p:sp>
        <p:nvSpPr>
          <p:cNvPr id="13" name="Text 11"/>
          <p:cNvSpPr txBox="1"/>
          <p:nvPr/>
        </p:nvSpPr>
        <p:spPr>
          <a:xfrm>
            <a:off x="4876800" y="2419350"/>
            <a:ext cx="3581400" cy="666750"/>
          </a:xfrm>
          <a:prstGeom prst="rect">
            <a:avLst/>
          </a:prstGeom>
          <a:noFill/>
          <a:ln/>
        </p:spPr>
        <p:txBody>
          <a:bodyPr wrap="square" lIns="0" tIns="0" rIns="0" bIns="0" rtlCol="0" anchor="t"/>
          <a:lstStyle/>
          <a:p>
            <a:pPr indent="0" marL="0">
              <a:buNone/>
            </a:pPr>
            <a:r>
              <a:rPr lang="fr-FR" sz="1200" dirty="0">
                <a:solidFill>
                  <a:srgbClr val="434343"/>
                </a:solidFill>
                <a:latin typeface="Source Sans 3" pitchFamily="34" charset="0"/>
                <a:ea typeface="Source Sans 3" pitchFamily="34" charset="-122"/>
                <a:cs typeface="Source Sans 3" pitchFamily="34" charset="-120"/>
              </a:rPr>
              <a:t>Uniquement pour les mots propres à Madagascar. Il remplace le français principal pour eSIL seulement. Gardez cette liste courte.</a:t>
            </a:r>
            <a:endParaRPr lang="fr-FR" sz="1200" dirty="0"/>
          </a:p>
        </p:txBody>
      </p:sp>
      <p:sp>
        <p:nvSpPr>
          <p:cNvPr id="14" name="Text 12"/>
          <p:cNvSpPr txBox="1"/>
          <p:nvPr/>
        </p:nvSpPr>
        <p:spPr>
          <a:xfrm>
            <a:off x="457200" y="3276600"/>
            <a:ext cx="1905000" cy="171450"/>
          </a:xfrm>
          <a:prstGeom prst="rect">
            <a:avLst/>
          </a:prstGeom>
          <a:noFill/>
          <a:ln/>
        </p:spPr>
        <p:txBody>
          <a:bodyPr wrap="square" lIns="0" tIns="0" rIns="0" bIns="0" rtlCol="0" anchor="t"/>
          <a:lstStyle/>
          <a:p>
            <a:pPr indent="0" marL="0">
              <a:buNone/>
            </a:pPr>
            <a:r>
              <a:rPr lang="fr-FR" sz="1000" b="1" spc="150" kern="0" dirty="0">
                <a:solidFill>
                  <a:srgbClr val="006838"/>
                </a:solidFill>
                <a:latin typeface="Source Sans 3" pitchFamily="34" charset="0"/>
                <a:ea typeface="Source Sans 3" pitchFamily="34" charset="-122"/>
                <a:cs typeface="Source Sans 3" pitchFamily="34" charset="-120"/>
              </a:rPr>
              <a:t>LA RÈGLE</a:t>
            </a:r>
            <a:endParaRPr lang="fr-FR" sz="1000" dirty="0"/>
          </a:p>
        </p:txBody>
      </p:sp>
      <p:sp>
        <p:nvSpPr>
          <p:cNvPr id="15" name="Text 13"/>
          <p:cNvSpPr txBox="1"/>
          <p:nvPr/>
        </p:nvSpPr>
        <p:spPr>
          <a:xfrm>
            <a:off x="457200" y="3467100"/>
            <a:ext cx="152400" cy="285750"/>
          </a:xfrm>
          <a:prstGeom prst="rect">
            <a:avLst/>
          </a:prstGeom>
          <a:noFill/>
          <a:ln/>
        </p:spPr>
        <p:txBody>
          <a:bodyPr wrap="square" lIns="0" tIns="0" rIns="0" bIns="0" rtlCol="0" anchor="t"/>
          <a:lstStyle/>
          <a:p>
            <a:pPr indent="0" marL="0">
              <a:buNone/>
            </a:pPr>
            <a:r>
              <a:rPr lang="fr-FR" sz="1300" b="1" dirty="0">
                <a:solidFill>
                  <a:srgbClr val="33006F"/>
                </a:solidFill>
                <a:latin typeface="Source Sans 3" pitchFamily="34" charset="0"/>
                <a:ea typeface="Source Sans 3" pitchFamily="34" charset="-122"/>
                <a:cs typeface="Source Sans 3" pitchFamily="34" charset="-120"/>
              </a:rPr>
              <a:t>•</a:t>
            </a:r>
            <a:endParaRPr lang="fr-FR" sz="1300" dirty="0"/>
          </a:p>
        </p:txBody>
      </p:sp>
      <p:sp>
        <p:nvSpPr>
          <p:cNvPr id="16" name="Text 14"/>
          <p:cNvSpPr txBox="1"/>
          <p:nvPr/>
        </p:nvSpPr>
        <p:spPr>
          <a:xfrm>
            <a:off x="647700" y="3467100"/>
            <a:ext cx="3848100" cy="285750"/>
          </a:xfrm>
          <a:prstGeom prst="rect">
            <a:avLst/>
          </a:prstGeom>
          <a:noFill/>
          <a:ln/>
        </p:spPr>
        <p:txBody>
          <a:bodyPr wrap="square" lIns="0" tIns="0" rIns="0" bIns="0" rtlCol="0" anchor="t">
            <a:normAutofit/>
          </a:bodyPr>
          <a:lstStyle/>
          <a:p>
            <a:pPr indent="0" marL="0">
              <a:buNone/>
            </a:pPr>
            <a:r>
              <a:rPr lang="fr-FR" sz="1302" b="1" dirty="0">
                <a:solidFill>
                  <a:srgbClr val="33006F"/>
                </a:solidFill>
                <a:latin typeface="Source Sans 3" pitchFamily="34" charset="0"/>
                <a:ea typeface="Source Sans 3" pitchFamily="34" charset="-122"/>
                <a:cs typeface="Source Sans 3" pitchFamily="34" charset="-120"/>
              </a:rPr>
              <a:t>Français incorrect : </a:t>
            </a:r>
            <a:pPr indent="0" marL="0">
              <a:buNone/>
            </a:pPr>
            <a:r>
              <a:rPr lang="fr-FR" sz="1302" dirty="0">
                <a:solidFill>
                  <a:srgbClr val="434343"/>
                </a:solidFill>
                <a:latin typeface="Source Sans 3" pitchFamily="34" charset="0"/>
                <a:ea typeface="Source Sans 3" pitchFamily="34" charset="-122"/>
                <a:cs typeface="Source Sans 3" pitchFamily="34" charset="-120"/>
              </a:rPr>
              <a:t>corrigez dans fr.</a:t>
            </a:r>
            <a:endParaRPr lang="fr-FR" sz="1302" dirty="0"/>
          </a:p>
        </p:txBody>
      </p:sp>
      <p:sp>
        <p:nvSpPr>
          <p:cNvPr id="17" name="Text 15"/>
          <p:cNvSpPr txBox="1"/>
          <p:nvPr/>
        </p:nvSpPr>
        <p:spPr>
          <a:xfrm>
            <a:off x="457200" y="3752850"/>
            <a:ext cx="152400" cy="285750"/>
          </a:xfrm>
          <a:prstGeom prst="rect">
            <a:avLst/>
          </a:prstGeom>
          <a:noFill/>
          <a:ln/>
        </p:spPr>
        <p:txBody>
          <a:bodyPr wrap="square" lIns="0" tIns="0" rIns="0" bIns="0" rtlCol="0" anchor="t"/>
          <a:lstStyle/>
          <a:p>
            <a:pPr indent="0" marL="0">
              <a:buNone/>
            </a:pPr>
            <a:r>
              <a:rPr lang="fr-FR" sz="1300" b="1" dirty="0">
                <a:solidFill>
                  <a:srgbClr val="33006F"/>
                </a:solidFill>
                <a:latin typeface="Source Sans 3" pitchFamily="34" charset="0"/>
                <a:ea typeface="Source Sans 3" pitchFamily="34" charset="-122"/>
                <a:cs typeface="Source Sans 3" pitchFamily="34" charset="-120"/>
              </a:rPr>
              <a:t>•</a:t>
            </a:r>
            <a:endParaRPr lang="fr-FR" sz="1300" dirty="0"/>
          </a:p>
        </p:txBody>
      </p:sp>
      <p:sp>
        <p:nvSpPr>
          <p:cNvPr id="18" name="Text 16"/>
          <p:cNvSpPr txBox="1"/>
          <p:nvPr/>
        </p:nvSpPr>
        <p:spPr>
          <a:xfrm>
            <a:off x="647700" y="3752850"/>
            <a:ext cx="3848100" cy="285750"/>
          </a:xfrm>
          <a:prstGeom prst="rect">
            <a:avLst/>
          </a:prstGeom>
          <a:noFill/>
          <a:ln/>
        </p:spPr>
        <p:txBody>
          <a:bodyPr wrap="square" lIns="0" tIns="0" rIns="0" bIns="0" rtlCol="0" anchor="t">
            <a:normAutofit/>
          </a:bodyPr>
          <a:lstStyle/>
          <a:p>
            <a:pPr indent="0" marL="0">
              <a:buNone/>
            </a:pPr>
            <a:r>
              <a:rPr lang="fr-FR" sz="1302" b="1" dirty="0">
                <a:solidFill>
                  <a:srgbClr val="33006F"/>
                </a:solidFill>
                <a:latin typeface="Source Sans 3" pitchFamily="34" charset="0"/>
                <a:ea typeface="Source Sans 3" pitchFamily="34" charset="-122"/>
                <a:cs typeface="Source Sans 3" pitchFamily="34" charset="-120"/>
              </a:rPr>
              <a:t>Différent à Madagascar : </a:t>
            </a:r>
            <a:pPr indent="0" marL="0">
              <a:buNone/>
            </a:pPr>
            <a:r>
              <a:rPr lang="fr-FR" sz="1302" dirty="0">
                <a:solidFill>
                  <a:srgbClr val="434343"/>
                </a:solidFill>
                <a:latin typeface="Source Sans 3" pitchFamily="34" charset="0"/>
                <a:ea typeface="Source Sans 3" pitchFamily="34" charset="-122"/>
                <a:cs typeface="Source Sans 3" pitchFamily="34" charset="-120"/>
              </a:rPr>
              <a:t>mettez-le dans fr_MG.</a:t>
            </a:r>
            <a:endParaRPr lang="fr-FR" sz="1302" dirty="0"/>
          </a:p>
        </p:txBody>
      </p:sp>
      <p:sp>
        <p:nvSpPr>
          <p:cNvPr id="19" name="Text 17"/>
          <p:cNvSpPr txBox="1"/>
          <p:nvPr/>
        </p:nvSpPr>
        <p:spPr>
          <a:xfrm>
            <a:off x="457200" y="4038600"/>
            <a:ext cx="152400" cy="285750"/>
          </a:xfrm>
          <a:prstGeom prst="rect">
            <a:avLst/>
          </a:prstGeom>
          <a:noFill/>
          <a:ln/>
        </p:spPr>
        <p:txBody>
          <a:bodyPr wrap="square" lIns="0" tIns="0" rIns="0" bIns="0" rtlCol="0" anchor="t"/>
          <a:lstStyle/>
          <a:p>
            <a:pPr indent="0" marL="0">
              <a:buNone/>
            </a:pPr>
            <a:r>
              <a:rPr lang="fr-FR" sz="1300" b="1" dirty="0">
                <a:solidFill>
                  <a:srgbClr val="33006F"/>
                </a:solidFill>
                <a:latin typeface="Source Sans 3" pitchFamily="34" charset="0"/>
                <a:ea typeface="Source Sans 3" pitchFamily="34" charset="-122"/>
                <a:cs typeface="Source Sans 3" pitchFamily="34" charset="-120"/>
              </a:rPr>
              <a:t>•</a:t>
            </a:r>
            <a:endParaRPr lang="fr-FR" sz="1300" dirty="0"/>
          </a:p>
        </p:txBody>
      </p:sp>
      <p:sp>
        <p:nvSpPr>
          <p:cNvPr id="20" name="Text 18"/>
          <p:cNvSpPr txBox="1"/>
          <p:nvPr/>
        </p:nvSpPr>
        <p:spPr>
          <a:xfrm>
            <a:off x="647700" y="4038600"/>
            <a:ext cx="3848100" cy="285750"/>
          </a:xfrm>
          <a:prstGeom prst="rect">
            <a:avLst/>
          </a:prstGeom>
          <a:noFill/>
          <a:ln/>
        </p:spPr>
        <p:txBody>
          <a:bodyPr wrap="square" lIns="0" tIns="0" rIns="0" bIns="0" rtlCol="0" anchor="t">
            <a:normAutofit/>
          </a:bodyPr>
          <a:lstStyle/>
          <a:p>
            <a:pPr indent="0" marL="0">
              <a:buNone/>
            </a:pPr>
            <a:r>
              <a:rPr lang="fr-FR" sz="1302" b="1" dirty="0">
                <a:solidFill>
                  <a:srgbClr val="33006F"/>
                </a:solidFill>
                <a:latin typeface="Source Sans 3" pitchFamily="34" charset="0"/>
                <a:ea typeface="Source Sans 3" pitchFamily="34" charset="-122"/>
                <a:cs typeface="Source Sans 3" pitchFamily="34" charset="-120"/>
              </a:rPr>
              <a:t>Le malgache (mg) </a:t>
            </a:r>
            <a:pPr indent="0" marL="0">
              <a:buNone/>
            </a:pPr>
            <a:r>
              <a:rPr lang="fr-FR" sz="1302" dirty="0">
                <a:solidFill>
                  <a:srgbClr val="434343"/>
                </a:solidFill>
                <a:latin typeface="Source Sans 3" pitchFamily="34" charset="0"/>
                <a:ea typeface="Source Sans 3" pitchFamily="34" charset="-122"/>
                <a:cs typeface="Source Sans 3" pitchFamily="34" charset="-120"/>
              </a:rPr>
              <a:t>pourra être ajouté plus tard comme nouvelle langue.</a:t>
            </a:r>
            <a:endParaRPr lang="fr-FR" sz="1302" dirty="0"/>
          </a:p>
        </p:txBody>
      </p:sp>
      <p:sp>
        <p:nvSpPr>
          <p:cNvPr id="21" name="Text 19"/>
          <p:cNvSpPr txBox="1"/>
          <p:nvPr/>
        </p:nvSpPr>
        <p:spPr>
          <a:xfrm>
            <a:off x="4648200" y="3276600"/>
            <a:ext cx="1905000" cy="171450"/>
          </a:xfrm>
          <a:prstGeom prst="rect">
            <a:avLst/>
          </a:prstGeom>
          <a:noFill/>
          <a:ln/>
        </p:spPr>
        <p:txBody>
          <a:bodyPr wrap="square" lIns="0" tIns="0" rIns="0" bIns="0" rtlCol="0" anchor="t"/>
          <a:lstStyle/>
          <a:p>
            <a:pPr indent="0" marL="0">
              <a:buNone/>
            </a:pPr>
            <a:r>
              <a:rPr lang="fr-FR" sz="1000" b="1" spc="150" kern="0" dirty="0">
                <a:solidFill>
                  <a:srgbClr val="006838"/>
                </a:solidFill>
                <a:latin typeface="Source Sans 3" pitchFamily="34" charset="0"/>
                <a:ea typeface="Source Sans 3" pitchFamily="34" charset="-122"/>
                <a:cs typeface="Source Sans 3" pitchFamily="34" charset="-120"/>
              </a:rPr>
              <a:t>COMMENT</a:t>
            </a:r>
            <a:endParaRPr lang="fr-FR" sz="1000" dirty="0"/>
          </a:p>
        </p:txBody>
      </p:sp>
      <p:sp>
        <p:nvSpPr>
          <p:cNvPr id="22" name="Text 20"/>
          <p:cNvSpPr txBox="1"/>
          <p:nvPr/>
        </p:nvSpPr>
        <p:spPr>
          <a:xfrm>
            <a:off x="4648200" y="3467100"/>
            <a:ext cx="4038600" cy="1104900"/>
          </a:xfrm>
          <a:prstGeom prst="rect">
            <a:avLst/>
          </a:prstGeom>
          <a:noFill/>
          <a:ln/>
        </p:spPr>
        <p:txBody>
          <a:bodyPr wrap="square" lIns="0" tIns="0" rIns="0" bIns="0" rtlCol="0" anchor="t"/>
          <a:lstStyle/>
          <a:p>
            <a:pPr indent="0" marL="0">
              <a:buNone/>
            </a:pPr>
            <a:r>
              <a:rPr lang="fr-FR" sz="1150" dirty="0">
                <a:solidFill>
                  <a:srgbClr val="434343"/>
                </a:solidFill>
                <a:latin typeface="Source Sans 3" pitchFamily="34" charset="0"/>
                <a:ea typeface="Source Sans 3" pitchFamily="34" charset="-122"/>
                <a:cs typeface="Source Sans 3" pitchFamily="34" charset="-120"/>
              </a:rPr>
              <a:t>Demandez l'accès au projet OpenELIS Global dans Transifex : explore.transifex.com/openmrs/openelis-1. Cherchez le texte. Modifiez-le. Les traductions sont récupérées chaque jour et livrées avec la version suivante. La Distribution Madagascar a aussi un dossier de remplacement des traductions, actif au rechargement de la page.</a:t>
            </a:r>
            <a:endParaRPr lang="fr-FR" sz="1150" dirty="0"/>
          </a:p>
        </p:txBody>
      </p:sp>
      <p:sp>
        <p:nvSpPr>
          <p:cNvPr id="23" name="Text 21"/>
          <p:cNvSpPr txBox="1"/>
          <p:nvPr/>
        </p:nvSpPr>
        <p:spPr>
          <a:xfrm>
            <a:off x="7953375" y="4743450"/>
            <a:ext cx="952500" cy="228600"/>
          </a:xfrm>
          <a:prstGeom prst="rect">
            <a:avLst/>
          </a:prstGeom>
          <a:noFill/>
          <a:ln/>
        </p:spPr>
        <p:txBody>
          <a:bodyPr wrap="square" lIns="0" tIns="0" rIns="0" bIns="0" rtlCol="0" anchor="t"/>
          <a:lstStyle/>
          <a:p>
            <a:pPr algn="r" indent="0" marL="0">
              <a:buNone/>
            </a:pPr>
            <a:r>
              <a:rPr lang="fr-FR" sz="1000" dirty="0">
                <a:solidFill>
                  <a:srgbClr val="888888"/>
                </a:solidFill>
                <a:latin typeface="Source Sans 3" pitchFamily="34" charset="0"/>
                <a:ea typeface="Source Sans 3" pitchFamily="34" charset="-122"/>
                <a:cs typeface="Source Sans 3" pitchFamily="34" charset="-120"/>
              </a:rPr>
              <a:t>33</a:t>
            </a:r>
            <a:endParaRPr lang="fr-FR" sz="1000" dirty="0"/>
          </a:p>
        </p:txBody>
      </p:sp>
      <p:sp>
        <p:nvSpPr>
          <p:cNvPr id="24" name="Text 22"/>
          <p:cNvSpPr txBox="1"/>
          <p:nvPr/>
        </p:nvSpPr>
        <p:spPr>
          <a:xfrm>
            <a:off x="457200" y="4743450"/>
            <a:ext cx="3810000" cy="228600"/>
          </a:xfrm>
          <a:prstGeom prst="rect">
            <a:avLst/>
          </a:prstGeom>
          <a:noFill/>
          <a:ln/>
        </p:spPr>
        <p:txBody>
          <a:bodyPr wrap="square" lIns="0" tIns="0" rIns="0" bIns="0" rtlCol="0" anchor="t"/>
          <a:lstStyle/>
          <a:p>
            <a:pPr algn="l" indent="0" marL="0">
              <a:buNone/>
            </a:pPr>
            <a:r>
              <a:rPr lang="fr-FR" sz="1000" dirty="0">
                <a:solidFill>
                  <a:srgbClr val="888888"/>
                </a:solidFill>
                <a:latin typeface="Source Sans 3" pitchFamily="34" charset="0"/>
                <a:ea typeface="Source Sans 3" pitchFamily="34" charset="-122"/>
                <a:cs typeface="Source Sans 3" pitchFamily="34" charset="-120"/>
              </a:rPr>
              <a:t>Passation eSIL Madagascar</a:t>
            </a:r>
            <a:endParaRPr lang="fr-FR" sz="1000" dirty="0"/>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247650"/>
            <a:ext cx="8229600" cy="209550"/>
          </a:xfrm>
          <a:prstGeom prst="rect">
            <a:avLst/>
          </a:prstGeom>
          <a:noFill/>
          <a:ln/>
        </p:spPr>
        <p:txBody>
          <a:bodyPr wrap="square" lIns="0" tIns="0" rIns="0" bIns="0" rtlCol="0" anchor="t"/>
          <a:lstStyle/>
          <a:p>
            <a:pPr indent="0" marL="0">
              <a:buNone/>
            </a:pPr>
            <a:r>
              <a:rPr lang="fr-FR" sz="1200" b="1" spc="150" kern="0" dirty="0">
                <a:solidFill>
                  <a:srgbClr val="006838"/>
                </a:solidFill>
                <a:latin typeface="Source Sans 3" pitchFamily="34" charset="0"/>
                <a:ea typeface="Source Sans 3" pitchFamily="34" charset="-122"/>
                <a:cs typeface="Source Sans 3" pitchFamily="34" charset="-120"/>
              </a:rPr>
              <a:t>MAINTENIR ESIL</a:t>
            </a:r>
            <a:pPr indent="0" marL="0">
              <a:buNone/>
            </a:pPr>
            <a:r>
              <a:rPr lang="fr-FR" sz="1200" dirty="0">
                <a:solidFill>
                  <a:srgbClr val="888888"/>
                </a:solidFill>
                <a:latin typeface="Source Sans 3" pitchFamily="34" charset="0"/>
                <a:ea typeface="Source Sans 3" pitchFamily="34" charset="-122"/>
                <a:cs typeface="Source Sans 3" pitchFamily="34" charset="-120"/>
              </a:rPr>
              <a:t>    Section 6 sur 7</a:t>
            </a:r>
            <a:endParaRPr lang="fr-FR" sz="1200" dirty="0"/>
          </a:p>
        </p:txBody>
      </p:sp>
      <p:sp>
        <p:nvSpPr>
          <p:cNvPr id="3" name="Shape 1"/>
          <p:cNvSpPr/>
          <p:nvPr/>
        </p:nvSpPr>
        <p:spPr>
          <a:xfrm>
            <a:off x="457200" y="533400"/>
            <a:ext cx="685800" cy="57150"/>
          </a:xfrm>
          <a:prstGeom prst="rect">
            <a:avLst/>
          </a:prstGeom>
          <a:solidFill>
            <a:srgbClr val="006838"/>
          </a:solidFill>
          <a:ln w="12700">
            <a:solidFill>
              <a:srgbClr val="006838"/>
            </a:solidFill>
            <a:prstDash val="solid"/>
          </a:ln>
        </p:spPr>
      </p:sp>
      <p:sp>
        <p:nvSpPr>
          <p:cNvPr id="4" name="Text 2"/>
          <p:cNvSpPr txBox="1"/>
          <p:nvPr/>
        </p:nvSpPr>
        <p:spPr>
          <a:xfrm>
            <a:off x="457200" y="704850"/>
            <a:ext cx="8229600" cy="800100"/>
          </a:xfrm>
          <a:prstGeom prst="rect">
            <a:avLst/>
          </a:prstGeom>
          <a:noFill/>
          <a:ln/>
        </p:spPr>
        <p:txBody>
          <a:bodyPr wrap="square" lIns="0" tIns="0" rIns="0" bIns="0" rtlCol="0" anchor="t">
            <a:normAutofit/>
          </a:bodyPr>
          <a:lstStyle/>
          <a:p>
            <a:pPr indent="0" marL="0">
              <a:buNone/>
            </a:pPr>
            <a:r>
              <a:rPr lang="fr-FR" sz="2350" b="1" dirty="0">
                <a:solidFill>
                  <a:srgbClr val="33006F"/>
                </a:solidFill>
                <a:latin typeface="Source Sans 3" pitchFamily="34" charset="0"/>
                <a:ea typeface="Source Sans 3" pitchFamily="34" charset="-122"/>
                <a:cs typeface="Source Sans 3" pitchFamily="34" charset="-120"/>
              </a:rPr>
              <a:t>Comment une correction arrive dans la Distribution Madagascar</a:t>
            </a:r>
            <a:endParaRPr lang="fr-FR" sz="2350" dirty="0"/>
          </a:p>
        </p:txBody>
      </p:sp>
      <p:sp>
        <p:nvSpPr>
          <p:cNvPr id="5" name="Shape 3"/>
          <p:cNvSpPr/>
          <p:nvPr/>
        </p:nvSpPr>
        <p:spPr>
          <a:xfrm>
            <a:off x="457200" y="1562100"/>
            <a:ext cx="323850" cy="323850"/>
          </a:xfrm>
          <a:prstGeom prst="rect">
            <a:avLst/>
          </a:prstGeom>
          <a:solidFill>
            <a:srgbClr val="006838"/>
          </a:solidFill>
          <a:ln w="12700">
            <a:solidFill>
              <a:srgbClr val="006838"/>
            </a:solidFill>
            <a:prstDash val="solid"/>
          </a:ln>
        </p:spPr>
      </p:sp>
      <p:sp>
        <p:nvSpPr>
          <p:cNvPr id="6" name="Text 4"/>
          <p:cNvSpPr txBox="1"/>
          <p:nvPr/>
        </p:nvSpPr>
        <p:spPr>
          <a:xfrm>
            <a:off x="457200" y="1562100"/>
            <a:ext cx="323850" cy="323850"/>
          </a:xfrm>
          <a:prstGeom prst="rect">
            <a:avLst/>
          </a:prstGeom>
          <a:noFill/>
          <a:ln/>
        </p:spPr>
        <p:txBody>
          <a:bodyPr wrap="square" lIns="0" tIns="0" rIns="0" bIns="0" rtlCol="0" anchor="ctr"/>
          <a:lstStyle/>
          <a:p>
            <a:pPr algn="ctr" indent="0" marL="0">
              <a:buNone/>
            </a:pPr>
            <a:r>
              <a:rPr lang="fr-FR" sz="1400" b="1" dirty="0">
                <a:solidFill>
                  <a:srgbClr val="FFFFFF"/>
                </a:solidFill>
                <a:latin typeface="Source Sans 3" pitchFamily="34" charset="0"/>
                <a:ea typeface="Source Sans 3" pitchFamily="34" charset="-122"/>
                <a:cs typeface="Source Sans 3" pitchFamily="34" charset="-120"/>
              </a:rPr>
              <a:t>1</a:t>
            </a:r>
            <a:endParaRPr lang="fr-FR" sz="1400" dirty="0"/>
          </a:p>
        </p:txBody>
      </p:sp>
      <p:sp>
        <p:nvSpPr>
          <p:cNvPr id="7" name="Text 5"/>
          <p:cNvSpPr txBox="1"/>
          <p:nvPr/>
        </p:nvSpPr>
        <p:spPr>
          <a:xfrm>
            <a:off x="457200" y="1981200"/>
            <a:ext cx="1447800" cy="285750"/>
          </a:xfrm>
          <a:prstGeom prst="rect">
            <a:avLst/>
          </a:prstGeom>
          <a:noFill/>
          <a:ln/>
        </p:spPr>
        <p:txBody>
          <a:bodyPr wrap="square" lIns="0" tIns="0" rIns="0" bIns="0" rtlCol="0" anchor="t"/>
          <a:lstStyle/>
          <a:p>
            <a:pPr indent="0" marL="0">
              <a:buNone/>
            </a:pPr>
            <a:r>
              <a:rPr lang="fr-FR" sz="1500" b="1" dirty="0">
                <a:solidFill>
                  <a:srgbClr val="33006F"/>
                </a:solidFill>
                <a:latin typeface="Source Sans 3" pitchFamily="34" charset="0"/>
                <a:ea typeface="Source Sans 3" pitchFamily="34" charset="-122"/>
                <a:cs typeface="Source Sans 3" pitchFamily="34" charset="-120"/>
              </a:rPr>
              <a:t>Fusionné</a:t>
            </a:r>
            <a:endParaRPr lang="fr-FR" sz="1500" dirty="0"/>
          </a:p>
        </p:txBody>
      </p:sp>
      <p:sp>
        <p:nvSpPr>
          <p:cNvPr id="8" name="Text 6"/>
          <p:cNvSpPr txBox="1"/>
          <p:nvPr/>
        </p:nvSpPr>
        <p:spPr>
          <a:xfrm>
            <a:off x="457200" y="2305050"/>
            <a:ext cx="1447800" cy="1428750"/>
          </a:xfrm>
          <a:prstGeom prst="rect">
            <a:avLst/>
          </a:prstGeom>
          <a:noFill/>
          <a:ln/>
        </p:spPr>
        <p:txBody>
          <a:bodyPr wrap="square" lIns="0" tIns="0" rIns="0" bIns="0" rtlCol="0" anchor="t"/>
          <a:lstStyle/>
          <a:p>
            <a:pPr indent="0" marL="0">
              <a:buNone/>
            </a:pPr>
            <a:r>
              <a:rPr lang="fr-FR" sz="1200" dirty="0">
                <a:solidFill>
                  <a:srgbClr val="434343"/>
                </a:solidFill>
                <a:latin typeface="Source Sans 3" pitchFamily="34" charset="0"/>
                <a:ea typeface="Source Sans 3" pitchFamily="34" charset="-122"/>
                <a:cs typeface="Source Sans 3" pitchFamily="34" charset="-120"/>
              </a:rPr>
              <a:t>La correction arrive sur la branche develop d'OpenELIS-Global-2.</a:t>
            </a:r>
            <a:endParaRPr lang="fr-FR" sz="1200" dirty="0"/>
          </a:p>
        </p:txBody>
      </p:sp>
      <p:sp>
        <p:nvSpPr>
          <p:cNvPr id="9" name="Shape 7"/>
          <p:cNvSpPr/>
          <p:nvPr/>
        </p:nvSpPr>
        <p:spPr>
          <a:xfrm>
            <a:off x="2133600" y="1562100"/>
            <a:ext cx="323850" cy="323850"/>
          </a:xfrm>
          <a:prstGeom prst="rect">
            <a:avLst/>
          </a:prstGeom>
          <a:solidFill>
            <a:srgbClr val="006838"/>
          </a:solidFill>
          <a:ln w="12700">
            <a:solidFill>
              <a:srgbClr val="006838"/>
            </a:solidFill>
            <a:prstDash val="solid"/>
          </a:ln>
        </p:spPr>
      </p:sp>
      <p:sp>
        <p:nvSpPr>
          <p:cNvPr id="10" name="Text 8"/>
          <p:cNvSpPr txBox="1"/>
          <p:nvPr/>
        </p:nvSpPr>
        <p:spPr>
          <a:xfrm>
            <a:off x="2133600" y="1562100"/>
            <a:ext cx="323850" cy="323850"/>
          </a:xfrm>
          <a:prstGeom prst="rect">
            <a:avLst/>
          </a:prstGeom>
          <a:noFill/>
          <a:ln/>
        </p:spPr>
        <p:txBody>
          <a:bodyPr wrap="square" lIns="0" tIns="0" rIns="0" bIns="0" rtlCol="0" anchor="ctr"/>
          <a:lstStyle/>
          <a:p>
            <a:pPr algn="ctr" indent="0" marL="0">
              <a:buNone/>
            </a:pPr>
            <a:r>
              <a:rPr lang="fr-FR" sz="1400" b="1" dirty="0">
                <a:solidFill>
                  <a:srgbClr val="FFFFFF"/>
                </a:solidFill>
                <a:latin typeface="Source Sans 3" pitchFamily="34" charset="0"/>
                <a:ea typeface="Source Sans 3" pitchFamily="34" charset="-122"/>
                <a:cs typeface="Source Sans 3" pitchFamily="34" charset="-120"/>
              </a:rPr>
              <a:t>2</a:t>
            </a:r>
            <a:endParaRPr lang="fr-FR" sz="1400" dirty="0"/>
          </a:p>
        </p:txBody>
      </p:sp>
      <p:sp>
        <p:nvSpPr>
          <p:cNvPr id="11" name="Text 9"/>
          <p:cNvSpPr txBox="1"/>
          <p:nvPr/>
        </p:nvSpPr>
        <p:spPr>
          <a:xfrm>
            <a:off x="2133600" y="1981200"/>
            <a:ext cx="1447800" cy="285750"/>
          </a:xfrm>
          <a:prstGeom prst="rect">
            <a:avLst/>
          </a:prstGeom>
          <a:noFill/>
          <a:ln/>
        </p:spPr>
        <p:txBody>
          <a:bodyPr wrap="square" lIns="0" tIns="0" rIns="0" bIns="0" rtlCol="0" anchor="t"/>
          <a:lstStyle/>
          <a:p>
            <a:pPr indent="0" marL="0">
              <a:buNone/>
            </a:pPr>
            <a:r>
              <a:rPr lang="fr-FR" sz="1500" b="1" dirty="0">
                <a:solidFill>
                  <a:srgbClr val="33006F"/>
                </a:solidFill>
                <a:latin typeface="Source Sans 3" pitchFamily="34" charset="0"/>
                <a:ea typeface="Source Sans 3" pitchFamily="34" charset="-122"/>
                <a:cs typeface="Source Sans 3" pitchFamily="34" charset="-120"/>
              </a:rPr>
              <a:t>Étiqueté</a:t>
            </a:r>
            <a:endParaRPr lang="fr-FR" sz="1500" dirty="0"/>
          </a:p>
        </p:txBody>
      </p:sp>
      <p:sp>
        <p:nvSpPr>
          <p:cNvPr id="12" name="Text 10"/>
          <p:cNvSpPr txBox="1"/>
          <p:nvPr/>
        </p:nvSpPr>
        <p:spPr>
          <a:xfrm>
            <a:off x="2133600" y="2305050"/>
            <a:ext cx="1447800" cy="1428750"/>
          </a:xfrm>
          <a:prstGeom prst="rect">
            <a:avLst/>
          </a:prstGeom>
          <a:noFill/>
          <a:ln/>
        </p:spPr>
        <p:txBody>
          <a:bodyPr wrap="square" lIns="0" tIns="0" rIns="0" bIns="0" rtlCol="0" anchor="t"/>
          <a:lstStyle/>
          <a:p>
            <a:pPr indent="0" marL="0">
              <a:buNone/>
            </a:pPr>
            <a:r>
              <a:rPr lang="fr-FR" sz="1200" dirty="0">
                <a:solidFill>
                  <a:srgbClr val="434343"/>
                </a:solidFill>
                <a:latin typeface="Source Sans 3" pitchFamily="34" charset="0"/>
                <a:ea typeface="Source Sans 3" pitchFamily="34" charset="-122"/>
                <a:cs typeface="Source Sans 3" pitchFamily="34" charset="-120"/>
              </a:rPr>
              <a:t>OpenELIS Global publie une nouvelle version sur GitHub Releases.</a:t>
            </a:r>
            <a:endParaRPr lang="fr-FR" sz="1200" dirty="0"/>
          </a:p>
        </p:txBody>
      </p:sp>
      <p:sp>
        <p:nvSpPr>
          <p:cNvPr id="13" name="Shape 11"/>
          <p:cNvSpPr/>
          <p:nvPr/>
        </p:nvSpPr>
        <p:spPr>
          <a:xfrm>
            <a:off x="3810000" y="1562100"/>
            <a:ext cx="323850" cy="323850"/>
          </a:xfrm>
          <a:prstGeom prst="rect">
            <a:avLst/>
          </a:prstGeom>
          <a:solidFill>
            <a:srgbClr val="006838"/>
          </a:solidFill>
          <a:ln w="12700">
            <a:solidFill>
              <a:srgbClr val="006838"/>
            </a:solidFill>
            <a:prstDash val="solid"/>
          </a:ln>
        </p:spPr>
      </p:sp>
      <p:sp>
        <p:nvSpPr>
          <p:cNvPr id="14" name="Text 12"/>
          <p:cNvSpPr txBox="1"/>
          <p:nvPr/>
        </p:nvSpPr>
        <p:spPr>
          <a:xfrm>
            <a:off x="3810000" y="1562100"/>
            <a:ext cx="323850" cy="323850"/>
          </a:xfrm>
          <a:prstGeom prst="rect">
            <a:avLst/>
          </a:prstGeom>
          <a:noFill/>
          <a:ln/>
        </p:spPr>
        <p:txBody>
          <a:bodyPr wrap="square" lIns="0" tIns="0" rIns="0" bIns="0" rtlCol="0" anchor="ctr"/>
          <a:lstStyle/>
          <a:p>
            <a:pPr algn="ctr" indent="0" marL="0">
              <a:buNone/>
            </a:pPr>
            <a:r>
              <a:rPr lang="fr-FR" sz="1400" b="1" dirty="0">
                <a:solidFill>
                  <a:srgbClr val="FFFFFF"/>
                </a:solidFill>
                <a:latin typeface="Source Sans 3" pitchFamily="34" charset="0"/>
                <a:ea typeface="Source Sans 3" pitchFamily="34" charset="-122"/>
                <a:cs typeface="Source Sans 3" pitchFamily="34" charset="-120"/>
              </a:rPr>
              <a:t>3</a:t>
            </a:r>
            <a:endParaRPr lang="fr-FR" sz="1400" dirty="0"/>
          </a:p>
        </p:txBody>
      </p:sp>
      <p:sp>
        <p:nvSpPr>
          <p:cNvPr id="15" name="Text 13"/>
          <p:cNvSpPr txBox="1"/>
          <p:nvPr/>
        </p:nvSpPr>
        <p:spPr>
          <a:xfrm>
            <a:off x="3810000" y="1981200"/>
            <a:ext cx="1447800" cy="285750"/>
          </a:xfrm>
          <a:prstGeom prst="rect">
            <a:avLst/>
          </a:prstGeom>
          <a:noFill/>
          <a:ln/>
        </p:spPr>
        <p:txBody>
          <a:bodyPr wrap="square" lIns="0" tIns="0" rIns="0" bIns="0" rtlCol="0" anchor="t"/>
          <a:lstStyle/>
          <a:p>
            <a:pPr indent="0" marL="0">
              <a:buNone/>
            </a:pPr>
            <a:r>
              <a:rPr lang="fr-FR" sz="1500" b="1" dirty="0">
                <a:solidFill>
                  <a:srgbClr val="33006F"/>
                </a:solidFill>
                <a:latin typeface="Source Sans 3" pitchFamily="34" charset="0"/>
                <a:ea typeface="Source Sans 3" pitchFamily="34" charset="-122"/>
                <a:cs typeface="Source Sans 3" pitchFamily="34" charset="-120"/>
              </a:rPr>
              <a:t>Mis à niveau</a:t>
            </a:r>
            <a:endParaRPr lang="fr-FR" sz="1500" dirty="0"/>
          </a:p>
        </p:txBody>
      </p:sp>
      <p:sp>
        <p:nvSpPr>
          <p:cNvPr id="16" name="Text 14"/>
          <p:cNvSpPr txBox="1"/>
          <p:nvPr/>
        </p:nvSpPr>
        <p:spPr>
          <a:xfrm>
            <a:off x="3810000" y="2305050"/>
            <a:ext cx="1447800" cy="1428750"/>
          </a:xfrm>
          <a:prstGeom prst="rect">
            <a:avLst/>
          </a:prstGeom>
          <a:noFill/>
          <a:ln/>
        </p:spPr>
        <p:txBody>
          <a:bodyPr wrap="square" lIns="0" tIns="0" rIns="0" bIns="0" rtlCol="0" anchor="t"/>
          <a:lstStyle/>
          <a:p>
            <a:pPr indent="0" marL="0">
              <a:buNone/>
            </a:pPr>
            <a:r>
              <a:rPr lang="fr-FR" sz="1200" dirty="0">
                <a:solidFill>
                  <a:srgbClr val="434343"/>
                </a:solidFill>
                <a:latin typeface="Source Sans 3" pitchFamily="34" charset="0"/>
                <a:ea typeface="Source Sans 3" pitchFamily="34" charset="-122"/>
                <a:cs typeface="Source Sans 3" pitchFamily="34" charset="-120"/>
              </a:rPr>
              <a:t>La distribution Madagascar met à jour sa version d'OpenELIS Global vers la nouvelle étiquette.</a:t>
            </a:r>
            <a:endParaRPr lang="fr-FR" sz="1200" dirty="0"/>
          </a:p>
        </p:txBody>
      </p:sp>
      <p:sp>
        <p:nvSpPr>
          <p:cNvPr id="17" name="Shape 15"/>
          <p:cNvSpPr/>
          <p:nvPr/>
        </p:nvSpPr>
        <p:spPr>
          <a:xfrm>
            <a:off x="5486400" y="1562100"/>
            <a:ext cx="323850" cy="323850"/>
          </a:xfrm>
          <a:prstGeom prst="rect">
            <a:avLst/>
          </a:prstGeom>
          <a:solidFill>
            <a:srgbClr val="006838"/>
          </a:solidFill>
          <a:ln w="12700">
            <a:solidFill>
              <a:srgbClr val="006838"/>
            </a:solidFill>
            <a:prstDash val="solid"/>
          </a:ln>
        </p:spPr>
      </p:sp>
      <p:sp>
        <p:nvSpPr>
          <p:cNvPr id="18" name="Text 16"/>
          <p:cNvSpPr txBox="1"/>
          <p:nvPr/>
        </p:nvSpPr>
        <p:spPr>
          <a:xfrm>
            <a:off x="5486400" y="1562100"/>
            <a:ext cx="323850" cy="323850"/>
          </a:xfrm>
          <a:prstGeom prst="rect">
            <a:avLst/>
          </a:prstGeom>
          <a:noFill/>
          <a:ln/>
        </p:spPr>
        <p:txBody>
          <a:bodyPr wrap="square" lIns="0" tIns="0" rIns="0" bIns="0" rtlCol="0" anchor="ctr"/>
          <a:lstStyle/>
          <a:p>
            <a:pPr algn="ctr" indent="0" marL="0">
              <a:buNone/>
            </a:pPr>
            <a:r>
              <a:rPr lang="fr-FR" sz="1400" b="1" dirty="0">
                <a:solidFill>
                  <a:srgbClr val="FFFFFF"/>
                </a:solidFill>
                <a:latin typeface="Source Sans 3" pitchFamily="34" charset="0"/>
                <a:ea typeface="Source Sans 3" pitchFamily="34" charset="-122"/>
                <a:cs typeface="Source Sans 3" pitchFamily="34" charset="-120"/>
              </a:rPr>
              <a:t>4</a:t>
            </a:r>
            <a:endParaRPr lang="fr-FR" sz="1400" dirty="0"/>
          </a:p>
        </p:txBody>
      </p:sp>
      <p:sp>
        <p:nvSpPr>
          <p:cNvPr id="19" name="Text 17"/>
          <p:cNvSpPr txBox="1"/>
          <p:nvPr/>
        </p:nvSpPr>
        <p:spPr>
          <a:xfrm>
            <a:off x="5486400" y="1981200"/>
            <a:ext cx="1447800" cy="285750"/>
          </a:xfrm>
          <a:prstGeom prst="rect">
            <a:avLst/>
          </a:prstGeom>
          <a:noFill/>
          <a:ln/>
        </p:spPr>
        <p:txBody>
          <a:bodyPr wrap="square" lIns="0" tIns="0" rIns="0" bIns="0" rtlCol="0" anchor="t"/>
          <a:lstStyle/>
          <a:p>
            <a:pPr indent="0" marL="0">
              <a:buNone/>
            </a:pPr>
            <a:r>
              <a:rPr lang="fr-FR" sz="1500" b="1" dirty="0">
                <a:solidFill>
                  <a:srgbClr val="33006F"/>
                </a:solidFill>
                <a:latin typeface="Source Sans 3" pitchFamily="34" charset="0"/>
                <a:ea typeface="Source Sans 3" pitchFamily="34" charset="-122"/>
                <a:cs typeface="Source Sans 3" pitchFamily="34" charset="-120"/>
              </a:rPr>
              <a:t>Reconstruit</a:t>
            </a:r>
            <a:endParaRPr lang="fr-FR" sz="1500" dirty="0"/>
          </a:p>
        </p:txBody>
      </p:sp>
      <p:sp>
        <p:nvSpPr>
          <p:cNvPr id="20" name="Text 18"/>
          <p:cNvSpPr txBox="1"/>
          <p:nvPr/>
        </p:nvSpPr>
        <p:spPr>
          <a:xfrm>
            <a:off x="5486400" y="2305050"/>
            <a:ext cx="1447800" cy="1428750"/>
          </a:xfrm>
          <a:prstGeom prst="rect">
            <a:avLst/>
          </a:prstGeom>
          <a:noFill/>
          <a:ln/>
        </p:spPr>
        <p:txBody>
          <a:bodyPr wrap="square" lIns="0" tIns="0" rIns="0" bIns="0" rtlCol="0" anchor="t"/>
          <a:lstStyle/>
          <a:p>
            <a:pPr indent="0" marL="0">
              <a:buNone/>
            </a:pPr>
            <a:r>
              <a:rPr lang="fr-FR" sz="1200" dirty="0">
                <a:solidFill>
                  <a:srgbClr val="434343"/>
                </a:solidFill>
                <a:latin typeface="Source Sans 3" pitchFamily="34" charset="0"/>
                <a:ea typeface="Source Sans 3" pitchFamily="34" charset="-122"/>
                <a:cs typeface="Source Sans 3" pitchFamily="34" charset="-120"/>
              </a:rPr>
              <a:t>Les images Docker sont reconstruites avec les paramètres de Madagascar par-dessus.</a:t>
            </a:r>
            <a:endParaRPr lang="fr-FR" sz="1200" dirty="0"/>
          </a:p>
        </p:txBody>
      </p:sp>
      <p:sp>
        <p:nvSpPr>
          <p:cNvPr id="21" name="Shape 19"/>
          <p:cNvSpPr/>
          <p:nvPr/>
        </p:nvSpPr>
        <p:spPr>
          <a:xfrm>
            <a:off x="7162800" y="1562100"/>
            <a:ext cx="323850" cy="323850"/>
          </a:xfrm>
          <a:prstGeom prst="rect">
            <a:avLst/>
          </a:prstGeom>
          <a:solidFill>
            <a:srgbClr val="006838"/>
          </a:solidFill>
          <a:ln w="12700">
            <a:solidFill>
              <a:srgbClr val="006838"/>
            </a:solidFill>
            <a:prstDash val="solid"/>
          </a:ln>
        </p:spPr>
      </p:sp>
      <p:sp>
        <p:nvSpPr>
          <p:cNvPr id="22" name="Text 20"/>
          <p:cNvSpPr txBox="1"/>
          <p:nvPr/>
        </p:nvSpPr>
        <p:spPr>
          <a:xfrm>
            <a:off x="7162800" y="1562100"/>
            <a:ext cx="323850" cy="323850"/>
          </a:xfrm>
          <a:prstGeom prst="rect">
            <a:avLst/>
          </a:prstGeom>
          <a:noFill/>
          <a:ln/>
        </p:spPr>
        <p:txBody>
          <a:bodyPr wrap="square" lIns="0" tIns="0" rIns="0" bIns="0" rtlCol="0" anchor="ctr"/>
          <a:lstStyle/>
          <a:p>
            <a:pPr algn="ctr" indent="0" marL="0">
              <a:buNone/>
            </a:pPr>
            <a:r>
              <a:rPr lang="fr-FR" sz="1400" b="1" dirty="0">
                <a:solidFill>
                  <a:srgbClr val="FFFFFF"/>
                </a:solidFill>
                <a:latin typeface="Source Sans 3" pitchFamily="34" charset="0"/>
                <a:ea typeface="Source Sans 3" pitchFamily="34" charset="-122"/>
                <a:cs typeface="Source Sans 3" pitchFamily="34" charset="-120"/>
              </a:rPr>
              <a:t>5</a:t>
            </a:r>
            <a:endParaRPr lang="fr-FR" sz="1400" dirty="0"/>
          </a:p>
        </p:txBody>
      </p:sp>
      <p:sp>
        <p:nvSpPr>
          <p:cNvPr id="23" name="Text 21"/>
          <p:cNvSpPr txBox="1"/>
          <p:nvPr/>
        </p:nvSpPr>
        <p:spPr>
          <a:xfrm>
            <a:off x="7162800" y="1981200"/>
            <a:ext cx="1447800" cy="285750"/>
          </a:xfrm>
          <a:prstGeom prst="rect">
            <a:avLst/>
          </a:prstGeom>
          <a:noFill/>
          <a:ln/>
        </p:spPr>
        <p:txBody>
          <a:bodyPr wrap="square" lIns="0" tIns="0" rIns="0" bIns="0" rtlCol="0" anchor="t"/>
          <a:lstStyle/>
          <a:p>
            <a:pPr indent="0" marL="0">
              <a:buNone/>
            </a:pPr>
            <a:r>
              <a:rPr lang="fr-FR" sz="1500" b="1" dirty="0">
                <a:solidFill>
                  <a:srgbClr val="33006F"/>
                </a:solidFill>
                <a:latin typeface="Source Sans 3" pitchFamily="34" charset="0"/>
                <a:ea typeface="Source Sans 3" pitchFamily="34" charset="-122"/>
                <a:cs typeface="Source Sans 3" pitchFamily="34" charset="-120"/>
              </a:rPr>
              <a:t>Publié</a:t>
            </a:r>
            <a:endParaRPr lang="fr-FR" sz="1500" dirty="0"/>
          </a:p>
        </p:txBody>
      </p:sp>
      <p:sp>
        <p:nvSpPr>
          <p:cNvPr id="24" name="Text 22"/>
          <p:cNvSpPr txBox="1"/>
          <p:nvPr/>
        </p:nvSpPr>
        <p:spPr>
          <a:xfrm>
            <a:off x="7162800" y="2305050"/>
            <a:ext cx="1447800" cy="1428750"/>
          </a:xfrm>
          <a:prstGeom prst="rect">
            <a:avLst/>
          </a:prstGeom>
          <a:noFill/>
          <a:ln/>
        </p:spPr>
        <p:txBody>
          <a:bodyPr wrap="square" lIns="0" tIns="0" rIns="0" bIns="0" rtlCol="0" anchor="t"/>
          <a:lstStyle/>
          <a:p>
            <a:pPr indent="0" marL="0">
              <a:buNone/>
            </a:pPr>
            <a:r>
              <a:rPr lang="fr-FR" sz="1200" dirty="0">
                <a:solidFill>
                  <a:srgbClr val="434343"/>
                </a:solidFill>
                <a:latin typeface="Source Sans 3" pitchFamily="34" charset="0"/>
                <a:ea typeface="Source Sans 3" pitchFamily="34" charset="-122"/>
                <a:cs typeface="Source Sans 3" pitchFamily="34" charset="-120"/>
              </a:rPr>
              <a:t>Une nouvelle version de la Distribution Madagascar est publiée.</a:t>
            </a:r>
            <a:endParaRPr lang="fr-FR" sz="1200" dirty="0"/>
          </a:p>
        </p:txBody>
      </p:sp>
      <p:sp>
        <p:nvSpPr>
          <p:cNvPr id="25" name="Shape 23"/>
          <p:cNvSpPr/>
          <p:nvPr/>
        </p:nvSpPr>
        <p:spPr>
          <a:xfrm>
            <a:off x="457200" y="3886200"/>
            <a:ext cx="8229600" cy="9525"/>
          </a:xfrm>
          <a:prstGeom prst="rect">
            <a:avLst/>
          </a:prstGeom>
          <a:solidFill>
            <a:srgbClr val="BFBFBF"/>
          </a:solidFill>
          <a:ln w="12700">
            <a:solidFill>
              <a:srgbClr val="BFBFBF"/>
            </a:solidFill>
            <a:prstDash val="solid"/>
          </a:ln>
        </p:spPr>
      </p:sp>
      <p:sp>
        <p:nvSpPr>
          <p:cNvPr id="26" name="Text 24"/>
          <p:cNvSpPr txBox="1"/>
          <p:nvPr/>
        </p:nvSpPr>
        <p:spPr>
          <a:xfrm>
            <a:off x="457200" y="4000500"/>
            <a:ext cx="8229600" cy="533400"/>
          </a:xfrm>
          <a:prstGeom prst="rect">
            <a:avLst/>
          </a:prstGeom>
          <a:noFill/>
          <a:ln/>
        </p:spPr>
        <p:txBody>
          <a:bodyPr wrap="square" lIns="0" tIns="0" rIns="0" bIns="0" rtlCol="0" anchor="t"/>
          <a:lstStyle/>
          <a:p>
            <a:pPr indent="0" marL="0">
              <a:buNone/>
            </a:pPr>
            <a:r>
              <a:rPr lang="fr-FR" sz="1400" dirty="0">
                <a:solidFill>
                  <a:srgbClr val="434343"/>
                </a:solidFill>
                <a:latin typeface="Source Sans 3" pitchFamily="34" charset="0"/>
                <a:ea typeface="Source Sans 3" pitchFamily="34" charset="-122"/>
                <a:cs typeface="Source Sans 3" pitchFamily="34" charset="-120"/>
              </a:rPr>
              <a:t>Suivez l'avancement sur GitHub : github.com/DIGI-UW/OpenELIS-Global-2 (branche develop, page Releases) et github.com/DIGI-UW/openelis-madagascar-distro.</a:t>
            </a:r>
            <a:endParaRPr lang="fr-FR" sz="1400" dirty="0"/>
          </a:p>
        </p:txBody>
      </p:sp>
      <p:sp>
        <p:nvSpPr>
          <p:cNvPr id="27" name="Text 25"/>
          <p:cNvSpPr txBox="1"/>
          <p:nvPr/>
        </p:nvSpPr>
        <p:spPr>
          <a:xfrm>
            <a:off x="7953375" y="4743450"/>
            <a:ext cx="952500" cy="228600"/>
          </a:xfrm>
          <a:prstGeom prst="rect">
            <a:avLst/>
          </a:prstGeom>
          <a:noFill/>
          <a:ln/>
        </p:spPr>
        <p:txBody>
          <a:bodyPr wrap="square" lIns="0" tIns="0" rIns="0" bIns="0" rtlCol="0" anchor="t"/>
          <a:lstStyle/>
          <a:p>
            <a:pPr algn="r" indent="0" marL="0">
              <a:buNone/>
            </a:pPr>
            <a:r>
              <a:rPr lang="fr-FR" sz="1000" dirty="0">
                <a:solidFill>
                  <a:srgbClr val="888888"/>
                </a:solidFill>
                <a:latin typeface="Source Sans 3" pitchFamily="34" charset="0"/>
                <a:ea typeface="Source Sans 3" pitchFamily="34" charset="-122"/>
                <a:cs typeface="Source Sans 3" pitchFamily="34" charset="-120"/>
              </a:rPr>
              <a:t>34</a:t>
            </a:r>
            <a:endParaRPr lang="fr-FR" sz="1000" dirty="0"/>
          </a:p>
        </p:txBody>
      </p:sp>
      <p:sp>
        <p:nvSpPr>
          <p:cNvPr id="28" name="Text 26"/>
          <p:cNvSpPr txBox="1"/>
          <p:nvPr/>
        </p:nvSpPr>
        <p:spPr>
          <a:xfrm>
            <a:off x="457200" y="4743450"/>
            <a:ext cx="3810000" cy="228600"/>
          </a:xfrm>
          <a:prstGeom prst="rect">
            <a:avLst/>
          </a:prstGeom>
          <a:noFill/>
          <a:ln/>
        </p:spPr>
        <p:txBody>
          <a:bodyPr wrap="square" lIns="0" tIns="0" rIns="0" bIns="0" rtlCol="0" anchor="t"/>
          <a:lstStyle/>
          <a:p>
            <a:pPr algn="l" indent="0" marL="0">
              <a:buNone/>
            </a:pPr>
            <a:r>
              <a:rPr lang="fr-FR" sz="1000" dirty="0">
                <a:solidFill>
                  <a:srgbClr val="888888"/>
                </a:solidFill>
                <a:latin typeface="Source Sans 3" pitchFamily="34" charset="0"/>
                <a:ea typeface="Source Sans 3" pitchFamily="34" charset="-122"/>
                <a:cs typeface="Source Sans 3" pitchFamily="34" charset="-120"/>
              </a:rPr>
              <a:t>Passation eSIL Madagascar</a:t>
            </a:r>
            <a:endParaRPr lang="fr-FR" sz="1000" dirty="0"/>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247650"/>
            <a:ext cx="8229600" cy="209550"/>
          </a:xfrm>
          <a:prstGeom prst="rect">
            <a:avLst/>
          </a:prstGeom>
          <a:noFill/>
          <a:ln/>
        </p:spPr>
        <p:txBody>
          <a:bodyPr wrap="square" lIns="0" tIns="0" rIns="0" bIns="0" rtlCol="0" anchor="t"/>
          <a:lstStyle/>
          <a:p>
            <a:pPr indent="0" marL="0">
              <a:buNone/>
            </a:pPr>
            <a:r>
              <a:rPr lang="fr-FR" sz="1200" b="1" spc="150" kern="0" dirty="0">
                <a:solidFill>
                  <a:srgbClr val="006838"/>
                </a:solidFill>
                <a:latin typeface="Source Sans 3" pitchFamily="34" charset="0"/>
                <a:ea typeface="Source Sans 3" pitchFamily="34" charset="-122"/>
                <a:cs typeface="Source Sans 3" pitchFamily="34" charset="-120"/>
              </a:rPr>
              <a:t>MAINTENIR ESIL</a:t>
            </a:r>
            <a:pPr indent="0" marL="0">
              <a:buNone/>
            </a:pPr>
            <a:r>
              <a:rPr lang="fr-FR" sz="1200" dirty="0">
                <a:solidFill>
                  <a:srgbClr val="888888"/>
                </a:solidFill>
                <a:latin typeface="Source Sans 3" pitchFamily="34" charset="0"/>
                <a:ea typeface="Source Sans 3" pitchFamily="34" charset="-122"/>
                <a:cs typeface="Source Sans 3" pitchFamily="34" charset="-120"/>
              </a:rPr>
              <a:t>    Section 6 sur 7</a:t>
            </a:r>
            <a:endParaRPr lang="fr-FR" sz="1200" dirty="0"/>
          </a:p>
        </p:txBody>
      </p:sp>
      <p:sp>
        <p:nvSpPr>
          <p:cNvPr id="3" name="Shape 1"/>
          <p:cNvSpPr/>
          <p:nvPr/>
        </p:nvSpPr>
        <p:spPr>
          <a:xfrm>
            <a:off x="457200" y="533400"/>
            <a:ext cx="685800" cy="57150"/>
          </a:xfrm>
          <a:prstGeom prst="rect">
            <a:avLst/>
          </a:prstGeom>
          <a:solidFill>
            <a:srgbClr val="006838"/>
          </a:solidFill>
          <a:ln w="12700">
            <a:solidFill>
              <a:srgbClr val="006838"/>
            </a:solidFill>
            <a:prstDash val="solid"/>
          </a:ln>
        </p:spPr>
      </p:sp>
      <p:sp>
        <p:nvSpPr>
          <p:cNvPr id="4" name="Text 2"/>
          <p:cNvSpPr txBox="1"/>
          <p:nvPr/>
        </p:nvSpPr>
        <p:spPr>
          <a:xfrm>
            <a:off x="457200" y="704850"/>
            <a:ext cx="8229600" cy="800100"/>
          </a:xfrm>
          <a:prstGeom prst="rect">
            <a:avLst/>
          </a:prstGeom>
          <a:noFill/>
          <a:ln/>
        </p:spPr>
        <p:txBody>
          <a:bodyPr wrap="square" lIns="0" tIns="0" rIns="0" bIns="0" rtlCol="0" anchor="t">
            <a:normAutofit/>
          </a:bodyPr>
          <a:lstStyle/>
          <a:p>
            <a:pPr indent="0" marL="0">
              <a:buNone/>
            </a:pPr>
            <a:r>
              <a:rPr lang="fr-FR" sz="2350" b="1" dirty="0">
                <a:solidFill>
                  <a:srgbClr val="33006F"/>
                </a:solidFill>
                <a:latin typeface="Source Sans 3" pitchFamily="34" charset="0"/>
                <a:ea typeface="Source Sans 3" pitchFamily="34" charset="-122"/>
                <a:cs typeface="Source Sans 3" pitchFamily="34" charset="-120"/>
              </a:rPr>
              <a:t>La procédure de mise à jour et la liste de contrôle</a:t>
            </a:r>
            <a:endParaRPr lang="fr-FR" sz="2350" dirty="0"/>
          </a:p>
        </p:txBody>
      </p:sp>
      <p:sp>
        <p:nvSpPr>
          <p:cNvPr id="5" name="Text 3"/>
          <p:cNvSpPr txBox="1"/>
          <p:nvPr/>
        </p:nvSpPr>
        <p:spPr>
          <a:xfrm>
            <a:off x="457200" y="1524000"/>
            <a:ext cx="5334000" cy="247650"/>
          </a:xfrm>
          <a:prstGeom prst="rect">
            <a:avLst/>
          </a:prstGeom>
          <a:noFill/>
          <a:ln/>
        </p:spPr>
        <p:txBody>
          <a:bodyPr wrap="square" lIns="0" tIns="0" rIns="0" bIns="0" rtlCol="0" anchor="t"/>
          <a:lstStyle/>
          <a:p>
            <a:pPr indent="0" marL="0">
              <a:buNone/>
            </a:pPr>
            <a:r>
              <a:rPr lang="fr-FR" sz="1200" b="1" dirty="0">
                <a:solidFill>
                  <a:srgbClr val="33006F"/>
                </a:solidFill>
                <a:latin typeface="Source Sans 3" pitchFamily="34" charset="0"/>
                <a:ea typeface="Source Sans 3" pitchFamily="34" charset="-122"/>
                <a:cs typeface="Source Sans 3" pitchFamily="34" charset="-120"/>
              </a:rPr>
              <a:t>Procédure complète : </a:t>
            </a:r>
            <a:pPr indent="0" marL="0">
              <a:buNone/>
            </a:pPr>
            <a:r>
              <a:rPr lang="fr-FR" sz="1200" dirty="0">
                <a:solidFill>
                  <a:srgbClr val="01458E"/>
                </a:solidFill>
                <a:latin typeface="Source Sans 3" pitchFamily="34" charset="0"/>
                <a:ea typeface="Source Sans 3" pitchFamily="34" charset="-122"/>
                <a:cs typeface="Source Sans 3" pitchFamily="34" charset="-120"/>
              </a:rPr>
              <a:t>[lien wiki : Mettre à jour la Distribution Madagascar]</a:t>
            </a:r>
            <a:endParaRPr lang="fr-FR" sz="1200" dirty="0"/>
          </a:p>
        </p:txBody>
      </p:sp>
      <p:sp>
        <p:nvSpPr>
          <p:cNvPr id="6" name="Text 4"/>
          <p:cNvSpPr txBox="1"/>
          <p:nvPr/>
        </p:nvSpPr>
        <p:spPr>
          <a:xfrm>
            <a:off x="457200" y="1828800"/>
            <a:ext cx="3810000" cy="171450"/>
          </a:xfrm>
          <a:prstGeom prst="rect">
            <a:avLst/>
          </a:prstGeom>
          <a:noFill/>
          <a:ln/>
        </p:spPr>
        <p:txBody>
          <a:bodyPr wrap="square" lIns="0" tIns="0" rIns="0" bIns="0" rtlCol="0" anchor="t"/>
          <a:lstStyle/>
          <a:p>
            <a:pPr indent="0" marL="0">
              <a:buNone/>
            </a:pPr>
            <a:r>
              <a:rPr lang="fr-FR" sz="1000" b="1" spc="150" kern="0" dirty="0">
                <a:solidFill>
                  <a:srgbClr val="006838"/>
                </a:solidFill>
                <a:latin typeface="Source Sans 3" pitchFamily="34" charset="0"/>
                <a:ea typeface="Source Sans 3" pitchFamily="34" charset="-122"/>
                <a:cs typeface="Source Sans 3" pitchFamily="34" charset="-120"/>
              </a:rPr>
              <a:t>AVANT DE METTRE À JOUR LA PRODUCTION</a:t>
            </a:r>
            <a:endParaRPr lang="fr-FR" sz="1000" dirty="0"/>
          </a:p>
        </p:txBody>
      </p:sp>
      <p:sp>
        <p:nvSpPr>
          <p:cNvPr id="7" name="Shape 5"/>
          <p:cNvSpPr/>
          <p:nvPr/>
        </p:nvSpPr>
        <p:spPr>
          <a:xfrm>
            <a:off x="457200" y="2019300"/>
            <a:ext cx="209550" cy="209550"/>
          </a:xfrm>
          <a:prstGeom prst="rect">
            <a:avLst/>
          </a:prstGeom>
          <a:solidFill>
            <a:srgbClr val="006838"/>
          </a:solidFill>
          <a:ln w="12700">
            <a:solidFill>
              <a:srgbClr val="006838"/>
            </a:solidFill>
            <a:prstDash val="solid"/>
          </a:ln>
        </p:spPr>
      </p:sp>
      <p:sp>
        <p:nvSpPr>
          <p:cNvPr id="8" name="Text 6"/>
          <p:cNvSpPr txBox="1"/>
          <p:nvPr/>
        </p:nvSpPr>
        <p:spPr>
          <a:xfrm>
            <a:off x="457200" y="2019300"/>
            <a:ext cx="209550" cy="209550"/>
          </a:xfrm>
          <a:prstGeom prst="rect">
            <a:avLst/>
          </a:prstGeom>
          <a:noFill/>
          <a:ln/>
        </p:spPr>
        <p:txBody>
          <a:bodyPr wrap="square" lIns="0" tIns="0" rIns="0" bIns="0" rtlCol="0" anchor="ctr"/>
          <a:lstStyle/>
          <a:p>
            <a:pPr algn="ctr" indent="0" marL="0">
              <a:buNone/>
            </a:pPr>
            <a:r>
              <a:rPr lang="fr-FR" sz="950" b="1" dirty="0">
                <a:solidFill>
                  <a:srgbClr val="FFFFFF"/>
                </a:solidFill>
                <a:latin typeface="Source Sans 3" pitchFamily="34" charset="0"/>
                <a:ea typeface="Source Sans 3" pitchFamily="34" charset="-122"/>
                <a:cs typeface="Source Sans 3" pitchFamily="34" charset="-120"/>
              </a:rPr>
              <a:t>1</a:t>
            </a:r>
            <a:endParaRPr lang="fr-FR" sz="950" dirty="0"/>
          </a:p>
        </p:txBody>
      </p:sp>
      <p:sp>
        <p:nvSpPr>
          <p:cNvPr id="9" name="Text 7"/>
          <p:cNvSpPr txBox="1"/>
          <p:nvPr/>
        </p:nvSpPr>
        <p:spPr>
          <a:xfrm>
            <a:off x="781050" y="2000250"/>
            <a:ext cx="5200650" cy="285750"/>
          </a:xfrm>
          <a:prstGeom prst="rect">
            <a:avLst/>
          </a:prstGeom>
          <a:noFill/>
          <a:ln/>
        </p:spPr>
        <p:txBody>
          <a:bodyPr wrap="square" lIns="0" tIns="0" rIns="0" bIns="0" rtlCol="0" anchor="t">
            <a:normAutofit/>
          </a:bodyPr>
          <a:lstStyle/>
          <a:p>
            <a:pPr indent="0" marL="0">
              <a:buNone/>
            </a:pPr>
            <a:r>
              <a:rPr lang="fr-FR" sz="1050" dirty="0">
                <a:solidFill>
                  <a:srgbClr val="434343"/>
                </a:solidFill>
                <a:latin typeface="Source Sans 3" pitchFamily="34" charset="0"/>
                <a:ea typeface="Source Sans 3" pitchFamily="34" charset="-122"/>
                <a:cs typeface="Source Sans 3" pitchFamily="34" charset="-120"/>
              </a:rPr>
              <a:t>Lisez les notes de version : « Notes de mise à jour » et « Problèmes connus ».</a:t>
            </a:r>
            <a:endParaRPr lang="fr-FR" sz="1050" dirty="0"/>
          </a:p>
        </p:txBody>
      </p:sp>
      <p:sp>
        <p:nvSpPr>
          <p:cNvPr id="10" name="Shape 8"/>
          <p:cNvSpPr/>
          <p:nvPr/>
        </p:nvSpPr>
        <p:spPr>
          <a:xfrm>
            <a:off x="457200" y="2343150"/>
            <a:ext cx="209550" cy="209550"/>
          </a:xfrm>
          <a:prstGeom prst="rect">
            <a:avLst/>
          </a:prstGeom>
          <a:solidFill>
            <a:srgbClr val="006838"/>
          </a:solidFill>
          <a:ln w="12700">
            <a:solidFill>
              <a:srgbClr val="006838"/>
            </a:solidFill>
            <a:prstDash val="solid"/>
          </a:ln>
        </p:spPr>
      </p:sp>
      <p:sp>
        <p:nvSpPr>
          <p:cNvPr id="11" name="Text 9"/>
          <p:cNvSpPr txBox="1"/>
          <p:nvPr/>
        </p:nvSpPr>
        <p:spPr>
          <a:xfrm>
            <a:off x="457200" y="2343150"/>
            <a:ext cx="209550" cy="209550"/>
          </a:xfrm>
          <a:prstGeom prst="rect">
            <a:avLst/>
          </a:prstGeom>
          <a:noFill/>
          <a:ln/>
        </p:spPr>
        <p:txBody>
          <a:bodyPr wrap="square" lIns="0" tIns="0" rIns="0" bIns="0" rtlCol="0" anchor="ctr"/>
          <a:lstStyle/>
          <a:p>
            <a:pPr algn="ctr" indent="0" marL="0">
              <a:buNone/>
            </a:pPr>
            <a:r>
              <a:rPr lang="fr-FR" sz="950" b="1" dirty="0">
                <a:solidFill>
                  <a:srgbClr val="FFFFFF"/>
                </a:solidFill>
                <a:latin typeface="Source Sans 3" pitchFamily="34" charset="0"/>
                <a:ea typeface="Source Sans 3" pitchFamily="34" charset="-122"/>
                <a:cs typeface="Source Sans 3" pitchFamily="34" charset="-120"/>
              </a:rPr>
              <a:t>2</a:t>
            </a:r>
            <a:endParaRPr lang="fr-FR" sz="950" dirty="0"/>
          </a:p>
        </p:txBody>
      </p:sp>
      <p:sp>
        <p:nvSpPr>
          <p:cNvPr id="12" name="Text 10"/>
          <p:cNvSpPr txBox="1"/>
          <p:nvPr/>
        </p:nvSpPr>
        <p:spPr>
          <a:xfrm>
            <a:off x="781050" y="2324100"/>
            <a:ext cx="5200650" cy="285750"/>
          </a:xfrm>
          <a:prstGeom prst="rect">
            <a:avLst/>
          </a:prstGeom>
          <a:noFill/>
          <a:ln/>
        </p:spPr>
        <p:txBody>
          <a:bodyPr wrap="square" lIns="0" tIns="0" rIns="0" bIns="0" rtlCol="0" anchor="t">
            <a:normAutofit/>
          </a:bodyPr>
          <a:lstStyle/>
          <a:p>
            <a:pPr indent="0" marL="0">
              <a:buNone/>
            </a:pPr>
            <a:r>
              <a:rPr lang="fr-FR" sz="1050" dirty="0">
                <a:solidFill>
                  <a:srgbClr val="434343"/>
                </a:solidFill>
                <a:latin typeface="Source Sans 3" pitchFamily="34" charset="0"/>
                <a:ea typeface="Source Sans 3" pitchFamily="34" charset="-122"/>
                <a:cs typeface="Source Sans 3" pitchFamily="34" charset="-120"/>
              </a:rPr>
              <a:t>Vérifiez les nouveaux paramètres à définir (par exemple OVERRIDE_DEFAULT_TRANSLATION).</a:t>
            </a:r>
            <a:endParaRPr lang="fr-FR" sz="1050" dirty="0"/>
          </a:p>
        </p:txBody>
      </p:sp>
      <p:sp>
        <p:nvSpPr>
          <p:cNvPr id="13" name="Shape 11"/>
          <p:cNvSpPr/>
          <p:nvPr/>
        </p:nvSpPr>
        <p:spPr>
          <a:xfrm>
            <a:off x="457200" y="2667000"/>
            <a:ext cx="209550" cy="209550"/>
          </a:xfrm>
          <a:prstGeom prst="rect">
            <a:avLst/>
          </a:prstGeom>
          <a:solidFill>
            <a:srgbClr val="006838"/>
          </a:solidFill>
          <a:ln w="12700">
            <a:solidFill>
              <a:srgbClr val="006838"/>
            </a:solidFill>
            <a:prstDash val="solid"/>
          </a:ln>
        </p:spPr>
      </p:sp>
      <p:sp>
        <p:nvSpPr>
          <p:cNvPr id="14" name="Text 12"/>
          <p:cNvSpPr txBox="1"/>
          <p:nvPr/>
        </p:nvSpPr>
        <p:spPr>
          <a:xfrm>
            <a:off x="457200" y="2667000"/>
            <a:ext cx="209550" cy="209550"/>
          </a:xfrm>
          <a:prstGeom prst="rect">
            <a:avLst/>
          </a:prstGeom>
          <a:noFill/>
          <a:ln/>
        </p:spPr>
        <p:txBody>
          <a:bodyPr wrap="square" lIns="0" tIns="0" rIns="0" bIns="0" rtlCol="0" anchor="ctr"/>
          <a:lstStyle/>
          <a:p>
            <a:pPr algn="ctr" indent="0" marL="0">
              <a:buNone/>
            </a:pPr>
            <a:r>
              <a:rPr lang="fr-FR" sz="950" b="1" dirty="0">
                <a:solidFill>
                  <a:srgbClr val="FFFFFF"/>
                </a:solidFill>
                <a:latin typeface="Source Sans 3" pitchFamily="34" charset="0"/>
                <a:ea typeface="Source Sans 3" pitchFamily="34" charset="-122"/>
                <a:cs typeface="Source Sans 3" pitchFamily="34" charset="-120"/>
              </a:rPr>
              <a:t>3</a:t>
            </a:r>
            <a:endParaRPr lang="fr-FR" sz="950" dirty="0"/>
          </a:p>
        </p:txBody>
      </p:sp>
      <p:sp>
        <p:nvSpPr>
          <p:cNvPr id="15" name="Text 13"/>
          <p:cNvSpPr txBox="1"/>
          <p:nvPr/>
        </p:nvSpPr>
        <p:spPr>
          <a:xfrm>
            <a:off x="781050" y="2647950"/>
            <a:ext cx="5200650" cy="285750"/>
          </a:xfrm>
          <a:prstGeom prst="rect">
            <a:avLst/>
          </a:prstGeom>
          <a:noFill/>
          <a:ln/>
        </p:spPr>
        <p:txBody>
          <a:bodyPr wrap="square" lIns="0" tIns="0" rIns="0" bIns="0" rtlCol="0" anchor="t">
            <a:normAutofit/>
          </a:bodyPr>
          <a:lstStyle/>
          <a:p>
            <a:pPr indent="0" marL="0">
              <a:buNone/>
            </a:pPr>
            <a:r>
              <a:rPr lang="fr-FR" sz="1050" dirty="0">
                <a:solidFill>
                  <a:srgbClr val="434343"/>
                </a:solidFill>
                <a:latin typeface="Source Sans 3" pitchFamily="34" charset="0"/>
                <a:ea typeface="Source Sans 3" pitchFamily="34" charset="-122"/>
                <a:cs typeface="Source Sans 3" pitchFamily="34" charset="-120"/>
              </a:rPr>
              <a:t>Vérifiez quelles configurations sont touchées (panels, types d'échantillons, rôles).</a:t>
            </a:r>
            <a:endParaRPr lang="fr-FR" sz="1050" dirty="0"/>
          </a:p>
        </p:txBody>
      </p:sp>
      <p:sp>
        <p:nvSpPr>
          <p:cNvPr id="16" name="Shape 14"/>
          <p:cNvSpPr/>
          <p:nvPr/>
        </p:nvSpPr>
        <p:spPr>
          <a:xfrm>
            <a:off x="457200" y="2990850"/>
            <a:ext cx="209550" cy="209550"/>
          </a:xfrm>
          <a:prstGeom prst="rect">
            <a:avLst/>
          </a:prstGeom>
          <a:solidFill>
            <a:srgbClr val="006838"/>
          </a:solidFill>
          <a:ln w="12700">
            <a:solidFill>
              <a:srgbClr val="006838"/>
            </a:solidFill>
            <a:prstDash val="solid"/>
          </a:ln>
        </p:spPr>
      </p:sp>
      <p:sp>
        <p:nvSpPr>
          <p:cNvPr id="17" name="Text 15"/>
          <p:cNvSpPr txBox="1"/>
          <p:nvPr/>
        </p:nvSpPr>
        <p:spPr>
          <a:xfrm>
            <a:off x="457200" y="2990850"/>
            <a:ext cx="209550" cy="209550"/>
          </a:xfrm>
          <a:prstGeom prst="rect">
            <a:avLst/>
          </a:prstGeom>
          <a:noFill/>
          <a:ln/>
        </p:spPr>
        <p:txBody>
          <a:bodyPr wrap="square" lIns="0" tIns="0" rIns="0" bIns="0" rtlCol="0" anchor="ctr"/>
          <a:lstStyle/>
          <a:p>
            <a:pPr algn="ctr" indent="0" marL="0">
              <a:buNone/>
            </a:pPr>
            <a:r>
              <a:rPr lang="fr-FR" sz="950" b="1" dirty="0">
                <a:solidFill>
                  <a:srgbClr val="FFFFFF"/>
                </a:solidFill>
                <a:latin typeface="Source Sans 3" pitchFamily="34" charset="0"/>
                <a:ea typeface="Source Sans 3" pitchFamily="34" charset="-122"/>
                <a:cs typeface="Source Sans 3" pitchFamily="34" charset="-120"/>
              </a:rPr>
              <a:t>4</a:t>
            </a:r>
            <a:endParaRPr lang="fr-FR" sz="950" dirty="0"/>
          </a:p>
        </p:txBody>
      </p:sp>
      <p:sp>
        <p:nvSpPr>
          <p:cNvPr id="18" name="Text 16"/>
          <p:cNvSpPr txBox="1"/>
          <p:nvPr/>
        </p:nvSpPr>
        <p:spPr>
          <a:xfrm>
            <a:off x="781050" y="2971800"/>
            <a:ext cx="5200650" cy="285750"/>
          </a:xfrm>
          <a:prstGeom prst="rect">
            <a:avLst/>
          </a:prstGeom>
          <a:noFill/>
          <a:ln/>
        </p:spPr>
        <p:txBody>
          <a:bodyPr wrap="square" lIns="0" tIns="0" rIns="0" bIns="0" rtlCol="0" anchor="t">
            <a:normAutofit/>
          </a:bodyPr>
          <a:lstStyle/>
          <a:p>
            <a:pPr indent="0" marL="0">
              <a:buNone/>
            </a:pPr>
            <a:r>
              <a:rPr lang="fr-FR" sz="1050" dirty="0">
                <a:solidFill>
                  <a:srgbClr val="434343"/>
                </a:solidFill>
                <a:latin typeface="Source Sans 3" pitchFamily="34" charset="0"/>
                <a:ea typeface="Source Sans 3" pitchFamily="34" charset="-122"/>
                <a:cs typeface="Source Sans 3" pitchFamily="34" charset="-120"/>
              </a:rPr>
              <a:t>Sauvegardez la base de données.</a:t>
            </a:r>
            <a:endParaRPr lang="fr-FR" sz="1050" dirty="0"/>
          </a:p>
        </p:txBody>
      </p:sp>
      <p:sp>
        <p:nvSpPr>
          <p:cNvPr id="19" name="Shape 17"/>
          <p:cNvSpPr/>
          <p:nvPr/>
        </p:nvSpPr>
        <p:spPr>
          <a:xfrm>
            <a:off x="457200" y="3314700"/>
            <a:ext cx="209550" cy="209550"/>
          </a:xfrm>
          <a:prstGeom prst="rect">
            <a:avLst/>
          </a:prstGeom>
          <a:solidFill>
            <a:srgbClr val="006838"/>
          </a:solidFill>
          <a:ln w="12700">
            <a:solidFill>
              <a:srgbClr val="006838"/>
            </a:solidFill>
            <a:prstDash val="solid"/>
          </a:ln>
        </p:spPr>
      </p:sp>
      <p:sp>
        <p:nvSpPr>
          <p:cNvPr id="20" name="Text 18"/>
          <p:cNvSpPr txBox="1"/>
          <p:nvPr/>
        </p:nvSpPr>
        <p:spPr>
          <a:xfrm>
            <a:off x="457200" y="3314700"/>
            <a:ext cx="209550" cy="209550"/>
          </a:xfrm>
          <a:prstGeom prst="rect">
            <a:avLst/>
          </a:prstGeom>
          <a:noFill/>
          <a:ln/>
        </p:spPr>
        <p:txBody>
          <a:bodyPr wrap="square" lIns="0" tIns="0" rIns="0" bIns="0" rtlCol="0" anchor="ctr"/>
          <a:lstStyle/>
          <a:p>
            <a:pPr algn="ctr" indent="0" marL="0">
              <a:buNone/>
            </a:pPr>
            <a:r>
              <a:rPr lang="fr-FR" sz="950" b="1" dirty="0">
                <a:solidFill>
                  <a:srgbClr val="FFFFFF"/>
                </a:solidFill>
                <a:latin typeface="Source Sans 3" pitchFamily="34" charset="0"/>
                <a:ea typeface="Source Sans 3" pitchFamily="34" charset="-122"/>
                <a:cs typeface="Source Sans 3" pitchFamily="34" charset="-120"/>
              </a:rPr>
              <a:t>5</a:t>
            </a:r>
            <a:endParaRPr lang="fr-FR" sz="950" dirty="0"/>
          </a:p>
        </p:txBody>
      </p:sp>
      <p:sp>
        <p:nvSpPr>
          <p:cNvPr id="21" name="Text 19"/>
          <p:cNvSpPr txBox="1"/>
          <p:nvPr/>
        </p:nvSpPr>
        <p:spPr>
          <a:xfrm>
            <a:off x="781050" y="3295650"/>
            <a:ext cx="5200650" cy="285750"/>
          </a:xfrm>
          <a:prstGeom prst="rect">
            <a:avLst/>
          </a:prstGeom>
          <a:noFill/>
          <a:ln/>
        </p:spPr>
        <p:txBody>
          <a:bodyPr wrap="square" lIns="0" tIns="0" rIns="0" bIns="0" rtlCol="0" anchor="t">
            <a:normAutofit/>
          </a:bodyPr>
          <a:lstStyle/>
          <a:p>
            <a:pPr indent="0" marL="0">
              <a:buNone/>
            </a:pPr>
            <a:r>
              <a:rPr lang="fr-FR" sz="1050" dirty="0">
                <a:solidFill>
                  <a:srgbClr val="434343"/>
                </a:solidFill>
                <a:latin typeface="Source Sans 3" pitchFamily="34" charset="0"/>
                <a:ea typeface="Source Sans 3" pitchFamily="34" charset="-122"/>
                <a:cs typeface="Source Sans 3" pitchFamily="34" charset="-120"/>
              </a:rPr>
              <a:t>Mettez d'abord à jour un serveur de test. Les migrations de base de données sont irréversibles.</a:t>
            </a:r>
            <a:endParaRPr lang="fr-FR" sz="1050" dirty="0"/>
          </a:p>
        </p:txBody>
      </p:sp>
      <p:sp>
        <p:nvSpPr>
          <p:cNvPr id="22" name="Shape 20"/>
          <p:cNvSpPr/>
          <p:nvPr/>
        </p:nvSpPr>
        <p:spPr>
          <a:xfrm>
            <a:off x="457200" y="3638550"/>
            <a:ext cx="209550" cy="209550"/>
          </a:xfrm>
          <a:prstGeom prst="rect">
            <a:avLst/>
          </a:prstGeom>
          <a:solidFill>
            <a:srgbClr val="006838"/>
          </a:solidFill>
          <a:ln w="12700">
            <a:solidFill>
              <a:srgbClr val="006838"/>
            </a:solidFill>
            <a:prstDash val="solid"/>
          </a:ln>
        </p:spPr>
      </p:sp>
      <p:sp>
        <p:nvSpPr>
          <p:cNvPr id="23" name="Text 21"/>
          <p:cNvSpPr txBox="1"/>
          <p:nvPr/>
        </p:nvSpPr>
        <p:spPr>
          <a:xfrm>
            <a:off x="457200" y="3638550"/>
            <a:ext cx="209550" cy="209550"/>
          </a:xfrm>
          <a:prstGeom prst="rect">
            <a:avLst/>
          </a:prstGeom>
          <a:noFill/>
          <a:ln/>
        </p:spPr>
        <p:txBody>
          <a:bodyPr wrap="square" lIns="0" tIns="0" rIns="0" bIns="0" rtlCol="0" anchor="ctr"/>
          <a:lstStyle/>
          <a:p>
            <a:pPr algn="ctr" indent="0" marL="0">
              <a:buNone/>
            </a:pPr>
            <a:r>
              <a:rPr lang="fr-FR" sz="950" b="1" dirty="0">
                <a:solidFill>
                  <a:srgbClr val="FFFFFF"/>
                </a:solidFill>
                <a:latin typeface="Source Sans 3" pitchFamily="34" charset="0"/>
                <a:ea typeface="Source Sans 3" pitchFamily="34" charset="-122"/>
                <a:cs typeface="Source Sans 3" pitchFamily="34" charset="-120"/>
              </a:rPr>
              <a:t>6</a:t>
            </a:r>
            <a:endParaRPr lang="fr-FR" sz="950" dirty="0"/>
          </a:p>
        </p:txBody>
      </p:sp>
      <p:sp>
        <p:nvSpPr>
          <p:cNvPr id="24" name="Text 22"/>
          <p:cNvSpPr txBox="1"/>
          <p:nvPr/>
        </p:nvSpPr>
        <p:spPr>
          <a:xfrm>
            <a:off x="781050" y="3619500"/>
            <a:ext cx="5200650" cy="285750"/>
          </a:xfrm>
          <a:prstGeom prst="rect">
            <a:avLst/>
          </a:prstGeom>
          <a:noFill/>
          <a:ln/>
        </p:spPr>
        <p:txBody>
          <a:bodyPr wrap="square" lIns="0" tIns="0" rIns="0" bIns="0" rtlCol="0" anchor="t">
            <a:normAutofit/>
          </a:bodyPr>
          <a:lstStyle/>
          <a:p>
            <a:pPr indent="0" marL="0">
              <a:buNone/>
            </a:pPr>
            <a:r>
              <a:rPr lang="fr-FR" sz="1050" dirty="0">
                <a:solidFill>
                  <a:srgbClr val="434343"/>
                </a:solidFill>
                <a:latin typeface="Source Sans 3" pitchFamily="34" charset="0"/>
                <a:ea typeface="Source Sans 3" pitchFamily="34" charset="-122"/>
                <a:cs typeface="Source Sans 3" pitchFamily="34" charset="-120"/>
              </a:rPr>
              <a:t>Testez les flux principaux sur le serveur de test : demande, résultat, validation, impression.</a:t>
            </a:r>
            <a:endParaRPr lang="fr-FR" sz="1050" dirty="0"/>
          </a:p>
        </p:txBody>
      </p:sp>
      <p:sp>
        <p:nvSpPr>
          <p:cNvPr id="25" name="Shape 23"/>
          <p:cNvSpPr/>
          <p:nvPr/>
        </p:nvSpPr>
        <p:spPr>
          <a:xfrm>
            <a:off x="457200" y="3962400"/>
            <a:ext cx="209550" cy="209550"/>
          </a:xfrm>
          <a:prstGeom prst="rect">
            <a:avLst/>
          </a:prstGeom>
          <a:solidFill>
            <a:srgbClr val="006838"/>
          </a:solidFill>
          <a:ln w="12700">
            <a:solidFill>
              <a:srgbClr val="006838"/>
            </a:solidFill>
            <a:prstDash val="solid"/>
          </a:ln>
        </p:spPr>
      </p:sp>
      <p:sp>
        <p:nvSpPr>
          <p:cNvPr id="26" name="Text 24"/>
          <p:cNvSpPr txBox="1"/>
          <p:nvPr/>
        </p:nvSpPr>
        <p:spPr>
          <a:xfrm>
            <a:off x="457200" y="3962400"/>
            <a:ext cx="209550" cy="209550"/>
          </a:xfrm>
          <a:prstGeom prst="rect">
            <a:avLst/>
          </a:prstGeom>
          <a:noFill/>
          <a:ln/>
        </p:spPr>
        <p:txBody>
          <a:bodyPr wrap="square" lIns="0" tIns="0" rIns="0" bIns="0" rtlCol="0" anchor="ctr"/>
          <a:lstStyle/>
          <a:p>
            <a:pPr algn="ctr" indent="0" marL="0">
              <a:buNone/>
            </a:pPr>
            <a:r>
              <a:rPr lang="fr-FR" sz="950" b="1" dirty="0">
                <a:solidFill>
                  <a:srgbClr val="FFFFFF"/>
                </a:solidFill>
                <a:latin typeface="Source Sans 3" pitchFamily="34" charset="0"/>
                <a:ea typeface="Source Sans 3" pitchFamily="34" charset="-122"/>
                <a:cs typeface="Source Sans 3" pitchFamily="34" charset="-120"/>
              </a:rPr>
              <a:t>7</a:t>
            </a:r>
            <a:endParaRPr lang="fr-FR" sz="950" dirty="0"/>
          </a:p>
        </p:txBody>
      </p:sp>
      <p:sp>
        <p:nvSpPr>
          <p:cNvPr id="27" name="Text 25"/>
          <p:cNvSpPr txBox="1"/>
          <p:nvPr/>
        </p:nvSpPr>
        <p:spPr>
          <a:xfrm>
            <a:off x="781050" y="3943350"/>
            <a:ext cx="5200650" cy="285750"/>
          </a:xfrm>
          <a:prstGeom prst="rect">
            <a:avLst/>
          </a:prstGeom>
          <a:noFill/>
          <a:ln/>
        </p:spPr>
        <p:txBody>
          <a:bodyPr wrap="square" lIns="0" tIns="0" rIns="0" bIns="0" rtlCol="0" anchor="t">
            <a:normAutofit/>
          </a:bodyPr>
          <a:lstStyle/>
          <a:p>
            <a:pPr indent="0" marL="0">
              <a:buNone/>
            </a:pPr>
            <a:r>
              <a:rPr lang="fr-FR" sz="1050" dirty="0">
                <a:solidFill>
                  <a:srgbClr val="434343"/>
                </a:solidFill>
                <a:latin typeface="Source Sans 3" pitchFamily="34" charset="0"/>
                <a:ea typeface="Source Sans 3" pitchFamily="34" charset="-122"/>
                <a:cs typeface="Source Sans 3" pitchFamily="34" charset="-120"/>
              </a:rPr>
              <a:t>Mettez à jour la production. Les migrations s'exécutent automatiquement au premier démarrage.</a:t>
            </a:r>
            <a:endParaRPr lang="fr-FR" sz="1050" dirty="0"/>
          </a:p>
        </p:txBody>
      </p:sp>
      <p:sp>
        <p:nvSpPr>
          <p:cNvPr id="28" name="Shape 26"/>
          <p:cNvSpPr/>
          <p:nvPr/>
        </p:nvSpPr>
        <p:spPr>
          <a:xfrm>
            <a:off x="457200" y="4286250"/>
            <a:ext cx="209550" cy="209550"/>
          </a:xfrm>
          <a:prstGeom prst="rect">
            <a:avLst/>
          </a:prstGeom>
          <a:solidFill>
            <a:srgbClr val="006838"/>
          </a:solidFill>
          <a:ln w="12700">
            <a:solidFill>
              <a:srgbClr val="006838"/>
            </a:solidFill>
            <a:prstDash val="solid"/>
          </a:ln>
        </p:spPr>
      </p:sp>
      <p:sp>
        <p:nvSpPr>
          <p:cNvPr id="29" name="Text 27"/>
          <p:cNvSpPr txBox="1"/>
          <p:nvPr/>
        </p:nvSpPr>
        <p:spPr>
          <a:xfrm>
            <a:off x="457200" y="4286250"/>
            <a:ext cx="209550" cy="209550"/>
          </a:xfrm>
          <a:prstGeom prst="rect">
            <a:avLst/>
          </a:prstGeom>
          <a:noFill/>
          <a:ln/>
        </p:spPr>
        <p:txBody>
          <a:bodyPr wrap="square" lIns="0" tIns="0" rIns="0" bIns="0" rtlCol="0" anchor="ctr"/>
          <a:lstStyle/>
          <a:p>
            <a:pPr algn="ctr" indent="0" marL="0">
              <a:buNone/>
            </a:pPr>
            <a:r>
              <a:rPr lang="fr-FR" sz="950" b="1" dirty="0">
                <a:solidFill>
                  <a:srgbClr val="FFFFFF"/>
                </a:solidFill>
                <a:latin typeface="Source Sans 3" pitchFamily="34" charset="0"/>
                <a:ea typeface="Source Sans 3" pitchFamily="34" charset="-122"/>
                <a:cs typeface="Source Sans 3" pitchFamily="34" charset="-120"/>
              </a:rPr>
              <a:t>8</a:t>
            </a:r>
            <a:endParaRPr lang="fr-FR" sz="950" dirty="0"/>
          </a:p>
        </p:txBody>
      </p:sp>
      <p:sp>
        <p:nvSpPr>
          <p:cNvPr id="30" name="Text 28"/>
          <p:cNvSpPr txBox="1"/>
          <p:nvPr/>
        </p:nvSpPr>
        <p:spPr>
          <a:xfrm>
            <a:off x="781050" y="4267200"/>
            <a:ext cx="5200650" cy="285750"/>
          </a:xfrm>
          <a:prstGeom prst="rect">
            <a:avLst/>
          </a:prstGeom>
          <a:noFill/>
          <a:ln/>
        </p:spPr>
        <p:txBody>
          <a:bodyPr wrap="square" lIns="0" tIns="0" rIns="0" bIns="0" rtlCol="0" anchor="t">
            <a:normAutofit/>
          </a:bodyPr>
          <a:lstStyle/>
          <a:p>
            <a:pPr indent="0" marL="0">
              <a:buNone/>
            </a:pPr>
            <a:r>
              <a:rPr lang="fr-FR" sz="1050" dirty="0">
                <a:solidFill>
                  <a:srgbClr val="434343"/>
                </a:solidFill>
                <a:latin typeface="Source Sans 3" pitchFamily="34" charset="0"/>
                <a:ea typeface="Source Sans 3" pitchFamily="34" charset="-122"/>
                <a:cs typeface="Source Sans 3" pitchFamily="34" charset="-120"/>
              </a:rPr>
              <a:t>Informez les utilisateurs de ce qui a changé.</a:t>
            </a:r>
            <a:endParaRPr lang="fr-FR" sz="1050" dirty="0"/>
          </a:p>
        </p:txBody>
      </p:sp>
      <p:sp>
        <p:nvSpPr>
          <p:cNvPr id="31" name="Shape 29"/>
          <p:cNvSpPr/>
          <p:nvPr/>
        </p:nvSpPr>
        <p:spPr>
          <a:xfrm>
            <a:off x="6210300" y="1524000"/>
            <a:ext cx="2476500" cy="3048000"/>
          </a:xfrm>
          <a:prstGeom prst="rect">
            <a:avLst/>
          </a:prstGeom>
          <a:solidFill>
            <a:srgbClr val="F0F0FF"/>
          </a:solidFill>
          <a:ln w="12700">
            <a:solidFill>
              <a:srgbClr val="F0F0FF"/>
            </a:solidFill>
            <a:prstDash val="solid"/>
          </a:ln>
        </p:spPr>
      </p:sp>
      <p:sp>
        <p:nvSpPr>
          <p:cNvPr id="32" name="Shape 30"/>
          <p:cNvSpPr/>
          <p:nvPr/>
        </p:nvSpPr>
        <p:spPr>
          <a:xfrm>
            <a:off x="6210300" y="1524000"/>
            <a:ext cx="2476500" cy="38100"/>
          </a:xfrm>
          <a:prstGeom prst="rect">
            <a:avLst/>
          </a:prstGeom>
          <a:solidFill>
            <a:srgbClr val="006838"/>
          </a:solidFill>
          <a:ln w="12700">
            <a:solidFill>
              <a:srgbClr val="006838"/>
            </a:solidFill>
            <a:prstDash val="solid"/>
          </a:ln>
        </p:spPr>
      </p:sp>
      <p:sp>
        <p:nvSpPr>
          <p:cNvPr id="33" name="Text 31"/>
          <p:cNvSpPr txBox="1"/>
          <p:nvPr/>
        </p:nvSpPr>
        <p:spPr>
          <a:xfrm>
            <a:off x="6400800" y="1676400"/>
            <a:ext cx="2095500" cy="266700"/>
          </a:xfrm>
          <a:prstGeom prst="rect">
            <a:avLst/>
          </a:prstGeom>
          <a:noFill/>
          <a:ln/>
        </p:spPr>
        <p:txBody>
          <a:bodyPr wrap="square" lIns="0" tIns="0" rIns="0" bIns="0" rtlCol="0" anchor="t"/>
          <a:lstStyle/>
          <a:p>
            <a:pPr indent="0" marL="0">
              <a:buNone/>
            </a:pPr>
            <a:r>
              <a:rPr lang="fr-FR" sz="1500" b="1" dirty="0">
                <a:solidFill>
                  <a:srgbClr val="33006F"/>
                </a:solidFill>
                <a:latin typeface="Source Sans 3" pitchFamily="34" charset="0"/>
                <a:ea typeface="Source Sans 3" pitchFamily="34" charset="-122"/>
                <a:cs typeface="Source Sans 3" pitchFamily="34" charset="-120"/>
              </a:rPr>
              <a:t>Bon à savoir</a:t>
            </a:r>
            <a:endParaRPr lang="fr-FR" sz="1500" dirty="0"/>
          </a:p>
        </p:txBody>
      </p:sp>
      <p:sp>
        <p:nvSpPr>
          <p:cNvPr id="34" name="Text 32"/>
          <p:cNvSpPr txBox="1"/>
          <p:nvPr/>
        </p:nvSpPr>
        <p:spPr>
          <a:xfrm>
            <a:off x="6400800" y="2019300"/>
            <a:ext cx="2095500" cy="2381250"/>
          </a:xfrm>
          <a:prstGeom prst="rect">
            <a:avLst/>
          </a:prstGeom>
          <a:noFill/>
          <a:ln/>
        </p:spPr>
        <p:txBody>
          <a:bodyPr wrap="square" lIns="0" tIns="0" rIns="0" bIns="0" rtlCol="0" anchor="t">
            <a:normAutofit/>
          </a:bodyPr>
          <a:lstStyle/>
          <a:p>
            <a:pPr marL="127000" indent="-127000">
              <a:spcAft>
                <a:spcPts val="1000"/>
              </a:spcAft>
              <a:buSzPct val="100000"/>
              <a:buChar char="•"/>
            </a:pPr>
            <a:r>
              <a:rPr lang="fr-FR" sz="1116" dirty="0">
                <a:solidFill>
                  <a:srgbClr val="434343"/>
                </a:solidFill>
                <a:latin typeface="Source Sans 3" pitchFamily="34" charset="0"/>
                <a:ea typeface="Source Sans 3" pitchFamily="34" charset="-122"/>
                <a:cs typeface="Source Sans 3" pitchFamily="34" charset="-120"/>
              </a:rPr>
              <a:t>Les changements de base de données sont automatiques. Pas de SQL manuel pour les mises à jour normales.</a:t>
            </a:r>
            <a:endParaRPr lang="fr-FR" sz="1116" dirty="0"/>
          </a:p>
          <a:p>
            <a:pPr marL="127000" indent="-127000">
              <a:spcAft>
                <a:spcPts val="1000"/>
              </a:spcAft>
              <a:buSzPct val="100000"/>
              <a:buChar char="•"/>
            </a:pPr>
            <a:r>
              <a:rPr lang="fr-FR" sz="1116" dirty="0">
                <a:solidFill>
                  <a:srgbClr val="434343"/>
                </a:solidFill>
                <a:latin typeface="Source Sans 3" pitchFamily="34" charset="0"/>
                <a:ea typeface="Source Sans 3" pitchFamily="34" charset="-122"/>
                <a:cs typeface="Source Sans 3" pitchFamily="34" charset="-120"/>
              </a:rPr>
              <a:t>Les données existantes sont conservées et migrées, pas supprimées.</a:t>
            </a:r>
            <a:endParaRPr lang="fr-FR" sz="1116" dirty="0"/>
          </a:p>
          <a:p>
            <a:pPr marL="127000" indent="-127000">
              <a:spcAft>
                <a:spcPts val="1000"/>
              </a:spcAft>
              <a:buSzPct val="100000"/>
              <a:buChar char="•"/>
            </a:pPr>
            <a:r>
              <a:rPr lang="fr-FR" sz="1116" dirty="0">
                <a:solidFill>
                  <a:srgbClr val="434343"/>
                </a:solidFill>
                <a:latin typeface="Source Sans 3" pitchFamily="34" charset="0"/>
                <a:ea typeface="Source Sans 3" pitchFamily="34" charset="-122"/>
                <a:cs typeface="Source Sans 3" pitchFamily="34" charset="-120"/>
              </a:rPr>
              <a:t>Anciens et nouveaux écrans peuvent coexister. Adoptez les nouveaux outils à votre rythme.</a:t>
            </a:r>
            <a:endParaRPr lang="fr-FR" sz="1116" dirty="0"/>
          </a:p>
        </p:txBody>
      </p:sp>
      <p:sp>
        <p:nvSpPr>
          <p:cNvPr id="35" name="Text 33"/>
          <p:cNvSpPr txBox="1"/>
          <p:nvPr/>
        </p:nvSpPr>
        <p:spPr>
          <a:xfrm>
            <a:off x="7953375" y="4743450"/>
            <a:ext cx="952500" cy="228600"/>
          </a:xfrm>
          <a:prstGeom prst="rect">
            <a:avLst/>
          </a:prstGeom>
          <a:noFill/>
          <a:ln/>
        </p:spPr>
        <p:txBody>
          <a:bodyPr wrap="square" lIns="0" tIns="0" rIns="0" bIns="0" rtlCol="0" anchor="t"/>
          <a:lstStyle/>
          <a:p>
            <a:pPr algn="r" indent="0" marL="0">
              <a:buNone/>
            </a:pPr>
            <a:r>
              <a:rPr lang="fr-FR" sz="1000" dirty="0">
                <a:solidFill>
                  <a:srgbClr val="888888"/>
                </a:solidFill>
                <a:latin typeface="Source Sans 3" pitchFamily="34" charset="0"/>
                <a:ea typeface="Source Sans 3" pitchFamily="34" charset="-122"/>
                <a:cs typeface="Source Sans 3" pitchFamily="34" charset="-120"/>
              </a:rPr>
              <a:t>35</a:t>
            </a:r>
            <a:endParaRPr lang="fr-FR" sz="1000" dirty="0"/>
          </a:p>
        </p:txBody>
      </p:sp>
      <p:sp>
        <p:nvSpPr>
          <p:cNvPr id="36" name="Text 34"/>
          <p:cNvSpPr txBox="1"/>
          <p:nvPr/>
        </p:nvSpPr>
        <p:spPr>
          <a:xfrm>
            <a:off x="457200" y="4743450"/>
            <a:ext cx="3810000" cy="228600"/>
          </a:xfrm>
          <a:prstGeom prst="rect">
            <a:avLst/>
          </a:prstGeom>
          <a:noFill/>
          <a:ln/>
        </p:spPr>
        <p:txBody>
          <a:bodyPr wrap="square" lIns="0" tIns="0" rIns="0" bIns="0" rtlCol="0" anchor="t"/>
          <a:lstStyle/>
          <a:p>
            <a:pPr algn="l" indent="0" marL="0">
              <a:buNone/>
            </a:pPr>
            <a:r>
              <a:rPr lang="fr-FR" sz="1000" dirty="0">
                <a:solidFill>
                  <a:srgbClr val="888888"/>
                </a:solidFill>
                <a:latin typeface="Source Sans 3" pitchFamily="34" charset="0"/>
                <a:ea typeface="Source Sans 3" pitchFamily="34" charset="-122"/>
                <a:cs typeface="Source Sans 3" pitchFamily="34" charset="-120"/>
              </a:rPr>
              <a:t>Passation eSIL Madagascar</a:t>
            </a:r>
            <a:endParaRPr lang="fr-FR" sz="1000" dirty="0"/>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247650"/>
            <a:ext cx="8229600" cy="209550"/>
          </a:xfrm>
          <a:prstGeom prst="rect">
            <a:avLst/>
          </a:prstGeom>
          <a:noFill/>
          <a:ln/>
        </p:spPr>
        <p:txBody>
          <a:bodyPr wrap="square" lIns="0" tIns="0" rIns="0" bIns="0" rtlCol="0" anchor="t"/>
          <a:lstStyle/>
          <a:p>
            <a:pPr indent="0" marL="0">
              <a:buNone/>
            </a:pPr>
            <a:r>
              <a:rPr lang="fr-FR" sz="1200" b="1" spc="150" kern="0" dirty="0">
                <a:solidFill>
                  <a:srgbClr val="01458E"/>
                </a:solidFill>
                <a:latin typeface="Source Sans 3" pitchFamily="34" charset="0"/>
                <a:ea typeface="Source Sans 3" pitchFamily="34" charset="-122"/>
                <a:cs typeface="Source Sans 3" pitchFamily="34" charset="-120"/>
              </a:rPr>
              <a:t>DÉCISIONS</a:t>
            </a:r>
            <a:pPr indent="0" marL="0">
              <a:buNone/>
            </a:pPr>
            <a:r>
              <a:rPr lang="fr-FR" sz="1200" dirty="0">
                <a:solidFill>
                  <a:srgbClr val="888888"/>
                </a:solidFill>
                <a:latin typeface="Source Sans 3" pitchFamily="34" charset="0"/>
                <a:ea typeface="Source Sans 3" pitchFamily="34" charset="-122"/>
                <a:cs typeface="Source Sans 3" pitchFamily="34" charset="-120"/>
              </a:rPr>
              <a:t>    Section 7 sur 7</a:t>
            </a:r>
            <a:endParaRPr lang="fr-FR" sz="1200" dirty="0"/>
          </a:p>
        </p:txBody>
      </p:sp>
      <p:sp>
        <p:nvSpPr>
          <p:cNvPr id="3" name="Shape 1"/>
          <p:cNvSpPr/>
          <p:nvPr/>
        </p:nvSpPr>
        <p:spPr>
          <a:xfrm>
            <a:off x="457200" y="533400"/>
            <a:ext cx="685800" cy="57150"/>
          </a:xfrm>
          <a:prstGeom prst="rect">
            <a:avLst/>
          </a:prstGeom>
          <a:solidFill>
            <a:srgbClr val="01458E"/>
          </a:solidFill>
          <a:ln w="12700">
            <a:solidFill>
              <a:srgbClr val="01458E"/>
            </a:solidFill>
            <a:prstDash val="solid"/>
          </a:ln>
        </p:spPr>
      </p:sp>
      <p:sp>
        <p:nvSpPr>
          <p:cNvPr id="4" name="Text 2"/>
          <p:cNvSpPr txBox="1"/>
          <p:nvPr/>
        </p:nvSpPr>
        <p:spPr>
          <a:xfrm>
            <a:off x="457200" y="704850"/>
            <a:ext cx="8229600" cy="800100"/>
          </a:xfrm>
          <a:prstGeom prst="rect">
            <a:avLst/>
          </a:prstGeom>
          <a:noFill/>
          <a:ln/>
        </p:spPr>
        <p:txBody>
          <a:bodyPr wrap="square" lIns="0" tIns="0" rIns="0" bIns="0" rtlCol="0" anchor="t">
            <a:normAutofit/>
          </a:bodyPr>
          <a:lstStyle/>
          <a:p>
            <a:pPr indent="0" marL="0">
              <a:buNone/>
            </a:pPr>
            <a:r>
              <a:rPr lang="fr-FR" sz="2350" b="1" dirty="0">
                <a:solidFill>
                  <a:srgbClr val="33006F"/>
                </a:solidFill>
                <a:latin typeface="Source Sans 3" pitchFamily="34" charset="0"/>
                <a:ea typeface="Source Sans 3" pitchFamily="34" charset="-122"/>
                <a:cs typeface="Source Sans 3" pitchFamily="34" charset="-120"/>
              </a:rPr>
              <a:t>Ce que le Ministère doit décider</a:t>
            </a:r>
            <a:endParaRPr lang="fr-FR" sz="2350" dirty="0"/>
          </a:p>
        </p:txBody>
      </p:sp>
      <p:sp>
        <p:nvSpPr>
          <p:cNvPr id="5" name="Text 3"/>
          <p:cNvSpPr txBox="1"/>
          <p:nvPr/>
        </p:nvSpPr>
        <p:spPr>
          <a:xfrm>
            <a:off x="457200" y="1504950"/>
            <a:ext cx="8229600" cy="247650"/>
          </a:xfrm>
          <a:prstGeom prst="rect">
            <a:avLst/>
          </a:prstGeom>
          <a:noFill/>
          <a:ln/>
        </p:spPr>
        <p:txBody>
          <a:bodyPr wrap="square" lIns="0" tIns="0" rIns="0" bIns="0" rtlCol="0" anchor="t"/>
          <a:lstStyle/>
          <a:p>
            <a:pPr indent="0" marL="0">
              <a:buNone/>
            </a:pPr>
            <a:r>
              <a:rPr lang="fr-FR" sz="1200" dirty="0">
                <a:solidFill>
                  <a:srgbClr val="5B5670"/>
                </a:solidFill>
                <a:latin typeface="Source Sans 3" pitchFamily="34" charset="0"/>
                <a:ea typeface="Source Sans 3" pitchFamily="34" charset="-122"/>
                <a:cs typeface="Source Sans 3" pitchFamily="34" charset="-120"/>
              </a:rPr>
              <a:t>Des questions à trancher au sein de votre équipe. Il n'y a pas une seule bonne réponse. Chacune a besoin d'un responsable.</a:t>
            </a:r>
            <a:endParaRPr lang="fr-FR" sz="1200" dirty="0"/>
          </a:p>
        </p:txBody>
      </p:sp>
      <p:sp>
        <p:nvSpPr>
          <p:cNvPr id="6" name="Shape 4"/>
          <p:cNvSpPr/>
          <p:nvPr/>
        </p:nvSpPr>
        <p:spPr>
          <a:xfrm>
            <a:off x="457200" y="1809750"/>
            <a:ext cx="2590800" cy="2171700"/>
          </a:xfrm>
          <a:prstGeom prst="rect">
            <a:avLst/>
          </a:prstGeom>
          <a:solidFill>
            <a:srgbClr val="F0F0FF"/>
          </a:solidFill>
          <a:ln w="12700">
            <a:solidFill>
              <a:srgbClr val="F0F0FF"/>
            </a:solidFill>
            <a:prstDash val="solid"/>
          </a:ln>
        </p:spPr>
      </p:sp>
      <p:sp>
        <p:nvSpPr>
          <p:cNvPr id="7" name="Shape 5"/>
          <p:cNvSpPr/>
          <p:nvPr/>
        </p:nvSpPr>
        <p:spPr>
          <a:xfrm>
            <a:off x="457200" y="1809750"/>
            <a:ext cx="2590800" cy="38100"/>
          </a:xfrm>
          <a:prstGeom prst="rect">
            <a:avLst/>
          </a:prstGeom>
          <a:solidFill>
            <a:srgbClr val="01458E"/>
          </a:solidFill>
          <a:ln w="12700">
            <a:solidFill>
              <a:srgbClr val="01458E"/>
            </a:solidFill>
            <a:prstDash val="solid"/>
          </a:ln>
        </p:spPr>
      </p:sp>
      <p:sp>
        <p:nvSpPr>
          <p:cNvPr id="8" name="Text 6"/>
          <p:cNvSpPr txBox="1"/>
          <p:nvPr/>
        </p:nvSpPr>
        <p:spPr>
          <a:xfrm>
            <a:off x="609600" y="1943100"/>
            <a:ext cx="2286000" cy="247650"/>
          </a:xfrm>
          <a:prstGeom prst="rect">
            <a:avLst/>
          </a:prstGeom>
          <a:noFill/>
          <a:ln/>
        </p:spPr>
        <p:txBody>
          <a:bodyPr wrap="square" lIns="0" tIns="0" rIns="0" bIns="0" rtlCol="0" anchor="t"/>
          <a:lstStyle/>
          <a:p>
            <a:pPr indent="0" marL="0">
              <a:buNone/>
            </a:pPr>
            <a:r>
              <a:rPr lang="fr-FR" sz="1400" b="1" dirty="0">
                <a:solidFill>
                  <a:srgbClr val="33006F"/>
                </a:solidFill>
                <a:latin typeface="Source Sans 3" pitchFamily="34" charset="0"/>
                <a:ea typeface="Source Sans 3" pitchFamily="34" charset="-122"/>
                <a:cs typeface="Source Sans 3" pitchFamily="34" charset="-120"/>
              </a:rPr>
              <a:t>Personnes et rôles</a:t>
            </a:r>
            <a:endParaRPr lang="fr-FR" sz="1400" dirty="0"/>
          </a:p>
        </p:txBody>
      </p:sp>
      <p:sp>
        <p:nvSpPr>
          <p:cNvPr id="9" name="Text 7"/>
          <p:cNvSpPr txBox="1"/>
          <p:nvPr/>
        </p:nvSpPr>
        <p:spPr>
          <a:xfrm>
            <a:off x="609600" y="2247900"/>
            <a:ext cx="2286000" cy="1638300"/>
          </a:xfrm>
          <a:prstGeom prst="rect">
            <a:avLst/>
          </a:prstGeom>
          <a:noFill/>
          <a:ln/>
        </p:spPr>
        <p:txBody>
          <a:bodyPr wrap="square" lIns="0" tIns="0" rIns="0" bIns="0" rtlCol="0" anchor="t">
            <a:normAutofit/>
          </a:bodyPr>
          <a:lstStyle/>
          <a:p>
            <a:pPr marL="127000" indent="-127000">
              <a:spcAft>
                <a:spcPts val="600"/>
              </a:spcAft>
              <a:buSzPct val="100000"/>
              <a:buChar char="•"/>
            </a:pPr>
            <a:r>
              <a:rPr lang="fr-FR" sz="1023" dirty="0">
                <a:solidFill>
                  <a:srgbClr val="434343"/>
                </a:solidFill>
                <a:latin typeface="Source Sans 3" pitchFamily="34" charset="0"/>
                <a:ea typeface="Source Sans 3" pitchFamily="34" charset="-122"/>
                <a:cs typeface="Source Sans 3" pitchFamily="34" charset="-120"/>
              </a:rPr>
              <a:t>Qui est le point focal eSIL pour la communauté ? Compte forum, Slack, parle au nom de Madagascar.</a:t>
            </a:r>
            <a:endParaRPr lang="fr-FR" sz="1023" dirty="0"/>
          </a:p>
          <a:p>
            <a:pPr marL="127000" indent="-127000">
              <a:spcAft>
                <a:spcPts val="600"/>
              </a:spcAft>
              <a:buSzPct val="100000"/>
              <a:buChar char="•"/>
            </a:pPr>
            <a:r>
              <a:rPr lang="fr-FR" sz="1023" dirty="0">
                <a:solidFill>
                  <a:srgbClr val="434343"/>
                </a:solidFill>
                <a:latin typeface="Source Sans 3" pitchFamily="34" charset="0"/>
                <a:ea typeface="Source Sans 3" pitchFamily="34" charset="-122"/>
                <a:cs typeface="Source Sans 3" pitchFamily="34" charset="-120"/>
              </a:rPr>
              <a:t>Qui participe à l'appel du jeudi, et à quelle fréquence ?</a:t>
            </a:r>
            <a:endParaRPr lang="fr-FR" sz="1023" dirty="0"/>
          </a:p>
          <a:p>
            <a:pPr marL="127000" indent="-127000">
              <a:spcAft>
                <a:spcPts val="600"/>
              </a:spcAft>
              <a:buSzPct val="100000"/>
              <a:buChar char="•"/>
            </a:pPr>
            <a:r>
              <a:rPr lang="fr-FR" sz="1023" dirty="0">
                <a:solidFill>
                  <a:srgbClr val="434343"/>
                </a:solidFill>
                <a:latin typeface="Source Sans 3" pitchFamily="34" charset="0"/>
                <a:ea typeface="Source Sans 3" pitchFamily="34" charset="-122"/>
                <a:cs typeface="Source Sans 3" pitchFamily="34" charset="-120"/>
              </a:rPr>
              <a:t>Qui est responsable des traductions française et malgache dans Transifex ?</a:t>
            </a:r>
            <a:endParaRPr lang="fr-FR" sz="1023" dirty="0"/>
          </a:p>
        </p:txBody>
      </p:sp>
      <p:sp>
        <p:nvSpPr>
          <p:cNvPr id="10" name="Shape 8"/>
          <p:cNvSpPr/>
          <p:nvPr/>
        </p:nvSpPr>
        <p:spPr>
          <a:xfrm>
            <a:off x="3276600" y="1809750"/>
            <a:ext cx="2590800" cy="2171700"/>
          </a:xfrm>
          <a:prstGeom prst="rect">
            <a:avLst/>
          </a:prstGeom>
          <a:solidFill>
            <a:srgbClr val="F0F0FF"/>
          </a:solidFill>
          <a:ln w="12700">
            <a:solidFill>
              <a:srgbClr val="F0F0FF"/>
            </a:solidFill>
            <a:prstDash val="solid"/>
          </a:ln>
        </p:spPr>
      </p:sp>
      <p:sp>
        <p:nvSpPr>
          <p:cNvPr id="11" name="Shape 9"/>
          <p:cNvSpPr/>
          <p:nvPr/>
        </p:nvSpPr>
        <p:spPr>
          <a:xfrm>
            <a:off x="3276600" y="1809750"/>
            <a:ext cx="2590800" cy="38100"/>
          </a:xfrm>
          <a:prstGeom prst="rect">
            <a:avLst/>
          </a:prstGeom>
          <a:solidFill>
            <a:srgbClr val="01458E"/>
          </a:solidFill>
          <a:ln w="12700">
            <a:solidFill>
              <a:srgbClr val="01458E"/>
            </a:solidFill>
            <a:prstDash val="solid"/>
          </a:ln>
        </p:spPr>
      </p:sp>
      <p:sp>
        <p:nvSpPr>
          <p:cNvPr id="12" name="Text 10"/>
          <p:cNvSpPr txBox="1"/>
          <p:nvPr/>
        </p:nvSpPr>
        <p:spPr>
          <a:xfrm>
            <a:off x="3429000" y="1943100"/>
            <a:ext cx="2286000" cy="247650"/>
          </a:xfrm>
          <a:prstGeom prst="rect">
            <a:avLst/>
          </a:prstGeom>
          <a:noFill/>
          <a:ln/>
        </p:spPr>
        <p:txBody>
          <a:bodyPr wrap="square" lIns="0" tIns="0" rIns="0" bIns="0" rtlCol="0" anchor="t"/>
          <a:lstStyle/>
          <a:p>
            <a:pPr indent="0" marL="0">
              <a:buNone/>
            </a:pPr>
            <a:r>
              <a:rPr lang="fr-FR" sz="1400" b="1" dirty="0">
                <a:solidFill>
                  <a:srgbClr val="33006F"/>
                </a:solidFill>
                <a:latin typeface="Source Sans 3" pitchFamily="34" charset="0"/>
                <a:ea typeface="Source Sans 3" pitchFamily="34" charset="-122"/>
                <a:cs typeface="Source Sans 3" pitchFamily="34" charset="-120"/>
              </a:rPr>
              <a:t>Opérations techniques</a:t>
            </a:r>
            <a:endParaRPr lang="fr-FR" sz="1400" dirty="0"/>
          </a:p>
        </p:txBody>
      </p:sp>
      <p:sp>
        <p:nvSpPr>
          <p:cNvPr id="13" name="Text 11"/>
          <p:cNvSpPr txBox="1"/>
          <p:nvPr/>
        </p:nvSpPr>
        <p:spPr>
          <a:xfrm>
            <a:off x="3429000" y="2247900"/>
            <a:ext cx="2286000" cy="1638300"/>
          </a:xfrm>
          <a:prstGeom prst="rect">
            <a:avLst/>
          </a:prstGeom>
          <a:noFill/>
          <a:ln/>
        </p:spPr>
        <p:txBody>
          <a:bodyPr wrap="square" lIns="0" tIns="0" rIns="0" bIns="0" rtlCol="0" anchor="t">
            <a:normAutofit/>
          </a:bodyPr>
          <a:lstStyle/>
          <a:p>
            <a:pPr marL="127000" indent="-127000">
              <a:spcAft>
                <a:spcPts val="600"/>
              </a:spcAft>
              <a:buSzPct val="100000"/>
              <a:buChar char="•"/>
            </a:pPr>
            <a:r>
              <a:rPr lang="fr-FR" sz="1023" dirty="0">
                <a:solidFill>
                  <a:srgbClr val="434343"/>
                </a:solidFill>
                <a:latin typeface="Source Sans 3" pitchFamily="34" charset="0"/>
                <a:ea typeface="Source Sans 3" pitchFamily="34" charset="-122"/>
                <a:cs typeface="Source Sans 3" pitchFamily="34" charset="-120"/>
              </a:rPr>
              <a:t>Qui fait les mises à jour : le personnel du Ministère, un développeur engagé ou une entreprise ?</a:t>
            </a:r>
            <a:endParaRPr lang="fr-FR" sz="1023" dirty="0"/>
          </a:p>
          <a:p>
            <a:pPr marL="127000" indent="-127000">
              <a:spcAft>
                <a:spcPts val="600"/>
              </a:spcAft>
              <a:buSzPct val="100000"/>
              <a:buChar char="•"/>
            </a:pPr>
            <a:r>
              <a:rPr lang="fr-FR" sz="1023" dirty="0">
                <a:solidFill>
                  <a:srgbClr val="434343"/>
                </a:solidFill>
                <a:latin typeface="Source Sans 3" pitchFamily="34" charset="0"/>
                <a:ea typeface="Source Sans 3" pitchFamily="34" charset="-122"/>
                <a:cs typeface="Source Sans 3" pitchFamily="34" charset="-120"/>
              </a:rPr>
              <a:t>Où est le serveur de test, et qui le maintient ?</a:t>
            </a:r>
            <a:endParaRPr lang="fr-FR" sz="1023" dirty="0"/>
          </a:p>
          <a:p>
            <a:pPr marL="127000" indent="-127000">
              <a:spcAft>
                <a:spcPts val="600"/>
              </a:spcAft>
              <a:buSzPct val="100000"/>
              <a:buChar char="•"/>
            </a:pPr>
            <a:r>
              <a:rPr lang="fr-FR" sz="1023" dirty="0">
                <a:solidFill>
                  <a:srgbClr val="434343"/>
                </a:solidFill>
                <a:latin typeface="Source Sans 3" pitchFamily="34" charset="0"/>
                <a:ea typeface="Source Sans 3" pitchFamily="34" charset="-122"/>
                <a:cs typeface="Source Sans 3" pitchFamily="34" charset="-120"/>
              </a:rPr>
              <a:t>Qui garde les sauvegardes, et à quelle fréquence sont-elles testées ?</a:t>
            </a:r>
            <a:endParaRPr lang="fr-FR" sz="1023" dirty="0"/>
          </a:p>
          <a:p>
            <a:pPr marL="127000" indent="-127000">
              <a:spcAft>
                <a:spcPts val="600"/>
              </a:spcAft>
              <a:buSzPct val="100000"/>
              <a:buChar char="•"/>
            </a:pPr>
            <a:r>
              <a:rPr lang="fr-FR" sz="1023" dirty="0">
                <a:solidFill>
                  <a:srgbClr val="434343"/>
                </a:solidFill>
                <a:latin typeface="Source Sans 3" pitchFamily="34" charset="0"/>
                <a:ea typeface="Source Sans 3" pitchFamily="34" charset="-122"/>
                <a:cs typeface="Source Sans 3" pitchFamily="34" charset="-120"/>
              </a:rPr>
              <a:t>Qui suit les notes de version chaque mois ?</a:t>
            </a:r>
            <a:endParaRPr lang="fr-FR" sz="1023" dirty="0"/>
          </a:p>
        </p:txBody>
      </p:sp>
      <p:sp>
        <p:nvSpPr>
          <p:cNvPr id="14" name="Shape 12"/>
          <p:cNvSpPr/>
          <p:nvPr/>
        </p:nvSpPr>
        <p:spPr>
          <a:xfrm>
            <a:off x="6096000" y="1809750"/>
            <a:ext cx="2590800" cy="2171700"/>
          </a:xfrm>
          <a:prstGeom prst="rect">
            <a:avLst/>
          </a:prstGeom>
          <a:solidFill>
            <a:srgbClr val="F0F0FF"/>
          </a:solidFill>
          <a:ln w="12700">
            <a:solidFill>
              <a:srgbClr val="F0F0FF"/>
            </a:solidFill>
            <a:prstDash val="solid"/>
          </a:ln>
        </p:spPr>
      </p:sp>
      <p:sp>
        <p:nvSpPr>
          <p:cNvPr id="15" name="Shape 13"/>
          <p:cNvSpPr/>
          <p:nvPr/>
        </p:nvSpPr>
        <p:spPr>
          <a:xfrm>
            <a:off x="6096000" y="1809750"/>
            <a:ext cx="2590800" cy="38100"/>
          </a:xfrm>
          <a:prstGeom prst="rect">
            <a:avLst/>
          </a:prstGeom>
          <a:solidFill>
            <a:srgbClr val="01458E"/>
          </a:solidFill>
          <a:ln w="12700">
            <a:solidFill>
              <a:srgbClr val="01458E"/>
            </a:solidFill>
            <a:prstDash val="solid"/>
          </a:ln>
        </p:spPr>
      </p:sp>
      <p:sp>
        <p:nvSpPr>
          <p:cNvPr id="16" name="Text 14"/>
          <p:cNvSpPr txBox="1"/>
          <p:nvPr/>
        </p:nvSpPr>
        <p:spPr>
          <a:xfrm>
            <a:off x="6248400" y="1943100"/>
            <a:ext cx="2286000" cy="247650"/>
          </a:xfrm>
          <a:prstGeom prst="rect">
            <a:avLst/>
          </a:prstGeom>
          <a:noFill/>
          <a:ln/>
        </p:spPr>
        <p:txBody>
          <a:bodyPr wrap="square" lIns="0" tIns="0" rIns="0" bIns="0" rtlCol="0" anchor="t"/>
          <a:lstStyle/>
          <a:p>
            <a:pPr indent="0" marL="0">
              <a:buNone/>
            </a:pPr>
            <a:r>
              <a:rPr lang="fr-FR" sz="1400" b="1" dirty="0">
                <a:solidFill>
                  <a:srgbClr val="33006F"/>
                </a:solidFill>
                <a:latin typeface="Source Sans 3" pitchFamily="34" charset="0"/>
                <a:ea typeface="Source Sans 3" pitchFamily="34" charset="-122"/>
                <a:cs typeface="Source Sans 3" pitchFamily="34" charset="-120"/>
              </a:rPr>
              <a:t>Nouveaux besoins</a:t>
            </a:r>
            <a:endParaRPr lang="fr-FR" sz="1400" dirty="0"/>
          </a:p>
        </p:txBody>
      </p:sp>
      <p:sp>
        <p:nvSpPr>
          <p:cNvPr id="17" name="Text 15"/>
          <p:cNvSpPr txBox="1"/>
          <p:nvPr/>
        </p:nvSpPr>
        <p:spPr>
          <a:xfrm>
            <a:off x="6248400" y="2247900"/>
            <a:ext cx="2286000" cy="1638300"/>
          </a:xfrm>
          <a:prstGeom prst="rect">
            <a:avLst/>
          </a:prstGeom>
          <a:noFill/>
          <a:ln/>
        </p:spPr>
        <p:txBody>
          <a:bodyPr wrap="square" lIns="0" tIns="0" rIns="0" bIns="0" rtlCol="0" anchor="t">
            <a:normAutofit/>
          </a:bodyPr>
          <a:lstStyle/>
          <a:p>
            <a:pPr marL="127000" indent="-127000">
              <a:spcAft>
                <a:spcPts val="600"/>
              </a:spcAft>
              <a:buSzPct val="100000"/>
              <a:buChar char="•"/>
            </a:pPr>
            <a:r>
              <a:rPr lang="fr-FR" sz="1023" dirty="0">
                <a:solidFill>
                  <a:srgbClr val="434343"/>
                </a:solidFill>
                <a:latin typeface="Source Sans 3" pitchFamily="34" charset="0"/>
                <a:ea typeface="Source Sans 3" pitchFamily="34" charset="-122"/>
                <a:cs typeface="Source Sans 3" pitchFamily="34" charset="-120"/>
              </a:rPr>
              <a:t>Comment les 9 laboratoires signalent-ils bogues et demandes au Ministère ?</a:t>
            </a:r>
            <a:endParaRPr lang="fr-FR" sz="1023" dirty="0"/>
          </a:p>
          <a:p>
            <a:pPr marL="127000" indent="-127000">
              <a:spcAft>
                <a:spcPts val="600"/>
              </a:spcAft>
              <a:buSzPct val="100000"/>
              <a:buChar char="•"/>
            </a:pPr>
            <a:r>
              <a:rPr lang="fr-FR" sz="1023" dirty="0">
                <a:solidFill>
                  <a:srgbClr val="434343"/>
                </a:solidFill>
                <a:latin typeface="Source Sans 3" pitchFamily="34" charset="0"/>
                <a:ea typeface="Source Sans 3" pitchFamily="34" charset="-122"/>
                <a:cs typeface="Source Sans 3" pitchFamily="34" charset="-120"/>
              </a:rPr>
              <a:t>Qui décide quelles demandes vont à la communauté comme propositions ?</a:t>
            </a:r>
            <a:endParaRPr lang="fr-FR" sz="1023" dirty="0"/>
          </a:p>
          <a:p>
            <a:pPr marL="127000" indent="-127000">
              <a:spcAft>
                <a:spcPts val="600"/>
              </a:spcAft>
              <a:buSzPct val="100000"/>
              <a:buChar char="•"/>
            </a:pPr>
            <a:r>
              <a:rPr lang="fr-FR" sz="1023" dirty="0">
                <a:solidFill>
                  <a:srgbClr val="434343"/>
                </a:solidFill>
                <a:latin typeface="Source Sans 3" pitchFamily="34" charset="0"/>
                <a:ea typeface="Source Sans 3" pitchFamily="34" charset="-122"/>
                <a:cs typeface="Source Sans 3" pitchFamily="34" charset="-120"/>
              </a:rPr>
              <a:t>Si vous engagez un développeur, contribuera-t-il au produit partagé ?</a:t>
            </a:r>
            <a:endParaRPr lang="fr-FR" sz="1023" dirty="0"/>
          </a:p>
        </p:txBody>
      </p:sp>
      <p:sp>
        <p:nvSpPr>
          <p:cNvPr id="18" name="Shape 16"/>
          <p:cNvSpPr/>
          <p:nvPr/>
        </p:nvSpPr>
        <p:spPr>
          <a:xfrm>
            <a:off x="457200" y="4076700"/>
            <a:ext cx="8229600" cy="533400"/>
          </a:xfrm>
          <a:prstGeom prst="rect">
            <a:avLst/>
          </a:prstGeom>
          <a:solidFill>
            <a:srgbClr val="33006F"/>
          </a:solidFill>
          <a:ln w="12700">
            <a:solidFill>
              <a:srgbClr val="33006F"/>
            </a:solidFill>
            <a:prstDash val="solid"/>
          </a:ln>
        </p:spPr>
      </p:sp>
      <p:sp>
        <p:nvSpPr>
          <p:cNvPr id="19" name="Text 17"/>
          <p:cNvSpPr txBox="1"/>
          <p:nvPr/>
        </p:nvSpPr>
        <p:spPr>
          <a:xfrm>
            <a:off x="685800" y="4076700"/>
            <a:ext cx="7772400" cy="533400"/>
          </a:xfrm>
          <a:prstGeom prst="rect">
            <a:avLst/>
          </a:prstGeom>
          <a:noFill/>
          <a:ln/>
        </p:spPr>
        <p:txBody>
          <a:bodyPr wrap="square" lIns="0" tIns="0" rIns="0" bIns="0" rtlCol="0" anchor="ctr"/>
          <a:lstStyle/>
          <a:p>
            <a:pPr indent="0" marL="0">
              <a:buNone/>
            </a:pPr>
            <a:r>
              <a:rPr lang="fr-FR" sz="1200" b="1" dirty="0">
                <a:solidFill>
                  <a:srgbClr val="FFC000"/>
                </a:solidFill>
                <a:latin typeface="Source Sans 3" pitchFamily="34" charset="0"/>
                <a:ea typeface="Source Sans 3" pitchFamily="34" charset="-122"/>
                <a:cs typeface="Source Sans 3" pitchFamily="34" charset="-120"/>
              </a:rPr>
              <a:t>De la part de DIGI avant la clôture : </a:t>
            </a:r>
            <a:pPr indent="0" marL="0">
              <a:buNone/>
            </a:pPr>
            <a:r>
              <a:rPr lang="fr-FR" sz="1200" dirty="0">
                <a:solidFill>
                  <a:srgbClr val="FFFFFF"/>
                </a:solidFill>
                <a:latin typeface="Source Sans 3" pitchFamily="34" charset="0"/>
                <a:ea typeface="Source Sans 3" pitchFamily="34" charset="-122"/>
                <a:cs typeface="Source Sans 3" pitchFamily="34" charset="-120"/>
              </a:rPr>
              <a:t>la version 3.2.2.1 et les notes de version finales (vers le 20 septembre) ; la procédure de mise à jour sur le wiki, en français ; le dossier de gestion eSIL complet.</a:t>
            </a:r>
            <a:endParaRPr lang="fr-FR" sz="1200" dirty="0"/>
          </a:p>
        </p:txBody>
      </p:sp>
      <p:sp>
        <p:nvSpPr>
          <p:cNvPr id="20" name="Text 18"/>
          <p:cNvSpPr txBox="1"/>
          <p:nvPr/>
        </p:nvSpPr>
        <p:spPr>
          <a:xfrm>
            <a:off x="7953375" y="4743450"/>
            <a:ext cx="952500" cy="228600"/>
          </a:xfrm>
          <a:prstGeom prst="rect">
            <a:avLst/>
          </a:prstGeom>
          <a:noFill/>
          <a:ln/>
        </p:spPr>
        <p:txBody>
          <a:bodyPr wrap="square" lIns="0" tIns="0" rIns="0" bIns="0" rtlCol="0" anchor="t"/>
          <a:lstStyle/>
          <a:p>
            <a:pPr algn="r" indent="0" marL="0">
              <a:buNone/>
            </a:pPr>
            <a:r>
              <a:rPr lang="fr-FR" sz="1000" dirty="0">
                <a:solidFill>
                  <a:srgbClr val="888888"/>
                </a:solidFill>
                <a:latin typeface="Source Sans 3" pitchFamily="34" charset="0"/>
                <a:ea typeface="Source Sans 3" pitchFamily="34" charset="-122"/>
                <a:cs typeface="Source Sans 3" pitchFamily="34" charset="-120"/>
              </a:rPr>
              <a:t>36</a:t>
            </a:r>
            <a:endParaRPr lang="fr-FR" sz="1000" dirty="0"/>
          </a:p>
        </p:txBody>
      </p:sp>
      <p:sp>
        <p:nvSpPr>
          <p:cNvPr id="21" name="Text 19"/>
          <p:cNvSpPr txBox="1"/>
          <p:nvPr/>
        </p:nvSpPr>
        <p:spPr>
          <a:xfrm>
            <a:off x="457200" y="4743450"/>
            <a:ext cx="3810000" cy="228600"/>
          </a:xfrm>
          <a:prstGeom prst="rect">
            <a:avLst/>
          </a:prstGeom>
          <a:noFill/>
          <a:ln/>
        </p:spPr>
        <p:txBody>
          <a:bodyPr wrap="square" lIns="0" tIns="0" rIns="0" bIns="0" rtlCol="0" anchor="t"/>
          <a:lstStyle/>
          <a:p>
            <a:pPr algn="l" indent="0" marL="0">
              <a:buNone/>
            </a:pPr>
            <a:r>
              <a:rPr lang="fr-FR" sz="1000" dirty="0">
                <a:solidFill>
                  <a:srgbClr val="888888"/>
                </a:solidFill>
                <a:latin typeface="Source Sans 3" pitchFamily="34" charset="0"/>
                <a:ea typeface="Source Sans 3" pitchFamily="34" charset="-122"/>
                <a:cs typeface="Source Sans 3" pitchFamily="34" charset="-120"/>
              </a:rPr>
              <a:t>Passation eSIL Madagascar</a:t>
            </a:r>
            <a:endParaRPr lang="fr-FR" sz="10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36</Slides>
  <Notes>36</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36</vt:i4>
      </vt:variant>
    </vt:vector>
  </HeadingPairs>
  <TitlesOfParts>
    <vt:vector size="39"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Passation eSIL Madagascar</dc:title>
  <dc:subject>PptxGenJS Presentation</dc:subject>
  <dc:creator>DIGI, University of Washington</dc:creator>
  <cp:lastModifiedBy>DIGI, University of Washington</cp:lastModifiedBy>
  <cp:revision>1</cp:revision>
  <dcterms:created xsi:type="dcterms:W3CDTF">2026-09-16T08:03:58Z</dcterms:created>
  <dcterms:modified xsi:type="dcterms:W3CDTF">2026-09-16T08:03:58Z</dcterms:modified>
</cp:coreProperties>
</file>