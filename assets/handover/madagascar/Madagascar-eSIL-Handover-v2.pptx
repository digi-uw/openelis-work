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being here. Today we close the formal eSIL project. The software does not stop here. This meeting is about how you keep eSIL running, how you keep improving it, and how you get help when you need it.</a:t>
            </a:r>
          </a:p>
          <a:p>
            <a:endParaRPr lang="en-US" dirty="0"/>
          </a:p>
          <a:p>
            <a:r>
              <a:rPr lang="en-US" dirty="0"/>
              <a:t>Note: Photo tiles are placeholders. Replace with square-cropped Madagascar photos before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five goals. The first one looks back at what was delivered. The other four look forward: how the community works, how to follow the roadmap, where to send a bug or a request, and how to keep eSIL up to date. Most of our time today goes to points two to five.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ninety minutes. Section one is a short review. Sections two to six are the main topic. We finish with a list of decisions for the Ministry. Please ask questions at any time. You do not need to wait for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short look back at the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year, in four quarters. In the first quarter we reviewed the requirements, started development, and connected the analyzers. In the second quarter we trained super users and end users in all nine pilot laboratories and deployed the pilots. The third quarter was the warranty period, with three releases. The fourth column is what today is about: Madagascar joins the OpenELIS Global community.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warranty period we used three words. A bug: something does not work as written in the requirements. That was covered. A change request: it works as written, but the need changed. A feature request: something new. Those two were not covered, and the feature requests went to the roadmap. Keep these three words in mind. In section four, the community uses almost the same definitions.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list of bugs you reported. Every one was fixed and passed quality assurance. I want to point at the first line: the translation problems. We fixed them by connecting eSIL to Transifex. That is important, because it means your team can correct translations yourselves. We will come back to it in section six.</a:t>
            </a:r>
          </a:p>
          <a:p>
            <a:endParaRPr lang="en-US" dirty="0"/>
          </a:p>
          <a:p>
            <a:r>
              <a:rPr lang="en-US" dirty="0"/>
              <a:t>Note: Herbert: fill in the ESIL-31 status line before the meeting.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requests: programs can now be enabled and disabled, and the new test catalog with multi-component results is done. You will see it in the demo. Now the three feature requests. All three are on the shared OpenELIS roadmap. This matters. Madagascar's needs are already shaping the product for everyone. In section three I will show you where these designs live and how to follow them.</a:t>
            </a:r>
          </a:p>
          <a:p>
            <a:endParaRPr lang="en-US" dirty="0"/>
          </a:p>
          <a:p>
            <a:r>
              <a:rPr lang="en-US" dirty="0"/>
              <a:t>Note: Confirm the status of "Reporting updates".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short live demonstration. Three things: Transifex and how a translation fix reaches eSIL; the multi-component results in the new test catalog; and the new result entry screen. About three minutes each.</a:t>
            </a:r>
          </a:p>
          <a:p>
            <a:endParaRPr lang="en-US" dirty="0"/>
          </a:p>
          <a:p>
            <a:r>
              <a:rPr lang="en-US" dirty="0"/>
              <a:t>Note: Casey demo. For Transifex, show the loop: change a string, publish, see it in eSIL. Say: this is a task your team can 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need is in one place: the eSIL Management Folder. Project documents, training materials, the OpenELIS Global wiki, and the release notes. The wiki is being translated into French. Most pages are already available. The rest will follow as the new manual sections are finished. This is the first place to look before you ask a question.</a:t>
            </a:r>
          </a:p>
          <a:p>
            <a:endParaRPr lang="en-US" dirty="0"/>
          </a:p>
          <a:p>
            <a:r>
              <a:rPr lang="en-US" dirty="0"/>
              <a:t>Note: Taib: show the wiki in French and how to switch language. Show where the release notes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how the OpenELIS Global community works, and how you take part in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idea of this section: OpenELIS Global is steered in public, on the forum. Support, bug reports, feature discussions and roadmap decisions all start as a post on talk.openelis-global.org. There is no private support desk behind it. The forum is the front door for everyone, including other ministries of health. Madagascar joins as an equal member. Three things to know: where to go, who to ask, and how to influence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forum has four categories. Community, for announcements and general discussion. Development, for bug reports, feature proposals and technical design. Ask OpenELIS, for support: how do I configure this, what does this error mean. And GSoC, Google Summer of Code, where students build features with mentors. Most of your posts will go to two places: Ask OpenELIS for questions, and Development for bugs and ideas.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faster channels. Slack, for short questions and quick back-and-forth. And the weekly call, every Thursday at 17:00 GMT, on Google Meet. That is 20:00 in Madagascar. Remember the rule: the forum is the record. Slack and the call are for speed. When a decision is made on a call, someone writes it on the forum. I encourage one or two named people from the Ministry to join the call at least once a month. It is the best way to hear what is coming, and to be heard.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post become a change? Four steps. Someone raises it on the forum. Maintainers see it, or it comes up on the Thursday call. It is tracked as a GitHub issue or a Jira ticket. Then it is built, reviewed and released in a monthly version. Here is a real example. Before the OpenELIS Summit 2026, a contributor posted a list of process problems and named the maintainers. That post became the input for the Summit agenda. Even complaints about the process are welcome, if they are public and specific.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Madagascar fit in? Five ways. Ask questions in Ask OpenELIS, and always give your Madagascar Distro version. Report bugs and propose features in Development. Join the Thursday call. Share what you learn: your translations, your training material and your analyzer setups will help other countries, especially French-speaking ones. And say what is not working in the process. The maintainers read it. Giving back builds your standing in the community.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roadmap and the design gallery.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gallery is a public website with every OpenELIS design: mockups you can click through, the specifications developers build from, and a link to the Jira ticket for each one. Everything here was asked for by a real laboratory somewhere. Before you ask for a feature, look here first. It may already be designed or planned.</a:t>
            </a:r>
          </a:p>
          <a:p>
            <a:endParaRPr lang="en-US" dirty="0"/>
          </a:p>
          <a:p>
            <a:r>
              <a:rPr lang="en-US" dirty="0"/>
              <a:t>Note: Casey: live demo, 3 minutes. Open the gallery, show the categories, open one mockup, show the Jira link.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three feature requests from the warranty period are already here. Deactivating test services is part of the test catalog designs. The Additional Information section is the Additional Information Builder. Keeping selected samples across tests is the multi-sample order entry in the sample collection redesign. You can open each design, read it, and comment. Saying "this matches our need" or "this misses something" is real, useful feedback. Feedback goes on the forum, in Development, with the gallery link.</a:t>
            </a:r>
          </a:p>
          <a:p>
            <a:endParaRPr lang="en-US" dirty="0"/>
          </a:p>
          <a:p>
            <a:r>
              <a:rPr lang="en-US" dirty="0"/>
              <a:t>Note: Show one of the three designs live from the gallery links on the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upgrading matters. Work is in progress for other countries, and it reaches Madagascar through normal releases. A microbiology and antimicrobial resistance module. SMS and email notifications to clinicians. National reporting by FHIR. Dashboards and data export for lab managers. Role-based access control. Quality control tracking. Non-conformity and CAPA tracking. You get this work because you are on the shared product. If any of these matter to Madagascar, say so now, in public. Early feedback shapes the design.</a:t>
            </a:r>
          </a:p>
          <a:p>
            <a:endParaRPr lang="en-US" dirty="0"/>
          </a:p>
          <a:p>
            <a:r>
              <a:rPr lang="en-US" dirty="0"/>
              <a:t>Note: Do not mention prices or funders.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bug, feature request, or question. Choosing the right channel.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message in the wrong place goes nowhere. A bug posted as a general question gets a workaround, not a fix. A feature idea buried in a support thread never reaches the roadmap. So ask yourself, in order: Is something broken? Then it is a bug. Does it work, but you want more? Then it is a feature request. Do you just need to understand something? Then it is a question. These are the same three words we used during the warranty. And if you are not sure, post in Ask OpenELIS. The community will redirect you.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print and put on the wall. For each type: where it goes, what to include, and what happens next. A bug goes to Development or GitHub with your version, the steps, and evidence. A feature request goes to Development as a proposal, with the problem, who it helps, and a gallery link if one exists. A question goes to Ask OpenELIS, or Slack for something quick, and usually gets answered directly without a ticket.</a:t>
            </a:r>
          </a:p>
          <a:p>
            <a:endParaRPr lang="en-US" dirty="0"/>
          </a:p>
          <a:p>
            <a:r>
              <a:rPr lang="en-US" dirty="0"/>
              <a:t>Note: Consider a one-page French handout of this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report a bug well. One bug per post; bundling several slows down all of them. Say what you expected and what happened instead. Give your Madagascar Distro version and your OpenELIS Global version. Give the steps to reproduce. And attach the exact error message, a screenshot, or the log. The exact wording matters more than a description. A good bug report is fixed faster.</a:t>
            </a:r>
          </a:p>
          <a:p>
            <a:endParaRPr lang="en-US" dirty="0"/>
          </a:p>
          <a:p>
            <a:r>
              <a:rPr lang="en-US" dirty="0"/>
              <a:t>Note: If possible, show one real, good bug report from the forum.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propose a feature well. First, check the design gallery. If a design already exists for what you need, comment on it there instead of opening a new request. Your comments shape what gets built for everyone. Describe the problem before the solution. Say who it helps: in Madagascar, laboratories need this because. Expect discussion; features are debated, not approved automatically. A ticket follows agreement. And one more thing: for features that will go into OpenELIS Global, not only into eSIL, DIGI's product team can help with the design work. Post the need in Development and say you would like design support.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sustainability. If the Ministry hires a developer or a company, here is how it works. The developer posts the plan in Development before writing code, so nobody does the same work twice. The developer asks technical questions on the forum, on Slack, and on the Thursday call. The code is submitted as a pull request to the OpenELIS Global repository on GitHub. Community maintainers review it, and that can take several rounds. Once merged, it is in the next release for everyone, and it stays maintained. Please ask your developer to build on the shared product, not on a private copy. A private copy looks faster. After one year it cannot take upgrades and nobody else maintains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example. Mauritius needed changes to the pathology module. They wrote up what they needed and shared a design. DIGI's product team adjusted the design to match OpenELIS interface norms. The design went into the gallery and the community work queue, and a community member volunteered to build it. Being honest: a volunteer may not always finish. That is why partnerships between your team and community members work well. And the forum is also a marketplace: you can post a request for bids, a job opportunity, or an offer to partner on a feature. Other countries have done this.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how OpenELIS Global releases 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 idea to something you can install, in five steps. A need becomes a Jira ticket. Developers open pull requests and reviewers merge them. Transifex brings the interface text into each language. A numbered version is published with release notes. And the Madagascar Distro packages the new version with the Analyzer Bridge and Madagascar settings. Remember section two: anyone can start step one with a forum post.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version number is a bundle, not one program. What Madagascar installs is a distro release with three parts, each with its own version. The Madagascar Distro: the installable package with Docker setup, environment settings and Madagascar-only fixes. OpenELIS Global: the core laboratory system. And the Analyzer Bridge, which connects instruments over HL7 and ASTM. So read both the distro notes and the OpenELIS Global notes. A fix can be in either.</a:t>
            </a:r>
          </a:p>
          <a:p>
            <a:endParaRPr lang="en-US" dirty="0"/>
          </a:p>
          <a:p>
            <a:r>
              <a:rPr lang="en-US" dirty="0"/>
              <a:t>Note: Update version numbers to 3.2.2.1 if the final release is out.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OpenELIS Global ships about one release per month. Here are the three from the warranty period. Upgrading often means small changes each time. Waiting a year means many changes at once, which is harder for users and for your technical team. You do not need to take every release. Aim for at least one upgrade per quarter.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how to maintain Madagascar eSIL. Translations and upgrades, the two tasks your team will do most often.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OpenELIS Global screen text is translated in Transifex, and eSIL loads its translations from there. There are two French translations. French, code fr, is the main French shared by every French-speaking country. If a French word is wrong, correct it there, and everyone benefits. French Madagascar, code fr underscore MG, is only for words that are specific to Madagascar. It replaces the main French for eSIL only. Keep that list short. So the rule is: wrong French, fix it in fr. Different in Madagascar, put it in fr_MG. Malagasy can be added later as a new language. To do this, ask for access to the OpenELIS Global project in Transifex, search for the text, and edit it. Translations are pulled every day and ship with the next release, and the Madagascar Distro also has a translation override folder that takes effect as soon as the page is reloaded.</a:t>
            </a:r>
          </a:p>
          <a:p>
            <a:endParaRPr lang="en-US" dirty="0"/>
          </a:p>
          <a:p>
            <a:r>
              <a:rPr lang="en-US" dirty="0"/>
              <a:t>Note: Casey demo, 4 minutes: show one string in fr and fr_MG on explore.transifex.com/openmrs/openelis-1. Core translations are pulled to develop daily at 20:30 UTC; the distro also has configs/translation overrides (OVERRIDE_DEFAULT_TRANSLATION is on). Name who should have Transifex access.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fix reach the Madagascar Distro? The fix is merged on the develop branch of OpenELIS Global. A new version is tagged on GitHub Releases. The Madagascar distro updates its OpenELIS Global version to the new tag. The Docker images are rebuilt with Madagascar settings on top. And a new Madagascar Distro version is published. You can follow all of this on GitHub. The key question for after the project is who does steps three to five. Either the Ministry's technical team does it, following the wiki page, or a hired developer does it. Either way, the wiki page is the procedure.</a:t>
            </a:r>
          </a:p>
          <a:p>
            <a:endParaRPr lang="en-US" dirty="0"/>
          </a:p>
          <a:p>
            <a:r>
              <a:rPr lang="en-US" dirty="0"/>
              <a:t>Note: Herbert presents. Distro repo: github.com/DIGI-UW/openelis-madagascar-distro (main branch).</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procedure is on the wiki. Here is the checklist before you upgrade production. Read the release notes, especially the upgrade notes and known issues. Check for new settings you must set. Check which of your configurations are affected. Back up the database. Upgrade a test server first, because database migrations cannot be undone. Test the main workflows on the test server. Then upgrade production; migrations run automatically on first start. And tell users what changed. Three things that are good to know: database changes run automatically, existing data is kept and migrated, and old and new screens can exist side by side, so you can adopt new tools at your own pace. If the test server upgrade fails, post in Ask OpenELIS with the log. Do not touch production.</a:t>
            </a:r>
          </a:p>
          <a:p>
            <a:endParaRPr lang="en-US" dirty="0"/>
          </a:p>
          <a:p>
            <a:r>
              <a:rPr lang="en-US" dirty="0"/>
              <a:t>Note: Taib: screenshot of the wiki page in French. Stress steps 4 and 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a list of things for the Ministry to decide. We will not answer them here. Read them, react if you want, and take the list with you. People and roles: who is the eSIL focal point for the community, who attends the Thursday call, who owns the translations. Technical operations: who runs upgrades, where the test server is, who keeps the backups, who watches the release notes. New needs: how the nine laboratories report to the Ministry, who decides what goes to the community, and whether a hired developer will contribute to the shared product. From DIGI, before closeout, you will receive version 3.2.2.1 with its release notes, the upgrade procedure on the wiki in French, and the complete eSIL Management Folder. I suggest you answer these questions within a month and share the answers on the forum in an introduction post. Thank you.</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38150" y="219075"/>
            <a:ext cx="1132114" cy="1047750"/>
          </a:xfrm>
          <a:prstGeom prst="rect">
            <a:avLst/>
          </a:prstGeom>
          <a:solidFill>
            <a:srgbClr val="FFC000"/>
          </a:solidFill>
          <a:ln w="12700">
            <a:solidFill>
              <a:srgbClr val="FFC000"/>
            </a:solidFill>
            <a:prstDash val="solid"/>
          </a:ln>
        </p:spPr>
      </p:sp>
      <p:sp>
        <p:nvSpPr>
          <p:cNvPr id="3" name="Shape 1"/>
          <p:cNvSpPr/>
          <p:nvPr/>
        </p:nvSpPr>
        <p:spPr>
          <a:xfrm>
            <a:off x="1627414" y="219075"/>
            <a:ext cx="1132114" cy="1047750"/>
          </a:xfrm>
          <a:prstGeom prst="rect">
            <a:avLst/>
          </a:prstGeom>
          <a:solidFill>
            <a:srgbClr val="FFFFFF"/>
          </a:solidFill>
          <a:ln w="12700">
            <a:solidFill>
              <a:srgbClr val="FFFFFF"/>
            </a:solidFill>
            <a:prstDash val="solid"/>
          </a:ln>
        </p:spPr>
      </p:sp>
      <p:pic>
        <p:nvPicPr>
          <p:cNvPr id="4" name="Image 0" descr="/tmp/claude-0/-home-claude/e8dfe543-e454-530d-92ae-78dc841464ce/scratchpad/deck/assets/logo-digi.png">    </p:cNvPr>
          <p:cNvPicPr>
            <a:picLocks noChangeAspect="1"/>
          </p:cNvPicPr>
          <p:nvPr/>
        </p:nvPicPr>
        <p:blipFill>
          <a:blip r:embed="rId1"/>
          <a:stretch>
            <a:fillRect/>
          </a:stretch>
        </p:blipFill>
        <p:spPr>
          <a:xfrm>
            <a:off x="1665514" y="632959"/>
            <a:ext cx="1055914" cy="219982"/>
          </a:xfrm>
          <a:prstGeom prst="rect">
            <a:avLst/>
          </a:prstGeom>
        </p:spPr>
      </p:pic>
      <p:sp>
        <p:nvSpPr>
          <p:cNvPr id="5" name="Shape 2"/>
          <p:cNvSpPr/>
          <p:nvPr/>
        </p:nvSpPr>
        <p:spPr>
          <a:xfrm>
            <a:off x="2816679" y="219075"/>
            <a:ext cx="1132114" cy="1047750"/>
          </a:xfrm>
          <a:prstGeom prst="rect">
            <a:avLst/>
          </a:prstGeom>
          <a:solidFill>
            <a:srgbClr val="33006F"/>
          </a:solidFill>
          <a:ln w="12700">
            <a:solidFill>
              <a:srgbClr val="33006F"/>
            </a:solidFill>
            <a:prstDash val="solid"/>
          </a:ln>
        </p:spPr>
      </p:sp>
      <p:sp>
        <p:nvSpPr>
          <p:cNvPr id="6" name="Shape 3"/>
          <p:cNvSpPr/>
          <p:nvPr/>
        </p:nvSpPr>
        <p:spPr>
          <a:xfrm>
            <a:off x="4005943" y="219075"/>
            <a:ext cx="1132114" cy="1047750"/>
          </a:xfrm>
          <a:prstGeom prst="rect">
            <a:avLst/>
          </a:prstGeom>
          <a:solidFill>
            <a:srgbClr val="33006F"/>
          </a:solidFill>
          <a:ln w="12700">
            <a:solidFill>
              <a:srgbClr val="33006F"/>
            </a:solidFill>
            <a:prstDash val="solid"/>
          </a:ln>
        </p:spPr>
      </p:sp>
      <p:sp>
        <p:nvSpPr>
          <p:cNvPr id="7" name="Shape 4"/>
          <p:cNvSpPr/>
          <p:nvPr/>
        </p:nvSpPr>
        <p:spPr>
          <a:xfrm>
            <a:off x="5195207" y="219075"/>
            <a:ext cx="1132114" cy="1047750"/>
          </a:xfrm>
          <a:prstGeom prst="rect">
            <a:avLst/>
          </a:prstGeom>
          <a:solidFill>
            <a:srgbClr val="917B4C"/>
          </a:solidFill>
          <a:ln w="12700">
            <a:solidFill>
              <a:srgbClr val="917B4C"/>
            </a:solidFill>
            <a:prstDash val="solid"/>
          </a:ln>
        </p:spPr>
      </p:sp>
      <p:sp>
        <p:nvSpPr>
          <p:cNvPr id="8" name="Shape 5"/>
          <p:cNvSpPr/>
          <p:nvPr/>
        </p:nvSpPr>
        <p:spPr>
          <a:xfrm>
            <a:off x="6384471" y="219075"/>
            <a:ext cx="1132114" cy="1047750"/>
          </a:xfrm>
          <a:prstGeom prst="rect">
            <a:avLst/>
          </a:prstGeom>
          <a:solidFill>
            <a:srgbClr val="33006F"/>
          </a:solidFill>
          <a:ln w="12700">
            <a:solidFill>
              <a:srgbClr val="33006F"/>
            </a:solidFill>
            <a:prstDash val="solid"/>
          </a:ln>
        </p:spPr>
      </p:sp>
      <p:sp>
        <p:nvSpPr>
          <p:cNvPr id="9" name="Shape 6"/>
          <p:cNvSpPr/>
          <p:nvPr/>
        </p:nvSpPr>
        <p:spPr>
          <a:xfrm>
            <a:off x="7573736" y="219075"/>
            <a:ext cx="1132114" cy="1047750"/>
          </a:xfrm>
          <a:prstGeom prst="rect">
            <a:avLst/>
          </a:prstGeom>
          <a:solidFill>
            <a:srgbClr val="33006F"/>
          </a:solidFill>
          <a:ln w="12700">
            <a:solidFill>
              <a:srgbClr val="33006F"/>
            </a:solidFill>
            <a:prstDash val="solid"/>
          </a:ln>
        </p:spPr>
      </p:sp>
      <p:sp>
        <p:nvSpPr>
          <p:cNvPr id="10" name="Text 7"/>
          <p:cNvSpPr txBox="1"/>
          <p:nvPr/>
        </p:nvSpPr>
        <p:spPr>
          <a:xfrm>
            <a:off x="676275" y="1447800"/>
            <a:ext cx="7810500" cy="1295400"/>
          </a:xfrm>
          <a:prstGeom prst="rect">
            <a:avLst/>
          </a:prstGeom>
          <a:noFill/>
          <a:ln/>
        </p:spPr>
        <p:txBody>
          <a:bodyPr wrap="square" lIns="0" tIns="0" rIns="0" bIns="0" rtlCol="0" anchor="ctr"/>
          <a:lstStyle/>
          <a:p>
            <a:pPr algn="ctr" indent="0" marL="0">
              <a:buNone/>
            </a:pPr>
            <a:r>
              <a:rPr lang="en-US" sz="3300" b="1" dirty="0">
                <a:solidFill>
                  <a:srgbClr val="33006F"/>
                </a:solidFill>
                <a:latin typeface="Source Sans 3" pitchFamily="34" charset="0"/>
                <a:ea typeface="Source Sans 3" pitchFamily="34" charset="-122"/>
                <a:cs typeface="Source Sans 3" pitchFamily="34" charset="-120"/>
              </a:rPr>
              <a:t>Madagascar eSIL Handover</a:t>
            </a:r>
            <a:endParaRPr lang="en-US" sz="3300" dirty="0"/>
          </a:p>
        </p:txBody>
      </p:sp>
      <p:sp>
        <p:nvSpPr>
          <p:cNvPr id="11" name="Shape 8"/>
          <p:cNvSpPr/>
          <p:nvPr/>
        </p:nvSpPr>
        <p:spPr>
          <a:xfrm>
            <a:off x="1095375" y="2771775"/>
            <a:ext cx="6962775" cy="38100"/>
          </a:xfrm>
          <a:prstGeom prst="parallelogram">
            <a:avLst/>
          </a:prstGeom>
          <a:solidFill>
            <a:srgbClr val="BFBFBF"/>
          </a:solidFill>
          <a:ln w="12700">
            <a:solidFill>
              <a:srgbClr val="BFBFBF"/>
            </a:solidFill>
            <a:prstDash val="solid"/>
          </a:ln>
        </p:spPr>
      </p:sp>
      <p:sp>
        <p:nvSpPr>
          <p:cNvPr id="12" name="Text 9"/>
          <p:cNvSpPr txBox="1"/>
          <p:nvPr/>
        </p:nvSpPr>
        <p:spPr>
          <a:xfrm>
            <a:off x="952500" y="2981325"/>
            <a:ext cx="7239000" cy="381000"/>
          </a:xfrm>
          <a:prstGeom prst="rect">
            <a:avLst/>
          </a:prstGeom>
          <a:noFill/>
          <a:ln/>
        </p:spPr>
        <p:txBody>
          <a:bodyPr wrap="square" lIns="0" tIns="0" rIns="0" bIns="0" rtlCol="0" anchor="t"/>
          <a:lstStyle/>
          <a:p>
            <a:pPr algn="ctr" indent="0" marL="0">
              <a:buNone/>
            </a:pPr>
            <a:r>
              <a:rPr lang="en-US" sz="2100" dirty="0">
                <a:solidFill>
                  <a:srgbClr val="917B4C"/>
                </a:solidFill>
                <a:latin typeface="Source Sans 3" pitchFamily="34" charset="0"/>
                <a:ea typeface="Source Sans 3" pitchFamily="34" charset="-122"/>
                <a:cs typeface="Source Sans 3" pitchFamily="34" charset="-120"/>
              </a:rPr>
              <a:t>Working with the OpenELIS Global community after the project</a:t>
            </a:r>
            <a:endParaRPr lang="en-US" sz="2100" dirty="0"/>
          </a:p>
        </p:txBody>
      </p:sp>
      <p:sp>
        <p:nvSpPr>
          <p:cNvPr id="13" name="Text 10"/>
          <p:cNvSpPr txBox="1"/>
          <p:nvPr/>
        </p:nvSpPr>
        <p:spPr>
          <a:xfrm>
            <a:off x="952500" y="3390900"/>
            <a:ext cx="7239000" cy="285750"/>
          </a:xfrm>
          <a:prstGeom prst="rect">
            <a:avLst/>
          </a:prstGeom>
          <a:noFill/>
          <a:ln/>
        </p:spPr>
        <p:txBody>
          <a:bodyPr wrap="square" lIns="0" tIns="0" rIns="0" bIns="0" rtlCol="0" anchor="t"/>
          <a:lstStyle/>
          <a:p>
            <a:pPr algn="ctr" indent="0" marL="0">
              <a:buNone/>
            </a:pPr>
            <a:r>
              <a:rPr lang="en-US" sz="1600" dirty="0">
                <a:solidFill>
                  <a:srgbClr val="5B5670"/>
                </a:solidFill>
                <a:latin typeface="Source Sans 3" pitchFamily="34" charset="0"/>
                <a:ea typeface="Source Sans 3" pitchFamily="34" charset="-122"/>
                <a:cs typeface="Source Sans 3" pitchFamily="34" charset="-120"/>
              </a:rPr>
              <a:t>Ministry of Public Health, Madagascar  |  DIGI, University of Washington  |  [Date]</a:t>
            </a:r>
            <a:endParaRPr lang="en-US" sz="1600" dirty="0"/>
          </a:p>
        </p:txBody>
      </p:sp>
      <p:pic>
        <p:nvPicPr>
          <p:cNvPr id="14" name="Image 1" descr="/tmp/claude-0/-home-claude/e8dfe543-e454-530d-92ae-78dc841464ce/scratchpad/deck/assets/logo-digi.png">    </p:cNvPr>
          <p:cNvPicPr>
            <a:picLocks noChangeAspect="1"/>
          </p:cNvPicPr>
          <p:nvPr/>
        </p:nvPicPr>
        <p:blipFill>
          <a:blip r:embed="rId2"/>
          <a:stretch>
            <a:fillRect/>
          </a:stretch>
        </p:blipFill>
        <p:spPr>
          <a:xfrm>
            <a:off x="2790825" y="4429125"/>
            <a:ext cx="1828800" cy="381000"/>
          </a:xfrm>
          <a:prstGeom prst="rect">
            <a:avLst/>
          </a:prstGeom>
        </p:spPr>
      </p:pic>
      <p:pic>
        <p:nvPicPr>
          <p:cNvPr id="15" name="Image 2" descr="/tmp/claude-0/-home-claude/e8dfe543-e454-530d-92ae-78dc841464ce/scratchpad/deck/assets/logo-uw-global-health.png">    </p:cNvPr>
          <p:cNvPicPr>
            <a:picLocks noChangeAspect="1"/>
          </p:cNvPicPr>
          <p:nvPr/>
        </p:nvPicPr>
        <p:blipFill>
          <a:blip r:embed="rId3"/>
          <a:stretch>
            <a:fillRect/>
          </a:stretch>
        </p:blipFill>
        <p:spPr>
          <a:xfrm>
            <a:off x="5000625" y="4410075"/>
            <a:ext cx="1362075" cy="41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71450" y="180975"/>
            <a:ext cx="8648700" cy="742950"/>
          </a:xfrm>
          <a:prstGeom prst="rect">
            <a:avLst/>
          </a:prstGeom>
          <a:noFill/>
          <a:ln/>
        </p:spPr>
        <p:txBody>
          <a:bodyPr wrap="square" lIns="0" tIns="0" rIns="0" bIns="0" rtlCol="0" anchor="ctr"/>
          <a:lstStyle/>
          <a:p>
            <a:pPr indent="0" marL="0">
              <a:buNone/>
            </a:pPr>
            <a:r>
              <a:rPr lang="en-US" sz="3000" b="1" dirty="0">
                <a:solidFill>
                  <a:srgbClr val="33006F"/>
                </a:solidFill>
                <a:latin typeface="Source Sans 3" pitchFamily="34" charset="0"/>
                <a:ea typeface="Source Sans 3" pitchFamily="34" charset="-122"/>
                <a:cs typeface="Source Sans 3" pitchFamily="34" charset="-120"/>
              </a:rPr>
              <a:t>Goals for today</a:t>
            </a:r>
            <a:endParaRPr lang="en-US" sz="3000" dirty="0"/>
          </a:p>
        </p:txBody>
      </p:sp>
      <p:sp>
        <p:nvSpPr>
          <p:cNvPr id="3" name="Text 1"/>
          <p:cNvSpPr txBox="1"/>
          <p:nvPr/>
        </p:nvSpPr>
        <p:spPr>
          <a:xfrm>
            <a:off x="457200" y="990600"/>
            <a:ext cx="8172450" cy="381000"/>
          </a:xfrm>
          <a:prstGeom prst="rect">
            <a:avLst/>
          </a:prstGeom>
          <a:noFill/>
          <a:ln/>
        </p:spPr>
        <p:txBody>
          <a:bodyPr wrap="square" lIns="0" tIns="0" rIns="0" bIns="0" rtlCol="0" anchor="t"/>
          <a:lstStyle/>
          <a:p>
            <a:pPr indent="0" marL="0">
              <a:buNone/>
            </a:pPr>
            <a:r>
              <a:rPr lang="en-US" sz="1800" dirty="0">
                <a:solidFill>
                  <a:srgbClr val="5B5670"/>
                </a:solidFill>
                <a:latin typeface="Source Sans 3" pitchFamily="34" charset="0"/>
                <a:ea typeface="Source Sans 3" pitchFamily="34" charset="-122"/>
                <a:cs typeface="Source Sans 3" pitchFamily="34" charset="-120"/>
              </a:rPr>
              <a:t>By the end of this meeting you will know:</a:t>
            </a:r>
            <a:endParaRPr lang="en-US" sz="1800" dirty="0"/>
          </a:p>
        </p:txBody>
      </p:sp>
      <p:sp>
        <p:nvSpPr>
          <p:cNvPr id="4" name="Shape 2"/>
          <p:cNvSpPr/>
          <p:nvPr/>
        </p:nvSpPr>
        <p:spPr>
          <a:xfrm>
            <a:off x="457200" y="1524000"/>
            <a:ext cx="323850" cy="323850"/>
          </a:xfrm>
          <a:prstGeom prst="rect">
            <a:avLst/>
          </a:prstGeom>
          <a:solidFill>
            <a:srgbClr val="33006F"/>
          </a:solidFill>
          <a:ln w="12700">
            <a:solidFill>
              <a:srgbClr val="33006F"/>
            </a:solidFill>
            <a:prstDash val="solid"/>
          </a:ln>
        </p:spPr>
      </p:sp>
      <p:sp>
        <p:nvSpPr>
          <p:cNvPr id="5" name="Text 3"/>
          <p:cNvSpPr txBox="1"/>
          <p:nvPr/>
        </p:nvSpPr>
        <p:spPr>
          <a:xfrm>
            <a:off x="457200" y="15240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6" name="Text 4"/>
          <p:cNvSpPr txBox="1"/>
          <p:nvPr/>
        </p:nvSpPr>
        <p:spPr>
          <a:xfrm>
            <a:off x="971550" y="1504950"/>
            <a:ext cx="7658100" cy="5524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What was delivered during the project and the warranty period</a:t>
            </a:r>
            <a:endParaRPr lang="en-US" sz="1900" dirty="0"/>
          </a:p>
        </p:txBody>
      </p:sp>
      <p:sp>
        <p:nvSpPr>
          <p:cNvPr id="7" name="Shape 5"/>
          <p:cNvSpPr/>
          <p:nvPr/>
        </p:nvSpPr>
        <p:spPr>
          <a:xfrm>
            <a:off x="457200" y="2114550"/>
            <a:ext cx="323850" cy="323850"/>
          </a:xfrm>
          <a:prstGeom prst="rect">
            <a:avLst/>
          </a:prstGeom>
          <a:solidFill>
            <a:srgbClr val="33006F"/>
          </a:solidFill>
          <a:ln w="12700">
            <a:solidFill>
              <a:srgbClr val="33006F"/>
            </a:solidFill>
            <a:prstDash val="solid"/>
          </a:ln>
        </p:spPr>
      </p:sp>
      <p:sp>
        <p:nvSpPr>
          <p:cNvPr id="8" name="Text 6"/>
          <p:cNvSpPr txBox="1"/>
          <p:nvPr/>
        </p:nvSpPr>
        <p:spPr>
          <a:xfrm>
            <a:off x="457200" y="21145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9" name="Text 7"/>
          <p:cNvSpPr txBox="1"/>
          <p:nvPr/>
        </p:nvSpPr>
        <p:spPr>
          <a:xfrm>
            <a:off x="971550" y="2095500"/>
            <a:ext cx="7658100" cy="5524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How the OpenELIS Global community works, and how to take part</a:t>
            </a:r>
            <a:endParaRPr lang="en-US" sz="1900" dirty="0"/>
          </a:p>
        </p:txBody>
      </p:sp>
      <p:sp>
        <p:nvSpPr>
          <p:cNvPr id="10" name="Shape 8"/>
          <p:cNvSpPr/>
          <p:nvPr/>
        </p:nvSpPr>
        <p:spPr>
          <a:xfrm>
            <a:off x="457200" y="2705100"/>
            <a:ext cx="323850" cy="323850"/>
          </a:xfrm>
          <a:prstGeom prst="rect">
            <a:avLst/>
          </a:prstGeom>
          <a:solidFill>
            <a:srgbClr val="33006F"/>
          </a:solidFill>
          <a:ln w="12700">
            <a:solidFill>
              <a:srgbClr val="33006F"/>
            </a:solidFill>
            <a:prstDash val="solid"/>
          </a:ln>
        </p:spPr>
      </p:sp>
      <p:sp>
        <p:nvSpPr>
          <p:cNvPr id="11" name="Text 9"/>
          <p:cNvSpPr txBox="1"/>
          <p:nvPr/>
        </p:nvSpPr>
        <p:spPr>
          <a:xfrm>
            <a:off x="457200" y="2705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2" name="Text 10"/>
          <p:cNvSpPr txBox="1"/>
          <p:nvPr/>
        </p:nvSpPr>
        <p:spPr>
          <a:xfrm>
            <a:off x="971550" y="2686050"/>
            <a:ext cx="7658100" cy="5524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How to check the roadmap and give feedback on designs</a:t>
            </a:r>
            <a:endParaRPr lang="en-US" sz="1900" dirty="0"/>
          </a:p>
        </p:txBody>
      </p:sp>
      <p:sp>
        <p:nvSpPr>
          <p:cNvPr id="13" name="Shape 11"/>
          <p:cNvSpPr/>
          <p:nvPr/>
        </p:nvSpPr>
        <p:spPr>
          <a:xfrm>
            <a:off x="457200" y="3295650"/>
            <a:ext cx="323850" cy="323850"/>
          </a:xfrm>
          <a:prstGeom prst="rect">
            <a:avLst/>
          </a:prstGeom>
          <a:solidFill>
            <a:srgbClr val="33006F"/>
          </a:solidFill>
          <a:ln w="12700">
            <a:solidFill>
              <a:srgbClr val="33006F"/>
            </a:solidFill>
            <a:prstDash val="solid"/>
          </a:ln>
        </p:spPr>
      </p:sp>
      <p:sp>
        <p:nvSpPr>
          <p:cNvPr id="14" name="Text 12"/>
          <p:cNvSpPr txBox="1"/>
          <p:nvPr/>
        </p:nvSpPr>
        <p:spPr>
          <a:xfrm>
            <a:off x="457200" y="32956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5" name="Text 13"/>
          <p:cNvSpPr txBox="1"/>
          <p:nvPr/>
        </p:nvSpPr>
        <p:spPr>
          <a:xfrm>
            <a:off x="971550" y="3276600"/>
            <a:ext cx="7658100" cy="5524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Where to send a bug, a feature request, or a question</a:t>
            </a:r>
            <a:endParaRPr lang="en-US" sz="1900" dirty="0"/>
          </a:p>
        </p:txBody>
      </p:sp>
      <p:sp>
        <p:nvSpPr>
          <p:cNvPr id="16" name="Shape 14"/>
          <p:cNvSpPr/>
          <p:nvPr/>
        </p:nvSpPr>
        <p:spPr>
          <a:xfrm>
            <a:off x="457200" y="3886200"/>
            <a:ext cx="323850" cy="323850"/>
          </a:xfrm>
          <a:prstGeom prst="rect">
            <a:avLst/>
          </a:prstGeom>
          <a:solidFill>
            <a:srgbClr val="33006F"/>
          </a:solidFill>
          <a:ln w="12700">
            <a:solidFill>
              <a:srgbClr val="33006F"/>
            </a:solidFill>
            <a:prstDash val="solid"/>
          </a:ln>
        </p:spPr>
      </p:sp>
      <p:sp>
        <p:nvSpPr>
          <p:cNvPr id="17" name="Text 15"/>
          <p:cNvSpPr txBox="1"/>
          <p:nvPr/>
        </p:nvSpPr>
        <p:spPr>
          <a:xfrm>
            <a:off x="457200" y="38862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5</a:t>
            </a:r>
            <a:endParaRPr lang="en-US" sz="1500" dirty="0"/>
          </a:p>
        </p:txBody>
      </p:sp>
      <p:sp>
        <p:nvSpPr>
          <p:cNvPr id="18" name="Text 16"/>
          <p:cNvSpPr txBox="1"/>
          <p:nvPr/>
        </p:nvSpPr>
        <p:spPr>
          <a:xfrm>
            <a:off x="971550" y="3867150"/>
            <a:ext cx="7658100" cy="5524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How releases work, how to fix translations, and how to upgrade eSIL safely</a:t>
            </a:r>
            <a:endParaRPr lang="en-US" sz="1900" dirty="0"/>
          </a:p>
        </p:txBody>
      </p:sp>
      <p:sp>
        <p:nvSpPr>
          <p:cNvPr id="19" name="Text 17"/>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a:t>
            </a:r>
            <a:endParaRPr lang="en-US" sz="1100" dirty="0"/>
          </a:p>
        </p:txBody>
      </p:sp>
      <p:sp>
        <p:nvSpPr>
          <p:cNvPr id="20" name="Text 18"/>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71450" y="180975"/>
            <a:ext cx="8648700" cy="742950"/>
          </a:xfrm>
          <a:prstGeom prst="rect">
            <a:avLst/>
          </a:prstGeom>
          <a:noFill/>
          <a:ln/>
        </p:spPr>
        <p:txBody>
          <a:bodyPr wrap="square" lIns="0" tIns="0" rIns="0" bIns="0" rtlCol="0" anchor="ctr"/>
          <a:lstStyle/>
          <a:p>
            <a:pPr indent="0" marL="0">
              <a:buNone/>
            </a:pPr>
            <a:r>
              <a:rPr lang="en-US" sz="3000" b="1" dirty="0">
                <a:solidFill>
                  <a:srgbClr val="33006F"/>
                </a:solidFill>
                <a:latin typeface="Source Sans 3" pitchFamily="34" charset="0"/>
                <a:ea typeface="Source Sans 3" pitchFamily="34" charset="-122"/>
                <a:cs typeface="Source Sans 3" pitchFamily="34" charset="-120"/>
              </a:rPr>
              <a:t>Agenda</a:t>
            </a:r>
            <a:endParaRPr lang="en-US" sz="3000" dirty="0"/>
          </a:p>
        </p:txBody>
      </p:sp>
      <p:sp>
        <p:nvSpPr>
          <p:cNvPr id="3" name="Text 1"/>
          <p:cNvSpPr txBox="1"/>
          <p:nvPr/>
        </p:nvSpPr>
        <p:spPr>
          <a:xfrm>
            <a:off x="6667500" y="381000"/>
            <a:ext cx="1981200" cy="381000"/>
          </a:xfrm>
          <a:prstGeom prst="rect">
            <a:avLst/>
          </a:prstGeom>
          <a:noFill/>
          <a:ln/>
        </p:spPr>
        <p:txBody>
          <a:bodyPr wrap="square" lIns="0" tIns="0" rIns="0" bIns="0" rtlCol="0" anchor="t"/>
          <a:lstStyle/>
          <a:p>
            <a:pPr algn="r" indent="0" marL="0">
              <a:buNone/>
            </a:pPr>
            <a:r>
              <a:rPr lang="en-US" sz="1600" dirty="0">
                <a:solidFill>
                  <a:srgbClr val="888888"/>
                </a:solidFill>
                <a:latin typeface="Source Sans 3" pitchFamily="34" charset="0"/>
                <a:ea typeface="Source Sans 3" pitchFamily="34" charset="-122"/>
                <a:cs typeface="Source Sans 3" pitchFamily="34" charset="-120"/>
              </a:rPr>
              <a:t>90 minutes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28700"/>
          <a:ext cx="8229600" cy="914400"/>
        </p:xfrm>
        <a:graphic>
          <a:graphicData uri="http://schemas.openxmlformats.org/drawingml/2006/table">
            <a:tbl>
              <a:tblPr/>
              <a:tblGrid>
                <a:gridCol w="7086600"/>
                <a:gridCol w="1143000"/>
              </a:tblGrid>
              <a:tr h="361950">
                <a:tc>
                  <a:txBody>
                    <a:bodyPr/>
                    <a:lstStyle/>
                    <a:p>
                      <a:pPr indent="0" marL="0">
                        <a:buNone/>
                      </a:pPr>
                      <a:r>
                        <a:rPr lang="en-US" sz="1300" b="1" dirty="0">
                          <a:solidFill>
                            <a:srgbClr val="FFFFFF"/>
                          </a:solidFill>
                          <a:latin typeface="Source Sans 3" pitchFamily="34" charset="0"/>
                          <a:ea typeface="Source Sans 3" pitchFamily="34" charset="-122"/>
                          <a:cs typeface="Source Sans 3" pitchFamily="34" charset="-120"/>
                        </a:rPr>
                        <a:t>Section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c>
                  <a:txBody>
                    <a:bodyPr/>
                    <a:lstStyle/>
                    <a:p>
                      <a:pPr indent="0" marL="0">
                        <a:buNone/>
                      </a:pPr>
                      <a:r>
                        <a:rPr lang="en-US" sz="1300" b="1" dirty="0">
                          <a:solidFill>
                            <a:srgbClr val="FFFFFF"/>
                          </a:solidFill>
                          <a:latin typeface="Source Sans 3" pitchFamily="34" charset="0"/>
                          <a:ea typeface="Source Sans 3" pitchFamily="34" charset="-122"/>
                          <a:cs typeface="Source Sans 3" pitchFamily="34" charset="-120"/>
                        </a:rPr>
                        <a:t>Time</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Welcome and goals</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5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 Project review and warranty period</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15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2. How the OpenELIS Global community works</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15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3. The roadmap and the design gallery</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10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4. Bug, feature request, or question: choosing the right channel</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15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5. How releases work</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10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6. How to maintain Madagascar eSIL: translations and upgrades</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15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61950">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7. Decisions for the Ministry, and questions</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5 min</a:t>
                      </a:r>
                      <a:endParaRPr lang="en-US" sz="13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457200" y="4438650"/>
            <a:ext cx="5715000" cy="228600"/>
          </a:xfrm>
          <a:prstGeom prst="rect">
            <a:avLst/>
          </a:prstGeom>
          <a:noFill/>
          <a:ln/>
        </p:spPr>
        <p:txBody>
          <a:bodyPr wrap="square" lIns="0" tIns="0" rIns="0" bIns="0" rtlCol="0" anchor="t"/>
          <a:lstStyle/>
          <a:p>
            <a:pPr indent="0" marL="0">
              <a:buNone/>
            </a:pPr>
            <a:r>
              <a:rPr lang="en-US" sz="1300" dirty="0">
                <a:solidFill>
                  <a:srgbClr val="888888"/>
                </a:solidFill>
                <a:latin typeface="Source Sans 3" pitchFamily="34" charset="0"/>
                <a:ea typeface="Source Sans 3" pitchFamily="34" charset="-122"/>
                <a:cs typeface="Source Sans 3" pitchFamily="34" charset="-120"/>
              </a:rPr>
              <a:t>Questions are welcome at any time.</a:t>
            </a:r>
            <a:endParaRPr lang="en-US" sz="1300" dirty="0"/>
          </a:p>
        </p:txBody>
      </p:sp>
      <p:sp>
        <p:nvSpPr>
          <p:cNvPr id="6"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a:t>
            </a:r>
            <a:endParaRPr lang="en-US" sz="1100" dirty="0"/>
          </a:p>
        </p:txBody>
      </p:sp>
      <p:sp>
        <p:nvSpPr>
          <p:cNvPr id="7"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6350"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857250" y="1428750"/>
            <a:ext cx="3619500" cy="1238250"/>
          </a:xfrm>
          <a:prstGeom prst="rect">
            <a:avLst/>
          </a:prstGeom>
          <a:noFill/>
          <a:ln/>
        </p:spPr>
        <p:txBody>
          <a:bodyPr wrap="square" lIns="0" tIns="0" rIns="0" bIns="0" rtlCol="0" anchor="b">
            <a:normAutofit/>
          </a:bodyPr>
          <a:lstStyle/>
          <a:p>
            <a:pPr indent="0" marL="0">
              <a:buNone/>
            </a:pPr>
            <a:r>
              <a:rPr lang="en-US" sz="2800" b="1" dirty="0">
                <a:solidFill>
                  <a:srgbClr val="33006F"/>
                </a:solidFill>
                <a:latin typeface="Source Sans 3" pitchFamily="34" charset="0"/>
                <a:ea typeface="Source Sans 3" pitchFamily="34" charset="-122"/>
                <a:cs typeface="Source Sans 3" pitchFamily="34" charset="-120"/>
              </a:rPr>
              <a:t>1. Project review and warranty period</a:t>
            </a:r>
            <a:endParaRPr lang="en-US" sz="2800" dirty="0"/>
          </a:p>
        </p:txBody>
      </p:sp>
      <p:sp>
        <p:nvSpPr>
          <p:cNvPr id="4" name="Text 2"/>
          <p:cNvSpPr txBox="1"/>
          <p:nvPr/>
        </p:nvSpPr>
        <p:spPr>
          <a:xfrm>
            <a:off x="857250" y="2781300"/>
            <a:ext cx="3619500" cy="1143000"/>
          </a:xfrm>
          <a:prstGeom prst="rect">
            <a:avLst/>
          </a:prstGeom>
          <a:noFill/>
          <a:ln/>
        </p:spPr>
        <p:txBody>
          <a:bodyPr wrap="square" lIns="0" tIns="0" rIns="0" bIns="0" rtlCol="0" anchor="t"/>
          <a:lstStyle/>
          <a:p>
            <a:pPr indent="0" marL="0">
              <a:buNone/>
            </a:pPr>
            <a:r>
              <a:rPr lang="en-US" sz="1800" dirty="0">
                <a:solidFill>
                  <a:srgbClr val="434343"/>
                </a:solidFill>
                <a:latin typeface="Source Sans 3" pitchFamily="34" charset="0"/>
                <a:ea typeface="Source Sans 3" pitchFamily="34" charset="-122"/>
                <a:cs typeface="Source Sans 3" pitchFamily="34" charset="-120"/>
              </a:rPr>
              <a:t>What was built, what was fixed, and where the documents live.</a:t>
            </a:r>
            <a:endParaRPr lang="en-US" sz="180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FFFFFF"/>
                </a:solidFill>
                <a:latin typeface="Source Sans 3" pitchFamily="34" charset="0"/>
                <a:ea typeface="Source Sans 3" pitchFamily="34" charset="-122"/>
                <a:cs typeface="Source Sans 3" pitchFamily="34" charset="-120"/>
              </a:rPr>
              <a:t>4</a:t>
            </a:r>
            <a:endParaRPr lang="en-US" sz="11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707F"/>
                </a:solidFill>
                <a:latin typeface="Source Sans 3" pitchFamily="34" charset="0"/>
                <a:ea typeface="Source Sans 3" pitchFamily="34" charset="-122"/>
                <a:cs typeface="Source Sans 3" pitchFamily="34" charset="-120"/>
              </a:rPr>
              <a:t>PROJECT REVIEW</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1 of 7</a:t>
            </a:r>
            <a:endParaRPr lang="en-US"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One year in four quarters</a:t>
            </a:r>
            <a:endParaRPr lang="en-US" sz="2500" dirty="0"/>
          </a:p>
        </p:txBody>
      </p:sp>
      <p:sp>
        <p:nvSpPr>
          <p:cNvPr id="5" name="Shape 3"/>
          <p:cNvSpPr/>
          <p:nvPr/>
        </p:nvSpPr>
        <p:spPr>
          <a:xfrm>
            <a:off x="457200" y="1562100"/>
            <a:ext cx="1943100" cy="3028950"/>
          </a:xfrm>
          <a:prstGeom prst="rect">
            <a:avLst/>
          </a:prstGeom>
          <a:solidFill>
            <a:srgbClr val="F0F0FF"/>
          </a:solidFill>
          <a:ln w="12700">
            <a:solidFill>
              <a:srgbClr val="F0F0FF"/>
            </a:solidFill>
            <a:prstDash val="solid"/>
          </a:ln>
        </p:spPr>
      </p:sp>
      <p:sp>
        <p:nvSpPr>
          <p:cNvPr id="6" name="Shape 4"/>
          <p:cNvSpPr/>
          <p:nvPr/>
        </p:nvSpPr>
        <p:spPr>
          <a:xfrm>
            <a:off x="457200" y="1562100"/>
            <a:ext cx="1943100" cy="38100"/>
          </a:xfrm>
          <a:prstGeom prst="rect">
            <a:avLst/>
          </a:prstGeom>
          <a:solidFill>
            <a:srgbClr val="00707F"/>
          </a:solidFill>
          <a:ln w="12700">
            <a:solidFill>
              <a:srgbClr val="00707F"/>
            </a:solidFill>
            <a:prstDash val="solid"/>
          </a:ln>
        </p:spPr>
      </p:sp>
      <p:sp>
        <p:nvSpPr>
          <p:cNvPr id="7" name="Text 5"/>
          <p:cNvSpPr txBox="1"/>
          <p:nvPr/>
        </p:nvSpPr>
        <p:spPr>
          <a:xfrm>
            <a:off x="590550" y="1714500"/>
            <a:ext cx="1676400" cy="171450"/>
          </a:xfrm>
          <a:prstGeom prst="rect">
            <a:avLst/>
          </a:prstGeom>
          <a:noFill/>
          <a:ln/>
        </p:spPr>
        <p:txBody>
          <a:bodyPr wrap="square" lIns="0" tIns="0" rIns="0" bIns="0" rtlCol="0" anchor="t"/>
          <a:lstStyle/>
          <a:p>
            <a:pPr indent="0" marL="0">
              <a:buNone/>
            </a:pPr>
            <a:r>
              <a:rPr lang="en-US" sz="1000" b="1" spc="100" kern="0" dirty="0">
                <a:solidFill>
                  <a:srgbClr val="00707F"/>
                </a:solidFill>
                <a:latin typeface="Source Sans 3" pitchFamily="34" charset="0"/>
                <a:ea typeface="Source Sans 3" pitchFamily="34" charset="-122"/>
                <a:cs typeface="Source Sans 3" pitchFamily="34" charset="-120"/>
              </a:rPr>
              <a:t>DEVELOPMENT</a:t>
            </a:r>
            <a:endParaRPr lang="en-US" sz="1000" dirty="0"/>
          </a:p>
        </p:txBody>
      </p:sp>
      <p:sp>
        <p:nvSpPr>
          <p:cNvPr id="8" name="Text 6"/>
          <p:cNvSpPr txBox="1"/>
          <p:nvPr/>
        </p:nvSpPr>
        <p:spPr>
          <a:xfrm>
            <a:off x="590550" y="1905000"/>
            <a:ext cx="1676400" cy="419100"/>
          </a:xfrm>
          <a:prstGeom prst="rect">
            <a:avLst/>
          </a:prstGeom>
          <a:noFill/>
          <a:ln/>
        </p:spPr>
        <p:txBody>
          <a:bodyPr wrap="square" lIns="0" tIns="0" rIns="0" bIns="0" rtlCol="0" anchor="t">
            <a:normAutofit/>
          </a:bodyPr>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Quarter 1: January to March</a:t>
            </a:r>
            <a:endParaRPr lang="en-US" sz="1400" dirty="0"/>
          </a:p>
        </p:txBody>
      </p:sp>
      <p:sp>
        <p:nvSpPr>
          <p:cNvPr id="9" name="Text 7"/>
          <p:cNvSpPr txBox="1"/>
          <p:nvPr/>
        </p:nvSpPr>
        <p:spPr>
          <a:xfrm>
            <a:off x="5905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Requirements review, first sprints</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Final analyzer list received (3 March)</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Analyzer connections done (ASTM, HL7, file import)</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Training of trainers with Ingenoysa</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User acceptance testing begins</a:t>
            </a:r>
            <a:endParaRPr lang="en-US" sz="1100" dirty="0"/>
          </a:p>
        </p:txBody>
      </p:sp>
      <p:sp>
        <p:nvSpPr>
          <p:cNvPr id="10" name="Shape 8"/>
          <p:cNvSpPr/>
          <p:nvPr/>
        </p:nvSpPr>
        <p:spPr>
          <a:xfrm>
            <a:off x="2552700" y="1562100"/>
            <a:ext cx="1943100" cy="3028950"/>
          </a:xfrm>
          <a:prstGeom prst="rect">
            <a:avLst/>
          </a:prstGeom>
          <a:solidFill>
            <a:srgbClr val="F0F0FF"/>
          </a:solidFill>
          <a:ln w="12700">
            <a:solidFill>
              <a:srgbClr val="F0F0FF"/>
            </a:solidFill>
            <a:prstDash val="solid"/>
          </a:ln>
        </p:spPr>
      </p:sp>
      <p:sp>
        <p:nvSpPr>
          <p:cNvPr id="11" name="Shape 9"/>
          <p:cNvSpPr/>
          <p:nvPr/>
        </p:nvSpPr>
        <p:spPr>
          <a:xfrm>
            <a:off x="2552700" y="1562100"/>
            <a:ext cx="1943100" cy="38100"/>
          </a:xfrm>
          <a:prstGeom prst="rect">
            <a:avLst/>
          </a:prstGeom>
          <a:solidFill>
            <a:srgbClr val="00707F"/>
          </a:solidFill>
          <a:ln w="12700">
            <a:solidFill>
              <a:srgbClr val="00707F"/>
            </a:solidFill>
            <a:prstDash val="solid"/>
          </a:ln>
        </p:spPr>
      </p:sp>
      <p:sp>
        <p:nvSpPr>
          <p:cNvPr id="12" name="Text 10"/>
          <p:cNvSpPr txBox="1"/>
          <p:nvPr/>
        </p:nvSpPr>
        <p:spPr>
          <a:xfrm>
            <a:off x="2686050" y="1714500"/>
            <a:ext cx="1676400" cy="171450"/>
          </a:xfrm>
          <a:prstGeom prst="rect">
            <a:avLst/>
          </a:prstGeom>
          <a:noFill/>
          <a:ln/>
        </p:spPr>
        <p:txBody>
          <a:bodyPr wrap="square" lIns="0" tIns="0" rIns="0" bIns="0" rtlCol="0" anchor="t"/>
          <a:lstStyle/>
          <a:p>
            <a:pPr indent="0" marL="0">
              <a:buNone/>
            </a:pPr>
            <a:r>
              <a:rPr lang="en-US" sz="1000" b="1" spc="100" kern="0" dirty="0">
                <a:solidFill>
                  <a:srgbClr val="00707F"/>
                </a:solidFill>
                <a:latin typeface="Source Sans 3" pitchFamily="34" charset="0"/>
                <a:ea typeface="Source Sans 3" pitchFamily="34" charset="-122"/>
                <a:cs typeface="Source Sans 3" pitchFamily="34" charset="-120"/>
              </a:rPr>
              <a:t>TRAINING</a:t>
            </a:r>
            <a:endParaRPr lang="en-US" sz="1000" dirty="0"/>
          </a:p>
        </p:txBody>
      </p:sp>
      <p:sp>
        <p:nvSpPr>
          <p:cNvPr id="13" name="Text 11"/>
          <p:cNvSpPr txBox="1"/>
          <p:nvPr/>
        </p:nvSpPr>
        <p:spPr>
          <a:xfrm>
            <a:off x="2686050" y="1905000"/>
            <a:ext cx="1676400" cy="419100"/>
          </a:xfrm>
          <a:prstGeom prst="rect">
            <a:avLst/>
          </a:prstGeom>
          <a:noFill/>
          <a:ln/>
        </p:spPr>
        <p:txBody>
          <a:bodyPr wrap="square" lIns="0" tIns="0" rIns="0" bIns="0" rtlCol="0" anchor="t">
            <a:normAutofit/>
          </a:bodyPr>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Quarter 2: April to June</a:t>
            </a:r>
            <a:endParaRPr lang="en-US" sz="1400" dirty="0"/>
          </a:p>
        </p:txBody>
      </p:sp>
      <p:sp>
        <p:nvSpPr>
          <p:cNvPr id="14" name="Text 12"/>
          <p:cNvSpPr txBox="1"/>
          <p:nvPr/>
        </p:nvSpPr>
        <p:spPr>
          <a:xfrm>
            <a:off x="26860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Super user training (two sessions)</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End user training in all 9 pilot laboratories</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Pilot deployments</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User acceptance testing completed</a:t>
            </a:r>
            <a:endParaRPr lang="en-US" sz="1100" dirty="0"/>
          </a:p>
        </p:txBody>
      </p:sp>
      <p:sp>
        <p:nvSpPr>
          <p:cNvPr id="15" name="Shape 13"/>
          <p:cNvSpPr/>
          <p:nvPr/>
        </p:nvSpPr>
        <p:spPr>
          <a:xfrm>
            <a:off x="4648200" y="1562100"/>
            <a:ext cx="1943100" cy="3028950"/>
          </a:xfrm>
          <a:prstGeom prst="rect">
            <a:avLst/>
          </a:prstGeom>
          <a:solidFill>
            <a:srgbClr val="F0F0FF"/>
          </a:solidFill>
          <a:ln w="12700">
            <a:solidFill>
              <a:srgbClr val="F0F0FF"/>
            </a:solidFill>
            <a:prstDash val="solid"/>
          </a:ln>
        </p:spPr>
      </p:sp>
      <p:sp>
        <p:nvSpPr>
          <p:cNvPr id="16" name="Shape 14"/>
          <p:cNvSpPr/>
          <p:nvPr/>
        </p:nvSpPr>
        <p:spPr>
          <a:xfrm>
            <a:off x="4648200" y="1562100"/>
            <a:ext cx="1943100" cy="38100"/>
          </a:xfrm>
          <a:prstGeom prst="rect">
            <a:avLst/>
          </a:prstGeom>
          <a:solidFill>
            <a:srgbClr val="00707F"/>
          </a:solidFill>
          <a:ln w="12700">
            <a:solidFill>
              <a:srgbClr val="00707F"/>
            </a:solidFill>
            <a:prstDash val="solid"/>
          </a:ln>
        </p:spPr>
      </p:sp>
      <p:sp>
        <p:nvSpPr>
          <p:cNvPr id="17" name="Text 15"/>
          <p:cNvSpPr txBox="1"/>
          <p:nvPr/>
        </p:nvSpPr>
        <p:spPr>
          <a:xfrm>
            <a:off x="4781550" y="1714500"/>
            <a:ext cx="1676400" cy="171450"/>
          </a:xfrm>
          <a:prstGeom prst="rect">
            <a:avLst/>
          </a:prstGeom>
          <a:noFill/>
          <a:ln/>
        </p:spPr>
        <p:txBody>
          <a:bodyPr wrap="square" lIns="0" tIns="0" rIns="0" bIns="0" rtlCol="0" anchor="t"/>
          <a:lstStyle/>
          <a:p>
            <a:pPr indent="0" marL="0">
              <a:buNone/>
            </a:pPr>
            <a:r>
              <a:rPr lang="en-US" sz="1000" b="1" spc="100" kern="0" dirty="0">
                <a:solidFill>
                  <a:srgbClr val="00707F"/>
                </a:solidFill>
                <a:latin typeface="Source Sans 3" pitchFamily="34" charset="0"/>
                <a:ea typeface="Source Sans 3" pitchFamily="34" charset="-122"/>
                <a:cs typeface="Source Sans 3" pitchFamily="34" charset="-120"/>
              </a:rPr>
              <a:t>WARRANTY</a:t>
            </a:r>
            <a:endParaRPr lang="en-US" sz="1000" dirty="0"/>
          </a:p>
        </p:txBody>
      </p:sp>
      <p:sp>
        <p:nvSpPr>
          <p:cNvPr id="18" name="Text 16"/>
          <p:cNvSpPr txBox="1"/>
          <p:nvPr/>
        </p:nvSpPr>
        <p:spPr>
          <a:xfrm>
            <a:off x="4781550" y="1905000"/>
            <a:ext cx="1676400" cy="419100"/>
          </a:xfrm>
          <a:prstGeom prst="rect">
            <a:avLst/>
          </a:prstGeom>
          <a:noFill/>
          <a:ln/>
        </p:spPr>
        <p:txBody>
          <a:bodyPr wrap="square" lIns="0" tIns="0" rIns="0" bIns="0" rtlCol="0" anchor="t">
            <a:normAutofit/>
          </a:bodyPr>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Quarter 3: July to September</a:t>
            </a:r>
            <a:endParaRPr lang="en-US" sz="1400" dirty="0"/>
          </a:p>
        </p:txBody>
      </p:sp>
      <p:sp>
        <p:nvSpPr>
          <p:cNvPr id="19" name="Text 17"/>
          <p:cNvSpPr txBox="1"/>
          <p:nvPr/>
        </p:nvSpPr>
        <p:spPr>
          <a:xfrm>
            <a:off x="47815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14 July: version 3.2.1.11 (new test catalog, new result entry)</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18 August: version 3.2.2.0 (new sample management)</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About 20 September: version 3.2.2.1 (final project release)</a:t>
            </a:r>
            <a:endParaRPr lang="en-US" sz="1100" dirty="0"/>
          </a:p>
        </p:txBody>
      </p:sp>
      <p:sp>
        <p:nvSpPr>
          <p:cNvPr id="20" name="Shape 18"/>
          <p:cNvSpPr/>
          <p:nvPr/>
        </p:nvSpPr>
        <p:spPr>
          <a:xfrm>
            <a:off x="6743700" y="1562100"/>
            <a:ext cx="1943100" cy="3028950"/>
          </a:xfrm>
          <a:prstGeom prst="rect">
            <a:avLst/>
          </a:prstGeom>
          <a:solidFill>
            <a:srgbClr val="33006F"/>
          </a:solidFill>
          <a:ln w="12700">
            <a:solidFill>
              <a:srgbClr val="33006F"/>
            </a:solidFill>
            <a:prstDash val="solid"/>
          </a:ln>
        </p:spPr>
      </p:sp>
      <p:sp>
        <p:nvSpPr>
          <p:cNvPr id="21" name="Text 19"/>
          <p:cNvSpPr txBox="1"/>
          <p:nvPr/>
        </p:nvSpPr>
        <p:spPr>
          <a:xfrm>
            <a:off x="6877050" y="1714500"/>
            <a:ext cx="1676400" cy="171450"/>
          </a:xfrm>
          <a:prstGeom prst="rect">
            <a:avLst/>
          </a:prstGeom>
          <a:noFill/>
          <a:ln/>
        </p:spPr>
        <p:txBody>
          <a:bodyPr wrap="square" lIns="0" tIns="0" rIns="0" bIns="0" rtlCol="0" anchor="t"/>
          <a:lstStyle/>
          <a:p>
            <a:pPr indent="0" marL="0">
              <a:buNone/>
            </a:pPr>
            <a:r>
              <a:rPr lang="en-US" sz="1000" b="1" spc="100" kern="0" dirty="0">
                <a:solidFill>
                  <a:srgbClr val="FFC000"/>
                </a:solidFill>
                <a:latin typeface="Source Sans 3" pitchFamily="34" charset="0"/>
                <a:ea typeface="Source Sans 3" pitchFamily="34" charset="-122"/>
                <a:cs typeface="Source Sans 3" pitchFamily="34" charset="-120"/>
              </a:rPr>
              <a:t>TODAY'S TOPIC</a:t>
            </a:r>
            <a:endParaRPr lang="en-US" sz="1000" dirty="0"/>
          </a:p>
        </p:txBody>
      </p:sp>
      <p:sp>
        <p:nvSpPr>
          <p:cNvPr id="22" name="Text 20"/>
          <p:cNvSpPr txBox="1"/>
          <p:nvPr/>
        </p:nvSpPr>
        <p:spPr>
          <a:xfrm>
            <a:off x="6877050" y="1905000"/>
            <a:ext cx="1676400" cy="419100"/>
          </a:xfrm>
          <a:prstGeom prst="rect">
            <a:avLst/>
          </a:prstGeom>
          <a:noFill/>
          <a:ln/>
        </p:spPr>
        <p:txBody>
          <a:bodyPr wrap="square" lIns="0" tIns="0" rIns="0" bIns="0" rtlCol="0" anchor="t">
            <a:normAutofit/>
          </a:bodyPr>
          <a:lstStyle/>
          <a:p>
            <a:pPr indent="0" marL="0">
              <a:buNone/>
            </a:pPr>
            <a:r>
              <a:rPr lang="en-US" sz="1400" b="1" dirty="0">
                <a:solidFill>
                  <a:srgbClr val="FFFFFF"/>
                </a:solidFill>
                <a:latin typeface="Source Sans 3" pitchFamily="34" charset="0"/>
                <a:ea typeface="Source Sans 3" pitchFamily="34" charset="-122"/>
                <a:cs typeface="Source Sans 3" pitchFamily="34" charset="-120"/>
              </a:rPr>
              <a:t>October and after</a:t>
            </a:r>
            <a:endParaRPr lang="en-US" sz="1400" dirty="0"/>
          </a:p>
        </p:txBody>
      </p:sp>
      <p:sp>
        <p:nvSpPr>
          <p:cNvPr id="23" name="Text 21"/>
          <p:cNvSpPr txBox="1"/>
          <p:nvPr/>
        </p:nvSpPr>
        <p:spPr>
          <a:xfrm>
            <a:off x="6877050" y="2362200"/>
            <a:ext cx="1676400" cy="211455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FFFFFF"/>
                </a:solidFill>
                <a:latin typeface="Source Sans 3" pitchFamily="34" charset="0"/>
                <a:ea typeface="Source Sans 3" pitchFamily="34" charset="-122"/>
                <a:cs typeface="Source Sans 3" pitchFamily="34" charset="-120"/>
              </a:rPr>
              <a:t>Madagascar joins the OpenELIS Global community</a:t>
            </a:r>
            <a:endParaRPr lang="en-US" sz="1100" dirty="0"/>
          </a:p>
          <a:p>
            <a:pPr marL="127000" indent="-127000">
              <a:spcAft>
                <a:spcPts val="600"/>
              </a:spcAft>
              <a:buSzPct val="100000"/>
              <a:buChar char="•"/>
            </a:pPr>
            <a:r>
              <a:rPr lang="en-US" sz="1100" dirty="0">
                <a:solidFill>
                  <a:srgbClr val="FFFFFF"/>
                </a:solidFill>
                <a:latin typeface="Source Sans 3" pitchFamily="34" charset="0"/>
                <a:ea typeface="Source Sans 3" pitchFamily="34" charset="-122"/>
                <a:cs typeface="Source Sans 3" pitchFamily="34" charset="-120"/>
              </a:rPr>
              <a:t>The Ministry runs eSIL, asks for help, and shapes the roadmap</a:t>
            </a:r>
            <a:endParaRPr lang="en-US" sz="1100" dirty="0"/>
          </a:p>
        </p:txBody>
      </p:sp>
      <p:sp>
        <p:nvSpPr>
          <p:cNvPr id="24" name="Text 22"/>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5</a:t>
            </a:r>
            <a:endParaRPr lang="en-US" sz="1100" dirty="0"/>
          </a:p>
        </p:txBody>
      </p:sp>
      <p:sp>
        <p:nvSpPr>
          <p:cNvPr id="25" name="Text 23"/>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707F"/>
                </a:solidFill>
                <a:latin typeface="Source Sans 3" pitchFamily="34" charset="0"/>
                <a:ea typeface="Source Sans 3" pitchFamily="34" charset="-122"/>
                <a:cs typeface="Source Sans 3" pitchFamily="34" charset="-120"/>
              </a:rPr>
              <a:t>PROJECT REVIEW</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1 of 7</a:t>
            </a:r>
            <a:endParaRPr lang="en-US"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Bug, change request, or feature request: the warranty definitions</a:t>
            </a:r>
            <a:endParaRPr lang="en-US" sz="2500" dirty="0"/>
          </a:p>
        </p:txBody>
      </p:sp>
      <p:sp>
        <p:nvSpPr>
          <p:cNvPr id="5" name="Shape 3"/>
          <p:cNvSpPr/>
          <p:nvPr/>
        </p:nvSpPr>
        <p:spPr>
          <a:xfrm>
            <a:off x="457200" y="1619250"/>
            <a:ext cx="2590800" cy="2571750"/>
          </a:xfrm>
          <a:prstGeom prst="rect">
            <a:avLst/>
          </a:prstGeom>
          <a:solidFill>
            <a:srgbClr val="F0F0FF"/>
          </a:solidFill>
          <a:ln w="12700">
            <a:solidFill>
              <a:srgbClr val="F0F0FF"/>
            </a:solidFill>
            <a:prstDash val="solid"/>
          </a:ln>
        </p:spPr>
      </p:sp>
      <p:sp>
        <p:nvSpPr>
          <p:cNvPr id="6" name="Shape 4"/>
          <p:cNvSpPr/>
          <p:nvPr/>
        </p:nvSpPr>
        <p:spPr>
          <a:xfrm>
            <a:off x="457200" y="1619250"/>
            <a:ext cx="2590800" cy="38100"/>
          </a:xfrm>
          <a:prstGeom prst="rect">
            <a:avLst/>
          </a:prstGeom>
          <a:solidFill>
            <a:srgbClr val="00707F"/>
          </a:solidFill>
          <a:ln w="12700">
            <a:solidFill>
              <a:srgbClr val="00707F"/>
            </a:solidFill>
            <a:prstDash val="solid"/>
          </a:ln>
        </p:spPr>
      </p:sp>
      <p:sp>
        <p:nvSpPr>
          <p:cNvPr id="7" name="Text 5"/>
          <p:cNvSpPr txBox="1"/>
          <p:nvPr/>
        </p:nvSpPr>
        <p:spPr>
          <a:xfrm>
            <a:off x="685800" y="1828800"/>
            <a:ext cx="2133600" cy="571500"/>
          </a:xfrm>
          <a:prstGeom prst="rect">
            <a:avLst/>
          </a:prstGeom>
          <a:noFill/>
          <a:ln/>
        </p:spPr>
        <p:txBody>
          <a:bodyPr wrap="square" lIns="0" tIns="0" rIns="0" bIns="0" rtlCol="0" anchor="t">
            <a:normAutofit/>
          </a:bodyPr>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Bug</a:t>
            </a:r>
            <a:endParaRPr lang="en-US" sz="2200" dirty="0"/>
          </a:p>
        </p:txBody>
      </p:sp>
      <p:sp>
        <p:nvSpPr>
          <p:cNvPr id="8" name="Text 6"/>
          <p:cNvSpPr txBox="1"/>
          <p:nvPr/>
        </p:nvSpPr>
        <p:spPr>
          <a:xfrm>
            <a:off x="685800" y="2457450"/>
            <a:ext cx="2133600" cy="1047750"/>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Something does not work as written in the original requirements.</a:t>
            </a:r>
            <a:endParaRPr lang="en-US" sz="1600" dirty="0"/>
          </a:p>
        </p:txBody>
      </p:sp>
      <p:sp>
        <p:nvSpPr>
          <p:cNvPr id="9" name="Shape 7"/>
          <p:cNvSpPr/>
          <p:nvPr/>
        </p:nvSpPr>
        <p:spPr>
          <a:xfrm>
            <a:off x="685800" y="3524250"/>
            <a:ext cx="2133600" cy="9525"/>
          </a:xfrm>
          <a:prstGeom prst="rect">
            <a:avLst/>
          </a:prstGeom>
          <a:solidFill>
            <a:srgbClr val="BFBFBF"/>
          </a:solidFill>
          <a:ln w="12700">
            <a:solidFill>
              <a:srgbClr val="BFBFBF"/>
            </a:solidFill>
            <a:prstDash val="solid"/>
          </a:ln>
        </p:spPr>
      </p:sp>
      <p:sp>
        <p:nvSpPr>
          <p:cNvPr id="10" name="Text 8"/>
          <p:cNvSpPr txBox="1"/>
          <p:nvPr/>
        </p:nvSpPr>
        <p:spPr>
          <a:xfrm>
            <a:off x="685800" y="3657600"/>
            <a:ext cx="2133600" cy="381000"/>
          </a:xfrm>
          <a:prstGeom prst="rect">
            <a:avLst/>
          </a:prstGeom>
          <a:noFill/>
          <a:ln/>
        </p:spPr>
        <p:txBody>
          <a:bodyPr wrap="square" lIns="0" tIns="0" rIns="0" bIns="0" rtlCol="0" anchor="t"/>
          <a:lstStyle/>
          <a:p>
            <a:pPr indent="0" marL="0">
              <a:buNone/>
            </a:pPr>
            <a:r>
              <a:rPr lang="en-US" sz="1300" b="1" dirty="0">
                <a:solidFill>
                  <a:srgbClr val="006838"/>
                </a:solidFill>
                <a:latin typeface="Source Sans 3" pitchFamily="34" charset="0"/>
                <a:ea typeface="Source Sans 3" pitchFamily="34" charset="-122"/>
                <a:cs typeface="Source Sans 3" pitchFamily="34" charset="-120"/>
              </a:rPr>
              <a:t>Covered by the warranty</a:t>
            </a:r>
            <a:endParaRPr lang="en-US" sz="1300" dirty="0"/>
          </a:p>
        </p:txBody>
      </p:sp>
      <p:sp>
        <p:nvSpPr>
          <p:cNvPr id="11" name="Shape 9"/>
          <p:cNvSpPr/>
          <p:nvPr/>
        </p:nvSpPr>
        <p:spPr>
          <a:xfrm>
            <a:off x="3276600" y="1619250"/>
            <a:ext cx="2590800" cy="2571750"/>
          </a:xfrm>
          <a:prstGeom prst="rect">
            <a:avLst/>
          </a:prstGeom>
          <a:solidFill>
            <a:srgbClr val="F0F0FF"/>
          </a:solidFill>
          <a:ln w="12700">
            <a:solidFill>
              <a:srgbClr val="F0F0FF"/>
            </a:solidFill>
            <a:prstDash val="solid"/>
          </a:ln>
        </p:spPr>
      </p:sp>
      <p:sp>
        <p:nvSpPr>
          <p:cNvPr id="12" name="Shape 10"/>
          <p:cNvSpPr/>
          <p:nvPr/>
        </p:nvSpPr>
        <p:spPr>
          <a:xfrm>
            <a:off x="3276600" y="1619250"/>
            <a:ext cx="2590800" cy="38100"/>
          </a:xfrm>
          <a:prstGeom prst="rect">
            <a:avLst/>
          </a:prstGeom>
          <a:solidFill>
            <a:srgbClr val="00707F"/>
          </a:solidFill>
          <a:ln w="12700">
            <a:solidFill>
              <a:srgbClr val="00707F"/>
            </a:solidFill>
            <a:prstDash val="solid"/>
          </a:ln>
        </p:spPr>
      </p:sp>
      <p:sp>
        <p:nvSpPr>
          <p:cNvPr id="13" name="Text 11"/>
          <p:cNvSpPr txBox="1"/>
          <p:nvPr/>
        </p:nvSpPr>
        <p:spPr>
          <a:xfrm>
            <a:off x="3505200" y="1828800"/>
            <a:ext cx="2133600" cy="571500"/>
          </a:xfrm>
          <a:prstGeom prst="rect">
            <a:avLst/>
          </a:prstGeom>
          <a:noFill/>
          <a:ln/>
        </p:spPr>
        <p:txBody>
          <a:bodyPr wrap="square" lIns="0" tIns="0" rIns="0" bIns="0" rtlCol="0" anchor="t">
            <a:normAutofit/>
          </a:bodyPr>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Change request</a:t>
            </a:r>
            <a:endParaRPr lang="en-US" sz="2200" dirty="0"/>
          </a:p>
        </p:txBody>
      </p:sp>
      <p:sp>
        <p:nvSpPr>
          <p:cNvPr id="14" name="Text 12"/>
          <p:cNvSpPr txBox="1"/>
          <p:nvPr/>
        </p:nvSpPr>
        <p:spPr>
          <a:xfrm>
            <a:off x="3505200" y="2457450"/>
            <a:ext cx="2133600" cy="1047750"/>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Something works as written, but the need has changed.</a:t>
            </a:r>
            <a:endParaRPr lang="en-US" sz="1600" dirty="0"/>
          </a:p>
        </p:txBody>
      </p:sp>
      <p:sp>
        <p:nvSpPr>
          <p:cNvPr id="15" name="Shape 13"/>
          <p:cNvSpPr/>
          <p:nvPr/>
        </p:nvSpPr>
        <p:spPr>
          <a:xfrm>
            <a:off x="3505200" y="3524250"/>
            <a:ext cx="2133600" cy="9525"/>
          </a:xfrm>
          <a:prstGeom prst="rect">
            <a:avLst/>
          </a:prstGeom>
          <a:solidFill>
            <a:srgbClr val="BFBFBF"/>
          </a:solidFill>
          <a:ln w="12700">
            <a:solidFill>
              <a:srgbClr val="BFBFBF"/>
            </a:solidFill>
            <a:prstDash val="solid"/>
          </a:ln>
        </p:spPr>
      </p:sp>
      <p:sp>
        <p:nvSpPr>
          <p:cNvPr id="16" name="Text 14"/>
          <p:cNvSpPr txBox="1"/>
          <p:nvPr/>
        </p:nvSpPr>
        <p:spPr>
          <a:xfrm>
            <a:off x="3505200" y="3657600"/>
            <a:ext cx="2133600" cy="381000"/>
          </a:xfrm>
          <a:prstGeom prst="rect">
            <a:avLst/>
          </a:prstGeom>
          <a:noFill/>
          <a:ln/>
        </p:spPr>
        <p:txBody>
          <a:bodyPr wrap="square" lIns="0" tIns="0" rIns="0" bIns="0" rtlCol="0" anchor="t"/>
          <a:lstStyle/>
          <a:p>
            <a:pPr indent="0" marL="0">
              <a:buNone/>
            </a:pPr>
            <a:r>
              <a:rPr lang="en-US" sz="1300" b="1" dirty="0">
                <a:solidFill>
                  <a:srgbClr val="917B4C"/>
                </a:solidFill>
                <a:latin typeface="Source Sans 3" pitchFamily="34" charset="0"/>
                <a:ea typeface="Source Sans 3" pitchFamily="34" charset="-122"/>
                <a:cs typeface="Source Sans 3" pitchFamily="34" charset="-120"/>
              </a:rPr>
              <a:t>Not covered by the warranty</a:t>
            </a:r>
            <a:endParaRPr lang="en-US" sz="1300" dirty="0"/>
          </a:p>
        </p:txBody>
      </p:sp>
      <p:sp>
        <p:nvSpPr>
          <p:cNvPr id="17" name="Shape 15"/>
          <p:cNvSpPr/>
          <p:nvPr/>
        </p:nvSpPr>
        <p:spPr>
          <a:xfrm>
            <a:off x="6096000" y="1619250"/>
            <a:ext cx="2590800" cy="2571750"/>
          </a:xfrm>
          <a:prstGeom prst="rect">
            <a:avLst/>
          </a:prstGeom>
          <a:solidFill>
            <a:srgbClr val="F0F0FF"/>
          </a:solidFill>
          <a:ln w="12700">
            <a:solidFill>
              <a:srgbClr val="F0F0FF"/>
            </a:solidFill>
            <a:prstDash val="solid"/>
          </a:ln>
        </p:spPr>
      </p:sp>
      <p:sp>
        <p:nvSpPr>
          <p:cNvPr id="18" name="Shape 16"/>
          <p:cNvSpPr/>
          <p:nvPr/>
        </p:nvSpPr>
        <p:spPr>
          <a:xfrm>
            <a:off x="6096000" y="1619250"/>
            <a:ext cx="2590800" cy="38100"/>
          </a:xfrm>
          <a:prstGeom prst="rect">
            <a:avLst/>
          </a:prstGeom>
          <a:solidFill>
            <a:srgbClr val="00707F"/>
          </a:solidFill>
          <a:ln w="12700">
            <a:solidFill>
              <a:srgbClr val="00707F"/>
            </a:solidFill>
            <a:prstDash val="solid"/>
          </a:ln>
        </p:spPr>
      </p:sp>
      <p:sp>
        <p:nvSpPr>
          <p:cNvPr id="19" name="Text 17"/>
          <p:cNvSpPr txBox="1"/>
          <p:nvPr/>
        </p:nvSpPr>
        <p:spPr>
          <a:xfrm>
            <a:off x="6324600" y="1828800"/>
            <a:ext cx="2133600" cy="571500"/>
          </a:xfrm>
          <a:prstGeom prst="rect">
            <a:avLst/>
          </a:prstGeom>
          <a:noFill/>
          <a:ln/>
        </p:spPr>
        <p:txBody>
          <a:bodyPr wrap="square" lIns="0" tIns="0" rIns="0" bIns="0" rtlCol="0" anchor="t">
            <a:normAutofit/>
          </a:bodyPr>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Feature request</a:t>
            </a:r>
            <a:endParaRPr lang="en-US" sz="2200" dirty="0"/>
          </a:p>
        </p:txBody>
      </p:sp>
      <p:sp>
        <p:nvSpPr>
          <p:cNvPr id="20" name="Text 18"/>
          <p:cNvSpPr txBox="1"/>
          <p:nvPr/>
        </p:nvSpPr>
        <p:spPr>
          <a:xfrm>
            <a:off x="6324600" y="2457450"/>
            <a:ext cx="2133600" cy="1047750"/>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A new capability that does not exist yet.</a:t>
            </a:r>
            <a:endParaRPr lang="en-US" sz="1600" dirty="0"/>
          </a:p>
        </p:txBody>
      </p:sp>
      <p:sp>
        <p:nvSpPr>
          <p:cNvPr id="21" name="Shape 19"/>
          <p:cNvSpPr/>
          <p:nvPr/>
        </p:nvSpPr>
        <p:spPr>
          <a:xfrm>
            <a:off x="6324600" y="3524250"/>
            <a:ext cx="2133600" cy="9525"/>
          </a:xfrm>
          <a:prstGeom prst="rect">
            <a:avLst/>
          </a:prstGeom>
          <a:solidFill>
            <a:srgbClr val="BFBFBF"/>
          </a:solidFill>
          <a:ln w="12700">
            <a:solidFill>
              <a:srgbClr val="BFBFBF"/>
            </a:solidFill>
            <a:prstDash val="solid"/>
          </a:ln>
        </p:spPr>
      </p:sp>
      <p:sp>
        <p:nvSpPr>
          <p:cNvPr id="22" name="Text 20"/>
          <p:cNvSpPr txBox="1"/>
          <p:nvPr/>
        </p:nvSpPr>
        <p:spPr>
          <a:xfrm>
            <a:off x="6324600" y="3657600"/>
            <a:ext cx="2133600" cy="381000"/>
          </a:xfrm>
          <a:prstGeom prst="rect">
            <a:avLst/>
          </a:prstGeom>
          <a:noFill/>
          <a:ln/>
        </p:spPr>
        <p:txBody>
          <a:bodyPr wrap="square" lIns="0" tIns="0" rIns="0" bIns="0" rtlCol="0" anchor="t"/>
          <a:lstStyle/>
          <a:p>
            <a:pPr indent="0" marL="0">
              <a:buNone/>
            </a:pPr>
            <a:r>
              <a:rPr lang="en-US" sz="1300" b="1" dirty="0">
                <a:solidFill>
                  <a:srgbClr val="917B4C"/>
                </a:solidFill>
                <a:latin typeface="Source Sans 3" pitchFamily="34" charset="0"/>
                <a:ea typeface="Source Sans 3" pitchFamily="34" charset="-122"/>
                <a:cs typeface="Source Sans 3" pitchFamily="34" charset="-120"/>
              </a:rPr>
              <a:t>Not covered. Goes to the roadmap</a:t>
            </a:r>
            <a:endParaRPr lang="en-US" sz="1300" dirty="0"/>
          </a:p>
        </p:txBody>
      </p:sp>
      <p:sp>
        <p:nvSpPr>
          <p:cNvPr id="23" name="Text 21"/>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6</a:t>
            </a:r>
            <a:endParaRPr lang="en-US" sz="1100" dirty="0"/>
          </a:p>
        </p:txBody>
      </p:sp>
      <p:sp>
        <p:nvSpPr>
          <p:cNvPr id="24" name="Text 22"/>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707F"/>
                </a:solidFill>
                <a:latin typeface="Source Sans 3" pitchFamily="34" charset="0"/>
                <a:ea typeface="Source Sans 3" pitchFamily="34" charset="-122"/>
                <a:cs typeface="Source Sans 3" pitchFamily="34" charset="-120"/>
              </a:rPr>
              <a:t>PROJECT REVIEW</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1 of 7</a:t>
            </a:r>
            <a:endParaRPr lang="en-US"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Warranty period: what was fixed</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85900"/>
          <a:ext cx="8229600" cy="914400"/>
        </p:xfrm>
        <a:graphic>
          <a:graphicData uri="http://schemas.openxmlformats.org/drawingml/2006/table">
            <a:tbl>
              <a:tblPr/>
              <a:tblGrid>
                <a:gridCol w="4953000"/>
                <a:gridCol w="3276600"/>
              </a:tblGrid>
              <a:tr h="257175">
                <a:tc>
                  <a:txBody>
                    <a:bodyPr/>
                    <a:lstStyle/>
                    <a:p>
                      <a:pPr indent="0" marL="0">
                        <a:buNone/>
                      </a:pPr>
                      <a:r>
                        <a:rPr lang="en-US" sz="1050" b="1" dirty="0">
                          <a:solidFill>
                            <a:srgbClr val="FFFFFF"/>
                          </a:solidFill>
                          <a:latin typeface="Source Sans 3" pitchFamily="34" charset="0"/>
                          <a:ea typeface="Source Sans 3" pitchFamily="34" charset="-122"/>
                          <a:cs typeface="Source Sans 3" pitchFamily="34" charset="-120"/>
                        </a:rPr>
                        <a:t>Bug reported</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c>
                  <a:txBody>
                    <a:bodyPr/>
                    <a:lstStyle/>
                    <a:p>
                      <a:pPr indent="0" marL="0">
                        <a:buNone/>
                      </a:pPr>
                      <a:r>
                        <a:rPr lang="en-US" sz="1050" b="1" dirty="0">
                          <a:solidFill>
                            <a:srgbClr val="FFFFFF"/>
                          </a:solidFill>
                          <a:latin typeface="Source Sans 3" pitchFamily="34" charset="0"/>
                          <a:ea typeface="Source Sans 3" pitchFamily="34" charset="-122"/>
                          <a:cs typeface="Source Sans 3" pitchFamily="34" charset="-120"/>
                        </a:rPr>
                        <a:t>Status</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Incorrect French translations</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eSIL is connected to Transifex. Your team can add Malagasy later.</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Service / Department / Unit list did not show existing services</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Reference ranges: manual age groups (for example "premature")</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"Accept" renamed "Validate"; button colour changed to green</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Average turnaround time was not rounded</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Rejected samples missing from the printed report</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Prescriber first and last name made optional</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Test units renamed "Service" in Test Management</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"Appointment date" renamed "Appointment for result collection"</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Fixed and passed QA</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7175">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Report output updates (ESIL-31)</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34343"/>
                          </a:solidFill>
                          <a:latin typeface="Source Sans 3" pitchFamily="34" charset="0"/>
                          <a:ea typeface="Source Sans 3" pitchFamily="34" charset="-122"/>
                          <a:cs typeface="Source Sans 3" pitchFamily="34" charset="-120"/>
                        </a:rPr>
                        <a:t>[Herbert: one line on what shipped]</a:t>
                      </a:r>
                      <a:endParaRPr lang="en-US" sz="105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7</a:t>
            </a:r>
            <a:endParaRPr lang="en-US" sz="1100" dirty="0"/>
          </a:p>
        </p:txBody>
      </p:sp>
      <p:sp>
        <p:nvSpPr>
          <p:cNvPr id="7"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707F"/>
                </a:solidFill>
                <a:latin typeface="Source Sans 3" pitchFamily="34" charset="0"/>
                <a:ea typeface="Source Sans 3" pitchFamily="34" charset="-122"/>
                <a:cs typeface="Source Sans 3" pitchFamily="34" charset="-120"/>
              </a:rPr>
              <a:t>PROJECT REVIEW</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1 of 7</a:t>
            </a:r>
            <a:endParaRPr lang="en-US"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Warranty period: change requests and feature requests</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62100"/>
          <a:ext cx="8229600" cy="914400"/>
        </p:xfrm>
        <a:graphic>
          <a:graphicData uri="http://schemas.openxmlformats.org/drawingml/2006/table">
            <a:tbl>
              <a:tblPr/>
              <a:tblGrid>
                <a:gridCol w="4762500"/>
                <a:gridCol w="3467100"/>
              </a:tblGrid>
              <a:tr h="304800">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Change request</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Status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3006F"/>
                    </a:solidFill>
                  </a:tcPr>
                </a:tc>
              </a:tr>
              <a:tr h="30480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Enable and disable programs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Done. In version 3.2.2.1.</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Reporting updates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[Status]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New test catalog, with multi-component results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Done. Demo today.</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2933700"/>
          <a:ext cx="8229600" cy="914400"/>
        </p:xfrm>
        <a:graphic>
          <a:graphicData uri="http://schemas.openxmlformats.org/drawingml/2006/table">
            <a:tbl>
              <a:tblPr/>
              <a:tblGrid>
                <a:gridCol w="4762500"/>
                <a:gridCol w="3467100"/>
              </a:tblGrid>
              <a:tr h="304800">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Feature request</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6838"/>
                    </a:solidFill>
                  </a:tcPr>
                </a:tc>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Status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6838"/>
                    </a:solidFill>
                  </a:tcPr>
                </a:tc>
              </a:tr>
              <a:tr h="30480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Delete or disable existing test services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Added to the OpenELIS roadmap</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Show this information in the "Additional Information" section</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Added to the OpenELIS roadmap</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80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Keep selected samples when one test needs several samples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Added to the OpenELIS roadmap</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Text 3"/>
          <p:cNvSpPr txBox="1"/>
          <p:nvPr/>
        </p:nvSpPr>
        <p:spPr>
          <a:xfrm>
            <a:off x="457200" y="4343400"/>
            <a:ext cx="8229600" cy="342900"/>
          </a:xfrm>
          <a:prstGeom prst="rect">
            <a:avLst/>
          </a:prstGeom>
          <a:noFill/>
          <a:ln/>
        </p:spPr>
        <p:txBody>
          <a:bodyPr wrap="square" lIns="0" tIns="0" rIns="0" bIns="0" rtlCol="0" anchor="t"/>
          <a:lstStyle/>
          <a:p>
            <a:pPr indent="0" marL="0">
              <a:buNone/>
            </a:pPr>
            <a:r>
              <a:rPr lang="en-US" sz="1200" dirty="0">
                <a:solidFill>
                  <a:srgbClr val="888888"/>
                </a:solidFill>
                <a:latin typeface="Source Sans 3" pitchFamily="34" charset="0"/>
                <a:ea typeface="Source Sans 3" pitchFamily="34" charset="-122"/>
                <a:cs typeface="Source Sans 3" pitchFamily="34" charset="-120"/>
              </a:rPr>
              <a:t>Three Madagascar requests are now on the shared OpenELIS roadmap. Section 3 shows where to follow them.</a:t>
            </a:r>
            <a:endParaRPr lang="en-US" sz="1200" dirty="0"/>
          </a:p>
        </p:txBody>
      </p:sp>
      <p:sp>
        <p:nvSpPr>
          <p:cNvPr id="8" name="Text 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8</a:t>
            </a:r>
            <a:endParaRPr lang="en-US" sz="1100" dirty="0"/>
          </a:p>
        </p:txBody>
      </p:sp>
      <p:sp>
        <p:nvSpPr>
          <p:cNvPr id="9" name="Text 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707F"/>
                </a:solidFill>
                <a:latin typeface="Source Sans 3" pitchFamily="34" charset="0"/>
                <a:ea typeface="Source Sans 3" pitchFamily="34" charset="-122"/>
                <a:cs typeface="Source Sans 3" pitchFamily="34" charset="-120"/>
              </a:rPr>
              <a:t>PROJECT REVIEW</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1 of 7</a:t>
            </a:r>
            <a:endParaRPr lang="en-US"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Demonstration</a:t>
            </a:r>
            <a:endParaRPr lang="en-US" sz="2500" dirty="0"/>
          </a:p>
        </p:txBody>
      </p:sp>
      <p:sp>
        <p:nvSpPr>
          <p:cNvPr id="5" name="Text 3"/>
          <p:cNvSpPr txBox="1"/>
          <p:nvPr/>
        </p:nvSpPr>
        <p:spPr>
          <a:xfrm>
            <a:off x="457200" y="1562100"/>
            <a:ext cx="4953000" cy="285750"/>
          </a:xfrm>
          <a:prstGeom prst="rect">
            <a:avLst/>
          </a:prstGeom>
          <a:noFill/>
          <a:ln/>
        </p:spPr>
        <p:txBody>
          <a:bodyPr wrap="square" lIns="0" tIns="0" rIns="0" bIns="0" rtlCol="0" anchor="t"/>
          <a:lstStyle/>
          <a:p>
            <a:pPr indent="0" marL="0">
              <a:buNone/>
            </a:pPr>
            <a:r>
              <a:rPr lang="en-US" sz="1600" dirty="0">
                <a:solidFill>
                  <a:srgbClr val="5B5670"/>
                </a:solidFill>
                <a:latin typeface="Source Sans 3" pitchFamily="34" charset="0"/>
                <a:ea typeface="Source Sans 3" pitchFamily="34" charset="-122"/>
                <a:cs typeface="Source Sans 3" pitchFamily="34" charset="-120"/>
              </a:rPr>
              <a:t>Live demonstration, about 10 minutes</a:t>
            </a:r>
            <a:endParaRPr lang="en-US" sz="1600" dirty="0"/>
          </a:p>
        </p:txBody>
      </p:sp>
      <p:sp>
        <p:nvSpPr>
          <p:cNvPr id="6" name="Shape 4"/>
          <p:cNvSpPr/>
          <p:nvPr/>
        </p:nvSpPr>
        <p:spPr>
          <a:xfrm>
            <a:off x="457200" y="2000250"/>
            <a:ext cx="323850" cy="323850"/>
          </a:xfrm>
          <a:prstGeom prst="rect">
            <a:avLst/>
          </a:prstGeom>
          <a:solidFill>
            <a:srgbClr val="00707F"/>
          </a:solidFill>
          <a:ln w="12700">
            <a:solidFill>
              <a:srgbClr val="00707F"/>
            </a:solidFill>
            <a:prstDash val="solid"/>
          </a:ln>
        </p:spPr>
      </p:sp>
      <p:sp>
        <p:nvSpPr>
          <p:cNvPr id="7" name="Text 5"/>
          <p:cNvSpPr txBox="1"/>
          <p:nvPr/>
        </p:nvSpPr>
        <p:spPr>
          <a:xfrm>
            <a:off x="457200" y="20002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8" name="Text 6"/>
          <p:cNvSpPr txBox="1"/>
          <p:nvPr/>
        </p:nvSpPr>
        <p:spPr>
          <a:xfrm>
            <a:off x="971550" y="1981200"/>
            <a:ext cx="4438650" cy="6286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Transifex: how a translation fix reaches eSIL</a:t>
            </a:r>
            <a:endParaRPr lang="en-US" sz="1900" dirty="0"/>
          </a:p>
        </p:txBody>
      </p:sp>
      <p:sp>
        <p:nvSpPr>
          <p:cNvPr id="9" name="Shape 7"/>
          <p:cNvSpPr/>
          <p:nvPr/>
        </p:nvSpPr>
        <p:spPr>
          <a:xfrm>
            <a:off x="457200" y="2667000"/>
            <a:ext cx="323850" cy="323850"/>
          </a:xfrm>
          <a:prstGeom prst="rect">
            <a:avLst/>
          </a:prstGeom>
          <a:solidFill>
            <a:srgbClr val="00707F"/>
          </a:solidFill>
          <a:ln w="12700">
            <a:solidFill>
              <a:srgbClr val="00707F"/>
            </a:solidFill>
            <a:prstDash val="solid"/>
          </a:ln>
        </p:spPr>
      </p:sp>
      <p:sp>
        <p:nvSpPr>
          <p:cNvPr id="10" name="Text 8"/>
          <p:cNvSpPr txBox="1"/>
          <p:nvPr/>
        </p:nvSpPr>
        <p:spPr>
          <a:xfrm>
            <a:off x="457200" y="26670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1" name="Text 9"/>
          <p:cNvSpPr txBox="1"/>
          <p:nvPr/>
        </p:nvSpPr>
        <p:spPr>
          <a:xfrm>
            <a:off x="971550" y="2647950"/>
            <a:ext cx="4438650" cy="6286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Multi-component results in the new test catalog</a:t>
            </a:r>
            <a:endParaRPr lang="en-US" sz="1900" dirty="0"/>
          </a:p>
        </p:txBody>
      </p:sp>
      <p:sp>
        <p:nvSpPr>
          <p:cNvPr id="12" name="Shape 10"/>
          <p:cNvSpPr/>
          <p:nvPr/>
        </p:nvSpPr>
        <p:spPr>
          <a:xfrm>
            <a:off x="457200" y="3333750"/>
            <a:ext cx="323850" cy="323850"/>
          </a:xfrm>
          <a:prstGeom prst="rect">
            <a:avLst/>
          </a:prstGeom>
          <a:solidFill>
            <a:srgbClr val="00707F"/>
          </a:solidFill>
          <a:ln w="12700">
            <a:solidFill>
              <a:srgbClr val="00707F"/>
            </a:solidFill>
            <a:prstDash val="solid"/>
          </a:ln>
        </p:spPr>
      </p:sp>
      <p:sp>
        <p:nvSpPr>
          <p:cNvPr id="13" name="Text 11"/>
          <p:cNvSpPr txBox="1"/>
          <p:nvPr/>
        </p:nvSpPr>
        <p:spPr>
          <a:xfrm>
            <a:off x="457200" y="33337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4" name="Text 12"/>
          <p:cNvSpPr txBox="1"/>
          <p:nvPr/>
        </p:nvSpPr>
        <p:spPr>
          <a:xfrm>
            <a:off x="971550" y="3314700"/>
            <a:ext cx="4438650" cy="628650"/>
          </a:xfrm>
          <a:prstGeom prst="rect">
            <a:avLst/>
          </a:prstGeom>
          <a:noFill/>
          <a:ln/>
        </p:spPr>
        <p:txBody>
          <a:bodyPr wrap="square" lIns="0" tIns="0" rIns="0" bIns="0" rtlCol="0" anchor="t">
            <a:normAutofit/>
          </a:bodyPr>
          <a:lstStyle/>
          <a:p>
            <a:pPr indent="0" marL="0">
              <a:buNone/>
            </a:pPr>
            <a:r>
              <a:rPr lang="en-US" sz="1900" dirty="0">
                <a:solidFill>
                  <a:srgbClr val="434343"/>
                </a:solidFill>
                <a:latin typeface="Source Sans 3" pitchFamily="34" charset="0"/>
                <a:ea typeface="Source Sans 3" pitchFamily="34" charset="-122"/>
                <a:cs typeface="Source Sans 3" pitchFamily="34" charset="-120"/>
              </a:rPr>
              <a:t>The new result entry screen</a:t>
            </a:r>
            <a:endParaRPr lang="en-US" sz="1900" dirty="0"/>
          </a:p>
        </p:txBody>
      </p:sp>
      <p:sp>
        <p:nvSpPr>
          <p:cNvPr id="15" name="Shape 13"/>
          <p:cNvSpPr/>
          <p:nvPr/>
        </p:nvSpPr>
        <p:spPr>
          <a:xfrm>
            <a:off x="5829300" y="1562100"/>
            <a:ext cx="2857500" cy="3028950"/>
          </a:xfrm>
          <a:prstGeom prst="rect">
            <a:avLst/>
          </a:prstGeom>
          <a:solidFill>
            <a:srgbClr val="33006F"/>
          </a:solidFill>
          <a:ln w="12700">
            <a:solidFill>
              <a:srgbClr val="33006F"/>
            </a:solidFill>
            <a:prstDash val="solid"/>
          </a:ln>
        </p:spPr>
      </p:sp>
      <p:sp>
        <p:nvSpPr>
          <p:cNvPr id="16" name="Text 14"/>
          <p:cNvSpPr txBox="1"/>
          <p:nvPr/>
        </p:nvSpPr>
        <p:spPr>
          <a:xfrm>
            <a:off x="5829300" y="1562100"/>
            <a:ext cx="2857500" cy="3028950"/>
          </a:xfrm>
          <a:prstGeom prst="rect">
            <a:avLst/>
          </a:prstGeom>
          <a:noFill/>
          <a:ln/>
        </p:spPr>
        <p:txBody>
          <a:bodyPr wrap="square" lIns="0" tIns="0" rIns="0" bIns="0" rtlCol="0" anchor="ctr"/>
          <a:lstStyle/>
          <a:p>
            <a:pPr algn="ctr" indent="0" marL="0">
              <a:buNone/>
            </a:pPr>
            <a:r>
              <a:rPr lang="en-US" sz="1600" dirty="0">
                <a:solidFill>
                  <a:srgbClr val="FFFFFF"/>
                </a:solidFill>
                <a:latin typeface="Source Sans 3" pitchFamily="34" charset="0"/>
                <a:ea typeface="Source Sans 3" pitchFamily="34" charset="-122"/>
                <a:cs typeface="Source Sans 3" pitchFamily="34" charset="-120"/>
              </a:rPr>
              <a:t>Live demo</a:t>
            </a:r>
            <a:endParaRPr lang="en-US" sz="1600" dirty="0"/>
          </a:p>
        </p:txBody>
      </p:sp>
      <p:sp>
        <p:nvSpPr>
          <p:cNvPr id="17" name="Text 1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9</a:t>
            </a:r>
            <a:endParaRPr lang="en-US" sz="1100" dirty="0"/>
          </a:p>
        </p:txBody>
      </p:sp>
      <p:sp>
        <p:nvSpPr>
          <p:cNvPr id="18" name="Text 1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707F"/>
                </a:solidFill>
                <a:latin typeface="Source Sans 3" pitchFamily="34" charset="0"/>
                <a:ea typeface="Source Sans 3" pitchFamily="34" charset="-122"/>
                <a:cs typeface="Source Sans 3" pitchFamily="34" charset="-120"/>
              </a:rPr>
              <a:t>PROJECT REVIEW</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1 of 7</a:t>
            </a:r>
            <a:endParaRPr lang="en-US" sz="1200" dirty="0"/>
          </a:p>
        </p:txBody>
      </p:sp>
      <p:sp>
        <p:nvSpPr>
          <p:cNvPr id="3" name="Shape 1"/>
          <p:cNvSpPr/>
          <p:nvPr/>
        </p:nvSpPr>
        <p:spPr>
          <a:xfrm>
            <a:off x="457200" y="533400"/>
            <a:ext cx="685800" cy="57150"/>
          </a:xfrm>
          <a:prstGeom prst="rect">
            <a:avLst/>
          </a:prstGeom>
          <a:solidFill>
            <a:srgbClr val="00707F"/>
          </a:solidFill>
          <a:ln w="12700">
            <a:solidFill>
              <a:srgbClr val="00707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Key resources: everything in one place</a:t>
            </a:r>
            <a:endParaRPr lang="en-US" sz="2500" dirty="0"/>
          </a:p>
        </p:txBody>
      </p:sp>
      <p:sp>
        <p:nvSpPr>
          <p:cNvPr id="5" name="Text 3"/>
          <p:cNvSpPr txBox="1"/>
          <p:nvPr/>
        </p:nvSpPr>
        <p:spPr>
          <a:xfrm>
            <a:off x="457200" y="1562100"/>
            <a:ext cx="4953000" cy="266700"/>
          </a:xfrm>
          <a:prstGeom prst="rect">
            <a:avLst/>
          </a:prstGeom>
          <a:noFill/>
          <a:ln/>
        </p:spPr>
        <p:txBody>
          <a:bodyPr wrap="square" lIns="0" tIns="0" rIns="0" bIns="0" rtlCol="0" anchor="t"/>
          <a:lstStyle/>
          <a:p>
            <a:pPr indent="0" marL="0">
              <a:buNone/>
            </a:pPr>
            <a:r>
              <a:rPr lang="en-US" sz="1800" b="1" dirty="0">
                <a:solidFill>
                  <a:srgbClr val="33006F"/>
                </a:solidFill>
                <a:latin typeface="Source Sans 3" pitchFamily="34" charset="0"/>
                <a:ea typeface="Source Sans 3" pitchFamily="34" charset="-122"/>
                <a:cs typeface="Source Sans 3" pitchFamily="34" charset="-120"/>
              </a:rPr>
              <a:t>eSIL Management Folder</a:t>
            </a:r>
            <a:endParaRPr lang="en-US" sz="1800" dirty="0"/>
          </a:p>
        </p:txBody>
      </p:sp>
      <p:sp>
        <p:nvSpPr>
          <p:cNvPr id="6" name="Text 4"/>
          <p:cNvSpPr txBox="1"/>
          <p:nvPr/>
        </p:nvSpPr>
        <p:spPr>
          <a:xfrm>
            <a:off x="457200" y="1828800"/>
            <a:ext cx="4953000" cy="190500"/>
          </a:xfrm>
          <a:prstGeom prst="rect">
            <a:avLst/>
          </a:prstGeom>
          <a:noFill/>
          <a:ln/>
        </p:spPr>
        <p:txBody>
          <a:bodyPr wrap="square" lIns="0" tIns="0" rIns="0" bIns="0" rtlCol="0" anchor="t"/>
          <a:lstStyle/>
          <a:p>
            <a:pPr indent="0" marL="0">
              <a:buNone/>
            </a:pPr>
            <a:r>
              <a:rPr lang="en-US" sz="1100" dirty="0">
                <a:solidFill>
                  <a:srgbClr val="01458E"/>
                </a:solidFill>
                <a:latin typeface="Source Sans 3" pitchFamily="34" charset="0"/>
                <a:ea typeface="Source Sans 3" pitchFamily="34" charset="-122"/>
                <a:cs typeface="Source Sans 3" pitchFamily="34" charset="-120"/>
              </a:rPr>
              <a:t>drive.google.com/drive/folders/1NVSJlD1si1R8bIrHWDNO6e56cMmw5FSU</a:t>
            </a:r>
            <a:endParaRPr lang="en-US" sz="1100" dirty="0"/>
          </a:p>
        </p:txBody>
      </p:sp>
      <p:sp>
        <p:nvSpPr>
          <p:cNvPr id="7" name="Text 5"/>
          <p:cNvSpPr txBox="1"/>
          <p:nvPr/>
        </p:nvSpPr>
        <p:spPr>
          <a:xfrm>
            <a:off x="457200" y="2133600"/>
            <a:ext cx="152400" cy="272987"/>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a:t>
            </a:r>
            <a:endParaRPr lang="en-US" sz="1600" dirty="0"/>
          </a:p>
        </p:txBody>
      </p:sp>
      <p:sp>
        <p:nvSpPr>
          <p:cNvPr id="8" name="Text 6"/>
          <p:cNvSpPr txBox="1"/>
          <p:nvPr/>
        </p:nvSpPr>
        <p:spPr>
          <a:xfrm>
            <a:off x="647700" y="2133600"/>
            <a:ext cx="4762500" cy="272987"/>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Project documents and requirements</a:t>
            </a:r>
            <a:endParaRPr lang="en-US" sz="1600" dirty="0"/>
          </a:p>
        </p:txBody>
      </p:sp>
      <p:sp>
        <p:nvSpPr>
          <p:cNvPr id="9" name="Text 7"/>
          <p:cNvSpPr txBox="1"/>
          <p:nvPr/>
        </p:nvSpPr>
        <p:spPr>
          <a:xfrm>
            <a:off x="457200" y="2520886"/>
            <a:ext cx="152400" cy="272987"/>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a:t>
            </a:r>
            <a:endParaRPr lang="en-US" sz="1600" dirty="0"/>
          </a:p>
        </p:txBody>
      </p:sp>
      <p:sp>
        <p:nvSpPr>
          <p:cNvPr id="10" name="Text 8"/>
          <p:cNvSpPr txBox="1"/>
          <p:nvPr/>
        </p:nvSpPr>
        <p:spPr>
          <a:xfrm>
            <a:off x="647700" y="2520886"/>
            <a:ext cx="4762500" cy="272987"/>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Training materials</a:t>
            </a:r>
            <a:endParaRPr lang="en-US" sz="1600" dirty="0"/>
          </a:p>
        </p:txBody>
      </p:sp>
      <p:sp>
        <p:nvSpPr>
          <p:cNvPr id="11" name="Text 9"/>
          <p:cNvSpPr txBox="1"/>
          <p:nvPr/>
        </p:nvSpPr>
        <p:spPr>
          <a:xfrm>
            <a:off x="457200" y="2908173"/>
            <a:ext cx="152400" cy="1034796"/>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a:t>
            </a:r>
            <a:endParaRPr lang="en-US" sz="1600" dirty="0"/>
          </a:p>
        </p:txBody>
      </p:sp>
      <p:sp>
        <p:nvSpPr>
          <p:cNvPr id="12" name="Text 10"/>
          <p:cNvSpPr txBox="1"/>
          <p:nvPr/>
        </p:nvSpPr>
        <p:spPr>
          <a:xfrm>
            <a:off x="647700" y="2908173"/>
            <a:ext cx="4762500" cy="1034796"/>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OpenELIS Global documentation (the wiki). Most pages are now in French. More pages follow as the new manual sections are completed.</a:t>
            </a:r>
            <a:endParaRPr lang="en-US" sz="1600" dirty="0"/>
          </a:p>
        </p:txBody>
      </p:sp>
      <p:sp>
        <p:nvSpPr>
          <p:cNvPr id="13" name="Text 11"/>
          <p:cNvSpPr txBox="1"/>
          <p:nvPr/>
        </p:nvSpPr>
        <p:spPr>
          <a:xfrm>
            <a:off x="457200" y="4057269"/>
            <a:ext cx="152400" cy="272987"/>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a:t>
            </a:r>
            <a:endParaRPr lang="en-US" sz="1600" dirty="0"/>
          </a:p>
        </p:txBody>
      </p:sp>
      <p:sp>
        <p:nvSpPr>
          <p:cNvPr id="14" name="Text 12"/>
          <p:cNvSpPr txBox="1"/>
          <p:nvPr/>
        </p:nvSpPr>
        <p:spPr>
          <a:xfrm>
            <a:off x="647700" y="4057269"/>
            <a:ext cx="4762500" cy="272987"/>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Release notes for each version</a:t>
            </a:r>
            <a:endParaRPr lang="en-US" sz="1600" dirty="0"/>
          </a:p>
        </p:txBody>
      </p:sp>
      <p:sp>
        <p:nvSpPr>
          <p:cNvPr id="15" name="Shape 13"/>
          <p:cNvSpPr/>
          <p:nvPr/>
        </p:nvSpPr>
        <p:spPr>
          <a:xfrm>
            <a:off x="5829300" y="1562100"/>
            <a:ext cx="2857500" cy="3028950"/>
          </a:xfrm>
          <a:prstGeom prst="rect">
            <a:avLst/>
          </a:prstGeom>
          <a:solidFill>
            <a:srgbClr val="F0F0FF"/>
          </a:solidFill>
          <a:ln w="19050">
            <a:solidFill>
              <a:srgbClr val="BFBFBF"/>
            </a:solidFill>
            <a:prstDash val="dash"/>
          </a:ln>
        </p:spPr>
      </p:sp>
      <p:sp>
        <p:nvSpPr>
          <p:cNvPr id="16" name="Text 14"/>
          <p:cNvSpPr txBox="1"/>
          <p:nvPr/>
        </p:nvSpPr>
        <p:spPr>
          <a:xfrm>
            <a:off x="6019800" y="1562100"/>
            <a:ext cx="2476500" cy="3028950"/>
          </a:xfrm>
          <a:prstGeom prst="rect">
            <a:avLst/>
          </a:prstGeom>
          <a:noFill/>
          <a:ln/>
        </p:spPr>
        <p:txBody>
          <a:bodyPr wrap="square" lIns="0" tIns="0" rIns="0" bIns="0" rtlCol="0" anchor="ctr"/>
          <a:lstStyle/>
          <a:p>
            <a:pPr algn="ctr" indent="0" marL="0">
              <a:buNone/>
            </a:pPr>
            <a:r>
              <a:rPr lang="en-US" sz="1400" b="1" dirty="0">
                <a:solidFill>
                  <a:srgbClr val="01458E"/>
                </a:solidFill>
                <a:latin typeface="Source Sans 3" pitchFamily="34" charset="0"/>
                <a:ea typeface="Source Sans 3" pitchFamily="34" charset="-122"/>
                <a:cs typeface="Source Sans 3" pitchFamily="34" charset="-120"/>
              </a:rPr>
              <a:t>Placeholder: </a:t>
            </a:r>
            <a:pPr algn="ctr" indent="0" marL="0">
              <a:buNone/>
            </a:pPr>
            <a:r>
              <a:rPr lang="en-US" sz="1400" dirty="0">
                <a:solidFill>
                  <a:srgbClr val="434343"/>
                </a:solidFill>
                <a:latin typeface="Source Sans 3" pitchFamily="34" charset="0"/>
                <a:ea typeface="Source Sans 3" pitchFamily="34" charset="-122"/>
                <a:cs typeface="Source Sans 3" pitchFamily="34" charset="-120"/>
              </a:rPr>
              <a:t>Screenshot of the wiki in French, showing the language switch (Taib)</a:t>
            </a:r>
            <a:endParaRPr lang="en-US" sz="1400" dirty="0"/>
          </a:p>
        </p:txBody>
      </p:sp>
      <p:sp>
        <p:nvSpPr>
          <p:cNvPr id="17" name="Text 1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10</a:t>
            </a:r>
            <a:endParaRPr lang="en-US" sz="1100" dirty="0"/>
          </a:p>
        </p:txBody>
      </p:sp>
      <p:sp>
        <p:nvSpPr>
          <p:cNvPr id="18" name="Text 1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67175"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4762500" y="1428750"/>
            <a:ext cx="3810000" cy="1238250"/>
          </a:xfrm>
          <a:prstGeom prst="rect">
            <a:avLst/>
          </a:prstGeom>
          <a:noFill/>
          <a:ln/>
        </p:spPr>
        <p:txBody>
          <a:bodyPr wrap="square" lIns="0" tIns="0" rIns="0" bIns="0" rtlCol="0" anchor="b">
            <a:normAutofit/>
          </a:bodyPr>
          <a:lstStyle/>
          <a:p>
            <a:pPr indent="0" marL="0">
              <a:buNone/>
            </a:pPr>
            <a:r>
              <a:rPr lang="en-US" sz="2800" b="1" dirty="0">
                <a:solidFill>
                  <a:srgbClr val="33006F"/>
                </a:solidFill>
                <a:latin typeface="Source Sans 3" pitchFamily="34" charset="0"/>
                <a:ea typeface="Source Sans 3" pitchFamily="34" charset="-122"/>
                <a:cs typeface="Source Sans 3" pitchFamily="34" charset="-120"/>
              </a:rPr>
              <a:t>2. How the OpenELIS Global community works</a:t>
            </a:r>
            <a:endParaRPr lang="en-US" sz="2800" dirty="0"/>
          </a:p>
        </p:txBody>
      </p:sp>
      <p:sp>
        <p:nvSpPr>
          <p:cNvPr id="4" name="Text 2"/>
          <p:cNvSpPr txBox="1"/>
          <p:nvPr/>
        </p:nvSpPr>
        <p:spPr>
          <a:xfrm>
            <a:off x="4762500" y="2781300"/>
            <a:ext cx="3810000" cy="1143000"/>
          </a:xfrm>
          <a:prstGeom prst="rect">
            <a:avLst/>
          </a:prstGeom>
          <a:noFill/>
          <a:ln/>
        </p:spPr>
        <p:txBody>
          <a:bodyPr wrap="square" lIns="0" tIns="0" rIns="0" bIns="0" rtlCol="0" anchor="t"/>
          <a:lstStyle/>
          <a:p>
            <a:pPr indent="0" marL="0">
              <a:buNone/>
            </a:pPr>
            <a:r>
              <a:rPr lang="en-US" sz="1800" dirty="0">
                <a:solidFill>
                  <a:srgbClr val="434343"/>
                </a:solidFill>
                <a:latin typeface="Source Sans 3" pitchFamily="34" charset="0"/>
                <a:ea typeface="Source Sans 3" pitchFamily="34" charset="-122"/>
                <a:cs typeface="Source Sans 3" pitchFamily="34" charset="-120"/>
              </a:rPr>
              <a:t>One forum, a weekly call, and a clear path from a post to a change.</a:t>
            </a:r>
            <a:endParaRPr lang="en-US" sz="180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11</a:t>
            </a:r>
            <a:endParaRPr lang="en-US" sz="11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FFFFFF"/>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010150" cy="5143500"/>
          </a:xfrm>
          <a:prstGeom prst="rect">
            <a:avLst/>
          </a:prstGeom>
          <a:solidFill>
            <a:srgbClr val="33006F"/>
          </a:solidFill>
          <a:ln w="12700">
            <a:solidFill>
              <a:srgbClr val="33006F"/>
            </a:solidFill>
            <a:prstDash val="solid"/>
          </a:ln>
        </p:spPr>
      </p:sp>
      <p:sp>
        <p:nvSpPr>
          <p:cNvPr id="3" name="Text 1"/>
          <p:cNvSpPr txBox="1"/>
          <p:nvPr/>
        </p:nvSpPr>
        <p:spPr>
          <a:xfrm>
            <a:off x="581025" y="876300"/>
            <a:ext cx="4057650" cy="1238250"/>
          </a:xfrm>
          <a:prstGeom prst="rect">
            <a:avLst/>
          </a:prstGeom>
          <a:noFill/>
          <a:ln/>
        </p:spPr>
        <p:txBody>
          <a:bodyPr wrap="square" lIns="0" tIns="0" rIns="0" bIns="0" rtlCol="0" anchor="t"/>
          <a:lstStyle/>
          <a:p>
            <a:pPr indent="0" marL="0">
              <a:buNone/>
            </a:pPr>
            <a:r>
              <a:rPr lang="en-US" sz="3000" b="1" dirty="0">
                <a:solidFill>
                  <a:srgbClr val="FFFFFF"/>
                </a:solidFill>
                <a:latin typeface="Source Sans 3" pitchFamily="34" charset="0"/>
                <a:ea typeface="Source Sans 3" pitchFamily="34" charset="-122"/>
                <a:cs typeface="Source Sans 3" pitchFamily="34" charset="-120"/>
              </a:rPr>
              <a:t>OpenELIS Global is steered in public, on the forum</a:t>
            </a:r>
            <a:endParaRPr lang="en-US" sz="3000" dirty="0"/>
          </a:p>
        </p:txBody>
      </p:sp>
      <p:sp>
        <p:nvSpPr>
          <p:cNvPr id="4" name="Text 2"/>
          <p:cNvSpPr txBox="1"/>
          <p:nvPr/>
        </p:nvSpPr>
        <p:spPr>
          <a:xfrm>
            <a:off x="581025" y="2286000"/>
            <a:ext cx="4057650" cy="1524000"/>
          </a:xfrm>
          <a:prstGeom prst="rect">
            <a:avLst/>
          </a:prstGeom>
          <a:noFill/>
          <a:ln/>
        </p:spPr>
        <p:txBody>
          <a:bodyPr wrap="square" lIns="0" tIns="0" rIns="0" bIns="0" rtlCol="0" anchor="t"/>
          <a:lstStyle/>
          <a:p>
            <a:pPr indent="0" marL="0">
              <a:buNone/>
            </a:pPr>
            <a:r>
              <a:rPr lang="en-US" sz="1700" dirty="0">
                <a:solidFill>
                  <a:srgbClr val="FFFFFF"/>
                </a:solidFill>
                <a:latin typeface="Source Sans 3" pitchFamily="34" charset="0"/>
                <a:ea typeface="Source Sans 3" pitchFamily="34" charset="-122"/>
                <a:cs typeface="Source Sans 3" pitchFamily="34" charset="-120"/>
              </a:rPr>
              <a:t>Support, bug reports, feature discussions and roadmap decisions all start as a post on talk.openelis-global.org. There is no private support desk behind it.</a:t>
            </a:r>
            <a:endParaRPr lang="en-US" sz="1700" dirty="0"/>
          </a:p>
        </p:txBody>
      </p:sp>
      <p:sp>
        <p:nvSpPr>
          <p:cNvPr id="5" name="Text 3"/>
          <p:cNvSpPr txBox="1"/>
          <p:nvPr/>
        </p:nvSpPr>
        <p:spPr>
          <a:xfrm>
            <a:off x="5467350" y="742950"/>
            <a:ext cx="3219450" cy="2857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Three things to know</a:t>
            </a:r>
            <a:endParaRPr lang="en-US" sz="1200" dirty="0"/>
          </a:p>
        </p:txBody>
      </p:sp>
      <p:sp>
        <p:nvSpPr>
          <p:cNvPr id="6" name="Shape 4"/>
          <p:cNvSpPr/>
          <p:nvPr/>
        </p:nvSpPr>
        <p:spPr>
          <a:xfrm>
            <a:off x="5467350" y="1123950"/>
            <a:ext cx="285750" cy="285750"/>
          </a:xfrm>
          <a:prstGeom prst="rect">
            <a:avLst/>
          </a:prstGeom>
          <a:solidFill>
            <a:srgbClr val="33006F"/>
          </a:solidFill>
          <a:ln w="12700">
            <a:solidFill>
              <a:srgbClr val="33006F"/>
            </a:solidFill>
            <a:prstDash val="solid"/>
          </a:ln>
        </p:spPr>
      </p:sp>
      <p:sp>
        <p:nvSpPr>
          <p:cNvPr id="7" name="Text 5"/>
          <p:cNvSpPr txBox="1"/>
          <p:nvPr/>
        </p:nvSpPr>
        <p:spPr>
          <a:xfrm>
            <a:off x="5467350" y="112395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1</a:t>
            </a:r>
            <a:endParaRPr lang="en-US" sz="1400" dirty="0"/>
          </a:p>
        </p:txBody>
      </p:sp>
      <p:sp>
        <p:nvSpPr>
          <p:cNvPr id="8" name="Text 6"/>
          <p:cNvSpPr txBox="1"/>
          <p:nvPr/>
        </p:nvSpPr>
        <p:spPr>
          <a:xfrm>
            <a:off x="5905500" y="1104900"/>
            <a:ext cx="2781300" cy="110490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Where to go. </a:t>
            </a:r>
            <a:pPr indent="0" marL="0">
              <a:buNone/>
            </a:pPr>
            <a:r>
              <a:rPr lang="en-US" sz="1700" dirty="0">
                <a:solidFill>
                  <a:srgbClr val="434343"/>
                </a:solidFill>
                <a:latin typeface="Source Sans 3" pitchFamily="34" charset="0"/>
                <a:ea typeface="Source Sans 3" pitchFamily="34" charset="-122"/>
                <a:cs typeface="Source Sans 3" pitchFamily="34" charset="-120"/>
              </a:rPr>
              <a:t>Each kind of conversation has a place on the forum.</a:t>
            </a:r>
            <a:endParaRPr lang="en-US" sz="1700" dirty="0"/>
          </a:p>
        </p:txBody>
      </p:sp>
      <p:sp>
        <p:nvSpPr>
          <p:cNvPr id="9" name="Shape 7"/>
          <p:cNvSpPr/>
          <p:nvPr/>
        </p:nvSpPr>
        <p:spPr>
          <a:xfrm>
            <a:off x="5467350" y="2266950"/>
            <a:ext cx="285750" cy="285750"/>
          </a:xfrm>
          <a:prstGeom prst="rect">
            <a:avLst/>
          </a:prstGeom>
          <a:solidFill>
            <a:srgbClr val="33006F"/>
          </a:solidFill>
          <a:ln w="12700">
            <a:solidFill>
              <a:srgbClr val="33006F"/>
            </a:solidFill>
            <a:prstDash val="solid"/>
          </a:ln>
        </p:spPr>
      </p:sp>
      <p:sp>
        <p:nvSpPr>
          <p:cNvPr id="10" name="Text 8"/>
          <p:cNvSpPr txBox="1"/>
          <p:nvPr/>
        </p:nvSpPr>
        <p:spPr>
          <a:xfrm>
            <a:off x="5467350" y="226695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2</a:t>
            </a:r>
            <a:endParaRPr lang="en-US" sz="1400" dirty="0"/>
          </a:p>
        </p:txBody>
      </p:sp>
      <p:sp>
        <p:nvSpPr>
          <p:cNvPr id="11" name="Text 9"/>
          <p:cNvSpPr txBox="1"/>
          <p:nvPr/>
        </p:nvSpPr>
        <p:spPr>
          <a:xfrm>
            <a:off x="5905500" y="2247900"/>
            <a:ext cx="2781300" cy="110490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Who to ask. </a:t>
            </a:r>
            <a:pPr indent="0" marL="0">
              <a:buNone/>
            </a:pPr>
            <a:r>
              <a:rPr lang="en-US" sz="1700" dirty="0">
                <a:solidFill>
                  <a:srgbClr val="434343"/>
                </a:solidFill>
                <a:latin typeface="Source Sans 3" pitchFamily="34" charset="0"/>
                <a:ea typeface="Source Sans 3" pitchFamily="34" charset="-122"/>
                <a:cs typeface="Source Sans 3" pitchFamily="34" charset="-120"/>
              </a:rPr>
              <a:t>The maintainers read the forum and join the weekly call.</a:t>
            </a:r>
            <a:endParaRPr lang="en-US" sz="1700" dirty="0"/>
          </a:p>
        </p:txBody>
      </p:sp>
      <p:sp>
        <p:nvSpPr>
          <p:cNvPr id="12" name="Shape 10"/>
          <p:cNvSpPr/>
          <p:nvPr/>
        </p:nvSpPr>
        <p:spPr>
          <a:xfrm>
            <a:off x="5467350" y="3409950"/>
            <a:ext cx="285750" cy="285750"/>
          </a:xfrm>
          <a:prstGeom prst="rect">
            <a:avLst/>
          </a:prstGeom>
          <a:solidFill>
            <a:srgbClr val="33006F"/>
          </a:solidFill>
          <a:ln w="12700">
            <a:solidFill>
              <a:srgbClr val="33006F"/>
            </a:solidFill>
            <a:prstDash val="solid"/>
          </a:ln>
        </p:spPr>
      </p:sp>
      <p:sp>
        <p:nvSpPr>
          <p:cNvPr id="13" name="Text 11"/>
          <p:cNvSpPr txBox="1"/>
          <p:nvPr/>
        </p:nvSpPr>
        <p:spPr>
          <a:xfrm>
            <a:off x="5467350" y="340995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3</a:t>
            </a:r>
            <a:endParaRPr lang="en-US" sz="1400" dirty="0"/>
          </a:p>
        </p:txBody>
      </p:sp>
      <p:sp>
        <p:nvSpPr>
          <p:cNvPr id="14" name="Text 12"/>
          <p:cNvSpPr txBox="1"/>
          <p:nvPr/>
        </p:nvSpPr>
        <p:spPr>
          <a:xfrm>
            <a:off x="5905500" y="3390900"/>
            <a:ext cx="2781300" cy="110490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How to influence. </a:t>
            </a:r>
            <a:pPr indent="0" marL="0">
              <a:buNone/>
            </a:pPr>
            <a:r>
              <a:rPr lang="en-US" sz="1700" dirty="0">
                <a:solidFill>
                  <a:srgbClr val="434343"/>
                </a:solidFill>
                <a:latin typeface="Source Sans 3" pitchFamily="34" charset="0"/>
                <a:ea typeface="Source Sans 3" pitchFamily="34" charset="-122"/>
                <a:cs typeface="Source Sans 3" pitchFamily="34" charset="-120"/>
              </a:rPr>
              <a:t>A public post can become a ticket, then a release.</a:t>
            </a:r>
            <a:endParaRPr lang="en-US" sz="1700" dirty="0"/>
          </a:p>
        </p:txBody>
      </p:sp>
      <p:sp>
        <p:nvSpPr>
          <p:cNvPr id="15" name="Text 1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12</a:t>
            </a:r>
            <a:endParaRPr lang="en-US" sz="1100" dirty="0"/>
          </a:p>
        </p:txBody>
      </p:sp>
      <p:sp>
        <p:nvSpPr>
          <p:cNvPr id="16" name="Text 1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FFFFFF"/>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THE COMMUNITY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2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One forum, four categories: talk.openelis-global.org</a:t>
            </a:r>
            <a:endParaRPr lang="en-US" sz="2500" dirty="0"/>
          </a:p>
        </p:txBody>
      </p:sp>
      <p:sp>
        <p:nvSpPr>
          <p:cNvPr id="5" name="Shape 3"/>
          <p:cNvSpPr/>
          <p:nvPr/>
        </p:nvSpPr>
        <p:spPr>
          <a:xfrm>
            <a:off x="457200" y="1562100"/>
            <a:ext cx="4038600" cy="1428750"/>
          </a:xfrm>
          <a:prstGeom prst="rect">
            <a:avLst/>
          </a:prstGeom>
          <a:solidFill>
            <a:srgbClr val="F0F0FF"/>
          </a:solidFill>
          <a:ln w="12700">
            <a:solidFill>
              <a:srgbClr val="F0F0FF"/>
            </a:solidFill>
            <a:prstDash val="solid"/>
          </a:ln>
        </p:spPr>
      </p:sp>
      <p:sp>
        <p:nvSpPr>
          <p:cNvPr id="6" name="Shape 4"/>
          <p:cNvSpPr/>
          <p:nvPr/>
        </p:nvSpPr>
        <p:spPr>
          <a:xfrm>
            <a:off x="457200" y="1562100"/>
            <a:ext cx="4038600" cy="38100"/>
          </a:xfrm>
          <a:prstGeom prst="rect">
            <a:avLst/>
          </a:prstGeom>
          <a:solidFill>
            <a:srgbClr val="33006F"/>
          </a:solidFill>
          <a:ln w="12700">
            <a:solidFill>
              <a:srgbClr val="33006F"/>
            </a:solidFill>
            <a:prstDash val="solid"/>
          </a:ln>
        </p:spPr>
      </p:sp>
      <p:sp>
        <p:nvSpPr>
          <p:cNvPr id="7" name="Shape 5"/>
          <p:cNvSpPr/>
          <p:nvPr/>
        </p:nvSpPr>
        <p:spPr>
          <a:xfrm>
            <a:off x="685800" y="1809750"/>
            <a:ext cx="323850" cy="323850"/>
          </a:xfrm>
          <a:prstGeom prst="rect">
            <a:avLst/>
          </a:prstGeom>
          <a:solidFill>
            <a:srgbClr val="33006F"/>
          </a:solidFill>
          <a:ln w="12700">
            <a:solidFill>
              <a:srgbClr val="33006F"/>
            </a:solidFill>
            <a:prstDash val="solid"/>
          </a:ln>
        </p:spPr>
      </p:sp>
      <p:sp>
        <p:nvSpPr>
          <p:cNvPr id="8" name="Text 6"/>
          <p:cNvSpPr txBox="1"/>
          <p:nvPr/>
        </p:nvSpPr>
        <p:spPr>
          <a:xfrm>
            <a:off x="685800" y="18097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9" name="Text 7"/>
          <p:cNvSpPr txBox="1"/>
          <p:nvPr/>
        </p:nvSpPr>
        <p:spPr>
          <a:xfrm>
            <a:off x="1200150" y="1790700"/>
            <a:ext cx="3086100" cy="342900"/>
          </a:xfrm>
          <a:prstGeom prst="rect">
            <a:avLst/>
          </a:prstGeom>
          <a:noFill/>
          <a:ln/>
        </p:spPr>
        <p:txBody>
          <a:bodyPr wrap="square" lIns="0" tIns="0" rIns="0" bIns="0" rtlCol="0" anchor="t"/>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Community</a:t>
            </a:r>
            <a:endParaRPr lang="en-US" sz="2200" dirty="0"/>
          </a:p>
        </p:txBody>
      </p:sp>
      <p:sp>
        <p:nvSpPr>
          <p:cNvPr id="10" name="Text 8"/>
          <p:cNvSpPr txBox="1"/>
          <p:nvPr/>
        </p:nvSpPr>
        <p:spPr>
          <a:xfrm>
            <a:off x="1200150" y="2190750"/>
            <a:ext cx="3086100" cy="6667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Announcements, introductions, general discussion.</a:t>
            </a:r>
            <a:endParaRPr lang="en-US" sz="1500" dirty="0"/>
          </a:p>
        </p:txBody>
      </p:sp>
      <p:sp>
        <p:nvSpPr>
          <p:cNvPr id="11" name="Shape 9"/>
          <p:cNvSpPr/>
          <p:nvPr/>
        </p:nvSpPr>
        <p:spPr>
          <a:xfrm>
            <a:off x="4648200" y="1562100"/>
            <a:ext cx="4038600" cy="1428750"/>
          </a:xfrm>
          <a:prstGeom prst="rect">
            <a:avLst/>
          </a:prstGeom>
          <a:solidFill>
            <a:srgbClr val="F0F0FF"/>
          </a:solidFill>
          <a:ln w="12700">
            <a:solidFill>
              <a:srgbClr val="F0F0FF"/>
            </a:solidFill>
            <a:prstDash val="solid"/>
          </a:ln>
        </p:spPr>
      </p:sp>
      <p:sp>
        <p:nvSpPr>
          <p:cNvPr id="12" name="Shape 10"/>
          <p:cNvSpPr/>
          <p:nvPr/>
        </p:nvSpPr>
        <p:spPr>
          <a:xfrm>
            <a:off x="4648200" y="1562100"/>
            <a:ext cx="4038600" cy="38100"/>
          </a:xfrm>
          <a:prstGeom prst="rect">
            <a:avLst/>
          </a:prstGeom>
          <a:solidFill>
            <a:srgbClr val="33006F"/>
          </a:solidFill>
          <a:ln w="12700">
            <a:solidFill>
              <a:srgbClr val="33006F"/>
            </a:solidFill>
            <a:prstDash val="solid"/>
          </a:ln>
        </p:spPr>
      </p:sp>
      <p:sp>
        <p:nvSpPr>
          <p:cNvPr id="13" name="Shape 11"/>
          <p:cNvSpPr/>
          <p:nvPr/>
        </p:nvSpPr>
        <p:spPr>
          <a:xfrm>
            <a:off x="4876800" y="1809750"/>
            <a:ext cx="323850" cy="323850"/>
          </a:xfrm>
          <a:prstGeom prst="rect">
            <a:avLst/>
          </a:prstGeom>
          <a:solidFill>
            <a:srgbClr val="33006F"/>
          </a:solidFill>
          <a:ln w="12700">
            <a:solidFill>
              <a:srgbClr val="33006F"/>
            </a:solidFill>
            <a:prstDash val="solid"/>
          </a:ln>
        </p:spPr>
      </p:sp>
      <p:sp>
        <p:nvSpPr>
          <p:cNvPr id="14" name="Text 12"/>
          <p:cNvSpPr txBox="1"/>
          <p:nvPr/>
        </p:nvSpPr>
        <p:spPr>
          <a:xfrm>
            <a:off x="4876800" y="18097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5" name="Text 13"/>
          <p:cNvSpPr txBox="1"/>
          <p:nvPr/>
        </p:nvSpPr>
        <p:spPr>
          <a:xfrm>
            <a:off x="5391150" y="1790700"/>
            <a:ext cx="3086100" cy="342900"/>
          </a:xfrm>
          <a:prstGeom prst="rect">
            <a:avLst/>
          </a:prstGeom>
          <a:noFill/>
          <a:ln/>
        </p:spPr>
        <p:txBody>
          <a:bodyPr wrap="square" lIns="0" tIns="0" rIns="0" bIns="0" rtlCol="0" anchor="t"/>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Development</a:t>
            </a:r>
            <a:endParaRPr lang="en-US" sz="2200" dirty="0"/>
          </a:p>
        </p:txBody>
      </p:sp>
      <p:sp>
        <p:nvSpPr>
          <p:cNvPr id="16" name="Text 14"/>
          <p:cNvSpPr txBox="1"/>
          <p:nvPr/>
        </p:nvSpPr>
        <p:spPr>
          <a:xfrm>
            <a:off x="5391150" y="2190750"/>
            <a:ext cx="3086100" cy="6667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Bug reports, feature proposals, technical design.</a:t>
            </a:r>
            <a:endParaRPr lang="en-US" sz="1500" dirty="0"/>
          </a:p>
        </p:txBody>
      </p:sp>
      <p:sp>
        <p:nvSpPr>
          <p:cNvPr id="17" name="Shape 15"/>
          <p:cNvSpPr/>
          <p:nvPr/>
        </p:nvSpPr>
        <p:spPr>
          <a:xfrm>
            <a:off x="457200" y="3143250"/>
            <a:ext cx="4038600" cy="1428750"/>
          </a:xfrm>
          <a:prstGeom prst="rect">
            <a:avLst/>
          </a:prstGeom>
          <a:solidFill>
            <a:srgbClr val="F0F0FF"/>
          </a:solidFill>
          <a:ln w="12700">
            <a:solidFill>
              <a:srgbClr val="F0F0FF"/>
            </a:solidFill>
            <a:prstDash val="solid"/>
          </a:ln>
        </p:spPr>
      </p:sp>
      <p:sp>
        <p:nvSpPr>
          <p:cNvPr id="18" name="Shape 16"/>
          <p:cNvSpPr/>
          <p:nvPr/>
        </p:nvSpPr>
        <p:spPr>
          <a:xfrm>
            <a:off x="457200" y="3143250"/>
            <a:ext cx="4038600" cy="38100"/>
          </a:xfrm>
          <a:prstGeom prst="rect">
            <a:avLst/>
          </a:prstGeom>
          <a:solidFill>
            <a:srgbClr val="33006F"/>
          </a:solidFill>
          <a:ln w="12700">
            <a:solidFill>
              <a:srgbClr val="33006F"/>
            </a:solidFill>
            <a:prstDash val="solid"/>
          </a:ln>
        </p:spPr>
      </p:sp>
      <p:sp>
        <p:nvSpPr>
          <p:cNvPr id="19" name="Shape 17"/>
          <p:cNvSpPr/>
          <p:nvPr/>
        </p:nvSpPr>
        <p:spPr>
          <a:xfrm>
            <a:off x="685800" y="3390900"/>
            <a:ext cx="323850" cy="323850"/>
          </a:xfrm>
          <a:prstGeom prst="rect">
            <a:avLst/>
          </a:prstGeom>
          <a:solidFill>
            <a:srgbClr val="33006F"/>
          </a:solidFill>
          <a:ln w="12700">
            <a:solidFill>
              <a:srgbClr val="33006F"/>
            </a:solidFill>
            <a:prstDash val="solid"/>
          </a:ln>
        </p:spPr>
      </p:sp>
      <p:sp>
        <p:nvSpPr>
          <p:cNvPr id="20" name="Text 18"/>
          <p:cNvSpPr txBox="1"/>
          <p:nvPr/>
        </p:nvSpPr>
        <p:spPr>
          <a:xfrm>
            <a:off x="685800" y="33909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21" name="Text 19"/>
          <p:cNvSpPr txBox="1"/>
          <p:nvPr/>
        </p:nvSpPr>
        <p:spPr>
          <a:xfrm>
            <a:off x="1200150" y="3371850"/>
            <a:ext cx="3086100" cy="342900"/>
          </a:xfrm>
          <a:prstGeom prst="rect">
            <a:avLst/>
          </a:prstGeom>
          <a:noFill/>
          <a:ln/>
        </p:spPr>
        <p:txBody>
          <a:bodyPr wrap="square" lIns="0" tIns="0" rIns="0" bIns="0" rtlCol="0" anchor="t"/>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Ask OpenELIS</a:t>
            </a:r>
            <a:endParaRPr lang="en-US" sz="2200" dirty="0"/>
          </a:p>
        </p:txBody>
      </p:sp>
      <p:sp>
        <p:nvSpPr>
          <p:cNvPr id="22" name="Text 20"/>
          <p:cNvSpPr txBox="1"/>
          <p:nvPr/>
        </p:nvSpPr>
        <p:spPr>
          <a:xfrm>
            <a:off x="1200150" y="3771900"/>
            <a:ext cx="3086100" cy="6667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Support for implementers. "How do I configure X?" "What does this error mean?"</a:t>
            </a:r>
            <a:endParaRPr lang="en-US" sz="1500" dirty="0"/>
          </a:p>
        </p:txBody>
      </p:sp>
      <p:sp>
        <p:nvSpPr>
          <p:cNvPr id="23" name="Shape 21"/>
          <p:cNvSpPr/>
          <p:nvPr/>
        </p:nvSpPr>
        <p:spPr>
          <a:xfrm>
            <a:off x="4648200" y="3143250"/>
            <a:ext cx="4038600" cy="1428750"/>
          </a:xfrm>
          <a:prstGeom prst="rect">
            <a:avLst/>
          </a:prstGeom>
          <a:solidFill>
            <a:srgbClr val="F0F0FF"/>
          </a:solidFill>
          <a:ln w="12700">
            <a:solidFill>
              <a:srgbClr val="F0F0FF"/>
            </a:solidFill>
            <a:prstDash val="solid"/>
          </a:ln>
        </p:spPr>
      </p:sp>
      <p:sp>
        <p:nvSpPr>
          <p:cNvPr id="24" name="Shape 22"/>
          <p:cNvSpPr/>
          <p:nvPr/>
        </p:nvSpPr>
        <p:spPr>
          <a:xfrm>
            <a:off x="4648200" y="3143250"/>
            <a:ext cx="4038600" cy="38100"/>
          </a:xfrm>
          <a:prstGeom prst="rect">
            <a:avLst/>
          </a:prstGeom>
          <a:solidFill>
            <a:srgbClr val="33006F"/>
          </a:solidFill>
          <a:ln w="12700">
            <a:solidFill>
              <a:srgbClr val="33006F"/>
            </a:solidFill>
            <a:prstDash val="solid"/>
          </a:ln>
        </p:spPr>
      </p:sp>
      <p:sp>
        <p:nvSpPr>
          <p:cNvPr id="25" name="Shape 23"/>
          <p:cNvSpPr/>
          <p:nvPr/>
        </p:nvSpPr>
        <p:spPr>
          <a:xfrm>
            <a:off x="4876800" y="3390900"/>
            <a:ext cx="323850" cy="323850"/>
          </a:xfrm>
          <a:prstGeom prst="rect">
            <a:avLst/>
          </a:prstGeom>
          <a:solidFill>
            <a:srgbClr val="33006F"/>
          </a:solidFill>
          <a:ln w="12700">
            <a:solidFill>
              <a:srgbClr val="33006F"/>
            </a:solidFill>
            <a:prstDash val="solid"/>
          </a:ln>
        </p:spPr>
      </p:sp>
      <p:sp>
        <p:nvSpPr>
          <p:cNvPr id="26" name="Text 24"/>
          <p:cNvSpPr txBox="1"/>
          <p:nvPr/>
        </p:nvSpPr>
        <p:spPr>
          <a:xfrm>
            <a:off x="4876800" y="33909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27" name="Text 25"/>
          <p:cNvSpPr txBox="1"/>
          <p:nvPr/>
        </p:nvSpPr>
        <p:spPr>
          <a:xfrm>
            <a:off x="5391150" y="3371850"/>
            <a:ext cx="3086100" cy="342900"/>
          </a:xfrm>
          <a:prstGeom prst="rect">
            <a:avLst/>
          </a:prstGeom>
          <a:noFill/>
          <a:ln/>
        </p:spPr>
        <p:txBody>
          <a:bodyPr wrap="square" lIns="0" tIns="0" rIns="0" bIns="0" rtlCol="0" anchor="t"/>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GSoC</a:t>
            </a:r>
            <a:endParaRPr lang="en-US" sz="2200" dirty="0"/>
          </a:p>
        </p:txBody>
      </p:sp>
      <p:sp>
        <p:nvSpPr>
          <p:cNvPr id="28" name="Text 26"/>
          <p:cNvSpPr txBox="1"/>
          <p:nvPr/>
        </p:nvSpPr>
        <p:spPr>
          <a:xfrm>
            <a:off x="5391150" y="3771900"/>
            <a:ext cx="3086100" cy="6667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Google Summer of Code. Students build features with mentors each summer.</a:t>
            </a:r>
            <a:endParaRPr lang="en-US" sz="1500" dirty="0"/>
          </a:p>
        </p:txBody>
      </p:sp>
      <p:sp>
        <p:nvSpPr>
          <p:cNvPr id="29" name="Text 27"/>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13</a:t>
            </a:r>
            <a:endParaRPr lang="en-US" sz="1100" dirty="0"/>
          </a:p>
        </p:txBody>
      </p:sp>
      <p:sp>
        <p:nvSpPr>
          <p:cNvPr id="30" name="Text 28"/>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THE COMMUNITY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2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Faster channels: Slack and the weekly call</a:t>
            </a:r>
            <a:endParaRPr lang="en-US" sz="2500" dirty="0"/>
          </a:p>
        </p:txBody>
      </p:sp>
      <p:sp>
        <p:nvSpPr>
          <p:cNvPr id="5" name="Shape 3"/>
          <p:cNvSpPr/>
          <p:nvPr/>
        </p:nvSpPr>
        <p:spPr>
          <a:xfrm>
            <a:off x="457200" y="1562100"/>
            <a:ext cx="4038600" cy="2000250"/>
          </a:xfrm>
          <a:prstGeom prst="rect">
            <a:avLst/>
          </a:prstGeom>
          <a:solidFill>
            <a:srgbClr val="F0F0FF"/>
          </a:solidFill>
          <a:ln w="12700">
            <a:solidFill>
              <a:srgbClr val="F0F0FF"/>
            </a:solidFill>
            <a:prstDash val="solid"/>
          </a:ln>
        </p:spPr>
      </p:sp>
      <p:sp>
        <p:nvSpPr>
          <p:cNvPr id="6" name="Shape 4"/>
          <p:cNvSpPr/>
          <p:nvPr/>
        </p:nvSpPr>
        <p:spPr>
          <a:xfrm>
            <a:off x="457200" y="1562100"/>
            <a:ext cx="4038600" cy="38100"/>
          </a:xfrm>
          <a:prstGeom prst="rect">
            <a:avLst/>
          </a:prstGeom>
          <a:solidFill>
            <a:srgbClr val="33006F"/>
          </a:solidFill>
          <a:ln w="12700">
            <a:solidFill>
              <a:srgbClr val="33006F"/>
            </a:solidFill>
            <a:prstDash val="solid"/>
          </a:ln>
        </p:spPr>
      </p:sp>
      <p:sp>
        <p:nvSpPr>
          <p:cNvPr id="7" name="Text 5"/>
          <p:cNvSpPr txBox="1"/>
          <p:nvPr/>
        </p:nvSpPr>
        <p:spPr>
          <a:xfrm>
            <a:off x="685800" y="1809750"/>
            <a:ext cx="3581400" cy="342900"/>
          </a:xfrm>
          <a:prstGeom prst="rect">
            <a:avLst/>
          </a:prstGeom>
          <a:noFill/>
          <a:ln/>
        </p:spPr>
        <p:txBody>
          <a:bodyPr wrap="square" lIns="0" tIns="0" rIns="0" bIns="0" rtlCol="0" anchor="t"/>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Slack</a:t>
            </a:r>
            <a:endParaRPr lang="en-US" sz="2200" dirty="0"/>
          </a:p>
        </p:txBody>
      </p:sp>
      <p:sp>
        <p:nvSpPr>
          <p:cNvPr id="8" name="Text 6"/>
          <p:cNvSpPr txBox="1"/>
          <p:nvPr/>
        </p:nvSpPr>
        <p:spPr>
          <a:xfrm>
            <a:off x="685800" y="2209800"/>
            <a:ext cx="3581400" cy="6667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For short, quick questions and a fast back-and-forth. Ask for an invitation on the forum:</a:t>
            </a:r>
            <a:endParaRPr lang="en-US" sz="1500" dirty="0"/>
          </a:p>
        </p:txBody>
      </p:sp>
      <p:sp>
        <p:nvSpPr>
          <p:cNvPr id="9" name="Text 7"/>
          <p:cNvSpPr txBox="1"/>
          <p:nvPr/>
        </p:nvSpPr>
        <p:spPr>
          <a:xfrm>
            <a:off x="685800" y="2971800"/>
            <a:ext cx="3581400" cy="381000"/>
          </a:xfrm>
          <a:prstGeom prst="rect">
            <a:avLst/>
          </a:prstGeom>
          <a:noFill/>
          <a:ln/>
        </p:spPr>
        <p:txBody>
          <a:bodyPr wrap="square" lIns="0" tIns="0" rIns="0" bIns="0" rtlCol="0" anchor="t"/>
          <a:lstStyle/>
          <a:p>
            <a:pPr indent="0" marL="0">
              <a:buNone/>
            </a:pPr>
            <a:r>
              <a:rPr lang="en-US" sz="1100" dirty="0">
                <a:solidFill>
                  <a:srgbClr val="01458E"/>
                </a:solidFill>
                <a:latin typeface="Source Sans 3" pitchFamily="34" charset="0"/>
                <a:ea typeface="Source Sans 3" pitchFamily="34" charset="-122"/>
                <a:cs typeface="Source Sans 3" pitchFamily="34" charset="-120"/>
              </a:rPr>
              <a:t>talk.openelis-global.org/t/invitation-to-openelis-community-slack-channel/125</a:t>
            </a:r>
            <a:endParaRPr lang="en-US" sz="1100" dirty="0"/>
          </a:p>
        </p:txBody>
      </p:sp>
      <p:sp>
        <p:nvSpPr>
          <p:cNvPr id="10" name="Shape 8"/>
          <p:cNvSpPr/>
          <p:nvPr/>
        </p:nvSpPr>
        <p:spPr>
          <a:xfrm>
            <a:off x="4648200" y="1562100"/>
            <a:ext cx="4038600" cy="2000250"/>
          </a:xfrm>
          <a:prstGeom prst="rect">
            <a:avLst/>
          </a:prstGeom>
          <a:solidFill>
            <a:srgbClr val="F0F0FF"/>
          </a:solidFill>
          <a:ln w="12700">
            <a:solidFill>
              <a:srgbClr val="F0F0FF"/>
            </a:solidFill>
            <a:prstDash val="solid"/>
          </a:ln>
        </p:spPr>
      </p:sp>
      <p:sp>
        <p:nvSpPr>
          <p:cNvPr id="11" name="Shape 9"/>
          <p:cNvSpPr/>
          <p:nvPr/>
        </p:nvSpPr>
        <p:spPr>
          <a:xfrm>
            <a:off x="4648200" y="1562100"/>
            <a:ext cx="4038600" cy="38100"/>
          </a:xfrm>
          <a:prstGeom prst="rect">
            <a:avLst/>
          </a:prstGeom>
          <a:solidFill>
            <a:srgbClr val="33006F"/>
          </a:solidFill>
          <a:ln w="12700">
            <a:solidFill>
              <a:srgbClr val="33006F"/>
            </a:solidFill>
            <a:prstDash val="solid"/>
          </a:ln>
        </p:spPr>
      </p:sp>
      <p:sp>
        <p:nvSpPr>
          <p:cNvPr id="12" name="Text 10"/>
          <p:cNvSpPr txBox="1"/>
          <p:nvPr/>
        </p:nvSpPr>
        <p:spPr>
          <a:xfrm>
            <a:off x="4876800" y="1809750"/>
            <a:ext cx="3581400" cy="342900"/>
          </a:xfrm>
          <a:prstGeom prst="rect">
            <a:avLst/>
          </a:prstGeom>
          <a:noFill/>
          <a:ln/>
        </p:spPr>
        <p:txBody>
          <a:bodyPr wrap="square" lIns="0" tIns="0" rIns="0" bIns="0" rtlCol="0" anchor="t"/>
          <a:lstStyle/>
          <a:p>
            <a:pPr indent="0" marL="0">
              <a:buNone/>
            </a:pPr>
            <a:r>
              <a:rPr lang="en-US" sz="2200" b="1" dirty="0">
                <a:solidFill>
                  <a:srgbClr val="33006F"/>
                </a:solidFill>
                <a:latin typeface="Source Sans 3" pitchFamily="34" charset="0"/>
                <a:ea typeface="Source Sans 3" pitchFamily="34" charset="-122"/>
                <a:cs typeface="Source Sans 3" pitchFamily="34" charset="-120"/>
              </a:rPr>
              <a:t>Weekly call</a:t>
            </a:r>
            <a:endParaRPr lang="en-US" sz="2200" dirty="0"/>
          </a:p>
        </p:txBody>
      </p:sp>
      <p:sp>
        <p:nvSpPr>
          <p:cNvPr id="13" name="Text 11"/>
          <p:cNvSpPr txBox="1"/>
          <p:nvPr/>
        </p:nvSpPr>
        <p:spPr>
          <a:xfrm>
            <a:off x="4876800" y="2209800"/>
            <a:ext cx="3581400" cy="6667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Every Thursday at 17:00 GMT. That is 20:00 in Madagascar. On Google Meet.</a:t>
            </a:r>
            <a:endParaRPr lang="en-US" sz="1500" dirty="0"/>
          </a:p>
        </p:txBody>
      </p:sp>
      <p:sp>
        <p:nvSpPr>
          <p:cNvPr id="14" name="Text 12"/>
          <p:cNvSpPr txBox="1"/>
          <p:nvPr/>
        </p:nvSpPr>
        <p:spPr>
          <a:xfrm>
            <a:off x="4876800" y="2971800"/>
            <a:ext cx="3581400" cy="381000"/>
          </a:xfrm>
          <a:prstGeom prst="rect">
            <a:avLst/>
          </a:prstGeom>
          <a:noFill/>
          <a:ln/>
        </p:spPr>
        <p:txBody>
          <a:bodyPr wrap="square" lIns="0" tIns="0" rIns="0" bIns="0" rtlCol="0" anchor="t"/>
          <a:lstStyle/>
          <a:p>
            <a:pPr indent="0" marL="0">
              <a:buNone/>
            </a:pPr>
            <a:r>
              <a:rPr lang="en-US" sz="1400" dirty="0">
                <a:solidFill>
                  <a:srgbClr val="01458E"/>
                </a:solidFill>
                <a:latin typeface="Source Sans 3" pitchFamily="34" charset="0"/>
                <a:ea typeface="Source Sans 3" pitchFamily="34" charset="-122"/>
                <a:cs typeface="Source Sans 3" pitchFamily="34" charset="-120"/>
              </a:rPr>
              <a:t>meet.google.com/vst-tkbi-xbw</a:t>
            </a:r>
            <a:endParaRPr lang="en-US" sz="1400" dirty="0"/>
          </a:p>
        </p:txBody>
      </p:sp>
      <p:sp>
        <p:nvSpPr>
          <p:cNvPr id="15" name="Text 13"/>
          <p:cNvSpPr txBox="1"/>
          <p:nvPr/>
        </p:nvSpPr>
        <p:spPr>
          <a:xfrm>
            <a:off x="457200" y="3810000"/>
            <a:ext cx="8229600" cy="571500"/>
          </a:xfrm>
          <a:prstGeom prst="rect">
            <a:avLst/>
          </a:prstGeom>
          <a:noFill/>
          <a:ln/>
        </p:spPr>
        <p:txBody>
          <a:bodyPr wrap="square" lIns="0" tIns="0" rIns="0" bIns="0" rtlCol="0" anchor="t"/>
          <a:lstStyle/>
          <a:p>
            <a:pPr indent="0" marL="0">
              <a:buNone/>
            </a:pPr>
            <a:r>
              <a:rPr lang="en-US" sz="1600" dirty="0">
                <a:solidFill>
                  <a:srgbClr val="434343"/>
                </a:solidFill>
                <a:latin typeface="Source Sans 3" pitchFamily="34" charset="0"/>
                <a:ea typeface="Source Sans 3" pitchFamily="34" charset="-122"/>
                <a:cs typeface="Source Sans 3" pitchFamily="34" charset="-120"/>
              </a:rPr>
              <a:t>The forum is the record. Slack and the call are for speed. When a decision is made on a call, someone writes it on the forum.</a:t>
            </a:r>
            <a:endParaRPr lang="en-US" sz="1600" dirty="0"/>
          </a:p>
        </p:txBody>
      </p:sp>
      <p:sp>
        <p:nvSpPr>
          <p:cNvPr id="16" name="Text 1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14</a:t>
            </a:r>
            <a:endParaRPr lang="en-US" sz="1100" dirty="0"/>
          </a:p>
        </p:txBody>
      </p:sp>
      <p:sp>
        <p:nvSpPr>
          <p:cNvPr id="17" name="Text 1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THE COMMUNITY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2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From a post to a change</a:t>
            </a:r>
            <a:endParaRPr lang="en-US" sz="2500" dirty="0"/>
          </a:p>
        </p:txBody>
      </p:sp>
      <p:sp>
        <p:nvSpPr>
          <p:cNvPr id="5" name="Shape 3"/>
          <p:cNvSpPr/>
          <p:nvPr/>
        </p:nvSpPr>
        <p:spPr>
          <a:xfrm>
            <a:off x="457200" y="1562100"/>
            <a:ext cx="323850" cy="323850"/>
          </a:xfrm>
          <a:prstGeom prst="rect">
            <a:avLst/>
          </a:prstGeom>
          <a:solidFill>
            <a:srgbClr val="33006F"/>
          </a:solidFill>
          <a:ln w="12700">
            <a:solidFill>
              <a:srgbClr val="33006F"/>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7" name="Text 5"/>
          <p:cNvSpPr txBox="1"/>
          <p:nvPr/>
        </p:nvSpPr>
        <p:spPr>
          <a:xfrm>
            <a:off x="4572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Raised</a:t>
            </a:r>
            <a:endParaRPr lang="en-US" sz="1700" dirty="0"/>
          </a:p>
        </p:txBody>
      </p:sp>
      <p:sp>
        <p:nvSpPr>
          <p:cNvPr id="8" name="Text 6"/>
          <p:cNvSpPr txBox="1"/>
          <p:nvPr/>
        </p:nvSpPr>
        <p:spPr>
          <a:xfrm>
            <a:off x="457200" y="2305050"/>
            <a:ext cx="1847850" cy="85725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Someone posts on the forum.</a:t>
            </a:r>
            <a:endParaRPr lang="en-US" sz="1400" dirty="0"/>
          </a:p>
        </p:txBody>
      </p:sp>
      <p:sp>
        <p:nvSpPr>
          <p:cNvPr id="9" name="Shape 7"/>
          <p:cNvSpPr/>
          <p:nvPr/>
        </p:nvSpPr>
        <p:spPr>
          <a:xfrm>
            <a:off x="2552700" y="1562100"/>
            <a:ext cx="323850" cy="323850"/>
          </a:xfrm>
          <a:prstGeom prst="rect">
            <a:avLst/>
          </a:prstGeom>
          <a:solidFill>
            <a:srgbClr val="33006F"/>
          </a:solidFill>
          <a:ln w="12700">
            <a:solidFill>
              <a:srgbClr val="33006F"/>
            </a:solidFill>
            <a:prstDash val="solid"/>
          </a:ln>
        </p:spPr>
      </p:sp>
      <p:sp>
        <p:nvSpPr>
          <p:cNvPr id="10" name="Text 8"/>
          <p:cNvSpPr txBox="1"/>
          <p:nvPr/>
        </p:nvSpPr>
        <p:spPr>
          <a:xfrm>
            <a:off x="25527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1" name="Text 9"/>
          <p:cNvSpPr txBox="1"/>
          <p:nvPr/>
        </p:nvSpPr>
        <p:spPr>
          <a:xfrm>
            <a:off x="25527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Seen</a:t>
            </a:r>
            <a:endParaRPr lang="en-US" sz="1700" dirty="0"/>
          </a:p>
        </p:txBody>
      </p:sp>
      <p:sp>
        <p:nvSpPr>
          <p:cNvPr id="12" name="Text 10"/>
          <p:cNvSpPr txBox="1"/>
          <p:nvPr/>
        </p:nvSpPr>
        <p:spPr>
          <a:xfrm>
            <a:off x="2552700" y="2305050"/>
            <a:ext cx="1847850" cy="85725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Maintainers reply, or it is discussed on the Thursday call.</a:t>
            </a:r>
            <a:endParaRPr lang="en-US" sz="1400" dirty="0"/>
          </a:p>
        </p:txBody>
      </p:sp>
      <p:sp>
        <p:nvSpPr>
          <p:cNvPr id="13" name="Shape 11"/>
          <p:cNvSpPr/>
          <p:nvPr/>
        </p:nvSpPr>
        <p:spPr>
          <a:xfrm>
            <a:off x="4648200" y="1562100"/>
            <a:ext cx="323850" cy="323850"/>
          </a:xfrm>
          <a:prstGeom prst="rect">
            <a:avLst/>
          </a:prstGeom>
          <a:solidFill>
            <a:srgbClr val="33006F"/>
          </a:solidFill>
          <a:ln w="12700">
            <a:solidFill>
              <a:srgbClr val="33006F"/>
            </a:solidFill>
            <a:prstDash val="solid"/>
          </a:ln>
        </p:spPr>
      </p:sp>
      <p:sp>
        <p:nvSpPr>
          <p:cNvPr id="14" name="Text 12"/>
          <p:cNvSpPr txBox="1"/>
          <p:nvPr/>
        </p:nvSpPr>
        <p:spPr>
          <a:xfrm>
            <a:off x="4648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5" name="Text 13"/>
          <p:cNvSpPr txBox="1"/>
          <p:nvPr/>
        </p:nvSpPr>
        <p:spPr>
          <a:xfrm>
            <a:off x="46482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Tracked</a:t>
            </a:r>
            <a:endParaRPr lang="en-US" sz="1700" dirty="0"/>
          </a:p>
        </p:txBody>
      </p:sp>
      <p:sp>
        <p:nvSpPr>
          <p:cNvPr id="16" name="Text 14"/>
          <p:cNvSpPr txBox="1"/>
          <p:nvPr/>
        </p:nvSpPr>
        <p:spPr>
          <a:xfrm>
            <a:off x="4648200" y="2305050"/>
            <a:ext cx="1847850" cy="85725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It becomes a GitHub issue or a Jira ticket (OGC-...).</a:t>
            </a:r>
            <a:endParaRPr lang="en-US" sz="1400" dirty="0"/>
          </a:p>
        </p:txBody>
      </p:sp>
      <p:sp>
        <p:nvSpPr>
          <p:cNvPr id="17" name="Shape 15"/>
          <p:cNvSpPr/>
          <p:nvPr/>
        </p:nvSpPr>
        <p:spPr>
          <a:xfrm>
            <a:off x="6743700" y="1562100"/>
            <a:ext cx="323850" cy="323850"/>
          </a:xfrm>
          <a:prstGeom prst="rect">
            <a:avLst/>
          </a:prstGeom>
          <a:solidFill>
            <a:srgbClr val="33006F"/>
          </a:solidFill>
          <a:ln w="12700">
            <a:solidFill>
              <a:srgbClr val="33006F"/>
            </a:solidFill>
            <a:prstDash val="solid"/>
          </a:ln>
        </p:spPr>
      </p:sp>
      <p:sp>
        <p:nvSpPr>
          <p:cNvPr id="18" name="Text 16"/>
          <p:cNvSpPr txBox="1"/>
          <p:nvPr/>
        </p:nvSpPr>
        <p:spPr>
          <a:xfrm>
            <a:off x="67437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9" name="Text 17"/>
          <p:cNvSpPr txBox="1"/>
          <p:nvPr/>
        </p:nvSpPr>
        <p:spPr>
          <a:xfrm>
            <a:off x="67437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Built and released</a:t>
            </a:r>
            <a:endParaRPr lang="en-US" sz="1700" dirty="0"/>
          </a:p>
        </p:txBody>
      </p:sp>
      <p:sp>
        <p:nvSpPr>
          <p:cNvPr id="20" name="Text 18"/>
          <p:cNvSpPr txBox="1"/>
          <p:nvPr/>
        </p:nvSpPr>
        <p:spPr>
          <a:xfrm>
            <a:off x="6743700" y="2305050"/>
            <a:ext cx="1847850" cy="85725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Developers build it, reviewers check it, it ships in a monthly release.</a:t>
            </a:r>
            <a:endParaRPr lang="en-US" sz="1400" dirty="0"/>
          </a:p>
        </p:txBody>
      </p:sp>
      <p:sp>
        <p:nvSpPr>
          <p:cNvPr id="21" name="Shape 19"/>
          <p:cNvSpPr/>
          <p:nvPr/>
        </p:nvSpPr>
        <p:spPr>
          <a:xfrm>
            <a:off x="457200" y="3352800"/>
            <a:ext cx="8229600" cy="9525"/>
          </a:xfrm>
          <a:prstGeom prst="rect">
            <a:avLst/>
          </a:prstGeom>
          <a:solidFill>
            <a:srgbClr val="BFBFBF"/>
          </a:solidFill>
          <a:ln w="12700">
            <a:solidFill>
              <a:srgbClr val="BFBFBF"/>
            </a:solidFill>
            <a:prstDash val="solid"/>
          </a:ln>
        </p:spPr>
      </p:sp>
      <p:sp>
        <p:nvSpPr>
          <p:cNvPr id="22" name="Shape 20"/>
          <p:cNvSpPr/>
          <p:nvPr/>
        </p:nvSpPr>
        <p:spPr>
          <a:xfrm>
            <a:off x="457200" y="3505200"/>
            <a:ext cx="8229600" cy="1028700"/>
          </a:xfrm>
          <a:prstGeom prst="rect">
            <a:avLst/>
          </a:prstGeom>
          <a:solidFill>
            <a:srgbClr val="F0F0FF"/>
          </a:solidFill>
          <a:ln w="12700">
            <a:solidFill>
              <a:srgbClr val="F0F0FF"/>
            </a:solidFill>
            <a:prstDash val="solid"/>
          </a:ln>
        </p:spPr>
      </p:sp>
      <p:sp>
        <p:nvSpPr>
          <p:cNvPr id="23" name="Shape 21"/>
          <p:cNvSpPr/>
          <p:nvPr/>
        </p:nvSpPr>
        <p:spPr>
          <a:xfrm>
            <a:off x="457200" y="3505200"/>
            <a:ext cx="8229600" cy="38100"/>
          </a:xfrm>
          <a:prstGeom prst="rect">
            <a:avLst/>
          </a:prstGeom>
          <a:solidFill>
            <a:srgbClr val="33006F"/>
          </a:solidFill>
          <a:ln w="12700">
            <a:solidFill>
              <a:srgbClr val="33006F"/>
            </a:solidFill>
            <a:prstDash val="solid"/>
          </a:ln>
        </p:spPr>
      </p:sp>
      <p:sp>
        <p:nvSpPr>
          <p:cNvPr id="24" name="Text 22"/>
          <p:cNvSpPr txBox="1"/>
          <p:nvPr/>
        </p:nvSpPr>
        <p:spPr>
          <a:xfrm>
            <a:off x="685800" y="3638550"/>
            <a:ext cx="1905000" cy="190500"/>
          </a:xfrm>
          <a:prstGeom prst="rect">
            <a:avLst/>
          </a:prstGeom>
          <a:noFill/>
          <a:ln/>
        </p:spPr>
        <p:txBody>
          <a:bodyPr wrap="square" lIns="0" tIns="0" rIns="0" bIns="0" rtlCol="0" anchor="t"/>
          <a:lstStyle/>
          <a:p>
            <a:pPr indent="0" marL="0">
              <a:buNone/>
            </a:pPr>
            <a:r>
              <a:rPr lang="en-US" sz="1100" b="1" spc="150" kern="0" dirty="0">
                <a:solidFill>
                  <a:srgbClr val="33006F"/>
                </a:solidFill>
                <a:latin typeface="Source Sans 3" pitchFamily="34" charset="0"/>
                <a:ea typeface="Source Sans 3" pitchFamily="34" charset="-122"/>
                <a:cs typeface="Source Sans 3" pitchFamily="34" charset="-120"/>
              </a:rPr>
              <a:t>EXAMPLE</a:t>
            </a:r>
            <a:endParaRPr lang="en-US" sz="1100" dirty="0"/>
          </a:p>
        </p:txBody>
      </p:sp>
      <p:sp>
        <p:nvSpPr>
          <p:cNvPr id="25" name="Text 23"/>
          <p:cNvSpPr txBox="1"/>
          <p:nvPr/>
        </p:nvSpPr>
        <p:spPr>
          <a:xfrm>
            <a:off x="685800" y="3848100"/>
            <a:ext cx="7772400" cy="6286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Before the OpenELIS Summit 2026, a contributor posted a list of process problems and named the maintainers. That post became the input for the Summit agenda.</a:t>
            </a:r>
            <a:endParaRPr lang="en-US" sz="1500" dirty="0"/>
          </a:p>
        </p:txBody>
      </p:sp>
      <p:sp>
        <p:nvSpPr>
          <p:cNvPr id="26" name="Text 2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15</a:t>
            </a:r>
            <a:endParaRPr lang="en-US" sz="1100" dirty="0"/>
          </a:p>
        </p:txBody>
      </p:sp>
      <p:sp>
        <p:nvSpPr>
          <p:cNvPr id="27" name="Text 2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THE COMMUNITY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2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Where Madagascar fits in: five ways to take part</a:t>
            </a:r>
            <a:endParaRPr lang="en-US" sz="2500" dirty="0"/>
          </a:p>
        </p:txBody>
      </p:sp>
      <p:sp>
        <p:nvSpPr>
          <p:cNvPr id="5" name="Shape 3"/>
          <p:cNvSpPr/>
          <p:nvPr/>
        </p:nvSpPr>
        <p:spPr>
          <a:xfrm>
            <a:off x="457200" y="1562100"/>
            <a:ext cx="323850" cy="323850"/>
          </a:xfrm>
          <a:prstGeom prst="rect">
            <a:avLst/>
          </a:prstGeom>
          <a:solidFill>
            <a:srgbClr val="33006F"/>
          </a:solidFill>
          <a:ln w="12700">
            <a:solidFill>
              <a:srgbClr val="33006F"/>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7" name="Text 5"/>
          <p:cNvSpPr txBox="1"/>
          <p:nvPr/>
        </p:nvSpPr>
        <p:spPr>
          <a:xfrm>
            <a:off x="971550" y="1543050"/>
            <a:ext cx="7715250" cy="55245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Ask questions in Ask OpenELIS. </a:t>
            </a:r>
            <a:pPr indent="0" marL="0">
              <a:buNone/>
            </a:pPr>
            <a:r>
              <a:rPr lang="en-US" sz="1700" dirty="0">
                <a:solidFill>
                  <a:srgbClr val="434343"/>
                </a:solidFill>
                <a:latin typeface="Source Sans 3" pitchFamily="34" charset="0"/>
                <a:ea typeface="Source Sans 3" pitchFamily="34" charset="-122"/>
                <a:cs typeface="Source Sans 3" pitchFamily="34" charset="-120"/>
              </a:rPr>
              <a:t>Always give your Madagascar Distro version.</a:t>
            </a:r>
            <a:endParaRPr lang="en-US" sz="1700" dirty="0"/>
          </a:p>
        </p:txBody>
      </p:sp>
      <p:sp>
        <p:nvSpPr>
          <p:cNvPr id="8" name="Shape 6"/>
          <p:cNvSpPr/>
          <p:nvPr/>
        </p:nvSpPr>
        <p:spPr>
          <a:xfrm>
            <a:off x="457200" y="2152650"/>
            <a:ext cx="323850" cy="323850"/>
          </a:xfrm>
          <a:prstGeom prst="rect">
            <a:avLst/>
          </a:prstGeom>
          <a:solidFill>
            <a:srgbClr val="33006F"/>
          </a:solidFill>
          <a:ln w="12700">
            <a:solidFill>
              <a:srgbClr val="33006F"/>
            </a:solidFill>
            <a:prstDash val="solid"/>
          </a:ln>
        </p:spPr>
      </p:sp>
      <p:sp>
        <p:nvSpPr>
          <p:cNvPr id="9" name="Text 7"/>
          <p:cNvSpPr txBox="1"/>
          <p:nvPr/>
        </p:nvSpPr>
        <p:spPr>
          <a:xfrm>
            <a:off x="457200" y="21526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0" name="Text 8"/>
          <p:cNvSpPr txBox="1"/>
          <p:nvPr/>
        </p:nvSpPr>
        <p:spPr>
          <a:xfrm>
            <a:off x="971550" y="2133600"/>
            <a:ext cx="7715250" cy="55245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Report bugs and propose features in Development.</a:t>
            </a:r>
            <a:endParaRPr lang="en-US" sz="1700" dirty="0"/>
          </a:p>
        </p:txBody>
      </p:sp>
      <p:sp>
        <p:nvSpPr>
          <p:cNvPr id="11" name="Shape 9"/>
          <p:cNvSpPr/>
          <p:nvPr/>
        </p:nvSpPr>
        <p:spPr>
          <a:xfrm>
            <a:off x="457200" y="2743200"/>
            <a:ext cx="323850" cy="323850"/>
          </a:xfrm>
          <a:prstGeom prst="rect">
            <a:avLst/>
          </a:prstGeom>
          <a:solidFill>
            <a:srgbClr val="33006F"/>
          </a:solidFill>
          <a:ln w="12700">
            <a:solidFill>
              <a:srgbClr val="33006F"/>
            </a:solidFill>
            <a:prstDash val="solid"/>
          </a:ln>
        </p:spPr>
      </p:sp>
      <p:sp>
        <p:nvSpPr>
          <p:cNvPr id="12" name="Text 10"/>
          <p:cNvSpPr txBox="1"/>
          <p:nvPr/>
        </p:nvSpPr>
        <p:spPr>
          <a:xfrm>
            <a:off x="457200" y="27432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3" name="Text 11"/>
          <p:cNvSpPr txBox="1"/>
          <p:nvPr/>
        </p:nvSpPr>
        <p:spPr>
          <a:xfrm>
            <a:off x="971550" y="2724150"/>
            <a:ext cx="7715250" cy="55245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Join the Thursday call.</a:t>
            </a:r>
            <a:endParaRPr lang="en-US" sz="1700" dirty="0"/>
          </a:p>
        </p:txBody>
      </p:sp>
      <p:sp>
        <p:nvSpPr>
          <p:cNvPr id="14" name="Shape 12"/>
          <p:cNvSpPr/>
          <p:nvPr/>
        </p:nvSpPr>
        <p:spPr>
          <a:xfrm>
            <a:off x="457200" y="3333750"/>
            <a:ext cx="323850" cy="323850"/>
          </a:xfrm>
          <a:prstGeom prst="rect">
            <a:avLst/>
          </a:prstGeom>
          <a:solidFill>
            <a:srgbClr val="33006F"/>
          </a:solidFill>
          <a:ln w="12700">
            <a:solidFill>
              <a:srgbClr val="33006F"/>
            </a:solidFill>
            <a:prstDash val="solid"/>
          </a:ln>
        </p:spPr>
      </p:sp>
      <p:sp>
        <p:nvSpPr>
          <p:cNvPr id="15" name="Text 13"/>
          <p:cNvSpPr txBox="1"/>
          <p:nvPr/>
        </p:nvSpPr>
        <p:spPr>
          <a:xfrm>
            <a:off x="457200" y="333375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6" name="Text 14"/>
          <p:cNvSpPr txBox="1"/>
          <p:nvPr/>
        </p:nvSpPr>
        <p:spPr>
          <a:xfrm>
            <a:off x="971550" y="3314700"/>
            <a:ext cx="7715250" cy="55245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Share what you learn. </a:t>
            </a:r>
            <a:pPr indent="0" marL="0">
              <a:buNone/>
            </a:pPr>
            <a:r>
              <a:rPr lang="en-US" sz="1700" dirty="0">
                <a:solidFill>
                  <a:srgbClr val="434343"/>
                </a:solidFill>
                <a:latin typeface="Source Sans 3" pitchFamily="34" charset="0"/>
                <a:ea typeface="Source Sans 3" pitchFamily="34" charset="-122"/>
                <a:cs typeface="Source Sans 3" pitchFamily="34" charset="-120"/>
              </a:rPr>
              <a:t>Your translations, training material and analyzer setups help other countries.</a:t>
            </a:r>
            <a:endParaRPr lang="en-US" sz="1700" dirty="0"/>
          </a:p>
        </p:txBody>
      </p:sp>
      <p:sp>
        <p:nvSpPr>
          <p:cNvPr id="17" name="Shape 15"/>
          <p:cNvSpPr/>
          <p:nvPr/>
        </p:nvSpPr>
        <p:spPr>
          <a:xfrm>
            <a:off x="457200" y="3924300"/>
            <a:ext cx="323850" cy="323850"/>
          </a:xfrm>
          <a:prstGeom prst="rect">
            <a:avLst/>
          </a:prstGeom>
          <a:solidFill>
            <a:srgbClr val="33006F"/>
          </a:solidFill>
          <a:ln w="12700">
            <a:solidFill>
              <a:srgbClr val="33006F"/>
            </a:solidFill>
            <a:prstDash val="solid"/>
          </a:ln>
        </p:spPr>
      </p:sp>
      <p:sp>
        <p:nvSpPr>
          <p:cNvPr id="18" name="Text 16"/>
          <p:cNvSpPr txBox="1"/>
          <p:nvPr/>
        </p:nvSpPr>
        <p:spPr>
          <a:xfrm>
            <a:off x="457200" y="39243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5</a:t>
            </a:r>
            <a:endParaRPr lang="en-US" sz="1500" dirty="0"/>
          </a:p>
        </p:txBody>
      </p:sp>
      <p:sp>
        <p:nvSpPr>
          <p:cNvPr id="19" name="Text 17"/>
          <p:cNvSpPr txBox="1"/>
          <p:nvPr/>
        </p:nvSpPr>
        <p:spPr>
          <a:xfrm>
            <a:off x="971550" y="3905250"/>
            <a:ext cx="7715250" cy="552450"/>
          </a:xfrm>
          <a:prstGeom prst="rect">
            <a:avLst/>
          </a:prstGeom>
          <a:noFill/>
          <a:ln/>
        </p:spPr>
        <p:txBody>
          <a:bodyPr wrap="square" lIns="0" tIns="0" rIns="0" bIns="0" rtlCol="0" anchor="t">
            <a:normAutofit/>
          </a:bodyP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Say what is not working in the process. </a:t>
            </a:r>
            <a:pPr indent="0" marL="0">
              <a:buNone/>
            </a:pPr>
            <a:r>
              <a:rPr lang="en-US" sz="1700" dirty="0">
                <a:solidFill>
                  <a:srgbClr val="434343"/>
                </a:solidFill>
                <a:latin typeface="Source Sans 3" pitchFamily="34" charset="0"/>
                <a:ea typeface="Source Sans 3" pitchFamily="34" charset="-122"/>
                <a:cs typeface="Source Sans 3" pitchFamily="34" charset="-120"/>
              </a:rPr>
              <a:t>Maintainers read it.</a:t>
            </a:r>
            <a:endParaRPr lang="en-US" sz="17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16</a:t>
            </a:r>
            <a:endParaRPr lang="en-US" sz="11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6350"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857250" y="1428750"/>
            <a:ext cx="3619500" cy="1238250"/>
          </a:xfrm>
          <a:prstGeom prst="rect">
            <a:avLst/>
          </a:prstGeom>
          <a:noFill/>
          <a:ln/>
        </p:spPr>
        <p:txBody>
          <a:bodyPr wrap="square" lIns="0" tIns="0" rIns="0" bIns="0" rtlCol="0" anchor="b">
            <a:normAutofit/>
          </a:bodyPr>
          <a:lstStyle/>
          <a:p>
            <a:pPr indent="0" marL="0">
              <a:buNone/>
            </a:pPr>
            <a:r>
              <a:rPr lang="en-US" sz="2800" b="1" dirty="0">
                <a:solidFill>
                  <a:srgbClr val="33006F"/>
                </a:solidFill>
                <a:latin typeface="Source Sans 3" pitchFamily="34" charset="0"/>
                <a:ea typeface="Source Sans 3" pitchFamily="34" charset="-122"/>
                <a:cs typeface="Source Sans 3" pitchFamily="34" charset="-120"/>
              </a:rPr>
              <a:t>3. The roadmap and the design gallery</a:t>
            </a:r>
            <a:endParaRPr lang="en-US" sz="2800" dirty="0"/>
          </a:p>
        </p:txBody>
      </p:sp>
      <p:sp>
        <p:nvSpPr>
          <p:cNvPr id="4" name="Text 2"/>
          <p:cNvSpPr txBox="1"/>
          <p:nvPr/>
        </p:nvSpPr>
        <p:spPr>
          <a:xfrm>
            <a:off x="857250" y="2781300"/>
            <a:ext cx="3619500" cy="1143000"/>
          </a:xfrm>
          <a:prstGeom prst="rect">
            <a:avLst/>
          </a:prstGeom>
          <a:noFill/>
          <a:ln/>
        </p:spPr>
        <p:txBody>
          <a:bodyPr wrap="square" lIns="0" tIns="0" rIns="0" bIns="0" rtlCol="0" anchor="t"/>
          <a:lstStyle/>
          <a:p>
            <a:pPr indent="0" marL="0">
              <a:buNone/>
            </a:pPr>
            <a:r>
              <a:rPr lang="en-US" sz="1800" dirty="0">
                <a:solidFill>
                  <a:srgbClr val="434343"/>
                </a:solidFill>
                <a:latin typeface="Source Sans 3" pitchFamily="34" charset="0"/>
                <a:ea typeface="Source Sans 3" pitchFamily="34" charset="-122"/>
                <a:cs typeface="Source Sans 3" pitchFamily="34" charset="-120"/>
              </a:rPr>
              <a:t>Check what is planned before you ask. Comment on designs that matter to you.</a:t>
            </a:r>
            <a:endParaRPr lang="en-US" sz="180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FFFFFF"/>
                </a:solidFill>
                <a:latin typeface="Source Sans 3" pitchFamily="34" charset="0"/>
                <a:ea typeface="Source Sans 3" pitchFamily="34" charset="-122"/>
                <a:cs typeface="Source Sans 3" pitchFamily="34" charset="-120"/>
              </a:rPr>
              <a:t>17</a:t>
            </a:r>
            <a:endParaRPr lang="en-US" sz="11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6838"/>
                </a:solidFill>
                <a:latin typeface="Source Sans 3" pitchFamily="34" charset="0"/>
                <a:ea typeface="Source Sans 3" pitchFamily="34" charset="-122"/>
                <a:cs typeface="Source Sans 3" pitchFamily="34" charset="-120"/>
              </a:rPr>
              <a:t>ROADMAP AND GALLERY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3 of 7</a:t>
            </a:r>
            <a:endParaRPr lang="en-US"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The design gallery: every OpenELIS design, in public</a:t>
            </a:r>
            <a:endParaRPr lang="en-US" sz="2500" dirty="0"/>
          </a:p>
        </p:txBody>
      </p:sp>
      <p:sp>
        <p:nvSpPr>
          <p:cNvPr id="5" name="Text 3"/>
          <p:cNvSpPr txBox="1"/>
          <p:nvPr/>
        </p:nvSpPr>
        <p:spPr>
          <a:xfrm>
            <a:off x="457200" y="1562100"/>
            <a:ext cx="4953000" cy="323850"/>
          </a:xfrm>
          <a:prstGeom prst="rect">
            <a:avLst/>
          </a:prstGeom>
          <a:noFill/>
          <a:ln/>
        </p:spPr>
        <p:txBody>
          <a:bodyPr wrap="square" lIns="0" tIns="0" rIns="0" bIns="0" rtlCol="0" anchor="t"/>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digi-uw.github.io/openelis-work</a:t>
            </a:r>
            <a:endParaRPr lang="en-US" sz="2000" dirty="0"/>
          </a:p>
        </p:txBody>
      </p:sp>
      <p:sp>
        <p:nvSpPr>
          <p:cNvPr id="6" name="Text 4"/>
          <p:cNvSpPr txBox="1"/>
          <p:nvPr/>
        </p:nvSpPr>
        <p:spPr>
          <a:xfrm>
            <a:off x="457200" y="2019300"/>
            <a:ext cx="4953000" cy="1238250"/>
          </a:xfrm>
          <a:prstGeom prst="rect">
            <a:avLst/>
          </a:prstGeom>
          <a:noFill/>
          <a:ln/>
        </p:spPr>
        <p:txBody>
          <a:bodyPr wrap="square" lIns="0" tIns="0" rIns="0" bIns="0" rtlCol="0" anchor="t">
            <a:normAutofit/>
          </a:bodyPr>
          <a:lstStyle/>
          <a:p>
            <a:pPr marL="127000" indent="-127000">
              <a:spcAft>
                <a:spcPts val="800"/>
              </a:spcAft>
              <a:buSzPct val="100000"/>
              <a:buChar char="•"/>
            </a:pPr>
            <a:r>
              <a:rPr lang="en-US" sz="1600" dirty="0">
                <a:solidFill>
                  <a:srgbClr val="434343"/>
                </a:solidFill>
                <a:latin typeface="Source Sans 3" pitchFamily="34" charset="0"/>
                <a:ea typeface="Source Sans 3" pitchFamily="34" charset="-122"/>
                <a:cs typeface="Source Sans 3" pitchFamily="34" charset="-120"/>
              </a:rPr>
              <a:t>Mockups you can click through</a:t>
            </a:r>
            <a:endParaRPr lang="en-US" sz="1600" dirty="0"/>
          </a:p>
          <a:p>
            <a:pPr marL="127000" indent="-127000">
              <a:spcAft>
                <a:spcPts val="800"/>
              </a:spcAft>
              <a:buSzPct val="100000"/>
              <a:buChar char="•"/>
            </a:pPr>
            <a:r>
              <a:rPr lang="en-US" sz="1600" dirty="0">
                <a:solidFill>
                  <a:srgbClr val="434343"/>
                </a:solidFill>
                <a:latin typeface="Source Sans 3" pitchFamily="34" charset="0"/>
                <a:ea typeface="Source Sans 3" pitchFamily="34" charset="-122"/>
                <a:cs typeface="Source Sans 3" pitchFamily="34" charset="-120"/>
              </a:rPr>
              <a:t>Specifications developers build from</a:t>
            </a:r>
            <a:endParaRPr lang="en-US" sz="1600" dirty="0"/>
          </a:p>
          <a:p>
            <a:pPr marL="127000" indent="-127000">
              <a:spcAft>
                <a:spcPts val="800"/>
              </a:spcAft>
              <a:buSzPct val="100000"/>
              <a:buChar char="•"/>
            </a:pPr>
            <a:r>
              <a:rPr lang="en-US" sz="1600" dirty="0">
                <a:solidFill>
                  <a:srgbClr val="434343"/>
                </a:solidFill>
                <a:latin typeface="Source Sans 3" pitchFamily="34" charset="0"/>
                <a:ea typeface="Source Sans 3" pitchFamily="34" charset="-122"/>
                <a:cs typeface="Source Sans 3" pitchFamily="34" charset="-120"/>
              </a:rPr>
              <a:t>A link to the Jira ticket for each design</a:t>
            </a:r>
            <a:endParaRPr lang="en-US" sz="1600" dirty="0"/>
          </a:p>
        </p:txBody>
      </p:sp>
      <p:sp>
        <p:nvSpPr>
          <p:cNvPr id="7" name="Shape 5"/>
          <p:cNvSpPr/>
          <p:nvPr/>
        </p:nvSpPr>
        <p:spPr>
          <a:xfrm>
            <a:off x="457200" y="3333750"/>
            <a:ext cx="4953000" cy="1047750"/>
          </a:xfrm>
          <a:prstGeom prst="rect">
            <a:avLst/>
          </a:prstGeom>
          <a:solidFill>
            <a:srgbClr val="F0F0FF"/>
          </a:solidFill>
          <a:ln w="12700">
            <a:solidFill>
              <a:srgbClr val="F0F0FF"/>
            </a:solidFill>
            <a:prstDash val="solid"/>
          </a:ln>
        </p:spPr>
      </p:sp>
      <p:sp>
        <p:nvSpPr>
          <p:cNvPr id="8" name="Shape 6"/>
          <p:cNvSpPr/>
          <p:nvPr/>
        </p:nvSpPr>
        <p:spPr>
          <a:xfrm>
            <a:off x="457200" y="3333750"/>
            <a:ext cx="4953000" cy="38100"/>
          </a:xfrm>
          <a:prstGeom prst="rect">
            <a:avLst/>
          </a:prstGeom>
          <a:solidFill>
            <a:srgbClr val="006838"/>
          </a:solidFill>
          <a:ln w="12700">
            <a:solidFill>
              <a:srgbClr val="006838"/>
            </a:solidFill>
            <a:prstDash val="solid"/>
          </a:ln>
        </p:spPr>
      </p:sp>
      <p:sp>
        <p:nvSpPr>
          <p:cNvPr id="9" name="Text 7"/>
          <p:cNvSpPr txBox="1"/>
          <p:nvPr/>
        </p:nvSpPr>
        <p:spPr>
          <a:xfrm>
            <a:off x="685800" y="3486150"/>
            <a:ext cx="4495800" cy="762000"/>
          </a:xfrm>
          <a:prstGeom prst="rect">
            <a:avLst/>
          </a:prstGeom>
          <a:noFill/>
          <a:ln/>
        </p:spPr>
        <p:txBody>
          <a:bodyPr wrap="square" lIns="0" tIns="0" rIns="0" bIns="0" rtlCol="0" anchor="ctr"/>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Before you ask for a feature, look here. It may already be designed or planned.</a:t>
            </a:r>
            <a:endParaRPr lang="en-US" sz="1700" dirty="0"/>
          </a:p>
        </p:txBody>
      </p:sp>
      <p:sp>
        <p:nvSpPr>
          <p:cNvPr id="10" name="Shape 8"/>
          <p:cNvSpPr/>
          <p:nvPr/>
        </p:nvSpPr>
        <p:spPr>
          <a:xfrm>
            <a:off x="5829300" y="1562100"/>
            <a:ext cx="2857500" cy="3028950"/>
          </a:xfrm>
          <a:prstGeom prst="rect">
            <a:avLst/>
          </a:prstGeom>
          <a:solidFill>
            <a:srgbClr val="F0F0FF"/>
          </a:solidFill>
          <a:ln w="19050">
            <a:solidFill>
              <a:srgbClr val="BFBFBF"/>
            </a:solidFill>
            <a:prstDash val="dash"/>
          </a:ln>
        </p:spPr>
      </p:sp>
      <p:sp>
        <p:nvSpPr>
          <p:cNvPr id="11" name="Text 9"/>
          <p:cNvSpPr txBox="1"/>
          <p:nvPr/>
        </p:nvSpPr>
        <p:spPr>
          <a:xfrm>
            <a:off x="6019800" y="1562100"/>
            <a:ext cx="2476500" cy="3028950"/>
          </a:xfrm>
          <a:prstGeom prst="rect">
            <a:avLst/>
          </a:prstGeom>
          <a:noFill/>
          <a:ln/>
        </p:spPr>
        <p:txBody>
          <a:bodyPr wrap="square" lIns="0" tIns="0" rIns="0" bIns="0" rtlCol="0" anchor="ctr"/>
          <a:lstStyle/>
          <a:p>
            <a:pPr algn="ctr" indent="0" marL="0">
              <a:buNone/>
            </a:pPr>
            <a:r>
              <a:rPr lang="en-US" sz="1400" b="1" dirty="0">
                <a:solidFill>
                  <a:srgbClr val="01458E"/>
                </a:solidFill>
                <a:latin typeface="Source Sans 3" pitchFamily="34" charset="0"/>
                <a:ea typeface="Source Sans 3" pitchFamily="34" charset="-122"/>
                <a:cs typeface="Source Sans 3" pitchFamily="34" charset="-120"/>
              </a:rPr>
              <a:t>Placeholder: </a:t>
            </a:r>
            <a:pPr algn="ctr" indent="0" marL="0">
              <a:buNone/>
            </a:pPr>
            <a:r>
              <a:rPr lang="en-US" sz="1400" dirty="0">
                <a:solidFill>
                  <a:srgbClr val="434343"/>
                </a:solidFill>
                <a:latin typeface="Source Sans 3" pitchFamily="34" charset="0"/>
                <a:ea typeface="Source Sans 3" pitchFamily="34" charset="-122"/>
                <a:cs typeface="Source Sans 3" pitchFamily="34" charset="-120"/>
              </a:rPr>
              <a:t>Screenshot of the gallery home page</a:t>
            </a:r>
            <a:endParaRPr lang="en-US" sz="1400" dirty="0"/>
          </a:p>
        </p:txBody>
      </p:sp>
      <p:sp>
        <p:nvSpPr>
          <p:cNvPr id="12" name="Text 10"/>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18</a:t>
            </a:r>
            <a:endParaRPr lang="en-US" sz="1100" dirty="0"/>
          </a:p>
        </p:txBody>
      </p:sp>
      <p:sp>
        <p:nvSpPr>
          <p:cNvPr id="13" name="Text 11"/>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6838"/>
                </a:solidFill>
                <a:latin typeface="Source Sans 3" pitchFamily="34" charset="0"/>
                <a:ea typeface="Source Sans 3" pitchFamily="34" charset="-122"/>
                <a:cs typeface="Source Sans 3" pitchFamily="34" charset="-120"/>
              </a:rPr>
              <a:t>ROADMAP AND GALLERY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3 of 7</a:t>
            </a:r>
            <a:endParaRPr lang="en-US"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Madagascar's requests are already on the roadmap</a:t>
            </a:r>
            <a:endParaRPr lang="en-US" sz="2500" dirty="0"/>
          </a:p>
        </p:txBody>
      </p:sp>
      <p:sp>
        <p:nvSpPr>
          <p:cNvPr id="5" name="Shape 3"/>
          <p:cNvSpPr/>
          <p:nvPr/>
        </p:nvSpPr>
        <p:spPr>
          <a:xfrm>
            <a:off x="457200" y="1562100"/>
            <a:ext cx="2590800" cy="2495550"/>
          </a:xfrm>
          <a:prstGeom prst="rect">
            <a:avLst/>
          </a:prstGeom>
          <a:solidFill>
            <a:srgbClr val="F0F0FF"/>
          </a:solidFill>
          <a:ln w="12700">
            <a:solidFill>
              <a:srgbClr val="F0F0FF"/>
            </a:solidFill>
            <a:prstDash val="solid"/>
          </a:ln>
        </p:spPr>
      </p:sp>
      <p:sp>
        <p:nvSpPr>
          <p:cNvPr id="6" name="Shape 4"/>
          <p:cNvSpPr/>
          <p:nvPr/>
        </p:nvSpPr>
        <p:spPr>
          <a:xfrm>
            <a:off x="457200" y="1562100"/>
            <a:ext cx="2590800" cy="38100"/>
          </a:xfrm>
          <a:prstGeom prst="rect">
            <a:avLst/>
          </a:prstGeom>
          <a:solidFill>
            <a:srgbClr val="006838"/>
          </a:solidFill>
          <a:ln w="12700">
            <a:solidFill>
              <a:srgbClr val="006838"/>
            </a:solidFill>
            <a:prstDash val="solid"/>
          </a:ln>
        </p:spPr>
      </p:sp>
      <p:sp>
        <p:nvSpPr>
          <p:cNvPr id="7" name="Text 5"/>
          <p:cNvSpPr txBox="1"/>
          <p:nvPr/>
        </p:nvSpPr>
        <p:spPr>
          <a:xfrm>
            <a:off x="647700" y="1733550"/>
            <a:ext cx="2209800" cy="171450"/>
          </a:xfrm>
          <a:prstGeom prst="rect">
            <a:avLst/>
          </a:prstGeom>
          <a:noFill/>
          <a:ln/>
        </p:spPr>
        <p:txBody>
          <a:bodyPr wrap="square" lIns="0" tIns="0" rIns="0" bIns="0" rtlCol="0" anchor="t"/>
          <a:lstStyle/>
          <a:p>
            <a:pPr indent="0" marL="0">
              <a:buNone/>
            </a:pPr>
            <a:r>
              <a:rPr lang="en-US" sz="1000" b="1" spc="100" kern="0" dirty="0">
                <a:solidFill>
                  <a:srgbClr val="006838"/>
                </a:solidFill>
                <a:latin typeface="Source Sans 3" pitchFamily="34" charset="0"/>
                <a:ea typeface="Source Sans 3" pitchFamily="34" charset="-122"/>
                <a:cs typeface="Source Sans 3" pitchFamily="34" charset="-120"/>
              </a:rPr>
              <a:t>YOUR REQUEST</a:t>
            </a:r>
            <a:endParaRPr lang="en-US" sz="1000" dirty="0"/>
          </a:p>
        </p:txBody>
      </p:sp>
      <p:sp>
        <p:nvSpPr>
          <p:cNvPr id="8" name="Text 6"/>
          <p:cNvSpPr txBox="1"/>
          <p:nvPr/>
        </p:nvSpPr>
        <p:spPr>
          <a:xfrm>
            <a:off x="647700" y="1924050"/>
            <a:ext cx="2209800" cy="666750"/>
          </a:xfrm>
          <a:prstGeom prst="rect">
            <a:avLst/>
          </a:prstGeom>
          <a:noFill/>
          <a:ln/>
        </p:spPr>
        <p:txBody>
          <a:bodyPr wrap="square" lIns="0" tIns="0" rIns="0" bIns="0" rtlCol="0" anchor="t"/>
          <a:lstStyle/>
          <a:p>
            <a:pPr indent="0" marL="0">
              <a:buNone/>
            </a:pPr>
            <a:r>
              <a:rPr lang="en-US" sz="1500" b="1" dirty="0">
                <a:solidFill>
                  <a:srgbClr val="33006F"/>
                </a:solidFill>
                <a:latin typeface="Source Sans 3" pitchFamily="34" charset="0"/>
                <a:ea typeface="Source Sans 3" pitchFamily="34" charset="-122"/>
                <a:cs typeface="Source Sans 3" pitchFamily="34" charset="-120"/>
              </a:rPr>
              <a:t>Deactivate test services (no hard delete)</a:t>
            </a:r>
            <a:endParaRPr lang="en-US" sz="1500" dirty="0"/>
          </a:p>
        </p:txBody>
      </p:sp>
      <p:sp>
        <p:nvSpPr>
          <p:cNvPr id="9" name="Shape 7"/>
          <p:cNvSpPr/>
          <p:nvPr/>
        </p:nvSpPr>
        <p:spPr>
          <a:xfrm>
            <a:off x="647700" y="2628900"/>
            <a:ext cx="2209800" cy="9525"/>
          </a:xfrm>
          <a:prstGeom prst="rect">
            <a:avLst/>
          </a:prstGeom>
          <a:solidFill>
            <a:srgbClr val="BFBFBF"/>
          </a:solidFill>
          <a:ln w="12700">
            <a:solidFill>
              <a:srgbClr val="BFBFBF"/>
            </a:solidFill>
            <a:prstDash val="solid"/>
          </a:ln>
        </p:spPr>
      </p:sp>
      <p:sp>
        <p:nvSpPr>
          <p:cNvPr id="10" name="Text 8"/>
          <p:cNvSpPr txBox="1"/>
          <p:nvPr/>
        </p:nvSpPr>
        <p:spPr>
          <a:xfrm>
            <a:off x="647700" y="2743200"/>
            <a:ext cx="2209800" cy="171450"/>
          </a:xfrm>
          <a:prstGeom prst="rect">
            <a:avLst/>
          </a:prstGeom>
          <a:noFill/>
          <a:ln/>
        </p:spPr>
        <p:txBody>
          <a:bodyPr wrap="square" lIns="0" tIns="0" rIns="0" bIns="0" rtlCol="0" anchor="t"/>
          <a:lstStyle/>
          <a:p>
            <a:pPr indent="0" marL="0">
              <a:buNone/>
            </a:pPr>
            <a:r>
              <a:rPr lang="en-US" sz="1000" b="1" spc="100" kern="0" dirty="0">
                <a:solidFill>
                  <a:srgbClr val="006838"/>
                </a:solidFill>
                <a:latin typeface="Source Sans 3" pitchFamily="34" charset="0"/>
                <a:ea typeface="Source Sans 3" pitchFamily="34" charset="-122"/>
                <a:cs typeface="Source Sans 3" pitchFamily="34" charset="-120"/>
              </a:rPr>
              <a:t>DESIGN IN THE GALLERY</a:t>
            </a:r>
            <a:endParaRPr lang="en-US" sz="1000" dirty="0"/>
          </a:p>
        </p:txBody>
      </p:sp>
      <p:sp>
        <p:nvSpPr>
          <p:cNvPr id="11" name="Text 9"/>
          <p:cNvSpPr txBox="1"/>
          <p:nvPr/>
        </p:nvSpPr>
        <p:spPr>
          <a:xfrm>
            <a:off x="647700" y="2933700"/>
            <a:ext cx="2209800" cy="76200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Lab Units Management (a "Service" is a lab unit)</a:t>
            </a:r>
            <a:endParaRPr lang="en-US" sz="1400" dirty="0"/>
          </a:p>
        </p:txBody>
      </p:sp>
      <p:sp>
        <p:nvSpPr>
          <p:cNvPr id="12" name="Text 10"/>
          <p:cNvSpPr txBox="1"/>
          <p:nvPr/>
        </p:nvSpPr>
        <p:spPr>
          <a:xfrm>
            <a:off x="647700" y="3714750"/>
            <a:ext cx="2209800" cy="304800"/>
          </a:xfrm>
          <a:prstGeom prst="rect">
            <a:avLst/>
          </a:prstGeom>
          <a:noFill/>
          <a:ln/>
        </p:spPr>
        <p:txBody>
          <a:bodyPr wrap="square" lIns="0" tIns="0" rIns="0" bIns="0" rtlCol="0" anchor="t"/>
          <a:lstStyle/>
          <a:p>
            <a:pPr indent="0" marL="0">
              <a:buNone/>
            </a:pPr>
            <a:r>
              <a:rPr lang="en-US" sz="950" dirty="0">
                <a:solidFill>
                  <a:srgbClr val="01458E"/>
                </a:solidFill>
                <a:latin typeface="Source Sans 3" pitchFamily="34" charset="0"/>
                <a:ea typeface="Source Sans 3" pitchFamily="34" charset="-122"/>
                <a:cs typeface="Source Sans 3" pitchFamily="34" charset="-120"/>
              </a:rPr>
              <a:t>digi-uw.github.io/openelis-work/#/admin-config/lab-units</a:t>
            </a:r>
            <a:endParaRPr lang="en-US" sz="950" dirty="0"/>
          </a:p>
        </p:txBody>
      </p:sp>
      <p:sp>
        <p:nvSpPr>
          <p:cNvPr id="13" name="Shape 11"/>
          <p:cNvSpPr/>
          <p:nvPr/>
        </p:nvSpPr>
        <p:spPr>
          <a:xfrm>
            <a:off x="3276600" y="1562100"/>
            <a:ext cx="2590800" cy="2495550"/>
          </a:xfrm>
          <a:prstGeom prst="rect">
            <a:avLst/>
          </a:prstGeom>
          <a:solidFill>
            <a:srgbClr val="F0F0FF"/>
          </a:solidFill>
          <a:ln w="12700">
            <a:solidFill>
              <a:srgbClr val="F0F0FF"/>
            </a:solidFill>
            <a:prstDash val="solid"/>
          </a:ln>
        </p:spPr>
      </p:sp>
      <p:sp>
        <p:nvSpPr>
          <p:cNvPr id="14" name="Shape 12"/>
          <p:cNvSpPr/>
          <p:nvPr/>
        </p:nvSpPr>
        <p:spPr>
          <a:xfrm>
            <a:off x="3276600" y="1562100"/>
            <a:ext cx="2590800" cy="38100"/>
          </a:xfrm>
          <a:prstGeom prst="rect">
            <a:avLst/>
          </a:prstGeom>
          <a:solidFill>
            <a:srgbClr val="006838"/>
          </a:solidFill>
          <a:ln w="12700">
            <a:solidFill>
              <a:srgbClr val="006838"/>
            </a:solidFill>
            <a:prstDash val="solid"/>
          </a:ln>
        </p:spPr>
      </p:sp>
      <p:sp>
        <p:nvSpPr>
          <p:cNvPr id="15" name="Text 13"/>
          <p:cNvSpPr txBox="1"/>
          <p:nvPr/>
        </p:nvSpPr>
        <p:spPr>
          <a:xfrm>
            <a:off x="3467100" y="1733550"/>
            <a:ext cx="2209800" cy="171450"/>
          </a:xfrm>
          <a:prstGeom prst="rect">
            <a:avLst/>
          </a:prstGeom>
          <a:noFill/>
          <a:ln/>
        </p:spPr>
        <p:txBody>
          <a:bodyPr wrap="square" lIns="0" tIns="0" rIns="0" bIns="0" rtlCol="0" anchor="t"/>
          <a:lstStyle/>
          <a:p>
            <a:pPr indent="0" marL="0">
              <a:buNone/>
            </a:pPr>
            <a:r>
              <a:rPr lang="en-US" sz="1000" b="1" spc="100" kern="0" dirty="0">
                <a:solidFill>
                  <a:srgbClr val="006838"/>
                </a:solidFill>
                <a:latin typeface="Source Sans 3" pitchFamily="34" charset="0"/>
                <a:ea typeface="Source Sans 3" pitchFamily="34" charset="-122"/>
                <a:cs typeface="Source Sans 3" pitchFamily="34" charset="-120"/>
              </a:rPr>
              <a:t>YOUR REQUEST</a:t>
            </a:r>
            <a:endParaRPr lang="en-US" sz="1000" dirty="0"/>
          </a:p>
        </p:txBody>
      </p:sp>
      <p:sp>
        <p:nvSpPr>
          <p:cNvPr id="16" name="Text 14"/>
          <p:cNvSpPr txBox="1"/>
          <p:nvPr/>
        </p:nvSpPr>
        <p:spPr>
          <a:xfrm>
            <a:off x="3467100" y="1924050"/>
            <a:ext cx="2209800" cy="666750"/>
          </a:xfrm>
          <a:prstGeom prst="rect">
            <a:avLst/>
          </a:prstGeom>
          <a:noFill/>
          <a:ln/>
        </p:spPr>
        <p:txBody>
          <a:bodyPr wrap="square" lIns="0" tIns="0" rIns="0" bIns="0" rtlCol="0" anchor="t"/>
          <a:lstStyle/>
          <a:p>
            <a:pPr indent="0" marL="0">
              <a:buNone/>
            </a:pPr>
            <a:r>
              <a:rPr lang="en-US" sz="1500" b="1" dirty="0">
                <a:solidFill>
                  <a:srgbClr val="33006F"/>
                </a:solidFill>
                <a:latin typeface="Source Sans 3" pitchFamily="34" charset="0"/>
                <a:ea typeface="Source Sans 3" pitchFamily="34" charset="-122"/>
                <a:cs typeface="Source Sans 3" pitchFamily="34" charset="-120"/>
              </a:rPr>
              <a:t>"Additional Information" section</a:t>
            </a:r>
            <a:endParaRPr lang="en-US" sz="1500" dirty="0"/>
          </a:p>
        </p:txBody>
      </p:sp>
      <p:sp>
        <p:nvSpPr>
          <p:cNvPr id="17" name="Shape 15"/>
          <p:cNvSpPr/>
          <p:nvPr/>
        </p:nvSpPr>
        <p:spPr>
          <a:xfrm>
            <a:off x="3467100" y="2628900"/>
            <a:ext cx="2209800" cy="9525"/>
          </a:xfrm>
          <a:prstGeom prst="rect">
            <a:avLst/>
          </a:prstGeom>
          <a:solidFill>
            <a:srgbClr val="BFBFBF"/>
          </a:solidFill>
          <a:ln w="12700">
            <a:solidFill>
              <a:srgbClr val="BFBFBF"/>
            </a:solidFill>
            <a:prstDash val="solid"/>
          </a:ln>
        </p:spPr>
      </p:sp>
      <p:sp>
        <p:nvSpPr>
          <p:cNvPr id="18" name="Text 16"/>
          <p:cNvSpPr txBox="1"/>
          <p:nvPr/>
        </p:nvSpPr>
        <p:spPr>
          <a:xfrm>
            <a:off x="3467100" y="2743200"/>
            <a:ext cx="2209800" cy="171450"/>
          </a:xfrm>
          <a:prstGeom prst="rect">
            <a:avLst/>
          </a:prstGeom>
          <a:noFill/>
          <a:ln/>
        </p:spPr>
        <p:txBody>
          <a:bodyPr wrap="square" lIns="0" tIns="0" rIns="0" bIns="0" rtlCol="0" anchor="t"/>
          <a:lstStyle/>
          <a:p>
            <a:pPr indent="0" marL="0">
              <a:buNone/>
            </a:pPr>
            <a:r>
              <a:rPr lang="en-US" sz="1000" b="1" spc="100" kern="0" dirty="0">
                <a:solidFill>
                  <a:srgbClr val="006838"/>
                </a:solidFill>
                <a:latin typeface="Source Sans 3" pitchFamily="34" charset="0"/>
                <a:ea typeface="Source Sans 3" pitchFamily="34" charset="-122"/>
                <a:cs typeface="Source Sans 3" pitchFamily="34" charset="-120"/>
              </a:rPr>
              <a:t>DESIGN IN THE GALLERY</a:t>
            </a:r>
            <a:endParaRPr lang="en-US" sz="1000" dirty="0"/>
          </a:p>
        </p:txBody>
      </p:sp>
      <p:sp>
        <p:nvSpPr>
          <p:cNvPr id="19" name="Text 17"/>
          <p:cNvSpPr txBox="1"/>
          <p:nvPr/>
        </p:nvSpPr>
        <p:spPr>
          <a:xfrm>
            <a:off x="3467100" y="2933700"/>
            <a:ext cx="2209800" cy="76200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Additional Information Builder (Programs Management)</a:t>
            </a:r>
            <a:endParaRPr lang="en-US" sz="1400" dirty="0"/>
          </a:p>
        </p:txBody>
      </p:sp>
      <p:sp>
        <p:nvSpPr>
          <p:cNvPr id="20" name="Text 18"/>
          <p:cNvSpPr txBox="1"/>
          <p:nvPr/>
        </p:nvSpPr>
        <p:spPr>
          <a:xfrm>
            <a:off x="3467100" y="3714750"/>
            <a:ext cx="2209800" cy="304800"/>
          </a:xfrm>
          <a:prstGeom prst="rect">
            <a:avLst/>
          </a:prstGeom>
          <a:noFill/>
          <a:ln/>
        </p:spPr>
        <p:txBody>
          <a:bodyPr wrap="square" lIns="0" tIns="0" rIns="0" bIns="0" rtlCol="0" anchor="t"/>
          <a:lstStyle/>
          <a:p>
            <a:pPr indent="0" marL="0">
              <a:buNone/>
            </a:pPr>
            <a:r>
              <a:rPr lang="en-US" sz="950" dirty="0">
                <a:solidFill>
                  <a:srgbClr val="01458E"/>
                </a:solidFill>
                <a:latin typeface="Source Sans 3" pitchFamily="34" charset="0"/>
                <a:ea typeface="Source Sans 3" pitchFamily="34" charset="-122"/>
                <a:cs typeface="Source Sans 3" pitchFamily="34" charset="-120"/>
              </a:rPr>
              <a:t>digi-uw.github.io/openelis-work/#/admin-config/additional-info-builder</a:t>
            </a:r>
            <a:endParaRPr lang="en-US" sz="950" dirty="0"/>
          </a:p>
        </p:txBody>
      </p:sp>
      <p:sp>
        <p:nvSpPr>
          <p:cNvPr id="21" name="Shape 19"/>
          <p:cNvSpPr/>
          <p:nvPr/>
        </p:nvSpPr>
        <p:spPr>
          <a:xfrm>
            <a:off x="6096000" y="1562100"/>
            <a:ext cx="2590800" cy="2495550"/>
          </a:xfrm>
          <a:prstGeom prst="rect">
            <a:avLst/>
          </a:prstGeom>
          <a:solidFill>
            <a:srgbClr val="F0F0FF"/>
          </a:solidFill>
          <a:ln w="12700">
            <a:solidFill>
              <a:srgbClr val="F0F0FF"/>
            </a:solidFill>
            <a:prstDash val="solid"/>
          </a:ln>
        </p:spPr>
      </p:sp>
      <p:sp>
        <p:nvSpPr>
          <p:cNvPr id="22" name="Shape 20"/>
          <p:cNvSpPr/>
          <p:nvPr/>
        </p:nvSpPr>
        <p:spPr>
          <a:xfrm>
            <a:off x="6096000" y="1562100"/>
            <a:ext cx="2590800" cy="38100"/>
          </a:xfrm>
          <a:prstGeom prst="rect">
            <a:avLst/>
          </a:prstGeom>
          <a:solidFill>
            <a:srgbClr val="006838"/>
          </a:solidFill>
          <a:ln w="12700">
            <a:solidFill>
              <a:srgbClr val="006838"/>
            </a:solidFill>
            <a:prstDash val="solid"/>
          </a:ln>
        </p:spPr>
      </p:sp>
      <p:sp>
        <p:nvSpPr>
          <p:cNvPr id="23" name="Text 21"/>
          <p:cNvSpPr txBox="1"/>
          <p:nvPr/>
        </p:nvSpPr>
        <p:spPr>
          <a:xfrm>
            <a:off x="6286500" y="1733550"/>
            <a:ext cx="2209800" cy="171450"/>
          </a:xfrm>
          <a:prstGeom prst="rect">
            <a:avLst/>
          </a:prstGeom>
          <a:noFill/>
          <a:ln/>
        </p:spPr>
        <p:txBody>
          <a:bodyPr wrap="square" lIns="0" tIns="0" rIns="0" bIns="0" rtlCol="0" anchor="t"/>
          <a:lstStyle/>
          <a:p>
            <a:pPr indent="0" marL="0">
              <a:buNone/>
            </a:pPr>
            <a:r>
              <a:rPr lang="en-US" sz="1000" b="1" spc="100" kern="0" dirty="0">
                <a:solidFill>
                  <a:srgbClr val="006838"/>
                </a:solidFill>
                <a:latin typeface="Source Sans 3" pitchFamily="34" charset="0"/>
                <a:ea typeface="Source Sans 3" pitchFamily="34" charset="-122"/>
                <a:cs typeface="Source Sans 3" pitchFamily="34" charset="-120"/>
              </a:rPr>
              <a:t>YOUR REQUEST</a:t>
            </a:r>
            <a:endParaRPr lang="en-US" sz="1000" dirty="0"/>
          </a:p>
        </p:txBody>
      </p:sp>
      <p:sp>
        <p:nvSpPr>
          <p:cNvPr id="24" name="Text 22"/>
          <p:cNvSpPr txBox="1"/>
          <p:nvPr/>
        </p:nvSpPr>
        <p:spPr>
          <a:xfrm>
            <a:off x="6286500" y="1924050"/>
            <a:ext cx="2209800" cy="666750"/>
          </a:xfrm>
          <a:prstGeom prst="rect">
            <a:avLst/>
          </a:prstGeom>
          <a:noFill/>
          <a:ln/>
        </p:spPr>
        <p:txBody>
          <a:bodyPr wrap="square" lIns="0" tIns="0" rIns="0" bIns="0" rtlCol="0" anchor="t"/>
          <a:lstStyle/>
          <a:p>
            <a:pPr indent="0" marL="0">
              <a:buNone/>
            </a:pPr>
            <a:r>
              <a:rPr lang="en-US" sz="1500" b="1" dirty="0">
                <a:solidFill>
                  <a:srgbClr val="33006F"/>
                </a:solidFill>
                <a:latin typeface="Source Sans 3" pitchFamily="34" charset="0"/>
                <a:ea typeface="Source Sans 3" pitchFamily="34" charset="-122"/>
                <a:cs typeface="Source Sans 3" pitchFamily="34" charset="-120"/>
              </a:rPr>
              <a:t>Keep selected samples across tests</a:t>
            </a:r>
            <a:endParaRPr lang="en-US" sz="1500" dirty="0"/>
          </a:p>
        </p:txBody>
      </p:sp>
      <p:sp>
        <p:nvSpPr>
          <p:cNvPr id="25" name="Shape 23"/>
          <p:cNvSpPr/>
          <p:nvPr/>
        </p:nvSpPr>
        <p:spPr>
          <a:xfrm>
            <a:off x="6286500" y="2628900"/>
            <a:ext cx="2209800" cy="9525"/>
          </a:xfrm>
          <a:prstGeom prst="rect">
            <a:avLst/>
          </a:prstGeom>
          <a:solidFill>
            <a:srgbClr val="BFBFBF"/>
          </a:solidFill>
          <a:ln w="12700">
            <a:solidFill>
              <a:srgbClr val="BFBFBF"/>
            </a:solidFill>
            <a:prstDash val="solid"/>
          </a:ln>
        </p:spPr>
      </p:sp>
      <p:sp>
        <p:nvSpPr>
          <p:cNvPr id="26" name="Text 24"/>
          <p:cNvSpPr txBox="1"/>
          <p:nvPr/>
        </p:nvSpPr>
        <p:spPr>
          <a:xfrm>
            <a:off x="6286500" y="2743200"/>
            <a:ext cx="2209800" cy="171450"/>
          </a:xfrm>
          <a:prstGeom prst="rect">
            <a:avLst/>
          </a:prstGeom>
          <a:noFill/>
          <a:ln/>
        </p:spPr>
        <p:txBody>
          <a:bodyPr wrap="square" lIns="0" tIns="0" rIns="0" bIns="0" rtlCol="0" anchor="t"/>
          <a:lstStyle/>
          <a:p>
            <a:pPr indent="0" marL="0">
              <a:buNone/>
            </a:pPr>
            <a:r>
              <a:rPr lang="en-US" sz="1000" b="1" spc="100" kern="0" dirty="0">
                <a:solidFill>
                  <a:srgbClr val="006838"/>
                </a:solidFill>
                <a:latin typeface="Source Sans 3" pitchFamily="34" charset="0"/>
                <a:ea typeface="Source Sans 3" pitchFamily="34" charset="-122"/>
                <a:cs typeface="Source Sans 3" pitchFamily="34" charset="-120"/>
              </a:rPr>
              <a:t>DESIGN IN THE GALLERY</a:t>
            </a:r>
            <a:endParaRPr lang="en-US" sz="1000" dirty="0"/>
          </a:p>
        </p:txBody>
      </p:sp>
      <p:sp>
        <p:nvSpPr>
          <p:cNvPr id="27" name="Text 25"/>
          <p:cNvSpPr txBox="1"/>
          <p:nvPr/>
        </p:nvSpPr>
        <p:spPr>
          <a:xfrm>
            <a:off x="6286500" y="2933700"/>
            <a:ext cx="2209800" cy="76200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Multi-sample order entry (Sample Collection redesign)</a:t>
            </a:r>
            <a:endParaRPr lang="en-US" sz="1400" dirty="0"/>
          </a:p>
        </p:txBody>
      </p:sp>
      <p:sp>
        <p:nvSpPr>
          <p:cNvPr id="28" name="Text 26"/>
          <p:cNvSpPr txBox="1"/>
          <p:nvPr/>
        </p:nvSpPr>
        <p:spPr>
          <a:xfrm>
            <a:off x="6286500" y="3714750"/>
            <a:ext cx="2209800" cy="304800"/>
          </a:xfrm>
          <a:prstGeom prst="rect">
            <a:avLst/>
          </a:prstGeom>
          <a:noFill/>
          <a:ln/>
        </p:spPr>
        <p:txBody>
          <a:bodyPr wrap="square" lIns="0" tIns="0" rIns="0" bIns="0" rtlCol="0" anchor="t"/>
          <a:lstStyle/>
          <a:p>
            <a:pPr indent="0" marL="0">
              <a:buNone/>
            </a:pPr>
            <a:r>
              <a:rPr lang="en-US" sz="950" dirty="0">
                <a:solidFill>
                  <a:srgbClr val="01458E"/>
                </a:solidFill>
                <a:latin typeface="Source Sans 3" pitchFamily="34" charset="0"/>
                <a:ea typeface="Source Sans 3" pitchFamily="34" charset="-122"/>
                <a:cs typeface="Source Sans 3" pitchFamily="34" charset="-120"/>
              </a:rPr>
              <a:t>digi-uw.github.io/openelis-work/#/sample-collection/multiple-samples-per-test-at-order-entry</a:t>
            </a:r>
            <a:endParaRPr lang="en-US" sz="950" dirty="0"/>
          </a:p>
        </p:txBody>
      </p:sp>
      <p:sp>
        <p:nvSpPr>
          <p:cNvPr id="29" name="Text 27"/>
          <p:cNvSpPr txBox="1"/>
          <p:nvPr/>
        </p:nvSpPr>
        <p:spPr>
          <a:xfrm>
            <a:off x="457200" y="4191000"/>
            <a:ext cx="8229600" cy="47625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You can open each design, read it, and comment. Feedback goes on the forum, in Development, with the gallery link.</a:t>
            </a:r>
            <a:endParaRPr lang="en-US" sz="1500" dirty="0"/>
          </a:p>
        </p:txBody>
      </p:sp>
      <p:sp>
        <p:nvSpPr>
          <p:cNvPr id="30" name="Text 2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19</a:t>
            </a:r>
            <a:endParaRPr lang="en-US" sz="1100" dirty="0"/>
          </a:p>
        </p:txBody>
      </p:sp>
      <p:sp>
        <p:nvSpPr>
          <p:cNvPr id="31" name="Text 2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6838"/>
                </a:solidFill>
                <a:latin typeface="Source Sans 3" pitchFamily="34" charset="0"/>
                <a:ea typeface="Source Sans 3" pitchFamily="34" charset="-122"/>
                <a:cs typeface="Source Sans 3" pitchFamily="34" charset="-120"/>
              </a:rPr>
              <a:t>ROADMAP AND GALLERY</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3 of 7</a:t>
            </a:r>
            <a:endParaRPr lang="en-US"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What is coming in OpenELIS Global</a:t>
            </a:r>
            <a:endParaRPr lang="en-US" sz="2500" dirty="0"/>
          </a:p>
        </p:txBody>
      </p:sp>
      <p:sp>
        <p:nvSpPr>
          <p:cNvPr id="5" name="Text 3"/>
          <p:cNvSpPr txBox="1"/>
          <p:nvPr/>
        </p:nvSpPr>
        <p:spPr>
          <a:xfrm>
            <a:off x="457200" y="1524000"/>
            <a:ext cx="8229600" cy="285750"/>
          </a:xfrm>
          <a:prstGeom prst="rect">
            <a:avLst/>
          </a:prstGeom>
          <a:noFill/>
          <a:ln/>
        </p:spPr>
        <p:txBody>
          <a:bodyPr wrap="square" lIns="0" tIns="0" rIns="0" bIns="0" rtlCol="0" anchor="t"/>
          <a:lstStyle/>
          <a:p>
            <a:pPr indent="0" marL="0">
              <a:buNone/>
            </a:pPr>
            <a:r>
              <a:rPr lang="en-US" sz="1500" dirty="0">
                <a:solidFill>
                  <a:srgbClr val="5B5670"/>
                </a:solidFill>
                <a:latin typeface="Source Sans 3" pitchFamily="34" charset="0"/>
                <a:ea typeface="Source Sans 3" pitchFamily="34" charset="-122"/>
                <a:cs typeface="Source Sans 3" pitchFamily="34" charset="-120"/>
              </a:rPr>
              <a:t>Work in progress for other countries. It reaches Madagascar through normal releases.</a:t>
            </a:r>
            <a:endParaRPr lang="en-US" sz="1500" dirty="0"/>
          </a:p>
        </p:txBody>
      </p:sp>
      <p:sp>
        <p:nvSpPr>
          <p:cNvPr id="6" name="Shape 4"/>
          <p:cNvSpPr/>
          <p:nvPr/>
        </p:nvSpPr>
        <p:spPr>
          <a:xfrm>
            <a:off x="457200" y="1943100"/>
            <a:ext cx="95250" cy="95250"/>
          </a:xfrm>
          <a:prstGeom prst="rect">
            <a:avLst/>
          </a:prstGeom>
          <a:solidFill>
            <a:srgbClr val="006838"/>
          </a:solidFill>
          <a:ln w="12700">
            <a:solidFill>
              <a:srgbClr val="006838"/>
            </a:solidFill>
            <a:prstDash val="solid"/>
          </a:ln>
        </p:spPr>
      </p:sp>
      <p:sp>
        <p:nvSpPr>
          <p:cNvPr id="7" name="Text 5"/>
          <p:cNvSpPr txBox="1"/>
          <p:nvPr/>
        </p:nvSpPr>
        <p:spPr>
          <a:xfrm>
            <a:off x="666750" y="190500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Microbiology and AMR module. </a:t>
            </a:r>
            <a:pPr indent="0" marL="0">
              <a:buNone/>
            </a:pPr>
            <a:r>
              <a:rPr lang="en-US" sz="1400" dirty="0">
                <a:solidFill>
                  <a:srgbClr val="434343"/>
                </a:solidFill>
                <a:latin typeface="Source Sans 3" pitchFamily="34" charset="0"/>
                <a:ea typeface="Source Sans 3" pitchFamily="34" charset="-122"/>
                <a:cs typeface="Source Sans 3" pitchFamily="34" charset="-120"/>
              </a:rPr>
              <a:t>Culture, organism identification, susceptibility, automatic interpretation, national AMR reporting.</a:t>
            </a:r>
            <a:endParaRPr lang="en-US" sz="1400" dirty="0"/>
          </a:p>
        </p:txBody>
      </p:sp>
      <p:sp>
        <p:nvSpPr>
          <p:cNvPr id="8" name="Shape 6"/>
          <p:cNvSpPr/>
          <p:nvPr/>
        </p:nvSpPr>
        <p:spPr>
          <a:xfrm>
            <a:off x="457200" y="2609850"/>
            <a:ext cx="95250" cy="95250"/>
          </a:xfrm>
          <a:prstGeom prst="rect">
            <a:avLst/>
          </a:prstGeom>
          <a:solidFill>
            <a:srgbClr val="006838"/>
          </a:solidFill>
          <a:ln w="12700">
            <a:solidFill>
              <a:srgbClr val="006838"/>
            </a:solidFill>
            <a:prstDash val="solid"/>
          </a:ln>
        </p:spPr>
      </p:sp>
      <p:sp>
        <p:nvSpPr>
          <p:cNvPr id="9" name="Text 7"/>
          <p:cNvSpPr txBox="1"/>
          <p:nvPr/>
        </p:nvSpPr>
        <p:spPr>
          <a:xfrm>
            <a:off x="666750" y="257175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Notifications. </a:t>
            </a:r>
            <a:pPr indent="0" marL="0">
              <a:buNone/>
            </a:pPr>
            <a:r>
              <a:rPr lang="en-US" sz="1400" dirty="0">
                <a:solidFill>
                  <a:srgbClr val="434343"/>
                </a:solidFill>
                <a:latin typeface="Source Sans 3" pitchFamily="34" charset="0"/>
                <a:ea typeface="Source Sans 3" pitchFamily="34" charset="-122"/>
                <a:cs typeface="Source Sans 3" pitchFamily="34" charset="-120"/>
              </a:rPr>
              <a:t>SMS and email to the clinician when a result is ready.</a:t>
            </a:r>
            <a:endParaRPr lang="en-US" sz="1400" dirty="0"/>
          </a:p>
        </p:txBody>
      </p:sp>
      <p:sp>
        <p:nvSpPr>
          <p:cNvPr id="10" name="Shape 8"/>
          <p:cNvSpPr/>
          <p:nvPr/>
        </p:nvSpPr>
        <p:spPr>
          <a:xfrm>
            <a:off x="457200" y="3276600"/>
            <a:ext cx="95250" cy="95250"/>
          </a:xfrm>
          <a:prstGeom prst="rect">
            <a:avLst/>
          </a:prstGeom>
          <a:solidFill>
            <a:srgbClr val="006838"/>
          </a:solidFill>
          <a:ln w="12700">
            <a:solidFill>
              <a:srgbClr val="006838"/>
            </a:solidFill>
            <a:prstDash val="solid"/>
          </a:ln>
        </p:spPr>
      </p:sp>
      <p:sp>
        <p:nvSpPr>
          <p:cNvPr id="11" name="Text 9"/>
          <p:cNvSpPr txBox="1"/>
          <p:nvPr/>
        </p:nvSpPr>
        <p:spPr>
          <a:xfrm>
            <a:off x="666750" y="323850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National reporting by FHIR. </a:t>
            </a:r>
            <a:pPr indent="0" marL="0">
              <a:buNone/>
            </a:pPr>
            <a:r>
              <a:rPr lang="en-US" sz="1400" dirty="0">
                <a:solidFill>
                  <a:srgbClr val="434343"/>
                </a:solidFill>
                <a:latin typeface="Source Sans 3" pitchFamily="34" charset="0"/>
                <a:ea typeface="Source Sans 3" pitchFamily="34" charset="-122"/>
                <a:cs typeface="Source Sans 3" pitchFamily="34" charset="-120"/>
              </a:rPr>
              <a:t>Results sent to a central hub as soon as they are released.</a:t>
            </a:r>
            <a:endParaRPr lang="en-US" sz="1400" dirty="0"/>
          </a:p>
        </p:txBody>
      </p:sp>
      <p:sp>
        <p:nvSpPr>
          <p:cNvPr id="12" name="Shape 10"/>
          <p:cNvSpPr/>
          <p:nvPr/>
        </p:nvSpPr>
        <p:spPr>
          <a:xfrm>
            <a:off x="457200" y="3943350"/>
            <a:ext cx="95250" cy="95250"/>
          </a:xfrm>
          <a:prstGeom prst="rect">
            <a:avLst/>
          </a:prstGeom>
          <a:solidFill>
            <a:srgbClr val="006838"/>
          </a:solidFill>
          <a:ln w="12700">
            <a:solidFill>
              <a:srgbClr val="006838"/>
            </a:solidFill>
            <a:prstDash val="solid"/>
          </a:ln>
        </p:spPr>
      </p:sp>
      <p:sp>
        <p:nvSpPr>
          <p:cNvPr id="13" name="Text 11"/>
          <p:cNvSpPr txBox="1"/>
          <p:nvPr/>
        </p:nvSpPr>
        <p:spPr>
          <a:xfrm>
            <a:off x="666750" y="390525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Dashboards and data export. </a:t>
            </a:r>
            <a:pPr indent="0" marL="0">
              <a:buNone/>
            </a:pPr>
            <a:r>
              <a:rPr lang="en-US" sz="1400" dirty="0">
                <a:solidFill>
                  <a:srgbClr val="434343"/>
                </a:solidFill>
                <a:latin typeface="Source Sans 3" pitchFamily="34" charset="0"/>
                <a:ea typeface="Source Sans 3" pitchFamily="34" charset="-122"/>
                <a:cs typeface="Source Sans 3" pitchFamily="34" charset="-120"/>
              </a:rPr>
              <a:t>Lab managers pull their own data without a database expert.</a:t>
            </a:r>
            <a:endParaRPr lang="en-US" sz="1400" dirty="0"/>
          </a:p>
        </p:txBody>
      </p:sp>
      <p:sp>
        <p:nvSpPr>
          <p:cNvPr id="14" name="Shape 12"/>
          <p:cNvSpPr/>
          <p:nvPr/>
        </p:nvSpPr>
        <p:spPr>
          <a:xfrm>
            <a:off x="4648200" y="1943100"/>
            <a:ext cx="95250" cy="95250"/>
          </a:xfrm>
          <a:prstGeom prst="rect">
            <a:avLst/>
          </a:prstGeom>
          <a:solidFill>
            <a:srgbClr val="006838"/>
          </a:solidFill>
          <a:ln w="12700">
            <a:solidFill>
              <a:srgbClr val="006838"/>
            </a:solidFill>
            <a:prstDash val="solid"/>
          </a:ln>
        </p:spPr>
      </p:sp>
      <p:sp>
        <p:nvSpPr>
          <p:cNvPr id="15" name="Text 13"/>
          <p:cNvSpPr txBox="1"/>
          <p:nvPr/>
        </p:nvSpPr>
        <p:spPr>
          <a:xfrm>
            <a:off x="4857750" y="190500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Role-based access control. </a:t>
            </a:r>
            <a:pPr indent="0" marL="0">
              <a:buNone/>
            </a:pPr>
            <a:r>
              <a:rPr lang="en-US" sz="1400" dirty="0">
                <a:solidFill>
                  <a:srgbClr val="434343"/>
                </a:solidFill>
                <a:latin typeface="Source Sans 3" pitchFamily="34" charset="0"/>
                <a:ea typeface="Source Sans 3" pitchFamily="34" charset="-122"/>
                <a:cs typeface="Source Sans 3" pitchFamily="34" charset="-120"/>
              </a:rPr>
              <a:t>Permissions that match the job.</a:t>
            </a:r>
            <a:endParaRPr lang="en-US" sz="1400" dirty="0"/>
          </a:p>
        </p:txBody>
      </p:sp>
      <p:sp>
        <p:nvSpPr>
          <p:cNvPr id="16" name="Shape 14"/>
          <p:cNvSpPr/>
          <p:nvPr/>
        </p:nvSpPr>
        <p:spPr>
          <a:xfrm>
            <a:off x="4648200" y="2609850"/>
            <a:ext cx="95250" cy="95250"/>
          </a:xfrm>
          <a:prstGeom prst="rect">
            <a:avLst/>
          </a:prstGeom>
          <a:solidFill>
            <a:srgbClr val="006838"/>
          </a:solidFill>
          <a:ln w="12700">
            <a:solidFill>
              <a:srgbClr val="006838"/>
            </a:solidFill>
            <a:prstDash val="solid"/>
          </a:ln>
        </p:spPr>
      </p:sp>
      <p:sp>
        <p:nvSpPr>
          <p:cNvPr id="17" name="Text 15"/>
          <p:cNvSpPr txBox="1"/>
          <p:nvPr/>
        </p:nvSpPr>
        <p:spPr>
          <a:xfrm>
            <a:off x="4857750" y="257175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Quality control tracking </a:t>
            </a:r>
            <a:pPr indent="0" marL="0">
              <a:buNone/>
            </a:pPr>
            <a:r>
              <a:rPr lang="en-US" sz="1400" dirty="0">
                <a:solidFill>
                  <a:srgbClr val="434343"/>
                </a:solidFill>
                <a:latin typeface="Source Sans 3" pitchFamily="34" charset="0"/>
                <a:ea typeface="Source Sans 3" pitchFamily="34" charset="-122"/>
                <a:cs typeface="Source Sans 3" pitchFamily="34" charset="-120"/>
              </a:rPr>
              <a:t>for manual and analyzer tests.</a:t>
            </a:r>
            <a:endParaRPr lang="en-US" sz="1400" dirty="0"/>
          </a:p>
        </p:txBody>
      </p:sp>
      <p:sp>
        <p:nvSpPr>
          <p:cNvPr id="18" name="Shape 16"/>
          <p:cNvSpPr/>
          <p:nvPr/>
        </p:nvSpPr>
        <p:spPr>
          <a:xfrm>
            <a:off x="4648200" y="3276600"/>
            <a:ext cx="95250" cy="95250"/>
          </a:xfrm>
          <a:prstGeom prst="rect">
            <a:avLst/>
          </a:prstGeom>
          <a:solidFill>
            <a:srgbClr val="006838"/>
          </a:solidFill>
          <a:ln w="12700">
            <a:solidFill>
              <a:srgbClr val="006838"/>
            </a:solidFill>
            <a:prstDash val="solid"/>
          </a:ln>
        </p:spPr>
      </p:sp>
      <p:sp>
        <p:nvSpPr>
          <p:cNvPr id="19" name="Text 17"/>
          <p:cNvSpPr txBox="1"/>
          <p:nvPr/>
        </p:nvSpPr>
        <p:spPr>
          <a:xfrm>
            <a:off x="4857750" y="3238500"/>
            <a:ext cx="3829050" cy="6286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Non-conformity and CAPA tracking.</a:t>
            </a:r>
            <a:endParaRPr lang="en-US" sz="14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20</a:t>
            </a:r>
            <a:endParaRPr lang="en-US" sz="11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67175"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4762500" y="1428750"/>
            <a:ext cx="3810000" cy="1238250"/>
          </a:xfrm>
          <a:prstGeom prst="rect">
            <a:avLst/>
          </a:prstGeom>
          <a:noFill/>
          <a:ln/>
        </p:spPr>
        <p:txBody>
          <a:bodyPr wrap="square" lIns="0" tIns="0" rIns="0" bIns="0" rtlCol="0" anchor="b">
            <a:normAutofit/>
          </a:bodyPr>
          <a:lstStyle/>
          <a:p>
            <a:pPr indent="0" marL="0">
              <a:buNone/>
            </a:pPr>
            <a:r>
              <a:rPr lang="en-US" sz="2800" b="1" dirty="0">
                <a:solidFill>
                  <a:srgbClr val="33006F"/>
                </a:solidFill>
                <a:latin typeface="Source Sans 3" pitchFamily="34" charset="0"/>
                <a:ea typeface="Source Sans 3" pitchFamily="34" charset="-122"/>
                <a:cs typeface="Source Sans 3" pitchFamily="34" charset="-120"/>
              </a:rPr>
              <a:t>4. Bug, feature request, or question</a:t>
            </a:r>
            <a:endParaRPr lang="en-US" sz="2800" dirty="0"/>
          </a:p>
        </p:txBody>
      </p:sp>
      <p:sp>
        <p:nvSpPr>
          <p:cNvPr id="4" name="Text 2"/>
          <p:cNvSpPr txBox="1"/>
          <p:nvPr/>
        </p:nvSpPr>
        <p:spPr>
          <a:xfrm>
            <a:off x="4762500" y="2781300"/>
            <a:ext cx="3810000" cy="1143000"/>
          </a:xfrm>
          <a:prstGeom prst="rect">
            <a:avLst/>
          </a:prstGeom>
          <a:noFill/>
          <a:ln/>
        </p:spPr>
        <p:txBody>
          <a:bodyPr wrap="square" lIns="0" tIns="0" rIns="0" bIns="0" rtlCol="0" anchor="t"/>
          <a:lstStyle/>
          <a:p>
            <a:pPr indent="0" marL="0">
              <a:buNone/>
            </a:pPr>
            <a:r>
              <a:rPr lang="en-US" sz="1800" dirty="0">
                <a:solidFill>
                  <a:srgbClr val="434343"/>
                </a:solidFill>
                <a:latin typeface="Source Sans 3" pitchFamily="34" charset="0"/>
                <a:ea typeface="Source Sans 3" pitchFamily="34" charset="-122"/>
                <a:cs typeface="Source Sans 3" pitchFamily="34" charset="-120"/>
              </a:rPr>
              <a:t>Choosing the right channel, so your message reaches the right people.</a:t>
            </a:r>
            <a:endParaRPr lang="en-US" sz="180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21</a:t>
            </a:r>
            <a:endParaRPr lang="en-US" sz="11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FFFFFF"/>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CHOOSING THE CHANNEL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4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Three doors: the same message in the wrong place goes nowhere</a:t>
            </a:r>
            <a:endParaRPr lang="en-US" sz="2500" dirty="0"/>
          </a:p>
        </p:txBody>
      </p:sp>
      <p:sp>
        <p:nvSpPr>
          <p:cNvPr id="5" name="Shape 3"/>
          <p:cNvSpPr/>
          <p:nvPr/>
        </p:nvSpPr>
        <p:spPr>
          <a:xfrm>
            <a:off x="457200" y="1562100"/>
            <a:ext cx="2590800" cy="1104900"/>
          </a:xfrm>
          <a:prstGeom prst="rect">
            <a:avLst/>
          </a:prstGeom>
          <a:solidFill>
            <a:srgbClr val="F0F0FF"/>
          </a:solidFill>
          <a:ln w="12700">
            <a:solidFill>
              <a:srgbClr val="F0F0FF"/>
            </a:solidFill>
            <a:prstDash val="solid"/>
          </a:ln>
        </p:spPr>
      </p:sp>
      <p:sp>
        <p:nvSpPr>
          <p:cNvPr id="6" name="Shape 4"/>
          <p:cNvSpPr/>
          <p:nvPr/>
        </p:nvSpPr>
        <p:spPr>
          <a:xfrm>
            <a:off x="457200" y="1562100"/>
            <a:ext cx="2590800" cy="38100"/>
          </a:xfrm>
          <a:prstGeom prst="rect">
            <a:avLst/>
          </a:prstGeom>
          <a:solidFill>
            <a:srgbClr val="01458E"/>
          </a:solidFill>
          <a:ln w="12700">
            <a:solidFill>
              <a:srgbClr val="01458E"/>
            </a:solidFill>
            <a:prstDash val="solid"/>
          </a:ln>
        </p:spPr>
      </p:sp>
      <p:sp>
        <p:nvSpPr>
          <p:cNvPr id="7" name="Text 5"/>
          <p:cNvSpPr txBox="1"/>
          <p:nvPr/>
        </p:nvSpPr>
        <p:spPr>
          <a:xfrm>
            <a:off x="647700" y="1695450"/>
            <a:ext cx="2209800" cy="285750"/>
          </a:xfrm>
          <a:prstGeom prst="rect">
            <a:avLst/>
          </a:prstGeom>
          <a:noFill/>
          <a:ln/>
        </p:spPr>
        <p:txBody>
          <a:bodyPr wrap="square" lIns="0" tIns="0" rIns="0" bIns="0" rtlCol="0" anchor="t">
            <a:normAutofit/>
          </a:bodyPr>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Bug</a:t>
            </a:r>
            <a:endParaRPr lang="en-US" sz="2000" dirty="0"/>
          </a:p>
        </p:txBody>
      </p:sp>
      <p:sp>
        <p:nvSpPr>
          <p:cNvPr id="8" name="Text 6"/>
          <p:cNvSpPr txBox="1"/>
          <p:nvPr/>
        </p:nvSpPr>
        <p:spPr>
          <a:xfrm>
            <a:off x="647700" y="2057400"/>
            <a:ext cx="2209800" cy="57150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Something should work and does not.</a:t>
            </a:r>
            <a:endParaRPr lang="en-US" sz="1400" dirty="0"/>
          </a:p>
        </p:txBody>
      </p:sp>
      <p:sp>
        <p:nvSpPr>
          <p:cNvPr id="9" name="Shape 7"/>
          <p:cNvSpPr/>
          <p:nvPr/>
        </p:nvSpPr>
        <p:spPr>
          <a:xfrm>
            <a:off x="3276600" y="1562100"/>
            <a:ext cx="2590800" cy="1104900"/>
          </a:xfrm>
          <a:prstGeom prst="rect">
            <a:avLst/>
          </a:prstGeom>
          <a:solidFill>
            <a:srgbClr val="F0F0FF"/>
          </a:solidFill>
          <a:ln w="12700">
            <a:solidFill>
              <a:srgbClr val="F0F0FF"/>
            </a:solidFill>
            <a:prstDash val="solid"/>
          </a:ln>
        </p:spPr>
      </p:sp>
      <p:sp>
        <p:nvSpPr>
          <p:cNvPr id="10" name="Shape 8"/>
          <p:cNvSpPr/>
          <p:nvPr/>
        </p:nvSpPr>
        <p:spPr>
          <a:xfrm>
            <a:off x="3276600" y="1562100"/>
            <a:ext cx="2590800" cy="38100"/>
          </a:xfrm>
          <a:prstGeom prst="rect">
            <a:avLst/>
          </a:prstGeom>
          <a:solidFill>
            <a:srgbClr val="01458E"/>
          </a:solidFill>
          <a:ln w="12700">
            <a:solidFill>
              <a:srgbClr val="01458E"/>
            </a:solidFill>
            <a:prstDash val="solid"/>
          </a:ln>
        </p:spPr>
      </p:sp>
      <p:sp>
        <p:nvSpPr>
          <p:cNvPr id="11" name="Text 9"/>
          <p:cNvSpPr txBox="1"/>
          <p:nvPr/>
        </p:nvSpPr>
        <p:spPr>
          <a:xfrm>
            <a:off x="3467100" y="1695450"/>
            <a:ext cx="2209800" cy="285750"/>
          </a:xfrm>
          <a:prstGeom prst="rect">
            <a:avLst/>
          </a:prstGeom>
          <a:noFill/>
          <a:ln/>
        </p:spPr>
        <p:txBody>
          <a:bodyPr wrap="square" lIns="0" tIns="0" rIns="0" bIns="0" rtlCol="0" anchor="t">
            <a:normAutofit/>
          </a:bodyPr>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Feature request</a:t>
            </a:r>
            <a:endParaRPr lang="en-US" sz="2000" dirty="0"/>
          </a:p>
        </p:txBody>
      </p:sp>
      <p:sp>
        <p:nvSpPr>
          <p:cNvPr id="12" name="Text 10"/>
          <p:cNvSpPr txBox="1"/>
          <p:nvPr/>
        </p:nvSpPr>
        <p:spPr>
          <a:xfrm>
            <a:off x="3467100" y="2057400"/>
            <a:ext cx="2209800" cy="57150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Something new that does not exist yet.</a:t>
            </a:r>
            <a:endParaRPr lang="en-US" sz="1400" dirty="0"/>
          </a:p>
        </p:txBody>
      </p:sp>
      <p:sp>
        <p:nvSpPr>
          <p:cNvPr id="13" name="Shape 11"/>
          <p:cNvSpPr/>
          <p:nvPr/>
        </p:nvSpPr>
        <p:spPr>
          <a:xfrm>
            <a:off x="6096000" y="1562100"/>
            <a:ext cx="2590800" cy="1104900"/>
          </a:xfrm>
          <a:prstGeom prst="rect">
            <a:avLst/>
          </a:prstGeom>
          <a:solidFill>
            <a:srgbClr val="F0F0FF"/>
          </a:solidFill>
          <a:ln w="12700">
            <a:solidFill>
              <a:srgbClr val="F0F0FF"/>
            </a:solidFill>
            <a:prstDash val="solid"/>
          </a:ln>
        </p:spPr>
      </p:sp>
      <p:sp>
        <p:nvSpPr>
          <p:cNvPr id="14" name="Shape 12"/>
          <p:cNvSpPr/>
          <p:nvPr/>
        </p:nvSpPr>
        <p:spPr>
          <a:xfrm>
            <a:off x="6096000" y="1562100"/>
            <a:ext cx="2590800" cy="38100"/>
          </a:xfrm>
          <a:prstGeom prst="rect">
            <a:avLst/>
          </a:prstGeom>
          <a:solidFill>
            <a:srgbClr val="01458E"/>
          </a:solidFill>
          <a:ln w="12700">
            <a:solidFill>
              <a:srgbClr val="01458E"/>
            </a:solidFill>
            <a:prstDash val="solid"/>
          </a:ln>
        </p:spPr>
      </p:sp>
      <p:sp>
        <p:nvSpPr>
          <p:cNvPr id="15" name="Text 13"/>
          <p:cNvSpPr txBox="1"/>
          <p:nvPr/>
        </p:nvSpPr>
        <p:spPr>
          <a:xfrm>
            <a:off x="6286500" y="1695450"/>
            <a:ext cx="2209800" cy="285750"/>
          </a:xfrm>
          <a:prstGeom prst="rect">
            <a:avLst/>
          </a:prstGeom>
          <a:noFill/>
          <a:ln/>
        </p:spPr>
        <p:txBody>
          <a:bodyPr wrap="square" lIns="0" tIns="0" rIns="0" bIns="0" rtlCol="0" anchor="t">
            <a:normAutofit/>
          </a:bodyPr>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Question</a:t>
            </a:r>
            <a:endParaRPr lang="en-US" sz="2000" dirty="0"/>
          </a:p>
        </p:txBody>
      </p:sp>
      <p:sp>
        <p:nvSpPr>
          <p:cNvPr id="16" name="Text 14"/>
          <p:cNvSpPr txBox="1"/>
          <p:nvPr/>
        </p:nvSpPr>
        <p:spPr>
          <a:xfrm>
            <a:off x="6286500" y="2057400"/>
            <a:ext cx="2209800" cy="57150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You want to know how to do something.</a:t>
            </a:r>
            <a:endParaRPr lang="en-US" sz="1400" dirty="0"/>
          </a:p>
        </p:txBody>
      </p:sp>
      <p:sp>
        <p:nvSpPr>
          <p:cNvPr id="17" name="Text 15"/>
          <p:cNvSpPr txBox="1"/>
          <p:nvPr/>
        </p:nvSpPr>
        <p:spPr>
          <a:xfrm>
            <a:off x="457200" y="2819400"/>
            <a:ext cx="3810000" cy="22860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Ask yourself, in order:</a:t>
            </a:r>
            <a:endParaRPr lang="en-US" sz="1200" dirty="0"/>
          </a:p>
        </p:txBody>
      </p:sp>
      <p:sp>
        <p:nvSpPr>
          <p:cNvPr id="18" name="Shape 16"/>
          <p:cNvSpPr/>
          <p:nvPr/>
        </p:nvSpPr>
        <p:spPr>
          <a:xfrm>
            <a:off x="457200" y="3067050"/>
            <a:ext cx="247650" cy="247650"/>
          </a:xfrm>
          <a:prstGeom prst="rect">
            <a:avLst/>
          </a:prstGeom>
          <a:solidFill>
            <a:srgbClr val="01458E"/>
          </a:solidFill>
          <a:ln w="12700">
            <a:solidFill>
              <a:srgbClr val="01458E"/>
            </a:solidFill>
            <a:prstDash val="solid"/>
          </a:ln>
        </p:spPr>
      </p:sp>
      <p:sp>
        <p:nvSpPr>
          <p:cNvPr id="19" name="Text 17"/>
          <p:cNvSpPr txBox="1"/>
          <p:nvPr/>
        </p:nvSpPr>
        <p:spPr>
          <a:xfrm>
            <a:off x="457200" y="3067050"/>
            <a:ext cx="247650" cy="247650"/>
          </a:xfrm>
          <a:prstGeom prst="rect">
            <a:avLst/>
          </a:prstGeom>
          <a:noFill/>
          <a:ln/>
        </p:spPr>
        <p:txBody>
          <a:bodyPr wrap="square" lIns="0" tIns="0" rIns="0" bIns="0" rtlCol="0" anchor="ctr"/>
          <a:lstStyle/>
          <a:p>
            <a:pPr algn="ctr" indent="0" marL="0">
              <a:buNone/>
            </a:pPr>
            <a:r>
              <a:rPr lang="en-US" sz="1200" b="1" dirty="0">
                <a:solidFill>
                  <a:srgbClr val="FFFFFF"/>
                </a:solidFill>
                <a:latin typeface="Source Sans 3" pitchFamily="34" charset="0"/>
                <a:ea typeface="Source Sans 3" pitchFamily="34" charset="-122"/>
                <a:cs typeface="Source Sans 3" pitchFamily="34" charset="-120"/>
              </a:rPr>
              <a:t>1</a:t>
            </a:r>
            <a:endParaRPr lang="en-US" sz="1200" dirty="0"/>
          </a:p>
        </p:txBody>
      </p:sp>
      <p:sp>
        <p:nvSpPr>
          <p:cNvPr id="20" name="Text 18"/>
          <p:cNvSpPr txBox="1"/>
          <p:nvPr/>
        </p:nvSpPr>
        <p:spPr>
          <a:xfrm>
            <a:off x="838200" y="3048000"/>
            <a:ext cx="7848600" cy="342900"/>
          </a:xfrm>
          <a:prstGeom prst="rect">
            <a:avLst/>
          </a:prstGeom>
          <a:noFill/>
          <a:ln/>
        </p:spPr>
        <p:txBody>
          <a:bodyPr wrap="square" lIns="0" tIns="0" rIns="0" bIns="0" rtlCol="0" anchor="t">
            <a:normAutofit/>
          </a:bodyPr>
          <a:lstStyle/>
          <a:p>
            <a:pPr indent="0" marL="0">
              <a:buNone/>
            </a:pPr>
            <a:r>
              <a:rPr lang="en-US" sz="1500" dirty="0">
                <a:solidFill>
                  <a:srgbClr val="434343"/>
                </a:solidFill>
                <a:latin typeface="Source Sans 3" pitchFamily="34" charset="0"/>
                <a:ea typeface="Source Sans 3" pitchFamily="34" charset="-122"/>
                <a:cs typeface="Source Sans 3" pitchFamily="34" charset="-120"/>
              </a:rPr>
              <a:t>Is something broken? </a:t>
            </a:r>
            <a:pPr indent="0" marL="0">
              <a:buNone/>
            </a:pPr>
            <a:r>
              <a:rPr lang="en-US" sz="1500" b="1" dirty="0">
                <a:solidFill>
                  <a:srgbClr val="33006F"/>
                </a:solidFill>
                <a:latin typeface="Source Sans 3" pitchFamily="34" charset="0"/>
                <a:ea typeface="Source Sans 3" pitchFamily="34" charset="-122"/>
                <a:cs typeface="Source Sans 3" pitchFamily="34" charset="-120"/>
              </a:rPr>
              <a:t>Yes: it is a bug.</a:t>
            </a:r>
            <a:endParaRPr lang="en-US" sz="1500" dirty="0"/>
          </a:p>
        </p:txBody>
      </p:sp>
      <p:sp>
        <p:nvSpPr>
          <p:cNvPr id="21" name="Shape 19"/>
          <p:cNvSpPr/>
          <p:nvPr/>
        </p:nvSpPr>
        <p:spPr>
          <a:xfrm>
            <a:off x="457200" y="3448050"/>
            <a:ext cx="247650" cy="247650"/>
          </a:xfrm>
          <a:prstGeom prst="rect">
            <a:avLst/>
          </a:prstGeom>
          <a:solidFill>
            <a:srgbClr val="01458E"/>
          </a:solidFill>
          <a:ln w="12700">
            <a:solidFill>
              <a:srgbClr val="01458E"/>
            </a:solidFill>
            <a:prstDash val="solid"/>
          </a:ln>
        </p:spPr>
      </p:sp>
      <p:sp>
        <p:nvSpPr>
          <p:cNvPr id="22" name="Text 20"/>
          <p:cNvSpPr txBox="1"/>
          <p:nvPr/>
        </p:nvSpPr>
        <p:spPr>
          <a:xfrm>
            <a:off x="457200" y="3448050"/>
            <a:ext cx="247650" cy="247650"/>
          </a:xfrm>
          <a:prstGeom prst="rect">
            <a:avLst/>
          </a:prstGeom>
          <a:noFill/>
          <a:ln/>
        </p:spPr>
        <p:txBody>
          <a:bodyPr wrap="square" lIns="0" tIns="0" rIns="0" bIns="0" rtlCol="0" anchor="ctr"/>
          <a:lstStyle/>
          <a:p>
            <a:pPr algn="ctr" indent="0" marL="0">
              <a:buNone/>
            </a:pPr>
            <a:r>
              <a:rPr lang="en-US" sz="1200" b="1" dirty="0">
                <a:solidFill>
                  <a:srgbClr val="FFFFFF"/>
                </a:solidFill>
                <a:latin typeface="Source Sans 3" pitchFamily="34" charset="0"/>
                <a:ea typeface="Source Sans 3" pitchFamily="34" charset="-122"/>
                <a:cs typeface="Source Sans 3" pitchFamily="34" charset="-120"/>
              </a:rPr>
              <a:t>2</a:t>
            </a:r>
            <a:endParaRPr lang="en-US" sz="1200" dirty="0"/>
          </a:p>
        </p:txBody>
      </p:sp>
      <p:sp>
        <p:nvSpPr>
          <p:cNvPr id="23" name="Text 21"/>
          <p:cNvSpPr txBox="1"/>
          <p:nvPr/>
        </p:nvSpPr>
        <p:spPr>
          <a:xfrm>
            <a:off x="838200" y="3429000"/>
            <a:ext cx="7848600" cy="342900"/>
          </a:xfrm>
          <a:prstGeom prst="rect">
            <a:avLst/>
          </a:prstGeom>
          <a:noFill/>
          <a:ln/>
        </p:spPr>
        <p:txBody>
          <a:bodyPr wrap="square" lIns="0" tIns="0" rIns="0" bIns="0" rtlCol="0" anchor="t">
            <a:normAutofit/>
          </a:bodyPr>
          <a:lstStyle/>
          <a:p>
            <a:pPr indent="0" marL="0">
              <a:buNone/>
            </a:pPr>
            <a:r>
              <a:rPr lang="en-US" sz="1500" dirty="0">
                <a:solidFill>
                  <a:srgbClr val="434343"/>
                </a:solidFill>
                <a:latin typeface="Source Sans 3" pitchFamily="34" charset="0"/>
                <a:ea typeface="Source Sans 3" pitchFamily="34" charset="-122"/>
                <a:cs typeface="Source Sans 3" pitchFamily="34" charset="-120"/>
              </a:rPr>
              <a:t>Does it work, but you want it to do more? </a:t>
            </a:r>
            <a:pPr indent="0" marL="0">
              <a:buNone/>
            </a:pPr>
            <a:r>
              <a:rPr lang="en-US" sz="1500" b="1" dirty="0">
                <a:solidFill>
                  <a:srgbClr val="33006F"/>
                </a:solidFill>
                <a:latin typeface="Source Sans 3" pitchFamily="34" charset="0"/>
                <a:ea typeface="Source Sans 3" pitchFamily="34" charset="-122"/>
                <a:cs typeface="Source Sans 3" pitchFamily="34" charset="-120"/>
              </a:rPr>
              <a:t>Yes: it is a feature request.</a:t>
            </a:r>
            <a:endParaRPr lang="en-US" sz="1500" dirty="0"/>
          </a:p>
        </p:txBody>
      </p:sp>
      <p:sp>
        <p:nvSpPr>
          <p:cNvPr id="24" name="Shape 22"/>
          <p:cNvSpPr/>
          <p:nvPr/>
        </p:nvSpPr>
        <p:spPr>
          <a:xfrm>
            <a:off x="457200" y="3829050"/>
            <a:ext cx="247650" cy="247650"/>
          </a:xfrm>
          <a:prstGeom prst="rect">
            <a:avLst/>
          </a:prstGeom>
          <a:solidFill>
            <a:srgbClr val="01458E"/>
          </a:solidFill>
          <a:ln w="12700">
            <a:solidFill>
              <a:srgbClr val="01458E"/>
            </a:solidFill>
            <a:prstDash val="solid"/>
          </a:ln>
        </p:spPr>
      </p:sp>
      <p:sp>
        <p:nvSpPr>
          <p:cNvPr id="25" name="Text 23"/>
          <p:cNvSpPr txBox="1"/>
          <p:nvPr/>
        </p:nvSpPr>
        <p:spPr>
          <a:xfrm>
            <a:off x="457200" y="3829050"/>
            <a:ext cx="247650" cy="247650"/>
          </a:xfrm>
          <a:prstGeom prst="rect">
            <a:avLst/>
          </a:prstGeom>
          <a:noFill/>
          <a:ln/>
        </p:spPr>
        <p:txBody>
          <a:bodyPr wrap="square" lIns="0" tIns="0" rIns="0" bIns="0" rtlCol="0" anchor="ctr"/>
          <a:lstStyle/>
          <a:p>
            <a:pPr algn="ctr" indent="0" marL="0">
              <a:buNone/>
            </a:pPr>
            <a:r>
              <a:rPr lang="en-US" sz="1200" b="1" dirty="0">
                <a:solidFill>
                  <a:srgbClr val="FFFFFF"/>
                </a:solidFill>
                <a:latin typeface="Source Sans 3" pitchFamily="34" charset="0"/>
                <a:ea typeface="Source Sans 3" pitchFamily="34" charset="-122"/>
                <a:cs typeface="Source Sans 3" pitchFamily="34" charset="-120"/>
              </a:rPr>
              <a:t>3</a:t>
            </a:r>
            <a:endParaRPr lang="en-US" sz="1200" dirty="0"/>
          </a:p>
        </p:txBody>
      </p:sp>
      <p:sp>
        <p:nvSpPr>
          <p:cNvPr id="26" name="Text 24"/>
          <p:cNvSpPr txBox="1"/>
          <p:nvPr/>
        </p:nvSpPr>
        <p:spPr>
          <a:xfrm>
            <a:off x="838200" y="3810000"/>
            <a:ext cx="7848600" cy="342900"/>
          </a:xfrm>
          <a:prstGeom prst="rect">
            <a:avLst/>
          </a:prstGeom>
          <a:noFill/>
          <a:ln/>
        </p:spPr>
        <p:txBody>
          <a:bodyPr wrap="square" lIns="0" tIns="0" rIns="0" bIns="0" rtlCol="0" anchor="t">
            <a:normAutofit/>
          </a:bodyPr>
          <a:lstStyle/>
          <a:p>
            <a:pPr indent="0" marL="0">
              <a:buNone/>
            </a:pPr>
            <a:r>
              <a:rPr lang="en-US" sz="1500" dirty="0">
                <a:solidFill>
                  <a:srgbClr val="434343"/>
                </a:solidFill>
                <a:latin typeface="Source Sans 3" pitchFamily="34" charset="0"/>
                <a:ea typeface="Source Sans 3" pitchFamily="34" charset="-122"/>
                <a:cs typeface="Source Sans 3" pitchFamily="34" charset="-120"/>
              </a:rPr>
              <a:t>Do you just need to understand something? </a:t>
            </a:r>
            <a:pPr indent="0" marL="0">
              <a:buNone/>
            </a:pPr>
            <a:r>
              <a:rPr lang="en-US" sz="1500" b="1" dirty="0">
                <a:solidFill>
                  <a:srgbClr val="33006F"/>
                </a:solidFill>
                <a:latin typeface="Source Sans 3" pitchFamily="34" charset="0"/>
                <a:ea typeface="Source Sans 3" pitchFamily="34" charset="-122"/>
                <a:cs typeface="Source Sans 3" pitchFamily="34" charset="-120"/>
              </a:rPr>
              <a:t>Yes: it is a question.</a:t>
            </a:r>
            <a:endParaRPr lang="en-US" sz="1500" dirty="0"/>
          </a:p>
        </p:txBody>
      </p:sp>
      <p:sp>
        <p:nvSpPr>
          <p:cNvPr id="27" name="Text 25"/>
          <p:cNvSpPr txBox="1"/>
          <p:nvPr/>
        </p:nvSpPr>
        <p:spPr>
          <a:xfrm>
            <a:off x="457200" y="4267200"/>
            <a:ext cx="8229600" cy="285750"/>
          </a:xfrm>
          <a:prstGeom prst="rect">
            <a:avLst/>
          </a:prstGeom>
          <a:noFill/>
          <a:ln/>
        </p:spPr>
        <p:txBody>
          <a:bodyPr wrap="square" lIns="0" tIns="0" rIns="0" bIns="0" rtlCol="0" anchor="t"/>
          <a:lstStyle/>
          <a:p>
            <a:pPr indent="0" marL="0">
              <a:buNone/>
            </a:pPr>
            <a:r>
              <a:rPr lang="en-US" sz="1400" dirty="0">
                <a:solidFill>
                  <a:srgbClr val="888888"/>
                </a:solidFill>
                <a:latin typeface="Source Sans 3" pitchFamily="34" charset="0"/>
                <a:ea typeface="Source Sans 3" pitchFamily="34" charset="-122"/>
                <a:cs typeface="Source Sans 3" pitchFamily="34" charset="-120"/>
              </a:rPr>
              <a:t>Not sure? Post in Ask OpenELIS. The community will redirect you.</a:t>
            </a:r>
            <a:endParaRPr lang="en-US" sz="1400" dirty="0"/>
          </a:p>
        </p:txBody>
      </p:sp>
      <p:sp>
        <p:nvSpPr>
          <p:cNvPr id="28" name="Text 26"/>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22</a:t>
            </a:r>
            <a:endParaRPr lang="en-US" sz="1100" dirty="0"/>
          </a:p>
        </p:txBody>
      </p:sp>
      <p:sp>
        <p:nvSpPr>
          <p:cNvPr id="29" name="Text 27"/>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CHOOSING THE CHANNEL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4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Quick reference: where each one goes</a:t>
            </a:r>
            <a:endParaRPr lang="en-US" sz="2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562100"/>
          <a:ext cx="8229600" cy="914400"/>
        </p:xfrm>
        <a:graphic>
          <a:graphicData uri="http://schemas.openxmlformats.org/drawingml/2006/table">
            <a:tbl>
              <a:tblPr/>
              <a:tblGrid>
                <a:gridCol w="1428750"/>
                <a:gridCol w="2095500"/>
                <a:gridCol w="2514600"/>
                <a:gridCol w="2190750"/>
              </a:tblGrid>
              <a:tr h="628650">
                <a:tc>
                  <a:txBody>
                    <a:bodyPr/>
                    <a:lstStyle/>
                    <a:p>
                      <a:pPr indent="0" marL="0">
                        <a:buNone/>
                      </a:pP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Where</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What to include</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c>
                  <a:txBody>
                    <a:bodyPr/>
                    <a:lstStyle/>
                    <a:p>
                      <a:pPr indent="0" marL="0">
                        <a:buNone/>
                      </a:pPr>
                      <a:r>
                        <a:rPr lang="en-US" sz="1200" b="1" dirty="0">
                          <a:solidFill>
                            <a:srgbClr val="FFFFFF"/>
                          </a:solidFill>
                          <a:latin typeface="Source Sans 3" pitchFamily="34" charset="0"/>
                          <a:ea typeface="Source Sans 3" pitchFamily="34" charset="-122"/>
                          <a:cs typeface="Source Sans 3" pitchFamily="34" charset="-120"/>
                        </a:rPr>
                        <a:t>What happens next</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1458E"/>
                    </a:solidFill>
                  </a:tcPr>
                </a:tc>
              </a:tr>
              <a:tr h="62865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Bug</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Forum: Development. Or a GitHub issue.</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Version, steps to reproduce, expected vs actual result, screenshot or log</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Becomes a GitHub issue. Fixed in a future release.</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2865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Feature request</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Forum: Development, as a proposal</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The problem, who it helps, any design idea, gallery link if one exists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Discussed. Then a ticket, if there is agreement.</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28650">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Question</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Forum: Ask OpenELIS. Or Slack for quick things.</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What you are trying to do, what you tried, your version</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434343"/>
                          </a:solidFill>
                          <a:latin typeface="Source Sans 3" pitchFamily="34" charset="0"/>
                          <a:ea typeface="Source Sans 3" pitchFamily="34" charset="-122"/>
                          <a:cs typeface="Source Sans 3" pitchFamily="34" charset="-120"/>
                        </a:rPr>
                        <a:t>Answered directly. Usually no ticket.</a:t>
                      </a:r>
                      <a:endParaRPr lang="en-US" sz="1200" dirty="0">
                        <a:latin typeface="Source Sans 3" charset="0"/>
                        <a:ea typeface="Source Sans 3" charset="0"/>
                        <a:cs typeface="Source Sans 3" charset="0"/>
                      </a:endParaRPr>
                    </a:p>
                  </a:txBody>
                  <a:tcPr marL="76200" marR="76200" marT="47625" marB="47625"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305300"/>
            <a:ext cx="8229600" cy="285750"/>
          </a:xfrm>
          <a:prstGeom prst="rect">
            <a:avLst/>
          </a:prstGeom>
          <a:noFill/>
          <a:ln/>
        </p:spPr>
        <p:txBody>
          <a:bodyPr wrap="square" lIns="0" tIns="0" rIns="0" bIns="0" rtlCol="0" anchor="t"/>
          <a:lstStyle/>
          <a:p>
            <a:pPr indent="0" marL="0">
              <a:buNone/>
            </a:pPr>
            <a:r>
              <a:rPr lang="en-US" sz="1300" dirty="0">
                <a:solidFill>
                  <a:srgbClr val="888888"/>
                </a:solidFill>
                <a:latin typeface="Source Sans 3" pitchFamily="34" charset="0"/>
                <a:ea typeface="Source Sans 3" pitchFamily="34" charset="-122"/>
                <a:cs typeface="Source Sans 3" pitchFamily="34" charset="-120"/>
              </a:rPr>
              <a:t>Print this slide. It is the one-page guide for the team.</a:t>
            </a:r>
            <a:endParaRPr lang="en-US" sz="1300" dirty="0"/>
          </a:p>
        </p:txBody>
      </p:sp>
      <p:sp>
        <p:nvSpPr>
          <p:cNvPr id="7" name="Text 4"/>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23</a:t>
            </a:r>
            <a:endParaRPr lang="en-US" sz="1100" dirty="0"/>
          </a:p>
        </p:txBody>
      </p:sp>
      <p:sp>
        <p:nvSpPr>
          <p:cNvPr id="8" name="Text 5"/>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CHOOSING THE CHANNEL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4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Reporting a bug well</a:t>
            </a:r>
            <a:endParaRPr lang="en-US" sz="2500" dirty="0"/>
          </a:p>
        </p:txBody>
      </p:sp>
      <p:sp>
        <p:nvSpPr>
          <p:cNvPr id="5" name="Shape 3"/>
          <p:cNvSpPr/>
          <p:nvPr/>
        </p:nvSpPr>
        <p:spPr>
          <a:xfrm>
            <a:off x="457200" y="1562100"/>
            <a:ext cx="323850" cy="323850"/>
          </a:xfrm>
          <a:prstGeom prst="rect">
            <a:avLst/>
          </a:prstGeom>
          <a:solidFill>
            <a:srgbClr val="01458E"/>
          </a:solidFill>
          <a:ln w="12700">
            <a:solidFill>
              <a:srgbClr val="01458E"/>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7" name="Text 5"/>
          <p:cNvSpPr txBox="1"/>
          <p:nvPr/>
        </p:nvSpPr>
        <p:spPr>
          <a:xfrm>
            <a:off x="971550" y="1543050"/>
            <a:ext cx="4819650" cy="533400"/>
          </a:xfrm>
          <a:prstGeom prst="rect">
            <a:avLst/>
          </a:prstGeom>
          <a:noFill/>
          <a:ln/>
        </p:spPr>
        <p:txBody>
          <a:bodyPr wrap="square" lIns="0" tIns="0" rIns="0" bIns="0" rtlCol="0" anchor="t">
            <a:normAutofit/>
          </a:bodyPr>
          <a:lstStyle/>
          <a:p>
            <a:pPr indent="0" marL="0">
              <a:buNone/>
            </a:pPr>
            <a:r>
              <a:rPr lang="en-US" sz="1600" dirty="0">
                <a:solidFill>
                  <a:srgbClr val="434343"/>
                </a:solidFill>
                <a:latin typeface="Source Sans 3" pitchFamily="34" charset="0"/>
                <a:ea typeface="Source Sans 3" pitchFamily="34" charset="-122"/>
                <a:cs typeface="Source Sans 3" pitchFamily="34" charset="-120"/>
              </a:rPr>
              <a:t>One bug per post.</a:t>
            </a:r>
            <a:endParaRPr lang="en-US" sz="1600" dirty="0"/>
          </a:p>
        </p:txBody>
      </p:sp>
      <p:sp>
        <p:nvSpPr>
          <p:cNvPr id="8" name="Shape 6"/>
          <p:cNvSpPr/>
          <p:nvPr/>
        </p:nvSpPr>
        <p:spPr>
          <a:xfrm>
            <a:off x="457200" y="2133600"/>
            <a:ext cx="323850" cy="323850"/>
          </a:xfrm>
          <a:prstGeom prst="rect">
            <a:avLst/>
          </a:prstGeom>
          <a:solidFill>
            <a:srgbClr val="01458E"/>
          </a:solidFill>
          <a:ln w="12700">
            <a:solidFill>
              <a:srgbClr val="01458E"/>
            </a:solidFill>
            <a:prstDash val="solid"/>
          </a:ln>
        </p:spPr>
      </p:sp>
      <p:sp>
        <p:nvSpPr>
          <p:cNvPr id="9" name="Text 7"/>
          <p:cNvSpPr txBox="1"/>
          <p:nvPr/>
        </p:nvSpPr>
        <p:spPr>
          <a:xfrm>
            <a:off x="457200" y="21336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0" name="Text 8"/>
          <p:cNvSpPr txBox="1"/>
          <p:nvPr/>
        </p:nvSpPr>
        <p:spPr>
          <a:xfrm>
            <a:off x="971550" y="2114550"/>
            <a:ext cx="4819650" cy="533400"/>
          </a:xfrm>
          <a:prstGeom prst="rect">
            <a:avLst/>
          </a:prstGeom>
          <a:noFill/>
          <a:ln/>
        </p:spPr>
        <p:txBody>
          <a:bodyPr wrap="square" lIns="0" tIns="0" rIns="0" bIns="0" rtlCol="0" anchor="t">
            <a:normAutofit/>
          </a:bodyPr>
          <a:lstStyle/>
          <a:p>
            <a:pPr indent="0" marL="0">
              <a:buNone/>
            </a:pPr>
            <a:r>
              <a:rPr lang="en-US" sz="1600" dirty="0">
                <a:solidFill>
                  <a:srgbClr val="434343"/>
                </a:solidFill>
                <a:latin typeface="Source Sans 3" pitchFamily="34" charset="0"/>
                <a:ea typeface="Source Sans 3" pitchFamily="34" charset="-122"/>
                <a:cs typeface="Source Sans 3" pitchFamily="34" charset="-120"/>
              </a:rPr>
              <a:t>Say what you expected, and what happened instead.</a:t>
            </a:r>
            <a:endParaRPr lang="en-US" sz="1600" dirty="0"/>
          </a:p>
        </p:txBody>
      </p:sp>
      <p:sp>
        <p:nvSpPr>
          <p:cNvPr id="11" name="Shape 9"/>
          <p:cNvSpPr/>
          <p:nvPr/>
        </p:nvSpPr>
        <p:spPr>
          <a:xfrm>
            <a:off x="457200" y="2705100"/>
            <a:ext cx="323850" cy="323850"/>
          </a:xfrm>
          <a:prstGeom prst="rect">
            <a:avLst/>
          </a:prstGeom>
          <a:solidFill>
            <a:srgbClr val="01458E"/>
          </a:solidFill>
          <a:ln w="12700">
            <a:solidFill>
              <a:srgbClr val="01458E"/>
            </a:solidFill>
            <a:prstDash val="solid"/>
          </a:ln>
        </p:spPr>
      </p:sp>
      <p:sp>
        <p:nvSpPr>
          <p:cNvPr id="12" name="Text 10"/>
          <p:cNvSpPr txBox="1"/>
          <p:nvPr/>
        </p:nvSpPr>
        <p:spPr>
          <a:xfrm>
            <a:off x="457200" y="2705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3" name="Text 11"/>
          <p:cNvSpPr txBox="1"/>
          <p:nvPr/>
        </p:nvSpPr>
        <p:spPr>
          <a:xfrm>
            <a:off x="971550" y="2686050"/>
            <a:ext cx="4819650" cy="533400"/>
          </a:xfrm>
          <a:prstGeom prst="rect">
            <a:avLst/>
          </a:prstGeom>
          <a:noFill/>
          <a:ln/>
        </p:spPr>
        <p:txBody>
          <a:bodyPr wrap="square" lIns="0" tIns="0" rIns="0" bIns="0" rtlCol="0" anchor="t">
            <a:normAutofit/>
          </a:bodyPr>
          <a:lstStyle/>
          <a:p>
            <a:pPr indent="0" marL="0">
              <a:buNone/>
            </a:pPr>
            <a:r>
              <a:rPr lang="en-US" sz="1600" dirty="0">
                <a:solidFill>
                  <a:srgbClr val="434343"/>
                </a:solidFill>
                <a:latin typeface="Source Sans 3" pitchFamily="34" charset="0"/>
                <a:ea typeface="Source Sans 3" pitchFamily="34" charset="-122"/>
                <a:cs typeface="Source Sans 3" pitchFamily="34" charset="-120"/>
              </a:rPr>
              <a:t>Give your Madagascar Distro version and OpenELIS Global version.</a:t>
            </a:r>
            <a:endParaRPr lang="en-US" sz="1600" dirty="0"/>
          </a:p>
        </p:txBody>
      </p:sp>
      <p:sp>
        <p:nvSpPr>
          <p:cNvPr id="14" name="Shape 12"/>
          <p:cNvSpPr/>
          <p:nvPr/>
        </p:nvSpPr>
        <p:spPr>
          <a:xfrm>
            <a:off x="457200" y="3276600"/>
            <a:ext cx="323850" cy="323850"/>
          </a:xfrm>
          <a:prstGeom prst="rect">
            <a:avLst/>
          </a:prstGeom>
          <a:solidFill>
            <a:srgbClr val="01458E"/>
          </a:solidFill>
          <a:ln w="12700">
            <a:solidFill>
              <a:srgbClr val="01458E"/>
            </a:solidFill>
            <a:prstDash val="solid"/>
          </a:ln>
        </p:spPr>
      </p:sp>
      <p:sp>
        <p:nvSpPr>
          <p:cNvPr id="15" name="Text 13"/>
          <p:cNvSpPr txBox="1"/>
          <p:nvPr/>
        </p:nvSpPr>
        <p:spPr>
          <a:xfrm>
            <a:off x="457200" y="32766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6" name="Text 14"/>
          <p:cNvSpPr txBox="1"/>
          <p:nvPr/>
        </p:nvSpPr>
        <p:spPr>
          <a:xfrm>
            <a:off x="971550" y="3257550"/>
            <a:ext cx="4819650" cy="533400"/>
          </a:xfrm>
          <a:prstGeom prst="rect">
            <a:avLst/>
          </a:prstGeom>
          <a:noFill/>
          <a:ln/>
        </p:spPr>
        <p:txBody>
          <a:bodyPr wrap="square" lIns="0" tIns="0" rIns="0" bIns="0" rtlCol="0" anchor="t">
            <a:normAutofit/>
          </a:bodyPr>
          <a:lstStyle/>
          <a:p>
            <a:pPr indent="0" marL="0">
              <a:buNone/>
            </a:pPr>
            <a:r>
              <a:rPr lang="en-US" sz="1600" dirty="0">
                <a:solidFill>
                  <a:srgbClr val="434343"/>
                </a:solidFill>
                <a:latin typeface="Source Sans 3" pitchFamily="34" charset="0"/>
                <a:ea typeface="Source Sans 3" pitchFamily="34" charset="-122"/>
                <a:cs typeface="Source Sans 3" pitchFamily="34" charset="-120"/>
              </a:rPr>
              <a:t>Give the steps to reproduce.</a:t>
            </a:r>
            <a:endParaRPr lang="en-US" sz="1600" dirty="0"/>
          </a:p>
        </p:txBody>
      </p:sp>
      <p:sp>
        <p:nvSpPr>
          <p:cNvPr id="17" name="Shape 15"/>
          <p:cNvSpPr/>
          <p:nvPr/>
        </p:nvSpPr>
        <p:spPr>
          <a:xfrm>
            <a:off x="457200" y="3848100"/>
            <a:ext cx="323850" cy="323850"/>
          </a:xfrm>
          <a:prstGeom prst="rect">
            <a:avLst/>
          </a:prstGeom>
          <a:solidFill>
            <a:srgbClr val="01458E"/>
          </a:solidFill>
          <a:ln w="12700">
            <a:solidFill>
              <a:srgbClr val="01458E"/>
            </a:solidFill>
            <a:prstDash val="solid"/>
          </a:ln>
        </p:spPr>
      </p:sp>
      <p:sp>
        <p:nvSpPr>
          <p:cNvPr id="18" name="Text 16"/>
          <p:cNvSpPr txBox="1"/>
          <p:nvPr/>
        </p:nvSpPr>
        <p:spPr>
          <a:xfrm>
            <a:off x="457200" y="3848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5</a:t>
            </a:r>
            <a:endParaRPr lang="en-US" sz="1500" dirty="0"/>
          </a:p>
        </p:txBody>
      </p:sp>
      <p:sp>
        <p:nvSpPr>
          <p:cNvPr id="19" name="Text 17"/>
          <p:cNvSpPr txBox="1"/>
          <p:nvPr/>
        </p:nvSpPr>
        <p:spPr>
          <a:xfrm>
            <a:off x="971550" y="3829050"/>
            <a:ext cx="4819650" cy="533400"/>
          </a:xfrm>
          <a:prstGeom prst="rect">
            <a:avLst/>
          </a:prstGeom>
          <a:noFill/>
          <a:ln/>
        </p:spPr>
        <p:txBody>
          <a:bodyPr wrap="square" lIns="0" tIns="0" rIns="0" bIns="0" rtlCol="0" anchor="t">
            <a:normAutofit/>
          </a:bodyPr>
          <a:lstStyle/>
          <a:p>
            <a:pPr indent="0" marL="0">
              <a:buNone/>
            </a:pPr>
            <a:r>
              <a:rPr lang="en-US" sz="1600" dirty="0">
                <a:solidFill>
                  <a:srgbClr val="434343"/>
                </a:solidFill>
                <a:latin typeface="Source Sans 3" pitchFamily="34" charset="0"/>
                <a:ea typeface="Source Sans 3" pitchFamily="34" charset="-122"/>
                <a:cs typeface="Source Sans 3" pitchFamily="34" charset="-120"/>
              </a:rPr>
              <a:t>Attach the exact error message, a screenshot, or the log.</a:t>
            </a:r>
            <a:endParaRPr lang="en-US" sz="1600" dirty="0"/>
          </a:p>
        </p:txBody>
      </p:sp>
      <p:sp>
        <p:nvSpPr>
          <p:cNvPr id="20" name="Shape 18"/>
          <p:cNvSpPr/>
          <p:nvPr/>
        </p:nvSpPr>
        <p:spPr>
          <a:xfrm>
            <a:off x="6210300" y="1562100"/>
            <a:ext cx="2476500" cy="2667000"/>
          </a:xfrm>
          <a:prstGeom prst="rect">
            <a:avLst/>
          </a:prstGeom>
          <a:solidFill>
            <a:srgbClr val="01458E"/>
          </a:solidFill>
          <a:ln w="12700">
            <a:solidFill>
              <a:srgbClr val="01458E"/>
            </a:solidFill>
            <a:prstDash val="solid"/>
          </a:ln>
        </p:spPr>
      </p:sp>
      <p:sp>
        <p:nvSpPr>
          <p:cNvPr id="21" name="Text 19"/>
          <p:cNvSpPr txBox="1"/>
          <p:nvPr/>
        </p:nvSpPr>
        <p:spPr>
          <a:xfrm>
            <a:off x="6438900" y="1562100"/>
            <a:ext cx="2019300" cy="2667000"/>
          </a:xfrm>
          <a:prstGeom prst="rect">
            <a:avLst/>
          </a:prstGeom>
          <a:noFill/>
          <a:ln/>
        </p:spPr>
        <p:txBody>
          <a:bodyPr wrap="square" lIns="0" tIns="0" rIns="0" bIns="0" rtlCol="0" anchor="ctr"/>
          <a:lstStyle/>
          <a:p>
            <a:pPr indent="0" marL="0">
              <a:buNone/>
            </a:pPr>
            <a:r>
              <a:rPr lang="en-US" sz="2200" b="1" dirty="0">
                <a:solidFill>
                  <a:srgbClr val="FFFFFF"/>
                </a:solidFill>
                <a:latin typeface="Source Sans 3" pitchFamily="34" charset="0"/>
                <a:ea typeface="Source Sans 3" pitchFamily="34" charset="-122"/>
                <a:cs typeface="Source Sans 3" pitchFamily="34" charset="-120"/>
              </a:rPr>
              <a:t>A good bug report is fixed faster.</a:t>
            </a:r>
            <a:endParaRPr lang="en-US" sz="2200" dirty="0"/>
          </a:p>
        </p:txBody>
      </p:sp>
      <p:sp>
        <p:nvSpPr>
          <p:cNvPr id="22" name="Text 20"/>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24</a:t>
            </a:r>
            <a:endParaRPr lang="en-US" sz="1100" dirty="0"/>
          </a:p>
        </p:txBody>
      </p:sp>
      <p:sp>
        <p:nvSpPr>
          <p:cNvPr id="23" name="Text 21"/>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CHOOSING THE CHANNEL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4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Proposing a feature well</a:t>
            </a:r>
            <a:endParaRPr lang="en-US" sz="2500" dirty="0"/>
          </a:p>
        </p:txBody>
      </p:sp>
      <p:sp>
        <p:nvSpPr>
          <p:cNvPr id="5" name="Shape 3"/>
          <p:cNvSpPr/>
          <p:nvPr/>
        </p:nvSpPr>
        <p:spPr>
          <a:xfrm>
            <a:off x="457200" y="1562100"/>
            <a:ext cx="285750" cy="285750"/>
          </a:xfrm>
          <a:prstGeom prst="rect">
            <a:avLst/>
          </a:prstGeom>
          <a:solidFill>
            <a:srgbClr val="01458E"/>
          </a:solidFill>
          <a:ln w="12700">
            <a:solidFill>
              <a:srgbClr val="01458E"/>
            </a:solidFill>
            <a:prstDash val="solid"/>
          </a:ln>
        </p:spPr>
      </p:sp>
      <p:sp>
        <p:nvSpPr>
          <p:cNvPr id="6" name="Text 4"/>
          <p:cNvSpPr txBox="1"/>
          <p:nvPr/>
        </p:nvSpPr>
        <p:spPr>
          <a:xfrm>
            <a:off x="457200" y="156210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1</a:t>
            </a:r>
            <a:endParaRPr lang="en-US" sz="1400" dirty="0"/>
          </a:p>
        </p:txBody>
      </p:sp>
      <p:sp>
        <p:nvSpPr>
          <p:cNvPr id="7" name="Text 5"/>
          <p:cNvSpPr txBox="1"/>
          <p:nvPr/>
        </p:nvSpPr>
        <p:spPr>
          <a:xfrm>
            <a:off x="895350" y="1543050"/>
            <a:ext cx="4895850" cy="438150"/>
          </a:xfrm>
          <a:prstGeom prst="rect">
            <a:avLst/>
          </a:prstGeom>
          <a:noFill/>
          <a:ln/>
        </p:spPr>
        <p:txBody>
          <a:bodyPr wrap="square" lIns="0" tIns="0" rIns="0" bIns="0" rtlCol="0" anchor="t">
            <a:normAutofit/>
          </a:bodyPr>
          <a:lstStyle/>
          <a:p>
            <a:pPr indent="0" marL="0">
              <a:buNone/>
            </a:pPr>
            <a:r>
              <a:rPr lang="en-US" sz="1450" dirty="0">
                <a:solidFill>
                  <a:srgbClr val="434343"/>
                </a:solidFill>
                <a:latin typeface="Source Sans 3" pitchFamily="34" charset="0"/>
                <a:ea typeface="Source Sans 3" pitchFamily="34" charset="-122"/>
                <a:cs typeface="Source Sans 3" pitchFamily="34" charset="-120"/>
              </a:rPr>
              <a:t>Check the design gallery first. </a:t>
            </a:r>
            <a:pPr indent="0" marL="0">
              <a:buNone/>
            </a:pPr>
            <a:r>
              <a:rPr lang="en-US" sz="1450" b="1" dirty="0">
                <a:solidFill>
                  <a:srgbClr val="33006F"/>
                </a:solidFill>
                <a:latin typeface="Source Sans 3" pitchFamily="34" charset="0"/>
                <a:ea typeface="Source Sans 3" pitchFamily="34" charset="-122"/>
                <a:cs typeface="Source Sans 3" pitchFamily="34" charset="-120"/>
              </a:rPr>
              <a:t>If a design exists, comment on it there.</a:t>
            </a:r>
            <a:endParaRPr lang="en-US" sz="1450" dirty="0"/>
          </a:p>
        </p:txBody>
      </p:sp>
      <p:sp>
        <p:nvSpPr>
          <p:cNvPr id="8" name="Shape 6"/>
          <p:cNvSpPr/>
          <p:nvPr/>
        </p:nvSpPr>
        <p:spPr>
          <a:xfrm>
            <a:off x="457200" y="2038350"/>
            <a:ext cx="285750" cy="285750"/>
          </a:xfrm>
          <a:prstGeom prst="rect">
            <a:avLst/>
          </a:prstGeom>
          <a:solidFill>
            <a:srgbClr val="01458E"/>
          </a:solidFill>
          <a:ln w="12700">
            <a:solidFill>
              <a:srgbClr val="01458E"/>
            </a:solidFill>
            <a:prstDash val="solid"/>
          </a:ln>
        </p:spPr>
      </p:sp>
      <p:sp>
        <p:nvSpPr>
          <p:cNvPr id="9" name="Text 7"/>
          <p:cNvSpPr txBox="1"/>
          <p:nvPr/>
        </p:nvSpPr>
        <p:spPr>
          <a:xfrm>
            <a:off x="457200" y="203835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2</a:t>
            </a:r>
            <a:endParaRPr lang="en-US" sz="1400" dirty="0"/>
          </a:p>
        </p:txBody>
      </p:sp>
      <p:sp>
        <p:nvSpPr>
          <p:cNvPr id="10" name="Text 8"/>
          <p:cNvSpPr txBox="1"/>
          <p:nvPr/>
        </p:nvSpPr>
        <p:spPr>
          <a:xfrm>
            <a:off x="895350" y="2019300"/>
            <a:ext cx="4895850" cy="438150"/>
          </a:xfrm>
          <a:prstGeom prst="rect">
            <a:avLst/>
          </a:prstGeom>
          <a:noFill/>
          <a:ln/>
        </p:spPr>
        <p:txBody>
          <a:bodyPr wrap="square" lIns="0" tIns="0" rIns="0" bIns="0" rtlCol="0" anchor="t">
            <a:normAutofit/>
          </a:bodyPr>
          <a:lstStyle/>
          <a:p>
            <a:pPr indent="0" marL="0">
              <a:buNone/>
            </a:pPr>
            <a:r>
              <a:rPr lang="en-US" sz="1450" dirty="0">
                <a:solidFill>
                  <a:srgbClr val="434343"/>
                </a:solidFill>
                <a:latin typeface="Source Sans 3" pitchFamily="34" charset="0"/>
                <a:ea typeface="Source Sans 3" pitchFamily="34" charset="-122"/>
                <a:cs typeface="Source Sans 3" pitchFamily="34" charset="-120"/>
              </a:rPr>
              <a:t>Describe the problem before the solution.</a:t>
            </a:r>
            <a:endParaRPr lang="en-US" sz="1450" dirty="0"/>
          </a:p>
        </p:txBody>
      </p:sp>
      <p:sp>
        <p:nvSpPr>
          <p:cNvPr id="11" name="Shape 9"/>
          <p:cNvSpPr/>
          <p:nvPr/>
        </p:nvSpPr>
        <p:spPr>
          <a:xfrm>
            <a:off x="457200" y="2514600"/>
            <a:ext cx="285750" cy="285750"/>
          </a:xfrm>
          <a:prstGeom prst="rect">
            <a:avLst/>
          </a:prstGeom>
          <a:solidFill>
            <a:srgbClr val="01458E"/>
          </a:solidFill>
          <a:ln w="12700">
            <a:solidFill>
              <a:srgbClr val="01458E"/>
            </a:solidFill>
            <a:prstDash val="solid"/>
          </a:ln>
        </p:spPr>
      </p:sp>
      <p:sp>
        <p:nvSpPr>
          <p:cNvPr id="12" name="Text 10"/>
          <p:cNvSpPr txBox="1"/>
          <p:nvPr/>
        </p:nvSpPr>
        <p:spPr>
          <a:xfrm>
            <a:off x="457200" y="251460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3</a:t>
            </a:r>
            <a:endParaRPr lang="en-US" sz="1400" dirty="0"/>
          </a:p>
        </p:txBody>
      </p:sp>
      <p:sp>
        <p:nvSpPr>
          <p:cNvPr id="13" name="Text 11"/>
          <p:cNvSpPr txBox="1"/>
          <p:nvPr/>
        </p:nvSpPr>
        <p:spPr>
          <a:xfrm>
            <a:off x="895350" y="2495550"/>
            <a:ext cx="4895850" cy="438150"/>
          </a:xfrm>
          <a:prstGeom prst="rect">
            <a:avLst/>
          </a:prstGeom>
          <a:noFill/>
          <a:ln/>
        </p:spPr>
        <p:txBody>
          <a:bodyPr wrap="square" lIns="0" tIns="0" rIns="0" bIns="0" rtlCol="0" anchor="t">
            <a:normAutofit/>
          </a:bodyPr>
          <a:lstStyle/>
          <a:p>
            <a:pPr indent="0" marL="0">
              <a:buNone/>
            </a:pPr>
            <a:r>
              <a:rPr lang="en-US" sz="1450" dirty="0">
                <a:solidFill>
                  <a:srgbClr val="434343"/>
                </a:solidFill>
                <a:latin typeface="Source Sans 3" pitchFamily="34" charset="0"/>
                <a:ea typeface="Source Sans 3" pitchFamily="34" charset="-122"/>
                <a:cs typeface="Source Sans 3" pitchFamily="34" charset="-120"/>
              </a:rPr>
              <a:t>Say who it helps: "In Madagascar, laboratories need this because..."</a:t>
            </a:r>
            <a:endParaRPr lang="en-US" sz="1450" dirty="0"/>
          </a:p>
        </p:txBody>
      </p:sp>
      <p:sp>
        <p:nvSpPr>
          <p:cNvPr id="14" name="Shape 12"/>
          <p:cNvSpPr/>
          <p:nvPr/>
        </p:nvSpPr>
        <p:spPr>
          <a:xfrm>
            <a:off x="457200" y="2990850"/>
            <a:ext cx="285750" cy="285750"/>
          </a:xfrm>
          <a:prstGeom prst="rect">
            <a:avLst/>
          </a:prstGeom>
          <a:solidFill>
            <a:srgbClr val="01458E"/>
          </a:solidFill>
          <a:ln w="12700">
            <a:solidFill>
              <a:srgbClr val="01458E"/>
            </a:solidFill>
            <a:prstDash val="solid"/>
          </a:ln>
        </p:spPr>
      </p:sp>
      <p:sp>
        <p:nvSpPr>
          <p:cNvPr id="15" name="Text 13"/>
          <p:cNvSpPr txBox="1"/>
          <p:nvPr/>
        </p:nvSpPr>
        <p:spPr>
          <a:xfrm>
            <a:off x="457200" y="299085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4</a:t>
            </a:r>
            <a:endParaRPr lang="en-US" sz="1400" dirty="0"/>
          </a:p>
        </p:txBody>
      </p:sp>
      <p:sp>
        <p:nvSpPr>
          <p:cNvPr id="16" name="Text 14"/>
          <p:cNvSpPr txBox="1"/>
          <p:nvPr/>
        </p:nvSpPr>
        <p:spPr>
          <a:xfrm>
            <a:off x="895350" y="2971800"/>
            <a:ext cx="4895850" cy="438150"/>
          </a:xfrm>
          <a:prstGeom prst="rect">
            <a:avLst/>
          </a:prstGeom>
          <a:noFill/>
          <a:ln/>
        </p:spPr>
        <p:txBody>
          <a:bodyPr wrap="square" lIns="0" tIns="0" rIns="0" bIns="0" rtlCol="0" anchor="t">
            <a:normAutofit/>
          </a:bodyPr>
          <a:lstStyle/>
          <a:p>
            <a:pPr indent="0" marL="0">
              <a:buNone/>
            </a:pPr>
            <a:r>
              <a:rPr lang="en-US" sz="1450" dirty="0">
                <a:solidFill>
                  <a:srgbClr val="434343"/>
                </a:solidFill>
                <a:latin typeface="Source Sans 3" pitchFamily="34" charset="0"/>
                <a:ea typeface="Source Sans 3" pitchFamily="34" charset="-122"/>
                <a:cs typeface="Source Sans 3" pitchFamily="34" charset="-120"/>
              </a:rPr>
              <a:t>Expect discussion. Features are debated, not approved automatically.</a:t>
            </a:r>
            <a:endParaRPr lang="en-US" sz="1450" dirty="0"/>
          </a:p>
        </p:txBody>
      </p:sp>
      <p:sp>
        <p:nvSpPr>
          <p:cNvPr id="17" name="Shape 15"/>
          <p:cNvSpPr/>
          <p:nvPr/>
        </p:nvSpPr>
        <p:spPr>
          <a:xfrm>
            <a:off x="457200" y="3467100"/>
            <a:ext cx="285750" cy="285750"/>
          </a:xfrm>
          <a:prstGeom prst="rect">
            <a:avLst/>
          </a:prstGeom>
          <a:solidFill>
            <a:srgbClr val="01458E"/>
          </a:solidFill>
          <a:ln w="12700">
            <a:solidFill>
              <a:srgbClr val="01458E"/>
            </a:solidFill>
            <a:prstDash val="solid"/>
          </a:ln>
        </p:spPr>
      </p:sp>
      <p:sp>
        <p:nvSpPr>
          <p:cNvPr id="18" name="Text 16"/>
          <p:cNvSpPr txBox="1"/>
          <p:nvPr/>
        </p:nvSpPr>
        <p:spPr>
          <a:xfrm>
            <a:off x="457200" y="346710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5</a:t>
            </a:r>
            <a:endParaRPr lang="en-US" sz="1400" dirty="0"/>
          </a:p>
        </p:txBody>
      </p:sp>
      <p:sp>
        <p:nvSpPr>
          <p:cNvPr id="19" name="Text 17"/>
          <p:cNvSpPr txBox="1"/>
          <p:nvPr/>
        </p:nvSpPr>
        <p:spPr>
          <a:xfrm>
            <a:off x="895350" y="3448050"/>
            <a:ext cx="4895850" cy="438150"/>
          </a:xfrm>
          <a:prstGeom prst="rect">
            <a:avLst/>
          </a:prstGeom>
          <a:noFill/>
          <a:ln/>
        </p:spPr>
        <p:txBody>
          <a:bodyPr wrap="square" lIns="0" tIns="0" rIns="0" bIns="0" rtlCol="0" anchor="t">
            <a:normAutofit/>
          </a:bodyPr>
          <a:lstStyle/>
          <a:p>
            <a:pPr indent="0" marL="0">
              <a:buNone/>
            </a:pPr>
            <a:r>
              <a:rPr lang="en-US" sz="1450" dirty="0">
                <a:solidFill>
                  <a:srgbClr val="434343"/>
                </a:solidFill>
                <a:latin typeface="Source Sans 3" pitchFamily="34" charset="0"/>
                <a:ea typeface="Source Sans 3" pitchFamily="34" charset="-122"/>
                <a:cs typeface="Source Sans 3" pitchFamily="34" charset="-120"/>
              </a:rPr>
              <a:t>A ticket follows agreement.</a:t>
            </a:r>
            <a:endParaRPr lang="en-US" sz="1450" dirty="0"/>
          </a:p>
        </p:txBody>
      </p:sp>
      <p:sp>
        <p:nvSpPr>
          <p:cNvPr id="20" name="Shape 18"/>
          <p:cNvSpPr/>
          <p:nvPr/>
        </p:nvSpPr>
        <p:spPr>
          <a:xfrm>
            <a:off x="457200" y="3943350"/>
            <a:ext cx="285750" cy="285750"/>
          </a:xfrm>
          <a:prstGeom prst="rect">
            <a:avLst/>
          </a:prstGeom>
          <a:solidFill>
            <a:srgbClr val="01458E"/>
          </a:solidFill>
          <a:ln w="12700">
            <a:solidFill>
              <a:srgbClr val="01458E"/>
            </a:solidFill>
            <a:prstDash val="solid"/>
          </a:ln>
        </p:spPr>
      </p:sp>
      <p:sp>
        <p:nvSpPr>
          <p:cNvPr id="21" name="Text 19"/>
          <p:cNvSpPr txBox="1"/>
          <p:nvPr/>
        </p:nvSpPr>
        <p:spPr>
          <a:xfrm>
            <a:off x="457200" y="3943350"/>
            <a:ext cx="285750" cy="285750"/>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6</a:t>
            </a:r>
            <a:endParaRPr lang="en-US" sz="1400" dirty="0"/>
          </a:p>
        </p:txBody>
      </p:sp>
      <p:sp>
        <p:nvSpPr>
          <p:cNvPr id="22" name="Text 20"/>
          <p:cNvSpPr txBox="1"/>
          <p:nvPr/>
        </p:nvSpPr>
        <p:spPr>
          <a:xfrm>
            <a:off x="895350" y="3924300"/>
            <a:ext cx="4895850" cy="438150"/>
          </a:xfrm>
          <a:prstGeom prst="rect">
            <a:avLst/>
          </a:prstGeom>
          <a:noFill/>
          <a:ln/>
        </p:spPr>
        <p:txBody>
          <a:bodyPr wrap="square" lIns="0" tIns="0" rIns="0" bIns="0" rtlCol="0" anchor="t">
            <a:normAutofit/>
          </a:bodyPr>
          <a:lstStyle/>
          <a:p>
            <a:pPr indent="0" marL="0">
              <a:buNone/>
            </a:pPr>
            <a:r>
              <a:rPr lang="en-US" sz="1450" dirty="0">
                <a:solidFill>
                  <a:srgbClr val="434343"/>
                </a:solidFill>
                <a:latin typeface="Source Sans 3" pitchFamily="34" charset="0"/>
                <a:ea typeface="Source Sans 3" pitchFamily="34" charset="-122"/>
                <a:cs typeface="Source Sans 3" pitchFamily="34" charset="-120"/>
              </a:rPr>
              <a:t>For features that go into OpenELIS Global, </a:t>
            </a:r>
            <a:pPr indent="0" marL="0">
              <a:buNone/>
            </a:pPr>
            <a:r>
              <a:rPr lang="en-US" sz="1450" b="1" dirty="0">
                <a:solidFill>
                  <a:srgbClr val="33006F"/>
                </a:solidFill>
                <a:latin typeface="Source Sans 3" pitchFamily="34" charset="0"/>
                <a:ea typeface="Source Sans 3" pitchFamily="34" charset="-122"/>
                <a:cs typeface="Source Sans 3" pitchFamily="34" charset="-120"/>
              </a:rPr>
              <a:t>DIGI's product team can help with the design.</a:t>
            </a:r>
            <a:endParaRPr lang="en-US" sz="1450" dirty="0"/>
          </a:p>
        </p:txBody>
      </p:sp>
      <p:sp>
        <p:nvSpPr>
          <p:cNvPr id="23" name="Shape 21"/>
          <p:cNvSpPr/>
          <p:nvPr/>
        </p:nvSpPr>
        <p:spPr>
          <a:xfrm>
            <a:off x="6210300" y="1562100"/>
            <a:ext cx="2476500" cy="2667000"/>
          </a:xfrm>
          <a:prstGeom prst="rect">
            <a:avLst/>
          </a:prstGeom>
          <a:solidFill>
            <a:srgbClr val="01458E"/>
          </a:solidFill>
          <a:ln w="12700">
            <a:solidFill>
              <a:srgbClr val="01458E"/>
            </a:solidFill>
            <a:prstDash val="solid"/>
          </a:ln>
        </p:spPr>
      </p:sp>
      <p:sp>
        <p:nvSpPr>
          <p:cNvPr id="24" name="Text 22"/>
          <p:cNvSpPr txBox="1"/>
          <p:nvPr/>
        </p:nvSpPr>
        <p:spPr>
          <a:xfrm>
            <a:off x="6438900" y="1562100"/>
            <a:ext cx="2019300" cy="2667000"/>
          </a:xfrm>
          <a:prstGeom prst="rect">
            <a:avLst/>
          </a:prstGeom>
          <a:noFill/>
          <a:ln/>
        </p:spPr>
        <p:txBody>
          <a:bodyPr wrap="square" lIns="0" tIns="0" rIns="0" bIns="0" rtlCol="0" anchor="ctr"/>
          <a:lstStyle/>
          <a:p>
            <a:pPr indent="0" marL="0">
              <a:buNone/>
            </a:pPr>
            <a:r>
              <a:rPr lang="en-US" sz="2200" b="1" dirty="0">
                <a:solidFill>
                  <a:srgbClr val="FFFFFF"/>
                </a:solidFill>
                <a:latin typeface="Source Sans 3" pitchFamily="34" charset="0"/>
                <a:ea typeface="Source Sans 3" pitchFamily="34" charset="-122"/>
                <a:cs typeface="Source Sans 3" pitchFamily="34" charset="-120"/>
              </a:rPr>
              <a:t>A clear use case gets taken seriously.</a:t>
            </a:r>
            <a:endParaRPr lang="en-US" sz="2200" dirty="0"/>
          </a:p>
        </p:txBody>
      </p:sp>
      <p:sp>
        <p:nvSpPr>
          <p:cNvPr id="25" name="Text 2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25</a:t>
            </a:r>
            <a:endParaRPr lang="en-US" sz="1100" dirty="0"/>
          </a:p>
        </p:txBody>
      </p:sp>
      <p:sp>
        <p:nvSpPr>
          <p:cNvPr id="26" name="Text 2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CHOOSING THE CHANNEL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4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Working with your own developers</a:t>
            </a:r>
            <a:endParaRPr lang="en-US" sz="2500" dirty="0"/>
          </a:p>
        </p:txBody>
      </p:sp>
      <p:sp>
        <p:nvSpPr>
          <p:cNvPr id="5" name="Text 3"/>
          <p:cNvSpPr txBox="1"/>
          <p:nvPr/>
        </p:nvSpPr>
        <p:spPr>
          <a:xfrm>
            <a:off x="457200" y="1504950"/>
            <a:ext cx="8229600" cy="323850"/>
          </a:xfrm>
          <a:prstGeom prst="rect">
            <a:avLst/>
          </a:prstGeom>
          <a:noFill/>
          <a:ln/>
        </p:spPr>
        <p:txBody>
          <a:bodyPr wrap="square" lIns="0" tIns="0" rIns="0" bIns="0" rtlCol="0" anchor="t"/>
          <a:lstStyle/>
          <a:p>
            <a:pPr indent="0" marL="0">
              <a:buNone/>
            </a:pPr>
            <a:r>
              <a:rPr lang="en-US" sz="1300" dirty="0">
                <a:solidFill>
                  <a:srgbClr val="5B5670"/>
                </a:solidFill>
                <a:latin typeface="Source Sans 3" pitchFamily="34" charset="0"/>
                <a:ea typeface="Source Sans 3" pitchFamily="34" charset="-122"/>
                <a:cs typeface="Source Sans 3" pitchFamily="34" charset="-120"/>
              </a:rPr>
              <a:t>If the Ministry hires a developer or a company to build a feature or fix a bug:</a:t>
            </a:r>
            <a:endParaRPr lang="en-US" sz="1300" dirty="0"/>
          </a:p>
        </p:txBody>
      </p:sp>
      <p:sp>
        <p:nvSpPr>
          <p:cNvPr id="6" name="Shape 4"/>
          <p:cNvSpPr/>
          <p:nvPr/>
        </p:nvSpPr>
        <p:spPr>
          <a:xfrm>
            <a:off x="457200" y="1847850"/>
            <a:ext cx="266700" cy="266700"/>
          </a:xfrm>
          <a:prstGeom prst="rect">
            <a:avLst/>
          </a:prstGeom>
          <a:solidFill>
            <a:srgbClr val="01458E"/>
          </a:solidFill>
          <a:ln w="12700">
            <a:solidFill>
              <a:srgbClr val="01458E"/>
            </a:solidFill>
            <a:prstDash val="solid"/>
          </a:ln>
        </p:spPr>
      </p:sp>
      <p:sp>
        <p:nvSpPr>
          <p:cNvPr id="7" name="Text 5"/>
          <p:cNvSpPr txBox="1"/>
          <p:nvPr/>
        </p:nvSpPr>
        <p:spPr>
          <a:xfrm>
            <a:off x="457200" y="1847850"/>
            <a:ext cx="266700" cy="266700"/>
          </a:xfrm>
          <a:prstGeom prst="rect">
            <a:avLst/>
          </a:prstGeom>
          <a:noFill/>
          <a:ln/>
        </p:spPr>
        <p:txBody>
          <a:bodyPr wrap="square" lIns="0" tIns="0" rIns="0" bIns="0" rtlCol="0" anchor="ctr"/>
          <a:lstStyle/>
          <a:p>
            <a:pPr algn="ctr" indent="0" marL="0">
              <a:buNone/>
            </a:pPr>
            <a:r>
              <a:rPr lang="en-US" sz="1300" b="1" dirty="0">
                <a:solidFill>
                  <a:srgbClr val="FFFFFF"/>
                </a:solidFill>
                <a:latin typeface="Source Sans 3" pitchFamily="34" charset="0"/>
                <a:ea typeface="Source Sans 3" pitchFamily="34" charset="-122"/>
                <a:cs typeface="Source Sans 3" pitchFamily="34" charset="-120"/>
              </a:rPr>
              <a:t>1</a:t>
            </a:r>
            <a:endParaRPr lang="en-US" sz="1300" dirty="0"/>
          </a:p>
        </p:txBody>
      </p:sp>
      <p:sp>
        <p:nvSpPr>
          <p:cNvPr id="8" name="Text 6"/>
          <p:cNvSpPr txBox="1"/>
          <p:nvPr/>
        </p:nvSpPr>
        <p:spPr>
          <a:xfrm>
            <a:off x="876300" y="1828800"/>
            <a:ext cx="7810500" cy="381000"/>
          </a:xfrm>
          <a:prstGeom prst="rect">
            <a:avLst/>
          </a:prstGeom>
          <a:noFill/>
          <a:ln/>
        </p:spPr>
        <p:txBody>
          <a:bodyPr wrap="square" lIns="0" tIns="0" rIns="0" bIns="0" rtlCol="0" anchor="t">
            <a:normAutofit/>
          </a:bodyPr>
          <a:lstStyle/>
          <a:p>
            <a:pPr indent="0" marL="0">
              <a:buNone/>
            </a:pPr>
            <a:r>
              <a:rPr lang="en-US" sz="1400" dirty="0">
                <a:solidFill>
                  <a:srgbClr val="434343"/>
                </a:solidFill>
                <a:latin typeface="Source Sans 3" pitchFamily="34" charset="0"/>
                <a:ea typeface="Source Sans 3" pitchFamily="34" charset="-122"/>
                <a:cs typeface="Source Sans 3" pitchFamily="34" charset="-120"/>
              </a:rPr>
              <a:t>The developer posts the plan in Development before writing code. </a:t>
            </a:r>
            <a:pPr indent="0" marL="0">
              <a:buNone/>
            </a:pPr>
            <a:r>
              <a:rPr lang="en-US" sz="1400" dirty="0">
                <a:solidFill>
                  <a:srgbClr val="888888"/>
                </a:solidFill>
                <a:latin typeface="Source Sans 3" pitchFamily="34" charset="0"/>
                <a:ea typeface="Source Sans 3" pitchFamily="34" charset="-122"/>
                <a:cs typeface="Source Sans 3" pitchFamily="34" charset="-120"/>
              </a:rPr>
              <a:t>This avoids duplicate work.</a:t>
            </a:r>
            <a:endParaRPr lang="en-US" sz="1400" dirty="0"/>
          </a:p>
        </p:txBody>
      </p:sp>
      <p:sp>
        <p:nvSpPr>
          <p:cNvPr id="9" name="Shape 7"/>
          <p:cNvSpPr/>
          <p:nvPr/>
        </p:nvSpPr>
        <p:spPr>
          <a:xfrm>
            <a:off x="457200" y="2266950"/>
            <a:ext cx="266700" cy="266700"/>
          </a:xfrm>
          <a:prstGeom prst="rect">
            <a:avLst/>
          </a:prstGeom>
          <a:solidFill>
            <a:srgbClr val="01458E"/>
          </a:solidFill>
          <a:ln w="12700">
            <a:solidFill>
              <a:srgbClr val="01458E"/>
            </a:solidFill>
            <a:prstDash val="solid"/>
          </a:ln>
        </p:spPr>
      </p:sp>
      <p:sp>
        <p:nvSpPr>
          <p:cNvPr id="10" name="Text 8"/>
          <p:cNvSpPr txBox="1"/>
          <p:nvPr/>
        </p:nvSpPr>
        <p:spPr>
          <a:xfrm>
            <a:off x="457200" y="2266950"/>
            <a:ext cx="266700" cy="266700"/>
          </a:xfrm>
          <a:prstGeom prst="rect">
            <a:avLst/>
          </a:prstGeom>
          <a:noFill/>
          <a:ln/>
        </p:spPr>
        <p:txBody>
          <a:bodyPr wrap="square" lIns="0" tIns="0" rIns="0" bIns="0" rtlCol="0" anchor="ctr"/>
          <a:lstStyle/>
          <a:p>
            <a:pPr algn="ctr" indent="0" marL="0">
              <a:buNone/>
            </a:pPr>
            <a:r>
              <a:rPr lang="en-US" sz="1300" b="1" dirty="0">
                <a:solidFill>
                  <a:srgbClr val="FFFFFF"/>
                </a:solidFill>
                <a:latin typeface="Source Sans 3" pitchFamily="34" charset="0"/>
                <a:ea typeface="Source Sans 3" pitchFamily="34" charset="-122"/>
                <a:cs typeface="Source Sans 3" pitchFamily="34" charset="-120"/>
              </a:rPr>
              <a:t>2</a:t>
            </a:r>
            <a:endParaRPr lang="en-US" sz="1300" dirty="0"/>
          </a:p>
        </p:txBody>
      </p:sp>
      <p:sp>
        <p:nvSpPr>
          <p:cNvPr id="11" name="Text 9"/>
          <p:cNvSpPr txBox="1"/>
          <p:nvPr/>
        </p:nvSpPr>
        <p:spPr>
          <a:xfrm>
            <a:off x="876300" y="2247900"/>
            <a:ext cx="7810500" cy="381000"/>
          </a:xfrm>
          <a:prstGeom prst="rect">
            <a:avLst/>
          </a:prstGeom>
          <a:noFill/>
          <a:ln/>
        </p:spPr>
        <p:txBody>
          <a:bodyPr wrap="square" lIns="0" tIns="0" rIns="0" bIns="0" rtlCol="0" anchor="t">
            <a:normAutofit/>
          </a:bodyPr>
          <a:lstStyle/>
          <a:p>
            <a:pPr indent="0" marL="0">
              <a:buNone/>
            </a:pPr>
            <a:r>
              <a:rPr lang="en-US" sz="1400" dirty="0">
                <a:solidFill>
                  <a:srgbClr val="434343"/>
                </a:solidFill>
                <a:latin typeface="Source Sans 3" pitchFamily="34" charset="0"/>
                <a:ea typeface="Source Sans 3" pitchFamily="34" charset="-122"/>
                <a:cs typeface="Source Sans 3" pitchFamily="34" charset="-120"/>
              </a:rPr>
              <a:t>The developer asks technical questions on the forum, Slack, and the Thursday call.</a:t>
            </a:r>
            <a:endParaRPr lang="en-US" sz="1400" dirty="0"/>
          </a:p>
        </p:txBody>
      </p:sp>
      <p:sp>
        <p:nvSpPr>
          <p:cNvPr id="12" name="Shape 10"/>
          <p:cNvSpPr/>
          <p:nvPr/>
        </p:nvSpPr>
        <p:spPr>
          <a:xfrm>
            <a:off x="457200" y="2686050"/>
            <a:ext cx="266700" cy="266700"/>
          </a:xfrm>
          <a:prstGeom prst="rect">
            <a:avLst/>
          </a:prstGeom>
          <a:solidFill>
            <a:srgbClr val="01458E"/>
          </a:solidFill>
          <a:ln w="12700">
            <a:solidFill>
              <a:srgbClr val="01458E"/>
            </a:solidFill>
            <a:prstDash val="solid"/>
          </a:ln>
        </p:spPr>
      </p:sp>
      <p:sp>
        <p:nvSpPr>
          <p:cNvPr id="13" name="Text 11"/>
          <p:cNvSpPr txBox="1"/>
          <p:nvPr/>
        </p:nvSpPr>
        <p:spPr>
          <a:xfrm>
            <a:off x="457200" y="2686050"/>
            <a:ext cx="266700" cy="266700"/>
          </a:xfrm>
          <a:prstGeom prst="rect">
            <a:avLst/>
          </a:prstGeom>
          <a:noFill/>
          <a:ln/>
        </p:spPr>
        <p:txBody>
          <a:bodyPr wrap="square" lIns="0" tIns="0" rIns="0" bIns="0" rtlCol="0" anchor="ctr"/>
          <a:lstStyle/>
          <a:p>
            <a:pPr algn="ctr" indent="0" marL="0">
              <a:buNone/>
            </a:pPr>
            <a:r>
              <a:rPr lang="en-US" sz="1300" b="1" dirty="0">
                <a:solidFill>
                  <a:srgbClr val="FFFFFF"/>
                </a:solidFill>
                <a:latin typeface="Source Sans 3" pitchFamily="34" charset="0"/>
                <a:ea typeface="Source Sans 3" pitchFamily="34" charset="-122"/>
                <a:cs typeface="Source Sans 3" pitchFamily="34" charset="-120"/>
              </a:rPr>
              <a:t>3</a:t>
            </a:r>
            <a:endParaRPr lang="en-US" sz="1300" dirty="0"/>
          </a:p>
        </p:txBody>
      </p:sp>
      <p:sp>
        <p:nvSpPr>
          <p:cNvPr id="14" name="Text 12"/>
          <p:cNvSpPr txBox="1"/>
          <p:nvPr/>
        </p:nvSpPr>
        <p:spPr>
          <a:xfrm>
            <a:off x="876300" y="2667000"/>
            <a:ext cx="7810500" cy="381000"/>
          </a:xfrm>
          <a:prstGeom prst="rect">
            <a:avLst/>
          </a:prstGeom>
          <a:noFill/>
          <a:ln/>
        </p:spPr>
        <p:txBody>
          <a:bodyPr wrap="square" lIns="0" tIns="0" rIns="0" bIns="0" rtlCol="0" anchor="t">
            <a:normAutofit/>
          </a:bodyPr>
          <a:lstStyle/>
          <a:p>
            <a:pPr indent="0" marL="0">
              <a:buNone/>
            </a:pPr>
            <a:r>
              <a:rPr lang="en-US" sz="1400" dirty="0">
                <a:solidFill>
                  <a:srgbClr val="434343"/>
                </a:solidFill>
                <a:latin typeface="Source Sans 3" pitchFamily="34" charset="0"/>
                <a:ea typeface="Source Sans 3" pitchFamily="34" charset="-122"/>
                <a:cs typeface="Source Sans 3" pitchFamily="34" charset="-120"/>
              </a:rPr>
              <a:t>The code is submitted as a pull request to github.com/DIGI-UW/OpenELIS-Global-2.</a:t>
            </a:r>
            <a:endParaRPr lang="en-US" sz="1400" dirty="0"/>
          </a:p>
        </p:txBody>
      </p:sp>
      <p:sp>
        <p:nvSpPr>
          <p:cNvPr id="15" name="Shape 13"/>
          <p:cNvSpPr/>
          <p:nvPr/>
        </p:nvSpPr>
        <p:spPr>
          <a:xfrm>
            <a:off x="457200" y="3105150"/>
            <a:ext cx="266700" cy="266700"/>
          </a:xfrm>
          <a:prstGeom prst="rect">
            <a:avLst/>
          </a:prstGeom>
          <a:solidFill>
            <a:srgbClr val="01458E"/>
          </a:solidFill>
          <a:ln w="12700">
            <a:solidFill>
              <a:srgbClr val="01458E"/>
            </a:solidFill>
            <a:prstDash val="solid"/>
          </a:ln>
        </p:spPr>
      </p:sp>
      <p:sp>
        <p:nvSpPr>
          <p:cNvPr id="16" name="Text 14"/>
          <p:cNvSpPr txBox="1"/>
          <p:nvPr/>
        </p:nvSpPr>
        <p:spPr>
          <a:xfrm>
            <a:off x="457200" y="3105150"/>
            <a:ext cx="266700" cy="266700"/>
          </a:xfrm>
          <a:prstGeom prst="rect">
            <a:avLst/>
          </a:prstGeom>
          <a:noFill/>
          <a:ln/>
        </p:spPr>
        <p:txBody>
          <a:bodyPr wrap="square" lIns="0" tIns="0" rIns="0" bIns="0" rtlCol="0" anchor="ctr"/>
          <a:lstStyle/>
          <a:p>
            <a:pPr algn="ctr" indent="0" marL="0">
              <a:buNone/>
            </a:pPr>
            <a:r>
              <a:rPr lang="en-US" sz="1300" b="1" dirty="0">
                <a:solidFill>
                  <a:srgbClr val="FFFFFF"/>
                </a:solidFill>
                <a:latin typeface="Source Sans 3" pitchFamily="34" charset="0"/>
                <a:ea typeface="Source Sans 3" pitchFamily="34" charset="-122"/>
                <a:cs typeface="Source Sans 3" pitchFamily="34" charset="-120"/>
              </a:rPr>
              <a:t>4</a:t>
            </a:r>
            <a:endParaRPr lang="en-US" sz="1300" dirty="0"/>
          </a:p>
        </p:txBody>
      </p:sp>
      <p:sp>
        <p:nvSpPr>
          <p:cNvPr id="17" name="Text 15"/>
          <p:cNvSpPr txBox="1"/>
          <p:nvPr/>
        </p:nvSpPr>
        <p:spPr>
          <a:xfrm>
            <a:off x="876300" y="3086100"/>
            <a:ext cx="7810500" cy="381000"/>
          </a:xfrm>
          <a:prstGeom prst="rect">
            <a:avLst/>
          </a:prstGeom>
          <a:noFill/>
          <a:ln/>
        </p:spPr>
        <p:txBody>
          <a:bodyPr wrap="square" lIns="0" tIns="0" rIns="0" bIns="0" rtlCol="0" anchor="t">
            <a:normAutofit/>
          </a:bodyPr>
          <a:lstStyle/>
          <a:p>
            <a:pPr indent="0" marL="0">
              <a:buNone/>
            </a:pPr>
            <a:r>
              <a:rPr lang="en-US" sz="1400" dirty="0">
                <a:solidFill>
                  <a:srgbClr val="434343"/>
                </a:solidFill>
                <a:latin typeface="Source Sans 3" pitchFamily="34" charset="0"/>
                <a:ea typeface="Source Sans 3" pitchFamily="34" charset="-122"/>
                <a:cs typeface="Source Sans 3" pitchFamily="34" charset="-120"/>
              </a:rPr>
              <a:t>Community maintainers review it. </a:t>
            </a:r>
            <a:pPr indent="0" marL="0">
              <a:buNone/>
            </a:pPr>
            <a:r>
              <a:rPr lang="en-US" sz="1400" dirty="0">
                <a:solidFill>
                  <a:srgbClr val="888888"/>
                </a:solidFill>
                <a:latin typeface="Source Sans 3" pitchFamily="34" charset="0"/>
                <a:ea typeface="Source Sans 3" pitchFamily="34" charset="-122"/>
                <a:cs typeface="Source Sans 3" pitchFamily="34" charset="-120"/>
              </a:rPr>
              <a:t>Reviews can take several rounds.</a:t>
            </a:r>
            <a:endParaRPr lang="en-US" sz="1400" dirty="0"/>
          </a:p>
        </p:txBody>
      </p:sp>
      <p:sp>
        <p:nvSpPr>
          <p:cNvPr id="18" name="Shape 16"/>
          <p:cNvSpPr/>
          <p:nvPr/>
        </p:nvSpPr>
        <p:spPr>
          <a:xfrm>
            <a:off x="457200" y="3524250"/>
            <a:ext cx="266700" cy="266700"/>
          </a:xfrm>
          <a:prstGeom prst="rect">
            <a:avLst/>
          </a:prstGeom>
          <a:solidFill>
            <a:srgbClr val="01458E"/>
          </a:solidFill>
          <a:ln w="12700">
            <a:solidFill>
              <a:srgbClr val="01458E"/>
            </a:solidFill>
            <a:prstDash val="solid"/>
          </a:ln>
        </p:spPr>
      </p:sp>
      <p:sp>
        <p:nvSpPr>
          <p:cNvPr id="19" name="Text 17"/>
          <p:cNvSpPr txBox="1"/>
          <p:nvPr/>
        </p:nvSpPr>
        <p:spPr>
          <a:xfrm>
            <a:off x="457200" y="3524250"/>
            <a:ext cx="266700" cy="266700"/>
          </a:xfrm>
          <a:prstGeom prst="rect">
            <a:avLst/>
          </a:prstGeom>
          <a:noFill/>
          <a:ln/>
        </p:spPr>
        <p:txBody>
          <a:bodyPr wrap="square" lIns="0" tIns="0" rIns="0" bIns="0" rtlCol="0" anchor="ctr"/>
          <a:lstStyle/>
          <a:p>
            <a:pPr algn="ctr" indent="0" marL="0">
              <a:buNone/>
            </a:pPr>
            <a:r>
              <a:rPr lang="en-US" sz="1300" b="1" dirty="0">
                <a:solidFill>
                  <a:srgbClr val="FFFFFF"/>
                </a:solidFill>
                <a:latin typeface="Source Sans 3" pitchFamily="34" charset="0"/>
                <a:ea typeface="Source Sans 3" pitchFamily="34" charset="-122"/>
                <a:cs typeface="Source Sans 3" pitchFamily="34" charset="-120"/>
              </a:rPr>
              <a:t>5</a:t>
            </a:r>
            <a:endParaRPr lang="en-US" sz="1300" dirty="0"/>
          </a:p>
        </p:txBody>
      </p:sp>
      <p:sp>
        <p:nvSpPr>
          <p:cNvPr id="20" name="Text 18"/>
          <p:cNvSpPr txBox="1"/>
          <p:nvPr/>
        </p:nvSpPr>
        <p:spPr>
          <a:xfrm>
            <a:off x="876300" y="3505200"/>
            <a:ext cx="7810500" cy="381000"/>
          </a:xfrm>
          <a:prstGeom prst="rect">
            <a:avLst/>
          </a:prstGeom>
          <a:noFill/>
          <a:ln/>
        </p:spPr>
        <p:txBody>
          <a:bodyPr wrap="square" lIns="0" tIns="0" rIns="0" bIns="0" rtlCol="0" anchor="t">
            <a:normAutofit/>
          </a:bodyPr>
          <a:lstStyle/>
          <a:p>
            <a:pPr indent="0" marL="0">
              <a:buNone/>
            </a:pPr>
            <a:r>
              <a:rPr lang="en-US" sz="1400" dirty="0">
                <a:solidFill>
                  <a:srgbClr val="434343"/>
                </a:solidFill>
                <a:latin typeface="Source Sans 3" pitchFamily="34" charset="0"/>
                <a:ea typeface="Source Sans 3" pitchFamily="34" charset="-122"/>
                <a:cs typeface="Source Sans 3" pitchFamily="34" charset="-120"/>
              </a:rPr>
              <a:t>Once merged, it is in the next release for everyone, and it stays maintained.</a:t>
            </a:r>
            <a:endParaRPr lang="en-US" sz="1400" dirty="0"/>
          </a:p>
        </p:txBody>
      </p:sp>
      <p:sp>
        <p:nvSpPr>
          <p:cNvPr id="21" name="Shape 19"/>
          <p:cNvSpPr/>
          <p:nvPr/>
        </p:nvSpPr>
        <p:spPr>
          <a:xfrm>
            <a:off x="457200" y="4000500"/>
            <a:ext cx="8229600" cy="571500"/>
          </a:xfrm>
          <a:prstGeom prst="rect">
            <a:avLst/>
          </a:prstGeom>
          <a:solidFill>
            <a:srgbClr val="33006F"/>
          </a:solidFill>
          <a:ln w="12700">
            <a:solidFill>
              <a:srgbClr val="33006F"/>
            </a:solidFill>
            <a:prstDash val="solid"/>
          </a:ln>
        </p:spPr>
      </p:sp>
      <p:sp>
        <p:nvSpPr>
          <p:cNvPr id="22" name="Text 20"/>
          <p:cNvSpPr txBox="1"/>
          <p:nvPr/>
        </p:nvSpPr>
        <p:spPr>
          <a:xfrm>
            <a:off x="685800" y="4000500"/>
            <a:ext cx="7772400" cy="571500"/>
          </a:xfrm>
          <a:prstGeom prst="rect">
            <a:avLst/>
          </a:prstGeom>
          <a:noFill/>
          <a:ln/>
        </p:spPr>
        <p:txBody>
          <a:bodyPr wrap="square" lIns="0" tIns="0" rIns="0" bIns="0" rtlCol="0" anchor="ctr"/>
          <a:lstStyle/>
          <a:p>
            <a:pPr indent="0" marL="0">
              <a:buNone/>
            </a:pPr>
            <a:r>
              <a:rPr lang="en-US" sz="1500" b="1" dirty="0">
                <a:solidFill>
                  <a:srgbClr val="FFFFFF"/>
                </a:solidFill>
                <a:latin typeface="Source Sans 3" pitchFamily="34" charset="0"/>
                <a:ea typeface="Source Sans 3" pitchFamily="34" charset="-122"/>
                <a:cs typeface="Source Sans 3" pitchFamily="34" charset="-120"/>
              </a:rPr>
              <a:t>Ask your developer to build on the shared product, not on a private copy. A private copy cannot be upgraded.</a:t>
            </a:r>
            <a:endParaRPr lang="en-US" sz="1500" dirty="0"/>
          </a:p>
        </p:txBody>
      </p:sp>
      <p:sp>
        <p:nvSpPr>
          <p:cNvPr id="23" name="Text 21"/>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26</a:t>
            </a:r>
            <a:endParaRPr lang="en-US" sz="1100" dirty="0"/>
          </a:p>
        </p:txBody>
      </p:sp>
      <p:sp>
        <p:nvSpPr>
          <p:cNvPr id="24" name="Text 22"/>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CHOOSING THE CHANNEL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4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A real example: how a country request became community work</a:t>
            </a:r>
            <a:endParaRPr lang="en-US" sz="2500" dirty="0"/>
          </a:p>
        </p:txBody>
      </p:sp>
      <p:sp>
        <p:nvSpPr>
          <p:cNvPr id="5" name="Shape 3"/>
          <p:cNvSpPr/>
          <p:nvPr/>
        </p:nvSpPr>
        <p:spPr>
          <a:xfrm>
            <a:off x="457200" y="1562100"/>
            <a:ext cx="323850" cy="323850"/>
          </a:xfrm>
          <a:prstGeom prst="rect">
            <a:avLst/>
          </a:prstGeom>
          <a:solidFill>
            <a:srgbClr val="01458E"/>
          </a:solidFill>
          <a:ln w="12700">
            <a:solidFill>
              <a:srgbClr val="01458E"/>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7" name="Text 5"/>
          <p:cNvSpPr txBox="1"/>
          <p:nvPr/>
        </p:nvSpPr>
        <p:spPr>
          <a:xfrm>
            <a:off x="4572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Request</a:t>
            </a:r>
            <a:endParaRPr lang="en-US" sz="1700" dirty="0"/>
          </a:p>
        </p:txBody>
      </p:sp>
      <p:sp>
        <p:nvSpPr>
          <p:cNvPr id="8" name="Text 6"/>
          <p:cNvSpPr txBox="1"/>
          <p:nvPr/>
        </p:nvSpPr>
        <p:spPr>
          <a:xfrm>
            <a:off x="457200" y="2305050"/>
            <a:ext cx="1847850" cy="1047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Mauritius needed changes to the pathology module. They wrote up what they needed and shared a design.</a:t>
            </a:r>
            <a:endParaRPr lang="en-US" sz="1300" dirty="0"/>
          </a:p>
        </p:txBody>
      </p:sp>
      <p:sp>
        <p:nvSpPr>
          <p:cNvPr id="9" name="Shape 7"/>
          <p:cNvSpPr/>
          <p:nvPr/>
        </p:nvSpPr>
        <p:spPr>
          <a:xfrm>
            <a:off x="2552700" y="1562100"/>
            <a:ext cx="323850" cy="323850"/>
          </a:xfrm>
          <a:prstGeom prst="rect">
            <a:avLst/>
          </a:prstGeom>
          <a:solidFill>
            <a:srgbClr val="01458E"/>
          </a:solidFill>
          <a:ln w="12700">
            <a:solidFill>
              <a:srgbClr val="01458E"/>
            </a:solidFill>
            <a:prstDash val="solid"/>
          </a:ln>
        </p:spPr>
      </p:sp>
      <p:sp>
        <p:nvSpPr>
          <p:cNvPr id="10" name="Text 8"/>
          <p:cNvSpPr txBox="1"/>
          <p:nvPr/>
        </p:nvSpPr>
        <p:spPr>
          <a:xfrm>
            <a:off x="25527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1" name="Text 9"/>
          <p:cNvSpPr txBox="1"/>
          <p:nvPr/>
        </p:nvSpPr>
        <p:spPr>
          <a:xfrm>
            <a:off x="25527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Design review</a:t>
            </a:r>
            <a:endParaRPr lang="en-US" sz="1700" dirty="0"/>
          </a:p>
        </p:txBody>
      </p:sp>
      <p:sp>
        <p:nvSpPr>
          <p:cNvPr id="12" name="Text 10"/>
          <p:cNvSpPr txBox="1"/>
          <p:nvPr/>
        </p:nvSpPr>
        <p:spPr>
          <a:xfrm>
            <a:off x="2552700" y="2305050"/>
            <a:ext cx="1847850" cy="1047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DIGI's product team adjusted the design to match OpenELIS UI and UX norms.</a:t>
            </a:r>
            <a:endParaRPr lang="en-US" sz="1300" dirty="0"/>
          </a:p>
        </p:txBody>
      </p:sp>
      <p:sp>
        <p:nvSpPr>
          <p:cNvPr id="13" name="Shape 11"/>
          <p:cNvSpPr/>
          <p:nvPr/>
        </p:nvSpPr>
        <p:spPr>
          <a:xfrm>
            <a:off x="4648200" y="1562100"/>
            <a:ext cx="323850" cy="323850"/>
          </a:xfrm>
          <a:prstGeom prst="rect">
            <a:avLst/>
          </a:prstGeom>
          <a:solidFill>
            <a:srgbClr val="01458E"/>
          </a:solidFill>
          <a:ln w="12700">
            <a:solidFill>
              <a:srgbClr val="01458E"/>
            </a:solidFill>
            <a:prstDash val="solid"/>
          </a:ln>
        </p:spPr>
      </p:sp>
      <p:sp>
        <p:nvSpPr>
          <p:cNvPr id="14" name="Text 12"/>
          <p:cNvSpPr txBox="1"/>
          <p:nvPr/>
        </p:nvSpPr>
        <p:spPr>
          <a:xfrm>
            <a:off x="4648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5" name="Text 13"/>
          <p:cNvSpPr txBox="1"/>
          <p:nvPr/>
        </p:nvSpPr>
        <p:spPr>
          <a:xfrm>
            <a:off x="46482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In the queue</a:t>
            </a:r>
            <a:endParaRPr lang="en-US" sz="1700" dirty="0"/>
          </a:p>
        </p:txBody>
      </p:sp>
      <p:sp>
        <p:nvSpPr>
          <p:cNvPr id="16" name="Text 14"/>
          <p:cNvSpPr txBox="1"/>
          <p:nvPr/>
        </p:nvSpPr>
        <p:spPr>
          <a:xfrm>
            <a:off x="4648200" y="2305050"/>
            <a:ext cx="1847850" cy="1047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The design went into the gallery and the community work queue.</a:t>
            </a:r>
            <a:endParaRPr lang="en-US" sz="1300" dirty="0"/>
          </a:p>
        </p:txBody>
      </p:sp>
      <p:sp>
        <p:nvSpPr>
          <p:cNvPr id="17" name="Shape 15"/>
          <p:cNvSpPr/>
          <p:nvPr/>
        </p:nvSpPr>
        <p:spPr>
          <a:xfrm>
            <a:off x="6743700" y="1562100"/>
            <a:ext cx="323850" cy="323850"/>
          </a:xfrm>
          <a:prstGeom prst="rect">
            <a:avLst/>
          </a:prstGeom>
          <a:solidFill>
            <a:srgbClr val="01458E"/>
          </a:solidFill>
          <a:ln w="12700">
            <a:solidFill>
              <a:srgbClr val="01458E"/>
            </a:solidFill>
            <a:prstDash val="solid"/>
          </a:ln>
        </p:spPr>
      </p:sp>
      <p:sp>
        <p:nvSpPr>
          <p:cNvPr id="18" name="Text 16"/>
          <p:cNvSpPr txBox="1"/>
          <p:nvPr/>
        </p:nvSpPr>
        <p:spPr>
          <a:xfrm>
            <a:off x="67437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9" name="Text 17"/>
          <p:cNvSpPr txBox="1"/>
          <p:nvPr/>
        </p:nvSpPr>
        <p:spPr>
          <a:xfrm>
            <a:off x="6743700" y="1981200"/>
            <a:ext cx="184785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Picked up</a:t>
            </a:r>
            <a:endParaRPr lang="en-US" sz="1700" dirty="0"/>
          </a:p>
        </p:txBody>
      </p:sp>
      <p:sp>
        <p:nvSpPr>
          <p:cNvPr id="20" name="Text 18"/>
          <p:cNvSpPr txBox="1"/>
          <p:nvPr/>
        </p:nvSpPr>
        <p:spPr>
          <a:xfrm>
            <a:off x="6743700" y="2305050"/>
            <a:ext cx="1847850" cy="1047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A community member volunteered to build it. Volunteers may not always finish, so partnerships help.</a:t>
            </a:r>
            <a:endParaRPr lang="en-US" sz="1300" dirty="0"/>
          </a:p>
        </p:txBody>
      </p:sp>
      <p:sp>
        <p:nvSpPr>
          <p:cNvPr id="21" name="Shape 19"/>
          <p:cNvSpPr/>
          <p:nvPr/>
        </p:nvSpPr>
        <p:spPr>
          <a:xfrm>
            <a:off x="457200" y="3505200"/>
            <a:ext cx="8229600" cy="1028700"/>
          </a:xfrm>
          <a:prstGeom prst="rect">
            <a:avLst/>
          </a:prstGeom>
          <a:solidFill>
            <a:srgbClr val="F0F0FF"/>
          </a:solidFill>
          <a:ln w="12700">
            <a:solidFill>
              <a:srgbClr val="F0F0FF"/>
            </a:solidFill>
            <a:prstDash val="solid"/>
          </a:ln>
        </p:spPr>
      </p:sp>
      <p:sp>
        <p:nvSpPr>
          <p:cNvPr id="22" name="Shape 20"/>
          <p:cNvSpPr/>
          <p:nvPr/>
        </p:nvSpPr>
        <p:spPr>
          <a:xfrm>
            <a:off x="457200" y="3505200"/>
            <a:ext cx="8229600" cy="38100"/>
          </a:xfrm>
          <a:prstGeom prst="rect">
            <a:avLst/>
          </a:prstGeom>
          <a:solidFill>
            <a:srgbClr val="01458E"/>
          </a:solidFill>
          <a:ln w="12700">
            <a:solidFill>
              <a:srgbClr val="01458E"/>
            </a:solidFill>
            <a:prstDash val="solid"/>
          </a:ln>
        </p:spPr>
      </p:sp>
      <p:sp>
        <p:nvSpPr>
          <p:cNvPr id="23" name="Text 21"/>
          <p:cNvSpPr txBox="1"/>
          <p:nvPr/>
        </p:nvSpPr>
        <p:spPr>
          <a:xfrm>
            <a:off x="685800" y="3638550"/>
            <a:ext cx="4762500" cy="190500"/>
          </a:xfrm>
          <a:prstGeom prst="rect">
            <a:avLst/>
          </a:prstGeom>
          <a:noFill/>
          <a:ln/>
        </p:spPr>
        <p:txBody>
          <a:bodyPr wrap="square" lIns="0" tIns="0" rIns="0" bIns="0" rtlCol="0" anchor="t"/>
          <a:lstStyle/>
          <a:p>
            <a:pPr indent="0" marL="0">
              <a:buNone/>
            </a:pPr>
            <a:r>
              <a:rPr lang="en-US" sz="1100" b="1" spc="150" kern="0" dirty="0">
                <a:solidFill>
                  <a:srgbClr val="01458E"/>
                </a:solidFill>
                <a:latin typeface="Source Sans 3" pitchFamily="34" charset="0"/>
                <a:ea typeface="Source Sans 3" pitchFamily="34" charset="-122"/>
                <a:cs typeface="Source Sans 3" pitchFamily="34" charset="-120"/>
              </a:rPr>
              <a:t>THE FORUM IS ALSO A MARKETPLACE</a:t>
            </a:r>
            <a:endParaRPr lang="en-US" sz="1100" dirty="0"/>
          </a:p>
        </p:txBody>
      </p:sp>
      <p:sp>
        <p:nvSpPr>
          <p:cNvPr id="24" name="Text 22"/>
          <p:cNvSpPr txBox="1"/>
          <p:nvPr/>
        </p:nvSpPr>
        <p:spPr>
          <a:xfrm>
            <a:off x="685800" y="3848100"/>
            <a:ext cx="7772400" cy="628650"/>
          </a:xfrm>
          <a:prstGeom prst="rect">
            <a:avLst/>
          </a:prstGeom>
          <a:noFill/>
          <a:ln/>
        </p:spPr>
        <p:txBody>
          <a:bodyPr wrap="square" lIns="0" tIns="0" rIns="0" bIns="0" rtlCol="0" anchor="t"/>
          <a:lstStyle/>
          <a:p>
            <a:pPr indent="0" marL="0">
              <a:buNone/>
            </a:pPr>
            <a:r>
              <a:rPr lang="en-US" sz="1400" dirty="0">
                <a:solidFill>
                  <a:srgbClr val="434343"/>
                </a:solidFill>
                <a:latin typeface="Source Sans 3" pitchFamily="34" charset="0"/>
                <a:ea typeface="Source Sans 3" pitchFamily="34" charset="-122"/>
                <a:cs typeface="Source Sans 3" pitchFamily="34" charset="-120"/>
              </a:rPr>
              <a:t>You can post a request for bids, a job opportunity, or an offer to partner with a community member on a feature. Your team plus a community developer is a common way to get work finished.</a:t>
            </a:r>
            <a:endParaRPr lang="en-US" sz="1400" dirty="0"/>
          </a:p>
        </p:txBody>
      </p:sp>
      <p:sp>
        <p:nvSpPr>
          <p:cNvPr id="25" name="Text 2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27</a:t>
            </a:r>
            <a:endParaRPr lang="en-US" sz="1100" dirty="0"/>
          </a:p>
        </p:txBody>
      </p:sp>
      <p:sp>
        <p:nvSpPr>
          <p:cNvPr id="26" name="Text 2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6350"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857250" y="1428750"/>
            <a:ext cx="3619500" cy="1238250"/>
          </a:xfrm>
          <a:prstGeom prst="rect">
            <a:avLst/>
          </a:prstGeom>
          <a:noFill/>
          <a:ln/>
        </p:spPr>
        <p:txBody>
          <a:bodyPr wrap="square" lIns="0" tIns="0" rIns="0" bIns="0" rtlCol="0" anchor="b">
            <a:normAutofit/>
          </a:bodyPr>
          <a:lstStyle/>
          <a:p>
            <a:pPr indent="0" marL="0">
              <a:buNone/>
            </a:pPr>
            <a:r>
              <a:rPr lang="en-US" sz="2800" b="1" dirty="0">
                <a:solidFill>
                  <a:srgbClr val="33006F"/>
                </a:solidFill>
                <a:latin typeface="Source Sans 3" pitchFamily="34" charset="0"/>
                <a:ea typeface="Source Sans 3" pitchFamily="34" charset="-122"/>
                <a:cs typeface="Source Sans 3" pitchFamily="34" charset="-120"/>
              </a:rPr>
              <a:t>5. How OpenELIS Global releases work</a:t>
            </a:r>
            <a:endParaRPr lang="en-US" sz="2800" dirty="0"/>
          </a:p>
        </p:txBody>
      </p:sp>
      <p:sp>
        <p:nvSpPr>
          <p:cNvPr id="4" name="Text 2"/>
          <p:cNvSpPr txBox="1"/>
          <p:nvPr/>
        </p:nvSpPr>
        <p:spPr>
          <a:xfrm>
            <a:off x="857250" y="2781300"/>
            <a:ext cx="3619500" cy="1143000"/>
          </a:xfrm>
          <a:prstGeom prst="rect">
            <a:avLst/>
          </a:prstGeom>
          <a:noFill/>
          <a:ln/>
        </p:spPr>
        <p:txBody>
          <a:bodyPr wrap="square" lIns="0" tIns="0" rIns="0" bIns="0" rtlCol="0" anchor="t"/>
          <a:lstStyle/>
          <a:p>
            <a:pPr indent="0" marL="0">
              <a:buNone/>
            </a:pPr>
            <a:r>
              <a:rPr lang="en-US" sz="1800" dirty="0">
                <a:solidFill>
                  <a:srgbClr val="434343"/>
                </a:solidFill>
                <a:latin typeface="Source Sans 3" pitchFamily="34" charset="0"/>
                <a:ea typeface="Source Sans 3" pitchFamily="34" charset="-122"/>
                <a:cs typeface="Source Sans 3" pitchFamily="34" charset="-120"/>
              </a:rPr>
              <a:t>From an idea to something you can install.</a:t>
            </a:r>
            <a:endParaRPr lang="en-US" sz="180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FFFFFF"/>
                </a:solidFill>
                <a:latin typeface="Source Sans 3" pitchFamily="34" charset="0"/>
                <a:ea typeface="Source Sans 3" pitchFamily="34" charset="-122"/>
                <a:cs typeface="Source Sans 3" pitchFamily="34" charset="-120"/>
              </a:rPr>
              <a:t>28</a:t>
            </a:r>
            <a:endParaRPr lang="en-US" sz="11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RELEASES</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5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From an idea to something you can install</a:t>
            </a:r>
            <a:endParaRPr lang="en-US" sz="2500" dirty="0"/>
          </a:p>
        </p:txBody>
      </p:sp>
      <p:sp>
        <p:nvSpPr>
          <p:cNvPr id="5" name="Shape 3"/>
          <p:cNvSpPr/>
          <p:nvPr/>
        </p:nvSpPr>
        <p:spPr>
          <a:xfrm>
            <a:off x="457200" y="1562100"/>
            <a:ext cx="323850" cy="323850"/>
          </a:xfrm>
          <a:prstGeom prst="rect">
            <a:avLst/>
          </a:prstGeom>
          <a:solidFill>
            <a:srgbClr val="33006F"/>
          </a:solidFill>
          <a:ln w="12700">
            <a:solidFill>
              <a:srgbClr val="33006F"/>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7" name="Text 5"/>
          <p:cNvSpPr txBox="1"/>
          <p:nvPr/>
        </p:nvSpPr>
        <p:spPr>
          <a:xfrm>
            <a:off x="4572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Proposed</a:t>
            </a:r>
            <a:endParaRPr lang="en-US" sz="1600" dirty="0"/>
          </a:p>
        </p:txBody>
      </p:sp>
      <p:sp>
        <p:nvSpPr>
          <p:cNvPr id="8" name="Text 6"/>
          <p:cNvSpPr txBox="1"/>
          <p:nvPr/>
        </p:nvSpPr>
        <p:spPr>
          <a:xfrm>
            <a:off x="4572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A need becomes a Jira ticket (OGC-...).</a:t>
            </a:r>
            <a:endParaRPr lang="en-US" sz="1300" dirty="0"/>
          </a:p>
        </p:txBody>
      </p:sp>
      <p:sp>
        <p:nvSpPr>
          <p:cNvPr id="9" name="Shape 7"/>
          <p:cNvSpPr/>
          <p:nvPr/>
        </p:nvSpPr>
        <p:spPr>
          <a:xfrm>
            <a:off x="2133600" y="1562100"/>
            <a:ext cx="323850" cy="323850"/>
          </a:xfrm>
          <a:prstGeom prst="rect">
            <a:avLst/>
          </a:prstGeom>
          <a:solidFill>
            <a:srgbClr val="33006F"/>
          </a:solidFill>
          <a:ln w="12700">
            <a:solidFill>
              <a:srgbClr val="33006F"/>
            </a:solidFill>
            <a:prstDash val="solid"/>
          </a:ln>
        </p:spPr>
      </p:sp>
      <p:sp>
        <p:nvSpPr>
          <p:cNvPr id="10" name="Text 8"/>
          <p:cNvSpPr txBox="1"/>
          <p:nvPr/>
        </p:nvSpPr>
        <p:spPr>
          <a:xfrm>
            <a:off x="21336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1" name="Text 9"/>
          <p:cNvSpPr txBox="1"/>
          <p:nvPr/>
        </p:nvSpPr>
        <p:spPr>
          <a:xfrm>
            <a:off x="21336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Built</a:t>
            </a:r>
            <a:endParaRPr lang="en-US" sz="1600" dirty="0"/>
          </a:p>
        </p:txBody>
      </p:sp>
      <p:sp>
        <p:nvSpPr>
          <p:cNvPr id="12" name="Text 10"/>
          <p:cNvSpPr txBox="1"/>
          <p:nvPr/>
        </p:nvSpPr>
        <p:spPr>
          <a:xfrm>
            <a:off x="21336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Developers open pull requests on GitHub. Reviewers merge them.</a:t>
            </a:r>
            <a:endParaRPr lang="en-US" sz="1300" dirty="0"/>
          </a:p>
        </p:txBody>
      </p:sp>
      <p:sp>
        <p:nvSpPr>
          <p:cNvPr id="13" name="Shape 11"/>
          <p:cNvSpPr/>
          <p:nvPr/>
        </p:nvSpPr>
        <p:spPr>
          <a:xfrm>
            <a:off x="3810000" y="1562100"/>
            <a:ext cx="323850" cy="323850"/>
          </a:xfrm>
          <a:prstGeom prst="rect">
            <a:avLst/>
          </a:prstGeom>
          <a:solidFill>
            <a:srgbClr val="33006F"/>
          </a:solidFill>
          <a:ln w="12700">
            <a:solidFill>
              <a:srgbClr val="33006F"/>
            </a:solidFill>
            <a:prstDash val="solid"/>
          </a:ln>
        </p:spPr>
      </p:sp>
      <p:sp>
        <p:nvSpPr>
          <p:cNvPr id="14" name="Text 12"/>
          <p:cNvSpPr txBox="1"/>
          <p:nvPr/>
        </p:nvSpPr>
        <p:spPr>
          <a:xfrm>
            <a:off x="38100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5" name="Text 13"/>
          <p:cNvSpPr txBox="1"/>
          <p:nvPr/>
        </p:nvSpPr>
        <p:spPr>
          <a:xfrm>
            <a:off x="38100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Translated</a:t>
            </a:r>
            <a:endParaRPr lang="en-US" sz="1600" dirty="0"/>
          </a:p>
        </p:txBody>
      </p:sp>
      <p:sp>
        <p:nvSpPr>
          <p:cNvPr id="16" name="Text 14"/>
          <p:cNvSpPr txBox="1"/>
          <p:nvPr/>
        </p:nvSpPr>
        <p:spPr>
          <a:xfrm>
            <a:off x="38100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Transifex brings the interface text into each language.</a:t>
            </a:r>
            <a:endParaRPr lang="en-US" sz="1300" dirty="0"/>
          </a:p>
        </p:txBody>
      </p:sp>
      <p:sp>
        <p:nvSpPr>
          <p:cNvPr id="17" name="Shape 15"/>
          <p:cNvSpPr/>
          <p:nvPr/>
        </p:nvSpPr>
        <p:spPr>
          <a:xfrm>
            <a:off x="5486400" y="1562100"/>
            <a:ext cx="323850" cy="323850"/>
          </a:xfrm>
          <a:prstGeom prst="rect">
            <a:avLst/>
          </a:prstGeom>
          <a:solidFill>
            <a:srgbClr val="33006F"/>
          </a:solidFill>
          <a:ln w="12700">
            <a:solidFill>
              <a:srgbClr val="33006F"/>
            </a:solidFill>
            <a:prstDash val="solid"/>
          </a:ln>
        </p:spPr>
      </p:sp>
      <p:sp>
        <p:nvSpPr>
          <p:cNvPr id="18" name="Text 16"/>
          <p:cNvSpPr txBox="1"/>
          <p:nvPr/>
        </p:nvSpPr>
        <p:spPr>
          <a:xfrm>
            <a:off x="54864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9" name="Text 17"/>
          <p:cNvSpPr txBox="1"/>
          <p:nvPr/>
        </p:nvSpPr>
        <p:spPr>
          <a:xfrm>
            <a:off x="54864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Tagged</a:t>
            </a:r>
            <a:endParaRPr lang="en-US" sz="1600" dirty="0"/>
          </a:p>
        </p:txBody>
      </p:sp>
      <p:sp>
        <p:nvSpPr>
          <p:cNvPr id="20" name="Text 18"/>
          <p:cNvSpPr txBox="1"/>
          <p:nvPr/>
        </p:nvSpPr>
        <p:spPr>
          <a:xfrm>
            <a:off x="54864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A numbered version is published with release notes.</a:t>
            </a:r>
            <a:endParaRPr lang="en-US" sz="1300" dirty="0"/>
          </a:p>
        </p:txBody>
      </p:sp>
      <p:sp>
        <p:nvSpPr>
          <p:cNvPr id="21" name="Shape 19"/>
          <p:cNvSpPr/>
          <p:nvPr/>
        </p:nvSpPr>
        <p:spPr>
          <a:xfrm>
            <a:off x="7162800" y="1562100"/>
            <a:ext cx="323850" cy="323850"/>
          </a:xfrm>
          <a:prstGeom prst="rect">
            <a:avLst/>
          </a:prstGeom>
          <a:solidFill>
            <a:srgbClr val="33006F"/>
          </a:solidFill>
          <a:ln w="12700">
            <a:solidFill>
              <a:srgbClr val="33006F"/>
            </a:solidFill>
            <a:prstDash val="solid"/>
          </a:ln>
        </p:spPr>
      </p:sp>
      <p:sp>
        <p:nvSpPr>
          <p:cNvPr id="22" name="Text 20"/>
          <p:cNvSpPr txBox="1"/>
          <p:nvPr/>
        </p:nvSpPr>
        <p:spPr>
          <a:xfrm>
            <a:off x="71628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5</a:t>
            </a:r>
            <a:endParaRPr lang="en-US" sz="1500" dirty="0"/>
          </a:p>
        </p:txBody>
      </p:sp>
      <p:sp>
        <p:nvSpPr>
          <p:cNvPr id="23" name="Text 21"/>
          <p:cNvSpPr txBox="1"/>
          <p:nvPr/>
        </p:nvSpPr>
        <p:spPr>
          <a:xfrm>
            <a:off x="71628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Packaged</a:t>
            </a:r>
            <a:endParaRPr lang="en-US" sz="1600" dirty="0"/>
          </a:p>
        </p:txBody>
      </p:sp>
      <p:sp>
        <p:nvSpPr>
          <p:cNvPr id="24" name="Text 22"/>
          <p:cNvSpPr txBox="1"/>
          <p:nvPr/>
        </p:nvSpPr>
        <p:spPr>
          <a:xfrm>
            <a:off x="71628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The Madagascar Distro bundles the new version with the Analyzer Bridge and Madagascar settings.</a:t>
            </a:r>
            <a:endParaRPr lang="en-US" sz="1300" dirty="0"/>
          </a:p>
        </p:txBody>
      </p:sp>
      <p:sp>
        <p:nvSpPr>
          <p:cNvPr id="25" name="Shape 23"/>
          <p:cNvSpPr/>
          <p:nvPr/>
        </p:nvSpPr>
        <p:spPr>
          <a:xfrm>
            <a:off x="457200" y="3886200"/>
            <a:ext cx="8229600" cy="9525"/>
          </a:xfrm>
          <a:prstGeom prst="rect">
            <a:avLst/>
          </a:prstGeom>
          <a:solidFill>
            <a:srgbClr val="BFBFBF"/>
          </a:solidFill>
          <a:ln w="12700">
            <a:solidFill>
              <a:srgbClr val="BFBFBF"/>
            </a:solidFill>
            <a:prstDash val="solid"/>
          </a:ln>
        </p:spPr>
      </p:sp>
      <p:sp>
        <p:nvSpPr>
          <p:cNvPr id="26" name="Text 24"/>
          <p:cNvSpPr txBox="1"/>
          <p:nvPr/>
        </p:nvSpPr>
        <p:spPr>
          <a:xfrm>
            <a:off x="457200" y="4000500"/>
            <a:ext cx="8229600" cy="53340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Anyone can start step 1 with a forum post.</a:t>
            </a:r>
            <a:endParaRPr lang="en-US" sz="1500" dirty="0"/>
          </a:p>
        </p:txBody>
      </p:sp>
      <p:sp>
        <p:nvSpPr>
          <p:cNvPr id="27" name="Text 2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29</a:t>
            </a:r>
            <a:endParaRPr lang="en-US" sz="1100" dirty="0"/>
          </a:p>
        </p:txBody>
      </p:sp>
      <p:sp>
        <p:nvSpPr>
          <p:cNvPr id="28" name="Text 2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RELEASES</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5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A version number is a bundle, not just one program</a:t>
            </a:r>
            <a:endParaRPr lang="en-US" sz="2500" dirty="0"/>
          </a:p>
        </p:txBody>
      </p:sp>
      <p:sp>
        <p:nvSpPr>
          <p:cNvPr id="5" name="Text 3"/>
          <p:cNvSpPr txBox="1"/>
          <p:nvPr/>
        </p:nvSpPr>
        <p:spPr>
          <a:xfrm>
            <a:off x="457200" y="1504950"/>
            <a:ext cx="8229600" cy="323850"/>
          </a:xfrm>
          <a:prstGeom prst="rect">
            <a:avLst/>
          </a:prstGeom>
          <a:noFill/>
          <a:ln/>
        </p:spPr>
        <p:txBody>
          <a:bodyPr wrap="square" lIns="0" tIns="0" rIns="0" bIns="0" rtlCol="0" anchor="t"/>
          <a:lstStyle/>
          <a:p>
            <a:pPr indent="0" marL="0">
              <a:buNone/>
            </a:pPr>
            <a:r>
              <a:rPr lang="en-US" sz="1400" dirty="0">
                <a:solidFill>
                  <a:srgbClr val="5B5670"/>
                </a:solidFill>
                <a:latin typeface="Source Sans 3" pitchFamily="34" charset="0"/>
                <a:ea typeface="Source Sans 3" pitchFamily="34" charset="-122"/>
                <a:cs typeface="Source Sans 3" pitchFamily="34" charset="-120"/>
              </a:rPr>
              <a:t>What Madagascar installs is a distro release. It contains three parts, each with its own version.</a:t>
            </a:r>
            <a:endParaRPr lang="en-US" sz="1400" dirty="0"/>
          </a:p>
        </p:txBody>
      </p:sp>
      <p:sp>
        <p:nvSpPr>
          <p:cNvPr id="6" name="Shape 4"/>
          <p:cNvSpPr/>
          <p:nvPr/>
        </p:nvSpPr>
        <p:spPr>
          <a:xfrm>
            <a:off x="457200" y="1905000"/>
            <a:ext cx="2590800" cy="2000250"/>
          </a:xfrm>
          <a:prstGeom prst="rect">
            <a:avLst/>
          </a:prstGeom>
          <a:solidFill>
            <a:srgbClr val="33006F"/>
          </a:solidFill>
          <a:ln w="12700">
            <a:solidFill>
              <a:srgbClr val="33006F"/>
            </a:solidFill>
            <a:prstDash val="solid"/>
          </a:ln>
        </p:spPr>
      </p:sp>
      <p:sp>
        <p:nvSpPr>
          <p:cNvPr id="7" name="Text 5"/>
          <p:cNvSpPr txBox="1"/>
          <p:nvPr/>
        </p:nvSpPr>
        <p:spPr>
          <a:xfrm>
            <a:off x="647700" y="2095500"/>
            <a:ext cx="2209800" cy="285750"/>
          </a:xfrm>
          <a:prstGeom prst="rect">
            <a:avLst/>
          </a:prstGeom>
          <a:noFill/>
          <a:ln/>
        </p:spPr>
        <p:txBody>
          <a:bodyPr wrap="square" lIns="0" tIns="0" rIns="0" bIns="0" rtlCol="0" anchor="t"/>
          <a:lstStyle/>
          <a:p>
            <a:pPr indent="0" marL="0">
              <a:buNone/>
            </a:pPr>
            <a:r>
              <a:rPr lang="en-US" sz="1700" b="1" dirty="0">
                <a:solidFill>
                  <a:srgbClr val="FFFFFF"/>
                </a:solidFill>
                <a:latin typeface="Source Sans 3" pitchFamily="34" charset="0"/>
                <a:ea typeface="Source Sans 3" pitchFamily="34" charset="-122"/>
                <a:cs typeface="Source Sans 3" pitchFamily="34" charset="-120"/>
              </a:rPr>
              <a:t>Madagascar Distro</a:t>
            </a:r>
            <a:endParaRPr lang="en-US" sz="1700" dirty="0"/>
          </a:p>
        </p:txBody>
      </p:sp>
      <p:sp>
        <p:nvSpPr>
          <p:cNvPr id="8" name="Text 6"/>
          <p:cNvSpPr txBox="1"/>
          <p:nvPr/>
        </p:nvSpPr>
        <p:spPr>
          <a:xfrm>
            <a:off x="647700" y="2400300"/>
            <a:ext cx="2209800" cy="476250"/>
          </a:xfrm>
          <a:prstGeom prst="rect">
            <a:avLst/>
          </a:prstGeom>
          <a:noFill/>
          <a:ln/>
        </p:spPr>
        <p:txBody>
          <a:bodyPr wrap="square" lIns="0" tIns="0" rIns="0" bIns="0" rtlCol="0" anchor="t"/>
          <a:lstStyle/>
          <a:p>
            <a:pPr indent="0" marL="0">
              <a:buNone/>
            </a:pPr>
            <a:r>
              <a:rPr lang="en-US" sz="3400" b="1" dirty="0">
                <a:solidFill>
                  <a:srgbClr val="FFC000"/>
                </a:solidFill>
                <a:latin typeface="Source Sans 3" pitchFamily="34" charset="0"/>
                <a:ea typeface="Source Sans 3" pitchFamily="34" charset="-122"/>
                <a:cs typeface="Source Sans 3" pitchFamily="34" charset="-120"/>
              </a:rPr>
              <a:t>3.2.2.0</a:t>
            </a:r>
            <a:endParaRPr lang="en-US" sz="3400" dirty="0"/>
          </a:p>
        </p:txBody>
      </p:sp>
      <p:sp>
        <p:nvSpPr>
          <p:cNvPr id="9" name="Text 7"/>
          <p:cNvSpPr txBox="1"/>
          <p:nvPr/>
        </p:nvSpPr>
        <p:spPr>
          <a:xfrm>
            <a:off x="647700" y="2971800"/>
            <a:ext cx="2209800" cy="857250"/>
          </a:xfrm>
          <a:prstGeom prst="rect">
            <a:avLst/>
          </a:prstGeom>
          <a:noFill/>
          <a:ln/>
        </p:spPr>
        <p:txBody>
          <a:bodyPr wrap="square" lIns="0" tIns="0" rIns="0" bIns="0" rtlCol="0" anchor="t">
            <a:normAutofit/>
          </a:bodyPr>
          <a:lstStyle/>
          <a:p>
            <a:pPr indent="0" marL="0">
              <a:buNone/>
            </a:pPr>
            <a:r>
              <a:rPr lang="en-US" sz="1300" dirty="0">
                <a:solidFill>
                  <a:srgbClr val="FFFFFF"/>
                </a:solidFill>
                <a:latin typeface="Source Sans 3" pitchFamily="34" charset="0"/>
                <a:ea typeface="Source Sans 3" pitchFamily="34" charset="-122"/>
                <a:cs typeface="Source Sans 3" pitchFamily="34" charset="-120"/>
              </a:rPr>
              <a:t>The installable package. Docker setup, environment settings, Madagascar-only fixes (for example translation overrides).</a:t>
            </a:r>
            <a:endParaRPr lang="en-US" sz="1300" dirty="0"/>
          </a:p>
        </p:txBody>
      </p:sp>
      <p:sp>
        <p:nvSpPr>
          <p:cNvPr id="10" name="Shape 8"/>
          <p:cNvSpPr/>
          <p:nvPr/>
        </p:nvSpPr>
        <p:spPr>
          <a:xfrm>
            <a:off x="3276600" y="1905000"/>
            <a:ext cx="2590800" cy="2000250"/>
          </a:xfrm>
          <a:prstGeom prst="rect">
            <a:avLst/>
          </a:prstGeom>
          <a:solidFill>
            <a:srgbClr val="F0F0FF"/>
          </a:solidFill>
          <a:ln w="12700">
            <a:solidFill>
              <a:srgbClr val="F0F0FF"/>
            </a:solidFill>
            <a:prstDash val="solid"/>
          </a:ln>
        </p:spPr>
      </p:sp>
      <p:sp>
        <p:nvSpPr>
          <p:cNvPr id="11" name="Shape 9"/>
          <p:cNvSpPr/>
          <p:nvPr/>
        </p:nvSpPr>
        <p:spPr>
          <a:xfrm>
            <a:off x="3276600" y="1905000"/>
            <a:ext cx="2590800" cy="38100"/>
          </a:xfrm>
          <a:prstGeom prst="rect">
            <a:avLst/>
          </a:prstGeom>
          <a:solidFill>
            <a:srgbClr val="33006F"/>
          </a:solidFill>
          <a:ln w="12700">
            <a:solidFill>
              <a:srgbClr val="33006F"/>
            </a:solidFill>
            <a:prstDash val="solid"/>
          </a:ln>
        </p:spPr>
      </p:sp>
      <p:sp>
        <p:nvSpPr>
          <p:cNvPr id="12" name="Text 10"/>
          <p:cNvSpPr txBox="1"/>
          <p:nvPr/>
        </p:nvSpPr>
        <p:spPr>
          <a:xfrm>
            <a:off x="3467100" y="2095500"/>
            <a:ext cx="220980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OpenELIS Global</a:t>
            </a:r>
            <a:endParaRPr lang="en-US" sz="1700" dirty="0"/>
          </a:p>
        </p:txBody>
      </p:sp>
      <p:sp>
        <p:nvSpPr>
          <p:cNvPr id="13" name="Text 11"/>
          <p:cNvSpPr txBox="1"/>
          <p:nvPr/>
        </p:nvSpPr>
        <p:spPr>
          <a:xfrm>
            <a:off x="3467100" y="2400300"/>
            <a:ext cx="2209800" cy="476250"/>
          </a:xfrm>
          <a:prstGeom prst="rect">
            <a:avLst/>
          </a:prstGeom>
          <a:noFill/>
          <a:ln/>
        </p:spPr>
        <p:txBody>
          <a:bodyPr wrap="square" lIns="0" tIns="0" rIns="0" bIns="0" rtlCol="0" anchor="t"/>
          <a:lstStyle/>
          <a:p>
            <a:pPr indent="0" marL="0">
              <a:buNone/>
            </a:pPr>
            <a:r>
              <a:rPr lang="en-US" sz="3400" b="1" dirty="0">
                <a:solidFill>
                  <a:srgbClr val="33006F"/>
                </a:solidFill>
                <a:latin typeface="Source Sans 3" pitchFamily="34" charset="0"/>
                <a:ea typeface="Source Sans 3" pitchFamily="34" charset="-122"/>
                <a:cs typeface="Source Sans 3" pitchFamily="34" charset="-120"/>
              </a:rPr>
              <a:t>3.2.2.0</a:t>
            </a:r>
            <a:endParaRPr lang="en-US" sz="3400" dirty="0"/>
          </a:p>
        </p:txBody>
      </p:sp>
      <p:sp>
        <p:nvSpPr>
          <p:cNvPr id="14" name="Text 12"/>
          <p:cNvSpPr txBox="1"/>
          <p:nvPr/>
        </p:nvSpPr>
        <p:spPr>
          <a:xfrm>
            <a:off x="3467100" y="2971800"/>
            <a:ext cx="2209800" cy="857250"/>
          </a:xfrm>
          <a:prstGeom prst="rect">
            <a:avLst/>
          </a:prstGeom>
          <a:noFill/>
          <a:ln/>
        </p:spPr>
        <p:txBody>
          <a:bodyPr wrap="square" lIns="0" tIns="0" rIns="0" bIns="0" rtlCol="0" anchor="t">
            <a:normAutofit/>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The core laboratory system: orders, results, catalog, reports.</a:t>
            </a:r>
            <a:endParaRPr lang="en-US" sz="1300" dirty="0"/>
          </a:p>
        </p:txBody>
      </p:sp>
      <p:sp>
        <p:nvSpPr>
          <p:cNvPr id="15" name="Shape 13"/>
          <p:cNvSpPr/>
          <p:nvPr/>
        </p:nvSpPr>
        <p:spPr>
          <a:xfrm>
            <a:off x="6096000" y="1905000"/>
            <a:ext cx="2590800" cy="2000250"/>
          </a:xfrm>
          <a:prstGeom prst="rect">
            <a:avLst/>
          </a:prstGeom>
          <a:solidFill>
            <a:srgbClr val="F0F0FF"/>
          </a:solidFill>
          <a:ln w="12700">
            <a:solidFill>
              <a:srgbClr val="F0F0FF"/>
            </a:solidFill>
            <a:prstDash val="solid"/>
          </a:ln>
        </p:spPr>
      </p:sp>
      <p:sp>
        <p:nvSpPr>
          <p:cNvPr id="16" name="Shape 14"/>
          <p:cNvSpPr/>
          <p:nvPr/>
        </p:nvSpPr>
        <p:spPr>
          <a:xfrm>
            <a:off x="6096000" y="1905000"/>
            <a:ext cx="2590800" cy="38100"/>
          </a:xfrm>
          <a:prstGeom prst="rect">
            <a:avLst/>
          </a:prstGeom>
          <a:solidFill>
            <a:srgbClr val="33006F"/>
          </a:solidFill>
          <a:ln w="12700">
            <a:solidFill>
              <a:srgbClr val="33006F"/>
            </a:solidFill>
            <a:prstDash val="solid"/>
          </a:ln>
        </p:spPr>
      </p:sp>
      <p:sp>
        <p:nvSpPr>
          <p:cNvPr id="17" name="Text 15"/>
          <p:cNvSpPr txBox="1"/>
          <p:nvPr/>
        </p:nvSpPr>
        <p:spPr>
          <a:xfrm>
            <a:off x="6286500" y="2095500"/>
            <a:ext cx="2209800" cy="285750"/>
          </a:xfrm>
          <a:prstGeom prst="rect">
            <a:avLst/>
          </a:prstGeom>
          <a:noFill/>
          <a:ln/>
        </p:spPr>
        <p:txBody>
          <a:bodyPr wrap="square" lIns="0" tIns="0" rIns="0" bIns="0" rtlCol="0" anchor="t"/>
          <a:lstStyle/>
          <a:p>
            <a:pPr indent="0" marL="0">
              <a:buNone/>
            </a:pPr>
            <a:r>
              <a:rPr lang="en-US" sz="1700" b="1" dirty="0">
                <a:solidFill>
                  <a:srgbClr val="33006F"/>
                </a:solidFill>
                <a:latin typeface="Source Sans 3" pitchFamily="34" charset="0"/>
                <a:ea typeface="Source Sans 3" pitchFamily="34" charset="-122"/>
                <a:cs typeface="Source Sans 3" pitchFamily="34" charset="-120"/>
              </a:rPr>
              <a:t>Analyzer Bridge</a:t>
            </a:r>
            <a:endParaRPr lang="en-US" sz="1700" dirty="0"/>
          </a:p>
        </p:txBody>
      </p:sp>
      <p:sp>
        <p:nvSpPr>
          <p:cNvPr id="18" name="Text 16"/>
          <p:cNvSpPr txBox="1"/>
          <p:nvPr/>
        </p:nvSpPr>
        <p:spPr>
          <a:xfrm>
            <a:off x="6286500" y="2400300"/>
            <a:ext cx="2209800" cy="476250"/>
          </a:xfrm>
          <a:prstGeom prst="rect">
            <a:avLst/>
          </a:prstGeom>
          <a:noFill/>
          <a:ln/>
        </p:spPr>
        <p:txBody>
          <a:bodyPr wrap="square" lIns="0" tIns="0" rIns="0" bIns="0" rtlCol="0" anchor="t"/>
          <a:lstStyle/>
          <a:p>
            <a:pPr indent="0" marL="0">
              <a:buNone/>
            </a:pPr>
            <a:r>
              <a:rPr lang="en-US" sz="3400" b="1" dirty="0">
                <a:solidFill>
                  <a:srgbClr val="33006F"/>
                </a:solidFill>
                <a:latin typeface="Source Sans 3" pitchFamily="34" charset="0"/>
                <a:ea typeface="Source Sans 3" pitchFamily="34" charset="-122"/>
                <a:cs typeface="Source Sans 3" pitchFamily="34" charset="-120"/>
              </a:rPr>
              <a:t>3.0.4</a:t>
            </a:r>
            <a:endParaRPr lang="en-US" sz="3400" dirty="0"/>
          </a:p>
        </p:txBody>
      </p:sp>
      <p:sp>
        <p:nvSpPr>
          <p:cNvPr id="19" name="Text 17"/>
          <p:cNvSpPr txBox="1"/>
          <p:nvPr/>
        </p:nvSpPr>
        <p:spPr>
          <a:xfrm>
            <a:off x="6286500" y="2971800"/>
            <a:ext cx="2209800" cy="857250"/>
          </a:xfrm>
          <a:prstGeom prst="rect">
            <a:avLst/>
          </a:prstGeom>
          <a:noFill/>
          <a:ln/>
        </p:spPr>
        <p:txBody>
          <a:bodyPr wrap="square" lIns="0" tIns="0" rIns="0" bIns="0" rtlCol="0" anchor="t">
            <a:normAutofit/>
          </a:bodyPr>
          <a:lstStyle/>
          <a:p>
            <a:pPr indent="0" marL="0">
              <a:buNone/>
            </a:pPr>
            <a:r>
              <a:rPr lang="en-US" sz="1300" dirty="0">
                <a:solidFill>
                  <a:srgbClr val="434343"/>
                </a:solidFill>
                <a:latin typeface="Source Sans 3" pitchFamily="34" charset="0"/>
                <a:ea typeface="Source Sans 3" pitchFamily="34" charset="-122"/>
                <a:cs typeface="Source Sans 3" pitchFamily="34" charset="-120"/>
              </a:rPr>
              <a:t>Connects instruments over HL7 and ASTM.</a:t>
            </a:r>
            <a:endParaRPr lang="en-US" sz="1300" dirty="0"/>
          </a:p>
        </p:txBody>
      </p:sp>
      <p:sp>
        <p:nvSpPr>
          <p:cNvPr id="20" name="Text 18"/>
          <p:cNvSpPr txBox="1"/>
          <p:nvPr/>
        </p:nvSpPr>
        <p:spPr>
          <a:xfrm>
            <a:off x="457200" y="4095750"/>
            <a:ext cx="8229600" cy="38100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Read both the distro notes and the OpenELIS Global notes. A fix can be in either.</a:t>
            </a:r>
            <a:endParaRPr lang="en-US" sz="1500" dirty="0"/>
          </a:p>
        </p:txBody>
      </p:sp>
      <p:sp>
        <p:nvSpPr>
          <p:cNvPr id="21" name="Text 19"/>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30</a:t>
            </a:r>
            <a:endParaRPr lang="en-US" sz="1100" dirty="0"/>
          </a:p>
        </p:txBody>
      </p:sp>
      <p:sp>
        <p:nvSpPr>
          <p:cNvPr id="22" name="Text 20"/>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33006F"/>
                </a:solidFill>
                <a:latin typeface="Source Sans 3" pitchFamily="34" charset="0"/>
                <a:ea typeface="Source Sans 3" pitchFamily="34" charset="-122"/>
                <a:cs typeface="Source Sans 3" pitchFamily="34" charset="-120"/>
              </a:rPr>
              <a:t>RELEASES</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5 of 7</a:t>
            </a:r>
            <a:endParaRPr lang="en-US" sz="1200" dirty="0"/>
          </a:p>
        </p:txBody>
      </p:sp>
      <p:sp>
        <p:nvSpPr>
          <p:cNvPr id="3" name="Shape 1"/>
          <p:cNvSpPr/>
          <p:nvPr/>
        </p:nvSpPr>
        <p:spPr>
          <a:xfrm>
            <a:off x="457200" y="533400"/>
            <a:ext cx="685800" cy="57150"/>
          </a:xfrm>
          <a:prstGeom prst="rect">
            <a:avLst/>
          </a:prstGeom>
          <a:solidFill>
            <a:srgbClr val="33006F"/>
          </a:solidFill>
          <a:ln w="12700">
            <a:solidFill>
              <a:srgbClr val="33006F"/>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Small, frequent releases</a:t>
            </a:r>
            <a:endParaRPr lang="en-US" sz="2500" dirty="0"/>
          </a:p>
        </p:txBody>
      </p:sp>
      <p:sp>
        <p:nvSpPr>
          <p:cNvPr id="5" name="Shape 3"/>
          <p:cNvSpPr/>
          <p:nvPr/>
        </p:nvSpPr>
        <p:spPr>
          <a:xfrm>
            <a:off x="457200" y="1600200"/>
            <a:ext cx="57150" cy="495300"/>
          </a:xfrm>
          <a:prstGeom prst="rect">
            <a:avLst/>
          </a:prstGeom>
          <a:solidFill>
            <a:srgbClr val="33006F"/>
          </a:solidFill>
          <a:ln w="12700">
            <a:solidFill>
              <a:srgbClr val="33006F"/>
            </a:solidFill>
            <a:prstDash val="solid"/>
          </a:ln>
        </p:spPr>
      </p:sp>
      <p:sp>
        <p:nvSpPr>
          <p:cNvPr id="6" name="Text 4"/>
          <p:cNvSpPr txBox="1"/>
          <p:nvPr/>
        </p:nvSpPr>
        <p:spPr>
          <a:xfrm>
            <a:off x="666750" y="1600200"/>
            <a:ext cx="2095500" cy="247650"/>
          </a:xfrm>
          <a:prstGeom prst="rect">
            <a:avLst/>
          </a:prstGeom>
          <a:noFill/>
          <a:ln/>
        </p:spPr>
        <p:txBody>
          <a:bodyPr wrap="square" lIns="0" tIns="0" rIns="0" bIns="0" rtlCol="0" anchor="t"/>
          <a:lstStyle/>
          <a:p>
            <a:pPr indent="0" marL="0">
              <a:buNone/>
            </a:pPr>
            <a:r>
              <a:rPr lang="en-US" sz="1300" dirty="0">
                <a:solidFill>
                  <a:srgbClr val="888888"/>
                </a:solidFill>
                <a:latin typeface="Source Sans 3" pitchFamily="34" charset="0"/>
                <a:ea typeface="Source Sans 3" pitchFamily="34" charset="-122"/>
                <a:cs typeface="Source Sans 3" pitchFamily="34" charset="-120"/>
              </a:rPr>
              <a:t>14 July 2026</a:t>
            </a:r>
            <a:endParaRPr lang="en-US" sz="1300" dirty="0"/>
          </a:p>
        </p:txBody>
      </p:sp>
      <p:sp>
        <p:nvSpPr>
          <p:cNvPr id="7" name="Text 5"/>
          <p:cNvSpPr txBox="1"/>
          <p:nvPr/>
        </p:nvSpPr>
        <p:spPr>
          <a:xfrm>
            <a:off x="666750" y="1809750"/>
            <a:ext cx="2095500" cy="285750"/>
          </a:xfrm>
          <a:prstGeom prst="rect">
            <a:avLst/>
          </a:prstGeom>
          <a:noFill/>
          <a:ln/>
        </p:spPr>
        <p:txBody>
          <a:bodyPr wrap="square" lIns="0" tIns="0" rIns="0" bIns="0" rtlCol="0" anchor="t"/>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3.2.1.11</a:t>
            </a:r>
            <a:endParaRPr lang="en-US" sz="2000" dirty="0"/>
          </a:p>
        </p:txBody>
      </p:sp>
      <p:sp>
        <p:nvSpPr>
          <p:cNvPr id="8" name="Text 6"/>
          <p:cNvSpPr txBox="1"/>
          <p:nvPr/>
        </p:nvSpPr>
        <p:spPr>
          <a:xfrm>
            <a:off x="2857500" y="1638300"/>
            <a:ext cx="5829300" cy="457200"/>
          </a:xfrm>
          <a:prstGeom prst="rect">
            <a:avLst/>
          </a:prstGeom>
          <a:noFill/>
          <a:ln/>
        </p:spPr>
        <p:txBody>
          <a:bodyPr wrap="square" lIns="0" tIns="0" rIns="0" bIns="0" rtlCol="0" anchor="ctr"/>
          <a:lstStyle/>
          <a:p>
            <a:pPr indent="0" marL="0">
              <a:buNone/>
            </a:pPr>
            <a:r>
              <a:rPr lang="en-US" sz="1500" dirty="0">
                <a:solidFill>
                  <a:srgbClr val="434343"/>
                </a:solidFill>
                <a:latin typeface="Source Sans 3" pitchFamily="34" charset="0"/>
                <a:ea typeface="Source Sans 3" pitchFamily="34" charset="-122"/>
                <a:cs typeface="Source Sans 3" pitchFamily="34" charset="-120"/>
              </a:rPr>
              <a:t>Test catalog v2.5 editor, multi-component results, barcode labels v2</a:t>
            </a:r>
            <a:endParaRPr lang="en-US" sz="1500" dirty="0"/>
          </a:p>
        </p:txBody>
      </p:sp>
      <p:sp>
        <p:nvSpPr>
          <p:cNvPr id="9" name="Shape 7"/>
          <p:cNvSpPr/>
          <p:nvPr/>
        </p:nvSpPr>
        <p:spPr>
          <a:xfrm>
            <a:off x="457200" y="2247900"/>
            <a:ext cx="57150" cy="495300"/>
          </a:xfrm>
          <a:prstGeom prst="rect">
            <a:avLst/>
          </a:prstGeom>
          <a:solidFill>
            <a:srgbClr val="33006F"/>
          </a:solidFill>
          <a:ln w="12700">
            <a:solidFill>
              <a:srgbClr val="33006F"/>
            </a:solidFill>
            <a:prstDash val="solid"/>
          </a:ln>
        </p:spPr>
      </p:sp>
      <p:sp>
        <p:nvSpPr>
          <p:cNvPr id="10" name="Text 8"/>
          <p:cNvSpPr txBox="1"/>
          <p:nvPr/>
        </p:nvSpPr>
        <p:spPr>
          <a:xfrm>
            <a:off x="666750" y="2247900"/>
            <a:ext cx="2095500" cy="247650"/>
          </a:xfrm>
          <a:prstGeom prst="rect">
            <a:avLst/>
          </a:prstGeom>
          <a:noFill/>
          <a:ln/>
        </p:spPr>
        <p:txBody>
          <a:bodyPr wrap="square" lIns="0" tIns="0" rIns="0" bIns="0" rtlCol="0" anchor="t"/>
          <a:lstStyle/>
          <a:p>
            <a:pPr indent="0" marL="0">
              <a:buNone/>
            </a:pPr>
            <a:r>
              <a:rPr lang="en-US" sz="1300" dirty="0">
                <a:solidFill>
                  <a:srgbClr val="888888"/>
                </a:solidFill>
                <a:latin typeface="Source Sans 3" pitchFamily="34" charset="0"/>
                <a:ea typeface="Source Sans 3" pitchFamily="34" charset="-122"/>
                <a:cs typeface="Source Sans 3" pitchFamily="34" charset="-120"/>
              </a:rPr>
              <a:t>18 August 2026</a:t>
            </a:r>
            <a:endParaRPr lang="en-US" sz="1300" dirty="0"/>
          </a:p>
        </p:txBody>
      </p:sp>
      <p:sp>
        <p:nvSpPr>
          <p:cNvPr id="11" name="Text 9"/>
          <p:cNvSpPr txBox="1"/>
          <p:nvPr/>
        </p:nvSpPr>
        <p:spPr>
          <a:xfrm>
            <a:off x="666750" y="2457450"/>
            <a:ext cx="2095500" cy="285750"/>
          </a:xfrm>
          <a:prstGeom prst="rect">
            <a:avLst/>
          </a:prstGeom>
          <a:noFill/>
          <a:ln/>
        </p:spPr>
        <p:txBody>
          <a:bodyPr wrap="square" lIns="0" tIns="0" rIns="0" bIns="0" rtlCol="0" anchor="t"/>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3.2.2.0</a:t>
            </a:r>
            <a:endParaRPr lang="en-US" sz="2000" dirty="0"/>
          </a:p>
        </p:txBody>
      </p:sp>
      <p:sp>
        <p:nvSpPr>
          <p:cNvPr id="12" name="Text 10"/>
          <p:cNvSpPr txBox="1"/>
          <p:nvPr/>
        </p:nvSpPr>
        <p:spPr>
          <a:xfrm>
            <a:off x="2857500" y="2286000"/>
            <a:ext cx="5829300" cy="457200"/>
          </a:xfrm>
          <a:prstGeom prst="rect">
            <a:avLst/>
          </a:prstGeom>
          <a:noFill/>
          <a:ln/>
        </p:spPr>
        <p:txBody>
          <a:bodyPr wrap="square" lIns="0" tIns="0" rIns="0" bIns="0" rtlCol="0" anchor="ctr"/>
          <a:lstStyle/>
          <a:p>
            <a:pPr indent="0" marL="0">
              <a:buNone/>
            </a:pPr>
            <a:r>
              <a:rPr lang="en-US" sz="1500" dirty="0">
                <a:solidFill>
                  <a:srgbClr val="434343"/>
                </a:solidFill>
                <a:latin typeface="Source Sans 3" pitchFamily="34" charset="0"/>
                <a:ea typeface="Source Sans 3" pitchFamily="34" charset="-122"/>
                <a:cs typeface="Source Sans 3" pitchFamily="34" charset="-120"/>
              </a:rPr>
              <a:t>Result entry v3, sample type management, panel editor</a:t>
            </a:r>
            <a:endParaRPr lang="en-US" sz="1500" dirty="0"/>
          </a:p>
        </p:txBody>
      </p:sp>
      <p:sp>
        <p:nvSpPr>
          <p:cNvPr id="13" name="Shape 11"/>
          <p:cNvSpPr/>
          <p:nvPr/>
        </p:nvSpPr>
        <p:spPr>
          <a:xfrm>
            <a:off x="457200" y="2895600"/>
            <a:ext cx="57150" cy="495300"/>
          </a:xfrm>
          <a:prstGeom prst="rect">
            <a:avLst/>
          </a:prstGeom>
          <a:solidFill>
            <a:srgbClr val="33006F"/>
          </a:solidFill>
          <a:ln w="12700">
            <a:solidFill>
              <a:srgbClr val="33006F"/>
            </a:solidFill>
            <a:prstDash val="solid"/>
          </a:ln>
        </p:spPr>
      </p:sp>
      <p:sp>
        <p:nvSpPr>
          <p:cNvPr id="14" name="Text 12"/>
          <p:cNvSpPr txBox="1"/>
          <p:nvPr/>
        </p:nvSpPr>
        <p:spPr>
          <a:xfrm>
            <a:off x="666750" y="2895600"/>
            <a:ext cx="2095500" cy="247650"/>
          </a:xfrm>
          <a:prstGeom prst="rect">
            <a:avLst/>
          </a:prstGeom>
          <a:noFill/>
          <a:ln/>
        </p:spPr>
        <p:txBody>
          <a:bodyPr wrap="square" lIns="0" tIns="0" rIns="0" bIns="0" rtlCol="0" anchor="t"/>
          <a:lstStyle/>
          <a:p>
            <a:pPr indent="0" marL="0">
              <a:buNone/>
            </a:pPr>
            <a:r>
              <a:rPr lang="en-US" sz="1300" dirty="0">
                <a:solidFill>
                  <a:srgbClr val="888888"/>
                </a:solidFill>
                <a:latin typeface="Source Sans 3" pitchFamily="34" charset="0"/>
                <a:ea typeface="Source Sans 3" pitchFamily="34" charset="-122"/>
                <a:cs typeface="Source Sans 3" pitchFamily="34" charset="-120"/>
              </a:rPr>
              <a:t>About 20 September 2026</a:t>
            </a:r>
            <a:endParaRPr lang="en-US" sz="1300" dirty="0"/>
          </a:p>
        </p:txBody>
      </p:sp>
      <p:sp>
        <p:nvSpPr>
          <p:cNvPr id="15" name="Text 13"/>
          <p:cNvSpPr txBox="1"/>
          <p:nvPr/>
        </p:nvSpPr>
        <p:spPr>
          <a:xfrm>
            <a:off x="666750" y="3105150"/>
            <a:ext cx="2095500" cy="285750"/>
          </a:xfrm>
          <a:prstGeom prst="rect">
            <a:avLst/>
          </a:prstGeom>
          <a:noFill/>
          <a:ln/>
        </p:spPr>
        <p:txBody>
          <a:bodyPr wrap="square" lIns="0" tIns="0" rIns="0" bIns="0" rtlCol="0" anchor="t"/>
          <a:lstStyle/>
          <a:p>
            <a:pPr indent="0" marL="0">
              <a:buNone/>
            </a:pPr>
            <a:r>
              <a:rPr lang="en-US" sz="2000" b="1" dirty="0">
                <a:solidFill>
                  <a:srgbClr val="33006F"/>
                </a:solidFill>
                <a:latin typeface="Source Sans 3" pitchFamily="34" charset="0"/>
                <a:ea typeface="Source Sans 3" pitchFamily="34" charset="-122"/>
                <a:cs typeface="Source Sans 3" pitchFamily="34" charset="-120"/>
              </a:rPr>
              <a:t>3.2.2.1</a:t>
            </a:r>
            <a:endParaRPr lang="en-US" sz="2000" dirty="0"/>
          </a:p>
        </p:txBody>
      </p:sp>
      <p:sp>
        <p:nvSpPr>
          <p:cNvPr id="16" name="Text 14"/>
          <p:cNvSpPr txBox="1"/>
          <p:nvPr/>
        </p:nvSpPr>
        <p:spPr>
          <a:xfrm>
            <a:off x="2857500" y="2933700"/>
            <a:ext cx="5829300" cy="457200"/>
          </a:xfrm>
          <a:prstGeom prst="rect">
            <a:avLst/>
          </a:prstGeom>
          <a:noFill/>
          <a:ln/>
        </p:spPr>
        <p:txBody>
          <a:bodyPr wrap="square" lIns="0" tIns="0" rIns="0" bIns="0" rtlCol="0" anchor="ctr"/>
          <a:lstStyle/>
          <a:p>
            <a:pPr indent="0" marL="0">
              <a:buNone/>
            </a:pPr>
            <a:r>
              <a:rPr lang="en-US" sz="1500" dirty="0">
                <a:solidFill>
                  <a:srgbClr val="434343"/>
                </a:solidFill>
                <a:latin typeface="Source Sans 3" pitchFamily="34" charset="0"/>
                <a:ea typeface="Source Sans 3" pitchFamily="34" charset="-122"/>
                <a:cs typeface="Source Sans 3" pitchFamily="34" charset="-120"/>
              </a:rPr>
              <a:t>Final project release</a:t>
            </a:r>
            <a:endParaRPr lang="en-US" sz="1500" dirty="0"/>
          </a:p>
        </p:txBody>
      </p:sp>
      <p:sp>
        <p:nvSpPr>
          <p:cNvPr id="17" name="Shape 15"/>
          <p:cNvSpPr/>
          <p:nvPr/>
        </p:nvSpPr>
        <p:spPr>
          <a:xfrm>
            <a:off x="457200" y="3676650"/>
            <a:ext cx="8229600" cy="857250"/>
          </a:xfrm>
          <a:prstGeom prst="rect">
            <a:avLst/>
          </a:prstGeom>
          <a:solidFill>
            <a:srgbClr val="F0F0FF"/>
          </a:solidFill>
          <a:ln w="12700">
            <a:solidFill>
              <a:srgbClr val="F0F0FF"/>
            </a:solidFill>
            <a:prstDash val="solid"/>
          </a:ln>
        </p:spPr>
      </p:sp>
      <p:sp>
        <p:nvSpPr>
          <p:cNvPr id="18" name="Shape 16"/>
          <p:cNvSpPr/>
          <p:nvPr/>
        </p:nvSpPr>
        <p:spPr>
          <a:xfrm>
            <a:off x="457200" y="3676650"/>
            <a:ext cx="8229600" cy="38100"/>
          </a:xfrm>
          <a:prstGeom prst="rect">
            <a:avLst/>
          </a:prstGeom>
          <a:solidFill>
            <a:srgbClr val="33006F"/>
          </a:solidFill>
          <a:ln w="12700">
            <a:solidFill>
              <a:srgbClr val="33006F"/>
            </a:solidFill>
            <a:prstDash val="solid"/>
          </a:ln>
        </p:spPr>
      </p:sp>
      <p:sp>
        <p:nvSpPr>
          <p:cNvPr id="19" name="Text 17"/>
          <p:cNvSpPr txBox="1"/>
          <p:nvPr/>
        </p:nvSpPr>
        <p:spPr>
          <a:xfrm>
            <a:off x="685800" y="3676650"/>
            <a:ext cx="7772400" cy="857250"/>
          </a:xfrm>
          <a:prstGeom prst="rect">
            <a:avLst/>
          </a:prstGeom>
          <a:noFill/>
          <a:ln/>
        </p:spPr>
        <p:txBody>
          <a:bodyPr wrap="square" lIns="0" tIns="0" rIns="0" bIns="0" rtlCol="0" anchor="ctr"/>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About one release per month. </a:t>
            </a:r>
            <a:pPr indent="0" marL="0">
              <a:buNone/>
            </a:pPr>
            <a:r>
              <a:rPr lang="en-US" sz="1600" dirty="0">
                <a:solidFill>
                  <a:srgbClr val="434343"/>
                </a:solidFill>
                <a:latin typeface="Source Sans 3" pitchFamily="34" charset="0"/>
                <a:ea typeface="Source Sans 3" pitchFamily="34" charset="-122"/>
                <a:cs typeface="Source Sans 3" pitchFamily="34" charset="-120"/>
              </a:rPr>
              <a:t>Upgrading often means small changes each time. Waiting a year means many changes at once.</a:t>
            </a:r>
            <a:endParaRPr lang="en-US" sz="16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31</a:t>
            </a:r>
            <a:endParaRPr lang="en-US" sz="11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67175" y="-1381125"/>
            <a:ext cx="8124825" cy="8124825"/>
          </a:xfrm>
          <a:prstGeom prst="ellipse">
            <a:avLst/>
          </a:prstGeom>
          <a:solidFill>
            <a:srgbClr val="33006F"/>
          </a:solidFill>
          <a:ln w="12700">
            <a:solidFill>
              <a:srgbClr val="33006F"/>
            </a:solidFill>
            <a:prstDash val="solid"/>
          </a:ln>
        </p:spPr>
      </p:sp>
      <p:sp>
        <p:nvSpPr>
          <p:cNvPr id="3" name="Text 1"/>
          <p:cNvSpPr txBox="1"/>
          <p:nvPr/>
        </p:nvSpPr>
        <p:spPr>
          <a:xfrm>
            <a:off x="4762500" y="1428750"/>
            <a:ext cx="3810000" cy="1238250"/>
          </a:xfrm>
          <a:prstGeom prst="rect">
            <a:avLst/>
          </a:prstGeom>
          <a:noFill/>
          <a:ln/>
        </p:spPr>
        <p:txBody>
          <a:bodyPr wrap="square" lIns="0" tIns="0" rIns="0" bIns="0" rtlCol="0" anchor="b">
            <a:normAutofit/>
          </a:bodyPr>
          <a:lstStyle/>
          <a:p>
            <a:pPr indent="0" marL="0">
              <a:buNone/>
            </a:pPr>
            <a:r>
              <a:rPr lang="en-US" sz="2800" b="1" dirty="0">
                <a:solidFill>
                  <a:srgbClr val="33006F"/>
                </a:solidFill>
                <a:latin typeface="Source Sans 3" pitchFamily="34" charset="0"/>
                <a:ea typeface="Source Sans 3" pitchFamily="34" charset="-122"/>
                <a:cs typeface="Source Sans 3" pitchFamily="34" charset="-120"/>
              </a:rPr>
              <a:t>6. How to maintain Madagascar eSIL</a:t>
            </a:r>
            <a:endParaRPr lang="en-US" sz="2800" dirty="0"/>
          </a:p>
        </p:txBody>
      </p:sp>
      <p:sp>
        <p:nvSpPr>
          <p:cNvPr id="4" name="Text 2"/>
          <p:cNvSpPr txBox="1"/>
          <p:nvPr/>
        </p:nvSpPr>
        <p:spPr>
          <a:xfrm>
            <a:off x="4762500" y="2781300"/>
            <a:ext cx="3810000" cy="1143000"/>
          </a:xfrm>
          <a:prstGeom prst="rect">
            <a:avLst/>
          </a:prstGeom>
          <a:noFill/>
          <a:ln/>
        </p:spPr>
        <p:txBody>
          <a:bodyPr wrap="square" lIns="0" tIns="0" rIns="0" bIns="0" rtlCol="0" anchor="t"/>
          <a:lstStyle/>
          <a:p>
            <a:pPr indent="0" marL="0">
              <a:buNone/>
            </a:pPr>
            <a:r>
              <a:rPr lang="en-US" sz="1800" dirty="0">
                <a:solidFill>
                  <a:srgbClr val="434343"/>
                </a:solidFill>
                <a:latin typeface="Source Sans 3" pitchFamily="34" charset="0"/>
                <a:ea typeface="Source Sans 3" pitchFamily="34" charset="-122"/>
                <a:cs typeface="Source Sans 3" pitchFamily="34" charset="-120"/>
              </a:rPr>
              <a:t>Translations and upgrades: the two tasks your team will do most often.</a:t>
            </a:r>
            <a:endParaRPr lang="en-US" sz="1800" dirty="0"/>
          </a:p>
        </p:txBody>
      </p:sp>
      <p:sp>
        <p:nvSpPr>
          <p:cNvPr id="5" name="Text 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32</a:t>
            </a:r>
            <a:endParaRPr lang="en-US" sz="1100" dirty="0"/>
          </a:p>
        </p:txBody>
      </p:sp>
      <p:sp>
        <p:nvSpPr>
          <p:cNvPr id="6" name="Text 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FFFFFF"/>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6838"/>
                </a:solidFill>
                <a:latin typeface="Source Sans 3" pitchFamily="34" charset="0"/>
                <a:ea typeface="Source Sans 3" pitchFamily="34" charset="-122"/>
                <a:cs typeface="Source Sans 3" pitchFamily="34" charset="-120"/>
              </a:rPr>
              <a:t>MAINTAINING ESIL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6 of 7</a:t>
            </a:r>
            <a:endParaRPr lang="en-US"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Fixing translations yourselves</a:t>
            </a:r>
            <a:endParaRPr lang="en-US" sz="2500" dirty="0"/>
          </a:p>
        </p:txBody>
      </p:sp>
      <p:sp>
        <p:nvSpPr>
          <p:cNvPr id="5" name="Text 3"/>
          <p:cNvSpPr txBox="1"/>
          <p:nvPr/>
        </p:nvSpPr>
        <p:spPr>
          <a:xfrm>
            <a:off x="457200" y="1524000"/>
            <a:ext cx="8229600" cy="419100"/>
          </a:xfrm>
          <a:prstGeom prst="rect">
            <a:avLst/>
          </a:prstGeom>
          <a:noFill/>
          <a:ln/>
        </p:spPr>
        <p:txBody>
          <a:bodyPr wrap="square" lIns="0" tIns="0" rIns="0" bIns="0" rtlCol="0" anchor="t"/>
          <a:lstStyle/>
          <a:p>
            <a:pPr indent="0" marL="0">
              <a:buNone/>
            </a:pPr>
            <a:r>
              <a:rPr lang="en-US" sz="1400" dirty="0">
                <a:solidFill>
                  <a:srgbClr val="5B5670"/>
                </a:solidFill>
                <a:latin typeface="Source Sans 3" pitchFamily="34" charset="0"/>
                <a:ea typeface="Source Sans 3" pitchFamily="34" charset="-122"/>
                <a:cs typeface="Source Sans 3" pitchFamily="34" charset="-120"/>
              </a:rPr>
              <a:t>All OpenELIS Global screen text is translated in Transifex. eSIL loads its translations from there. There are two French translations:</a:t>
            </a:r>
            <a:endParaRPr lang="en-US" sz="1400" dirty="0"/>
          </a:p>
        </p:txBody>
      </p:sp>
      <p:sp>
        <p:nvSpPr>
          <p:cNvPr id="6" name="Shape 4"/>
          <p:cNvSpPr/>
          <p:nvPr/>
        </p:nvSpPr>
        <p:spPr>
          <a:xfrm>
            <a:off x="457200" y="1981200"/>
            <a:ext cx="4038600" cy="1143000"/>
          </a:xfrm>
          <a:prstGeom prst="rect">
            <a:avLst/>
          </a:prstGeom>
          <a:solidFill>
            <a:srgbClr val="F0F0FF"/>
          </a:solidFill>
          <a:ln w="12700">
            <a:solidFill>
              <a:srgbClr val="F0F0FF"/>
            </a:solidFill>
            <a:prstDash val="solid"/>
          </a:ln>
        </p:spPr>
      </p:sp>
      <p:sp>
        <p:nvSpPr>
          <p:cNvPr id="7" name="Shape 5"/>
          <p:cNvSpPr/>
          <p:nvPr/>
        </p:nvSpPr>
        <p:spPr>
          <a:xfrm>
            <a:off x="457200" y="1981200"/>
            <a:ext cx="4038600" cy="38100"/>
          </a:xfrm>
          <a:prstGeom prst="rect">
            <a:avLst/>
          </a:prstGeom>
          <a:solidFill>
            <a:srgbClr val="006838"/>
          </a:solidFill>
          <a:ln w="12700">
            <a:solidFill>
              <a:srgbClr val="006838"/>
            </a:solidFill>
            <a:prstDash val="solid"/>
          </a:ln>
        </p:spPr>
      </p:sp>
      <p:sp>
        <p:nvSpPr>
          <p:cNvPr id="8" name="Text 6"/>
          <p:cNvSpPr txBox="1"/>
          <p:nvPr/>
        </p:nvSpPr>
        <p:spPr>
          <a:xfrm>
            <a:off x="685800" y="2114550"/>
            <a:ext cx="3581400" cy="266700"/>
          </a:xfrm>
          <a:prstGeom prst="rect">
            <a:avLst/>
          </a:prstGeom>
          <a:noFill/>
          <a:ln/>
        </p:spPr>
        <p:txBody>
          <a:bodyPr wrap="square" lIns="0" tIns="0" rIns="0" bIns="0" rtlCol="0" anchor="t"/>
          <a:lstStyle/>
          <a:p>
            <a:pPr indent="0" marL="0">
              <a:buNone/>
            </a:pPr>
            <a:r>
              <a:rPr lang="en-US" sz="1800" b="1" dirty="0">
                <a:solidFill>
                  <a:srgbClr val="33006F"/>
                </a:solidFill>
                <a:latin typeface="Source Sans 3" pitchFamily="34" charset="0"/>
                <a:ea typeface="Source Sans 3" pitchFamily="34" charset="-122"/>
                <a:cs typeface="Source Sans 3" pitchFamily="34" charset="-120"/>
              </a:rPr>
              <a:t>French (fr)</a:t>
            </a:r>
            <a:endParaRPr lang="en-US" sz="1800" dirty="0"/>
          </a:p>
        </p:txBody>
      </p:sp>
      <p:sp>
        <p:nvSpPr>
          <p:cNvPr id="9" name="Text 7"/>
          <p:cNvSpPr txBox="1"/>
          <p:nvPr/>
        </p:nvSpPr>
        <p:spPr>
          <a:xfrm>
            <a:off x="685800" y="2419350"/>
            <a:ext cx="3581400" cy="666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The main French, shared by every French-speaking country. If a French word is wrong, correct it here. Everyone benefits.</a:t>
            </a:r>
            <a:endParaRPr lang="en-US" sz="1300" dirty="0"/>
          </a:p>
        </p:txBody>
      </p:sp>
      <p:sp>
        <p:nvSpPr>
          <p:cNvPr id="10" name="Shape 8"/>
          <p:cNvSpPr/>
          <p:nvPr/>
        </p:nvSpPr>
        <p:spPr>
          <a:xfrm>
            <a:off x="4648200" y="1981200"/>
            <a:ext cx="4038600" cy="1143000"/>
          </a:xfrm>
          <a:prstGeom prst="rect">
            <a:avLst/>
          </a:prstGeom>
          <a:solidFill>
            <a:srgbClr val="F0F0FF"/>
          </a:solidFill>
          <a:ln w="12700">
            <a:solidFill>
              <a:srgbClr val="F0F0FF"/>
            </a:solidFill>
            <a:prstDash val="solid"/>
          </a:ln>
        </p:spPr>
      </p:sp>
      <p:sp>
        <p:nvSpPr>
          <p:cNvPr id="11" name="Shape 9"/>
          <p:cNvSpPr/>
          <p:nvPr/>
        </p:nvSpPr>
        <p:spPr>
          <a:xfrm>
            <a:off x="4648200" y="1981200"/>
            <a:ext cx="4038600" cy="38100"/>
          </a:xfrm>
          <a:prstGeom prst="rect">
            <a:avLst/>
          </a:prstGeom>
          <a:solidFill>
            <a:srgbClr val="006838"/>
          </a:solidFill>
          <a:ln w="12700">
            <a:solidFill>
              <a:srgbClr val="006838"/>
            </a:solidFill>
            <a:prstDash val="solid"/>
          </a:ln>
        </p:spPr>
      </p:sp>
      <p:sp>
        <p:nvSpPr>
          <p:cNvPr id="12" name="Text 10"/>
          <p:cNvSpPr txBox="1"/>
          <p:nvPr/>
        </p:nvSpPr>
        <p:spPr>
          <a:xfrm>
            <a:off x="4876800" y="2114550"/>
            <a:ext cx="3581400" cy="266700"/>
          </a:xfrm>
          <a:prstGeom prst="rect">
            <a:avLst/>
          </a:prstGeom>
          <a:noFill/>
          <a:ln/>
        </p:spPr>
        <p:txBody>
          <a:bodyPr wrap="square" lIns="0" tIns="0" rIns="0" bIns="0" rtlCol="0" anchor="t">
            <a:normAutofit/>
          </a:bodyPr>
          <a:lstStyle/>
          <a:p>
            <a:pPr indent="0" marL="0">
              <a:buNone/>
            </a:pPr>
            <a:r>
              <a:rPr lang="en-US" sz="1800" b="1" dirty="0">
                <a:solidFill>
                  <a:srgbClr val="33006F"/>
                </a:solidFill>
                <a:latin typeface="Source Sans 3" pitchFamily="34" charset="0"/>
                <a:ea typeface="Source Sans 3" pitchFamily="34" charset="-122"/>
                <a:cs typeface="Source Sans 3" pitchFamily="34" charset="-120"/>
              </a:rPr>
              <a:t>French, Madagascar (fr_MG)</a:t>
            </a:r>
            <a:endParaRPr lang="en-US" sz="1800" dirty="0"/>
          </a:p>
        </p:txBody>
      </p:sp>
      <p:sp>
        <p:nvSpPr>
          <p:cNvPr id="13" name="Text 11"/>
          <p:cNvSpPr txBox="1"/>
          <p:nvPr/>
        </p:nvSpPr>
        <p:spPr>
          <a:xfrm>
            <a:off x="4876800" y="2419350"/>
            <a:ext cx="3581400" cy="666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Only for words that are specific to Madagascar. It replaces the main French for eSIL only. Keep this list short.</a:t>
            </a:r>
            <a:endParaRPr lang="en-US" sz="1300" dirty="0"/>
          </a:p>
        </p:txBody>
      </p:sp>
      <p:sp>
        <p:nvSpPr>
          <p:cNvPr id="14" name="Text 12"/>
          <p:cNvSpPr txBox="1"/>
          <p:nvPr/>
        </p:nvSpPr>
        <p:spPr>
          <a:xfrm>
            <a:off x="457200" y="3276600"/>
            <a:ext cx="1905000" cy="171450"/>
          </a:xfrm>
          <a:prstGeom prst="rect">
            <a:avLst/>
          </a:prstGeom>
          <a:noFill/>
          <a:ln/>
        </p:spPr>
        <p:txBody>
          <a:bodyPr wrap="square" lIns="0" tIns="0" rIns="0" bIns="0" rtlCol="0" anchor="t"/>
          <a:lstStyle/>
          <a:p>
            <a:pPr indent="0" marL="0">
              <a:buNone/>
            </a:pPr>
            <a:r>
              <a:rPr lang="en-US" sz="1100" b="1" spc="150" kern="0" dirty="0">
                <a:solidFill>
                  <a:srgbClr val="006838"/>
                </a:solidFill>
                <a:latin typeface="Source Sans 3" pitchFamily="34" charset="0"/>
                <a:ea typeface="Source Sans 3" pitchFamily="34" charset="-122"/>
                <a:cs typeface="Source Sans 3" pitchFamily="34" charset="-120"/>
              </a:rPr>
              <a:t>THE RULE</a:t>
            </a:r>
            <a:endParaRPr lang="en-US" sz="1100" dirty="0"/>
          </a:p>
        </p:txBody>
      </p:sp>
      <p:sp>
        <p:nvSpPr>
          <p:cNvPr id="15" name="Text 13"/>
          <p:cNvSpPr txBox="1"/>
          <p:nvPr/>
        </p:nvSpPr>
        <p:spPr>
          <a:xfrm>
            <a:off x="457200" y="3467100"/>
            <a:ext cx="152400" cy="2857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a:t>
            </a:r>
            <a:endParaRPr lang="en-US" sz="1400" dirty="0"/>
          </a:p>
        </p:txBody>
      </p:sp>
      <p:sp>
        <p:nvSpPr>
          <p:cNvPr id="16" name="Text 14"/>
          <p:cNvSpPr txBox="1"/>
          <p:nvPr/>
        </p:nvSpPr>
        <p:spPr>
          <a:xfrm>
            <a:off x="647700" y="3467100"/>
            <a:ext cx="3848100" cy="285750"/>
          </a:xfrm>
          <a:prstGeom prst="rect">
            <a:avLst/>
          </a:prstGeom>
          <a:noFill/>
          <a:ln/>
        </p:spPr>
        <p:txBody>
          <a:bodyPr wrap="square" lIns="0" tIns="0" rIns="0" bIns="0" rtlCol="0" anchor="t">
            <a:normAutofit/>
          </a:bodyPr>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Wrong French: </a:t>
            </a:r>
            <a:pPr indent="0" marL="0">
              <a:buNone/>
            </a:pPr>
            <a:r>
              <a:rPr lang="en-US" sz="1400" dirty="0">
                <a:solidFill>
                  <a:srgbClr val="434343"/>
                </a:solidFill>
                <a:latin typeface="Source Sans 3" pitchFamily="34" charset="0"/>
                <a:ea typeface="Source Sans 3" pitchFamily="34" charset="-122"/>
                <a:cs typeface="Source Sans 3" pitchFamily="34" charset="-120"/>
              </a:rPr>
              <a:t>fix it in fr.</a:t>
            </a:r>
            <a:endParaRPr lang="en-US" sz="1400" dirty="0"/>
          </a:p>
        </p:txBody>
      </p:sp>
      <p:sp>
        <p:nvSpPr>
          <p:cNvPr id="17" name="Text 15"/>
          <p:cNvSpPr txBox="1"/>
          <p:nvPr/>
        </p:nvSpPr>
        <p:spPr>
          <a:xfrm>
            <a:off x="457200" y="3752850"/>
            <a:ext cx="152400" cy="2857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a:t>
            </a:r>
            <a:endParaRPr lang="en-US" sz="1400" dirty="0"/>
          </a:p>
        </p:txBody>
      </p:sp>
      <p:sp>
        <p:nvSpPr>
          <p:cNvPr id="18" name="Text 16"/>
          <p:cNvSpPr txBox="1"/>
          <p:nvPr/>
        </p:nvSpPr>
        <p:spPr>
          <a:xfrm>
            <a:off x="647700" y="3752850"/>
            <a:ext cx="3848100" cy="285750"/>
          </a:xfrm>
          <a:prstGeom prst="rect">
            <a:avLst/>
          </a:prstGeom>
          <a:noFill/>
          <a:ln/>
        </p:spPr>
        <p:txBody>
          <a:bodyPr wrap="square" lIns="0" tIns="0" rIns="0" bIns="0" rtlCol="0" anchor="t">
            <a:normAutofit/>
          </a:bodyPr>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Different in Madagascar: </a:t>
            </a:r>
            <a:pPr indent="0" marL="0">
              <a:buNone/>
            </a:pPr>
            <a:r>
              <a:rPr lang="en-US" sz="1400" dirty="0">
                <a:solidFill>
                  <a:srgbClr val="434343"/>
                </a:solidFill>
                <a:latin typeface="Source Sans 3" pitchFamily="34" charset="0"/>
                <a:ea typeface="Source Sans 3" pitchFamily="34" charset="-122"/>
                <a:cs typeface="Source Sans 3" pitchFamily="34" charset="-120"/>
              </a:rPr>
              <a:t>put it in fr_MG.</a:t>
            </a:r>
            <a:endParaRPr lang="en-US" sz="1400" dirty="0"/>
          </a:p>
        </p:txBody>
      </p:sp>
      <p:sp>
        <p:nvSpPr>
          <p:cNvPr id="19" name="Text 17"/>
          <p:cNvSpPr txBox="1"/>
          <p:nvPr/>
        </p:nvSpPr>
        <p:spPr>
          <a:xfrm>
            <a:off x="457200" y="4038600"/>
            <a:ext cx="152400" cy="285750"/>
          </a:xfrm>
          <a:prstGeom prst="rect">
            <a:avLst/>
          </a:prstGeom>
          <a:noFill/>
          <a:ln/>
        </p:spPr>
        <p:txBody>
          <a:bodyPr wrap="square" lIns="0" tIns="0" rIns="0" bIns="0" rtlCol="0" anchor="t"/>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a:t>
            </a:r>
            <a:endParaRPr lang="en-US" sz="1400" dirty="0"/>
          </a:p>
        </p:txBody>
      </p:sp>
      <p:sp>
        <p:nvSpPr>
          <p:cNvPr id="20" name="Text 18"/>
          <p:cNvSpPr txBox="1"/>
          <p:nvPr/>
        </p:nvSpPr>
        <p:spPr>
          <a:xfrm>
            <a:off x="647700" y="4038600"/>
            <a:ext cx="3848100" cy="285750"/>
          </a:xfrm>
          <a:prstGeom prst="rect">
            <a:avLst/>
          </a:prstGeom>
          <a:noFill/>
          <a:ln/>
        </p:spPr>
        <p:txBody>
          <a:bodyPr wrap="square" lIns="0" tIns="0" rIns="0" bIns="0" rtlCol="0" anchor="t">
            <a:normAutofit/>
          </a:bodyPr>
          <a:lstStyle/>
          <a:p>
            <a:pPr indent="0" marL="0">
              <a:buNone/>
            </a:pPr>
            <a:r>
              <a:rPr lang="en-US" sz="1400" b="1" dirty="0">
                <a:solidFill>
                  <a:srgbClr val="33006F"/>
                </a:solidFill>
                <a:latin typeface="Source Sans 3" pitchFamily="34" charset="0"/>
                <a:ea typeface="Source Sans 3" pitchFamily="34" charset="-122"/>
                <a:cs typeface="Source Sans 3" pitchFamily="34" charset="-120"/>
              </a:rPr>
              <a:t>Malagasy (mg) </a:t>
            </a:r>
            <a:pPr indent="0" marL="0">
              <a:buNone/>
            </a:pPr>
            <a:r>
              <a:rPr lang="en-US" sz="1400" dirty="0">
                <a:solidFill>
                  <a:srgbClr val="434343"/>
                </a:solidFill>
                <a:latin typeface="Source Sans 3" pitchFamily="34" charset="0"/>
                <a:ea typeface="Source Sans 3" pitchFamily="34" charset="-122"/>
                <a:cs typeface="Source Sans 3" pitchFamily="34" charset="-120"/>
              </a:rPr>
              <a:t>can be added later as a new language.</a:t>
            </a:r>
            <a:endParaRPr lang="en-US" sz="1400" dirty="0"/>
          </a:p>
        </p:txBody>
      </p:sp>
      <p:sp>
        <p:nvSpPr>
          <p:cNvPr id="21" name="Text 19"/>
          <p:cNvSpPr txBox="1"/>
          <p:nvPr/>
        </p:nvSpPr>
        <p:spPr>
          <a:xfrm>
            <a:off x="4648200" y="3276600"/>
            <a:ext cx="1905000" cy="171450"/>
          </a:xfrm>
          <a:prstGeom prst="rect">
            <a:avLst/>
          </a:prstGeom>
          <a:noFill/>
          <a:ln/>
        </p:spPr>
        <p:txBody>
          <a:bodyPr wrap="square" lIns="0" tIns="0" rIns="0" bIns="0" rtlCol="0" anchor="t"/>
          <a:lstStyle/>
          <a:p>
            <a:pPr indent="0" marL="0">
              <a:buNone/>
            </a:pPr>
            <a:r>
              <a:rPr lang="en-US" sz="1100" b="1" spc="150" kern="0" dirty="0">
                <a:solidFill>
                  <a:srgbClr val="006838"/>
                </a:solidFill>
                <a:latin typeface="Source Sans 3" pitchFamily="34" charset="0"/>
                <a:ea typeface="Source Sans 3" pitchFamily="34" charset="-122"/>
                <a:cs typeface="Source Sans 3" pitchFamily="34" charset="-120"/>
              </a:rPr>
              <a:t>HOW</a:t>
            </a:r>
            <a:endParaRPr lang="en-US" sz="1100" dirty="0"/>
          </a:p>
        </p:txBody>
      </p:sp>
      <p:sp>
        <p:nvSpPr>
          <p:cNvPr id="22" name="Text 20"/>
          <p:cNvSpPr txBox="1"/>
          <p:nvPr/>
        </p:nvSpPr>
        <p:spPr>
          <a:xfrm>
            <a:off x="4648200" y="3467100"/>
            <a:ext cx="4038600" cy="1104900"/>
          </a:xfrm>
          <a:prstGeom prst="rect">
            <a:avLst/>
          </a:prstGeom>
          <a:noFill/>
          <a:ln/>
        </p:spPr>
        <p:txBody>
          <a:bodyPr wrap="square" lIns="0" tIns="0" rIns="0" bIns="0" rtlCol="0" anchor="t"/>
          <a:lstStyle/>
          <a:p>
            <a:pPr indent="0" marL="0">
              <a:buNone/>
            </a:pPr>
            <a:r>
              <a:rPr lang="en-US" sz="1250" dirty="0">
                <a:solidFill>
                  <a:srgbClr val="434343"/>
                </a:solidFill>
                <a:latin typeface="Source Sans 3" pitchFamily="34" charset="0"/>
                <a:ea typeface="Source Sans 3" pitchFamily="34" charset="-122"/>
                <a:cs typeface="Source Sans 3" pitchFamily="34" charset="-120"/>
              </a:rPr>
              <a:t>Ask for access to the OpenELIS Global project in Transifex: explore.transifex.com/openmrs/openelis-1. Search for the text. Edit it. Translations are pulled every day and ship with the next release. The Madagascar Distro also has a translation override folder that takes effect on page reload.</a:t>
            </a:r>
            <a:endParaRPr lang="en-US" sz="1250" dirty="0"/>
          </a:p>
        </p:txBody>
      </p:sp>
      <p:sp>
        <p:nvSpPr>
          <p:cNvPr id="23" name="Text 21"/>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33</a:t>
            </a:r>
            <a:endParaRPr lang="en-US" sz="1100" dirty="0"/>
          </a:p>
        </p:txBody>
      </p:sp>
      <p:sp>
        <p:nvSpPr>
          <p:cNvPr id="24" name="Text 22"/>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6838"/>
                </a:solidFill>
                <a:latin typeface="Source Sans 3" pitchFamily="34" charset="0"/>
                <a:ea typeface="Source Sans 3" pitchFamily="34" charset="-122"/>
                <a:cs typeface="Source Sans 3" pitchFamily="34" charset="-120"/>
              </a:rPr>
              <a:t>MAINTAINING ESIL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6 of 7</a:t>
            </a:r>
            <a:endParaRPr lang="en-US"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How a fix reaches the Madagascar Distro</a:t>
            </a:r>
            <a:endParaRPr lang="en-US" sz="2500" dirty="0"/>
          </a:p>
        </p:txBody>
      </p:sp>
      <p:sp>
        <p:nvSpPr>
          <p:cNvPr id="5" name="Shape 3"/>
          <p:cNvSpPr/>
          <p:nvPr/>
        </p:nvSpPr>
        <p:spPr>
          <a:xfrm>
            <a:off x="457200" y="1562100"/>
            <a:ext cx="323850" cy="323850"/>
          </a:xfrm>
          <a:prstGeom prst="rect">
            <a:avLst/>
          </a:prstGeom>
          <a:solidFill>
            <a:srgbClr val="006838"/>
          </a:solidFill>
          <a:ln w="12700">
            <a:solidFill>
              <a:srgbClr val="006838"/>
            </a:solidFill>
            <a:prstDash val="solid"/>
          </a:ln>
        </p:spPr>
      </p:sp>
      <p:sp>
        <p:nvSpPr>
          <p:cNvPr id="6" name="Text 4"/>
          <p:cNvSpPr txBox="1"/>
          <p:nvPr/>
        </p:nvSpPr>
        <p:spPr>
          <a:xfrm>
            <a:off x="4572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1</a:t>
            </a:r>
            <a:endParaRPr lang="en-US" sz="1500" dirty="0"/>
          </a:p>
        </p:txBody>
      </p:sp>
      <p:sp>
        <p:nvSpPr>
          <p:cNvPr id="7" name="Text 5"/>
          <p:cNvSpPr txBox="1"/>
          <p:nvPr/>
        </p:nvSpPr>
        <p:spPr>
          <a:xfrm>
            <a:off x="4572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Merged</a:t>
            </a:r>
            <a:endParaRPr lang="en-US" sz="1600" dirty="0"/>
          </a:p>
        </p:txBody>
      </p:sp>
      <p:sp>
        <p:nvSpPr>
          <p:cNvPr id="8" name="Text 6"/>
          <p:cNvSpPr txBox="1"/>
          <p:nvPr/>
        </p:nvSpPr>
        <p:spPr>
          <a:xfrm>
            <a:off x="4572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The fix lands on the develop branch of OpenELIS-Global-2.</a:t>
            </a:r>
            <a:endParaRPr lang="en-US" sz="1300" dirty="0"/>
          </a:p>
        </p:txBody>
      </p:sp>
      <p:sp>
        <p:nvSpPr>
          <p:cNvPr id="9" name="Shape 7"/>
          <p:cNvSpPr/>
          <p:nvPr/>
        </p:nvSpPr>
        <p:spPr>
          <a:xfrm>
            <a:off x="2133600" y="1562100"/>
            <a:ext cx="323850" cy="323850"/>
          </a:xfrm>
          <a:prstGeom prst="rect">
            <a:avLst/>
          </a:prstGeom>
          <a:solidFill>
            <a:srgbClr val="006838"/>
          </a:solidFill>
          <a:ln w="12700">
            <a:solidFill>
              <a:srgbClr val="006838"/>
            </a:solidFill>
            <a:prstDash val="solid"/>
          </a:ln>
        </p:spPr>
      </p:sp>
      <p:sp>
        <p:nvSpPr>
          <p:cNvPr id="10" name="Text 8"/>
          <p:cNvSpPr txBox="1"/>
          <p:nvPr/>
        </p:nvSpPr>
        <p:spPr>
          <a:xfrm>
            <a:off x="21336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2</a:t>
            </a:r>
            <a:endParaRPr lang="en-US" sz="1500" dirty="0"/>
          </a:p>
        </p:txBody>
      </p:sp>
      <p:sp>
        <p:nvSpPr>
          <p:cNvPr id="11" name="Text 9"/>
          <p:cNvSpPr txBox="1"/>
          <p:nvPr/>
        </p:nvSpPr>
        <p:spPr>
          <a:xfrm>
            <a:off x="21336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Tagged</a:t>
            </a:r>
            <a:endParaRPr lang="en-US" sz="1600" dirty="0"/>
          </a:p>
        </p:txBody>
      </p:sp>
      <p:sp>
        <p:nvSpPr>
          <p:cNvPr id="12" name="Text 10"/>
          <p:cNvSpPr txBox="1"/>
          <p:nvPr/>
        </p:nvSpPr>
        <p:spPr>
          <a:xfrm>
            <a:off x="21336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OpenELIS Global publishes a new version on GitHub Releases.</a:t>
            </a:r>
            <a:endParaRPr lang="en-US" sz="1300" dirty="0"/>
          </a:p>
        </p:txBody>
      </p:sp>
      <p:sp>
        <p:nvSpPr>
          <p:cNvPr id="13" name="Shape 11"/>
          <p:cNvSpPr/>
          <p:nvPr/>
        </p:nvSpPr>
        <p:spPr>
          <a:xfrm>
            <a:off x="3810000" y="1562100"/>
            <a:ext cx="323850" cy="323850"/>
          </a:xfrm>
          <a:prstGeom prst="rect">
            <a:avLst/>
          </a:prstGeom>
          <a:solidFill>
            <a:srgbClr val="006838"/>
          </a:solidFill>
          <a:ln w="12700">
            <a:solidFill>
              <a:srgbClr val="006838"/>
            </a:solidFill>
            <a:prstDash val="solid"/>
          </a:ln>
        </p:spPr>
      </p:sp>
      <p:sp>
        <p:nvSpPr>
          <p:cNvPr id="14" name="Text 12"/>
          <p:cNvSpPr txBox="1"/>
          <p:nvPr/>
        </p:nvSpPr>
        <p:spPr>
          <a:xfrm>
            <a:off x="38100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3</a:t>
            </a:r>
            <a:endParaRPr lang="en-US" sz="1500" dirty="0"/>
          </a:p>
        </p:txBody>
      </p:sp>
      <p:sp>
        <p:nvSpPr>
          <p:cNvPr id="15" name="Text 13"/>
          <p:cNvSpPr txBox="1"/>
          <p:nvPr/>
        </p:nvSpPr>
        <p:spPr>
          <a:xfrm>
            <a:off x="38100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Bumped</a:t>
            </a:r>
            <a:endParaRPr lang="en-US" sz="1600" dirty="0"/>
          </a:p>
        </p:txBody>
      </p:sp>
      <p:sp>
        <p:nvSpPr>
          <p:cNvPr id="16" name="Text 14"/>
          <p:cNvSpPr txBox="1"/>
          <p:nvPr/>
        </p:nvSpPr>
        <p:spPr>
          <a:xfrm>
            <a:off x="38100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The Madagascar distro updates its OpenELIS Global version to the new tag.</a:t>
            </a:r>
            <a:endParaRPr lang="en-US" sz="1300" dirty="0"/>
          </a:p>
        </p:txBody>
      </p:sp>
      <p:sp>
        <p:nvSpPr>
          <p:cNvPr id="17" name="Shape 15"/>
          <p:cNvSpPr/>
          <p:nvPr/>
        </p:nvSpPr>
        <p:spPr>
          <a:xfrm>
            <a:off x="5486400" y="1562100"/>
            <a:ext cx="323850" cy="323850"/>
          </a:xfrm>
          <a:prstGeom prst="rect">
            <a:avLst/>
          </a:prstGeom>
          <a:solidFill>
            <a:srgbClr val="006838"/>
          </a:solidFill>
          <a:ln w="12700">
            <a:solidFill>
              <a:srgbClr val="006838"/>
            </a:solidFill>
            <a:prstDash val="solid"/>
          </a:ln>
        </p:spPr>
      </p:sp>
      <p:sp>
        <p:nvSpPr>
          <p:cNvPr id="18" name="Text 16"/>
          <p:cNvSpPr txBox="1"/>
          <p:nvPr/>
        </p:nvSpPr>
        <p:spPr>
          <a:xfrm>
            <a:off x="54864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4</a:t>
            </a:r>
            <a:endParaRPr lang="en-US" sz="1500" dirty="0"/>
          </a:p>
        </p:txBody>
      </p:sp>
      <p:sp>
        <p:nvSpPr>
          <p:cNvPr id="19" name="Text 17"/>
          <p:cNvSpPr txBox="1"/>
          <p:nvPr/>
        </p:nvSpPr>
        <p:spPr>
          <a:xfrm>
            <a:off x="54864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Rebuilt</a:t>
            </a:r>
            <a:endParaRPr lang="en-US" sz="1600" dirty="0"/>
          </a:p>
        </p:txBody>
      </p:sp>
      <p:sp>
        <p:nvSpPr>
          <p:cNvPr id="20" name="Text 18"/>
          <p:cNvSpPr txBox="1"/>
          <p:nvPr/>
        </p:nvSpPr>
        <p:spPr>
          <a:xfrm>
            <a:off x="54864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Docker images are rebuilt with Madagascar settings on top.</a:t>
            </a:r>
            <a:endParaRPr lang="en-US" sz="1300" dirty="0"/>
          </a:p>
        </p:txBody>
      </p:sp>
      <p:sp>
        <p:nvSpPr>
          <p:cNvPr id="21" name="Shape 19"/>
          <p:cNvSpPr/>
          <p:nvPr/>
        </p:nvSpPr>
        <p:spPr>
          <a:xfrm>
            <a:off x="7162800" y="1562100"/>
            <a:ext cx="323850" cy="323850"/>
          </a:xfrm>
          <a:prstGeom prst="rect">
            <a:avLst/>
          </a:prstGeom>
          <a:solidFill>
            <a:srgbClr val="006838"/>
          </a:solidFill>
          <a:ln w="12700">
            <a:solidFill>
              <a:srgbClr val="006838"/>
            </a:solidFill>
            <a:prstDash val="solid"/>
          </a:ln>
        </p:spPr>
      </p:sp>
      <p:sp>
        <p:nvSpPr>
          <p:cNvPr id="22" name="Text 20"/>
          <p:cNvSpPr txBox="1"/>
          <p:nvPr/>
        </p:nvSpPr>
        <p:spPr>
          <a:xfrm>
            <a:off x="7162800" y="1562100"/>
            <a:ext cx="323850" cy="323850"/>
          </a:xfrm>
          <a:prstGeom prst="rect">
            <a:avLst/>
          </a:prstGeom>
          <a:noFill/>
          <a:ln/>
        </p:spPr>
        <p:txBody>
          <a:bodyPr wrap="square" lIns="0" tIns="0" rIns="0" bIns="0" rtlCol="0" anchor="ctr"/>
          <a:lstStyle/>
          <a:p>
            <a:pPr algn="ctr" indent="0" marL="0">
              <a:buNone/>
            </a:pPr>
            <a:r>
              <a:rPr lang="en-US" sz="1500" b="1" dirty="0">
                <a:solidFill>
                  <a:srgbClr val="FFFFFF"/>
                </a:solidFill>
                <a:latin typeface="Source Sans 3" pitchFamily="34" charset="0"/>
                <a:ea typeface="Source Sans 3" pitchFamily="34" charset="-122"/>
                <a:cs typeface="Source Sans 3" pitchFamily="34" charset="-120"/>
              </a:rPr>
              <a:t>5</a:t>
            </a:r>
            <a:endParaRPr lang="en-US" sz="1500" dirty="0"/>
          </a:p>
        </p:txBody>
      </p:sp>
      <p:sp>
        <p:nvSpPr>
          <p:cNvPr id="23" name="Text 21"/>
          <p:cNvSpPr txBox="1"/>
          <p:nvPr/>
        </p:nvSpPr>
        <p:spPr>
          <a:xfrm>
            <a:off x="7162800" y="1981200"/>
            <a:ext cx="1447800" cy="28575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Released</a:t>
            </a:r>
            <a:endParaRPr lang="en-US" sz="1600" dirty="0"/>
          </a:p>
        </p:txBody>
      </p:sp>
      <p:sp>
        <p:nvSpPr>
          <p:cNvPr id="24" name="Text 22"/>
          <p:cNvSpPr txBox="1"/>
          <p:nvPr/>
        </p:nvSpPr>
        <p:spPr>
          <a:xfrm>
            <a:off x="7162800" y="2305050"/>
            <a:ext cx="1447800" cy="1428750"/>
          </a:xfrm>
          <a:prstGeom prst="rect">
            <a:avLst/>
          </a:prstGeom>
          <a:noFill/>
          <a:ln/>
        </p:spPr>
        <p:txBody>
          <a:bodyPr wrap="square" lIns="0" tIns="0" rIns="0" bIns="0" rtlCol="0" anchor="t"/>
          <a:lstStyle/>
          <a:p>
            <a:pPr indent="0" marL="0">
              <a:buNone/>
            </a:pPr>
            <a:r>
              <a:rPr lang="en-US" sz="1300" dirty="0">
                <a:solidFill>
                  <a:srgbClr val="434343"/>
                </a:solidFill>
                <a:latin typeface="Source Sans 3" pitchFamily="34" charset="0"/>
                <a:ea typeface="Source Sans 3" pitchFamily="34" charset="-122"/>
                <a:cs typeface="Source Sans 3" pitchFamily="34" charset="-120"/>
              </a:rPr>
              <a:t>A new Madagascar Distro version is published.</a:t>
            </a:r>
            <a:endParaRPr lang="en-US" sz="1300" dirty="0"/>
          </a:p>
        </p:txBody>
      </p:sp>
      <p:sp>
        <p:nvSpPr>
          <p:cNvPr id="25" name="Shape 23"/>
          <p:cNvSpPr/>
          <p:nvPr/>
        </p:nvSpPr>
        <p:spPr>
          <a:xfrm>
            <a:off x="457200" y="3886200"/>
            <a:ext cx="8229600" cy="9525"/>
          </a:xfrm>
          <a:prstGeom prst="rect">
            <a:avLst/>
          </a:prstGeom>
          <a:solidFill>
            <a:srgbClr val="BFBFBF"/>
          </a:solidFill>
          <a:ln w="12700">
            <a:solidFill>
              <a:srgbClr val="BFBFBF"/>
            </a:solidFill>
            <a:prstDash val="solid"/>
          </a:ln>
        </p:spPr>
      </p:sp>
      <p:sp>
        <p:nvSpPr>
          <p:cNvPr id="26" name="Text 24"/>
          <p:cNvSpPr txBox="1"/>
          <p:nvPr/>
        </p:nvSpPr>
        <p:spPr>
          <a:xfrm>
            <a:off x="457200" y="4000500"/>
            <a:ext cx="8229600" cy="533400"/>
          </a:xfrm>
          <a:prstGeom prst="rect">
            <a:avLst/>
          </a:prstGeom>
          <a:noFill/>
          <a:ln/>
        </p:spPr>
        <p:txBody>
          <a:bodyPr wrap="square" lIns="0" tIns="0" rIns="0" bIns="0" rtlCol="0" anchor="t"/>
          <a:lstStyle/>
          <a:p>
            <a:pPr indent="0" marL="0">
              <a:buNone/>
            </a:pPr>
            <a:r>
              <a:rPr lang="en-US" sz="1500" dirty="0">
                <a:solidFill>
                  <a:srgbClr val="434343"/>
                </a:solidFill>
                <a:latin typeface="Source Sans 3" pitchFamily="34" charset="0"/>
                <a:ea typeface="Source Sans 3" pitchFamily="34" charset="-122"/>
                <a:cs typeface="Source Sans 3" pitchFamily="34" charset="-120"/>
              </a:rPr>
              <a:t>Follow progress on GitHub: github.com/DIGI-UW/OpenELIS-Global-2 (develop branch, Releases page) and github.com/DIGI-UW/openelis-madagascar-distro.</a:t>
            </a:r>
            <a:endParaRPr lang="en-US" sz="1500" dirty="0"/>
          </a:p>
        </p:txBody>
      </p:sp>
      <p:sp>
        <p:nvSpPr>
          <p:cNvPr id="27" name="Text 25"/>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34</a:t>
            </a:r>
            <a:endParaRPr lang="en-US" sz="1100" dirty="0"/>
          </a:p>
        </p:txBody>
      </p:sp>
      <p:sp>
        <p:nvSpPr>
          <p:cNvPr id="28" name="Text 26"/>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06838"/>
                </a:solidFill>
                <a:latin typeface="Source Sans 3" pitchFamily="34" charset="0"/>
                <a:ea typeface="Source Sans 3" pitchFamily="34" charset="-122"/>
                <a:cs typeface="Source Sans 3" pitchFamily="34" charset="-120"/>
              </a:rPr>
              <a:t>MAINTAINING ESIL</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6 of 7</a:t>
            </a:r>
            <a:endParaRPr lang="en-US" sz="1200" dirty="0"/>
          </a:p>
        </p:txBody>
      </p:sp>
      <p:sp>
        <p:nvSpPr>
          <p:cNvPr id="3" name="Shape 1"/>
          <p:cNvSpPr/>
          <p:nvPr/>
        </p:nvSpPr>
        <p:spPr>
          <a:xfrm>
            <a:off x="457200" y="533400"/>
            <a:ext cx="685800" cy="57150"/>
          </a:xfrm>
          <a:prstGeom prst="rect">
            <a:avLst/>
          </a:prstGeom>
          <a:solidFill>
            <a:srgbClr val="006838"/>
          </a:solidFill>
          <a:ln w="12700">
            <a:solidFill>
              <a:srgbClr val="006838"/>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The upgrade procedure and checklist</a:t>
            </a:r>
            <a:endParaRPr lang="en-US" sz="2500" dirty="0"/>
          </a:p>
        </p:txBody>
      </p:sp>
      <p:sp>
        <p:nvSpPr>
          <p:cNvPr id="5" name="Text 3"/>
          <p:cNvSpPr txBox="1"/>
          <p:nvPr/>
        </p:nvSpPr>
        <p:spPr>
          <a:xfrm>
            <a:off x="457200" y="1524000"/>
            <a:ext cx="5334000" cy="247650"/>
          </a:xfrm>
          <a:prstGeom prst="rect">
            <a:avLst/>
          </a:prstGeom>
          <a:noFill/>
          <a:ln/>
        </p:spPr>
        <p:txBody>
          <a:bodyPr wrap="square" lIns="0" tIns="0" rIns="0" bIns="0" rtlCol="0" anchor="t"/>
          <a:lstStyle/>
          <a:p>
            <a:pPr indent="0" marL="0">
              <a:buNone/>
            </a:pPr>
            <a:r>
              <a:rPr lang="en-US" sz="1300" b="1" dirty="0">
                <a:solidFill>
                  <a:srgbClr val="33006F"/>
                </a:solidFill>
                <a:latin typeface="Source Sans 3" pitchFamily="34" charset="0"/>
                <a:ea typeface="Source Sans 3" pitchFamily="34" charset="-122"/>
                <a:cs typeface="Source Sans 3" pitchFamily="34" charset="-120"/>
              </a:rPr>
              <a:t>Full procedure: </a:t>
            </a:r>
            <a:pPr indent="0" marL="0">
              <a:buNone/>
            </a:pPr>
            <a:r>
              <a:rPr lang="en-US" sz="1300" dirty="0">
                <a:solidFill>
                  <a:srgbClr val="01458E"/>
                </a:solidFill>
                <a:latin typeface="Source Sans 3" pitchFamily="34" charset="0"/>
                <a:ea typeface="Source Sans 3" pitchFamily="34" charset="-122"/>
                <a:cs typeface="Source Sans 3" pitchFamily="34" charset="-120"/>
              </a:rPr>
              <a:t>[wiki page link: How to upgrade the Madagascar Distro]</a:t>
            </a:r>
            <a:endParaRPr lang="en-US" sz="1300" dirty="0"/>
          </a:p>
        </p:txBody>
      </p:sp>
      <p:sp>
        <p:nvSpPr>
          <p:cNvPr id="6" name="Text 4"/>
          <p:cNvSpPr txBox="1"/>
          <p:nvPr/>
        </p:nvSpPr>
        <p:spPr>
          <a:xfrm>
            <a:off x="457200" y="1828800"/>
            <a:ext cx="3810000" cy="171450"/>
          </a:xfrm>
          <a:prstGeom prst="rect">
            <a:avLst/>
          </a:prstGeom>
          <a:noFill/>
          <a:ln/>
        </p:spPr>
        <p:txBody>
          <a:bodyPr wrap="square" lIns="0" tIns="0" rIns="0" bIns="0" rtlCol="0" anchor="t"/>
          <a:lstStyle/>
          <a:p>
            <a:pPr indent="0" marL="0">
              <a:buNone/>
            </a:pPr>
            <a:r>
              <a:rPr lang="en-US" sz="1100" b="1" spc="150" kern="0" dirty="0">
                <a:solidFill>
                  <a:srgbClr val="006838"/>
                </a:solidFill>
                <a:latin typeface="Source Sans 3" pitchFamily="34" charset="0"/>
                <a:ea typeface="Source Sans 3" pitchFamily="34" charset="-122"/>
                <a:cs typeface="Source Sans 3" pitchFamily="34" charset="-120"/>
              </a:rPr>
              <a:t>BEFORE YOU UPGRADE PRODUCTION</a:t>
            </a:r>
            <a:endParaRPr lang="en-US" sz="1100" dirty="0"/>
          </a:p>
        </p:txBody>
      </p:sp>
      <p:sp>
        <p:nvSpPr>
          <p:cNvPr id="7" name="Shape 5"/>
          <p:cNvSpPr/>
          <p:nvPr/>
        </p:nvSpPr>
        <p:spPr>
          <a:xfrm>
            <a:off x="457200" y="2019300"/>
            <a:ext cx="209550" cy="209550"/>
          </a:xfrm>
          <a:prstGeom prst="rect">
            <a:avLst/>
          </a:prstGeom>
          <a:solidFill>
            <a:srgbClr val="006838"/>
          </a:solidFill>
          <a:ln w="12700">
            <a:solidFill>
              <a:srgbClr val="006838"/>
            </a:solidFill>
            <a:prstDash val="solid"/>
          </a:ln>
        </p:spPr>
      </p:sp>
      <p:sp>
        <p:nvSpPr>
          <p:cNvPr id="8" name="Text 6"/>
          <p:cNvSpPr txBox="1"/>
          <p:nvPr/>
        </p:nvSpPr>
        <p:spPr>
          <a:xfrm>
            <a:off x="457200" y="201930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1</a:t>
            </a:r>
            <a:endParaRPr lang="en-US" sz="1000" dirty="0"/>
          </a:p>
        </p:txBody>
      </p:sp>
      <p:sp>
        <p:nvSpPr>
          <p:cNvPr id="9" name="Text 7"/>
          <p:cNvSpPr txBox="1"/>
          <p:nvPr/>
        </p:nvSpPr>
        <p:spPr>
          <a:xfrm>
            <a:off x="781050" y="200025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Read the release notes: "Upgrade notes" and "Known issues".</a:t>
            </a:r>
            <a:endParaRPr lang="en-US" sz="1150" dirty="0"/>
          </a:p>
        </p:txBody>
      </p:sp>
      <p:sp>
        <p:nvSpPr>
          <p:cNvPr id="10" name="Shape 8"/>
          <p:cNvSpPr/>
          <p:nvPr/>
        </p:nvSpPr>
        <p:spPr>
          <a:xfrm>
            <a:off x="457200" y="2343150"/>
            <a:ext cx="209550" cy="209550"/>
          </a:xfrm>
          <a:prstGeom prst="rect">
            <a:avLst/>
          </a:prstGeom>
          <a:solidFill>
            <a:srgbClr val="006838"/>
          </a:solidFill>
          <a:ln w="12700">
            <a:solidFill>
              <a:srgbClr val="006838"/>
            </a:solidFill>
            <a:prstDash val="solid"/>
          </a:ln>
        </p:spPr>
      </p:sp>
      <p:sp>
        <p:nvSpPr>
          <p:cNvPr id="11" name="Text 9"/>
          <p:cNvSpPr txBox="1"/>
          <p:nvPr/>
        </p:nvSpPr>
        <p:spPr>
          <a:xfrm>
            <a:off x="457200" y="234315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2</a:t>
            </a:r>
            <a:endParaRPr lang="en-US" sz="1000" dirty="0"/>
          </a:p>
        </p:txBody>
      </p:sp>
      <p:sp>
        <p:nvSpPr>
          <p:cNvPr id="12" name="Text 10"/>
          <p:cNvSpPr txBox="1"/>
          <p:nvPr/>
        </p:nvSpPr>
        <p:spPr>
          <a:xfrm>
            <a:off x="781050" y="232410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Check for new settings to set (for example OVERRIDE_DEFAULT_TRANSLATION).</a:t>
            </a:r>
            <a:endParaRPr lang="en-US" sz="1150" dirty="0"/>
          </a:p>
        </p:txBody>
      </p:sp>
      <p:sp>
        <p:nvSpPr>
          <p:cNvPr id="13" name="Shape 11"/>
          <p:cNvSpPr/>
          <p:nvPr/>
        </p:nvSpPr>
        <p:spPr>
          <a:xfrm>
            <a:off x="457200" y="2667000"/>
            <a:ext cx="209550" cy="209550"/>
          </a:xfrm>
          <a:prstGeom prst="rect">
            <a:avLst/>
          </a:prstGeom>
          <a:solidFill>
            <a:srgbClr val="006838"/>
          </a:solidFill>
          <a:ln w="12700">
            <a:solidFill>
              <a:srgbClr val="006838"/>
            </a:solidFill>
            <a:prstDash val="solid"/>
          </a:ln>
        </p:spPr>
      </p:sp>
      <p:sp>
        <p:nvSpPr>
          <p:cNvPr id="14" name="Text 12"/>
          <p:cNvSpPr txBox="1"/>
          <p:nvPr/>
        </p:nvSpPr>
        <p:spPr>
          <a:xfrm>
            <a:off x="457200" y="266700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3</a:t>
            </a:r>
            <a:endParaRPr lang="en-US" sz="1000" dirty="0"/>
          </a:p>
        </p:txBody>
      </p:sp>
      <p:sp>
        <p:nvSpPr>
          <p:cNvPr id="15" name="Text 13"/>
          <p:cNvSpPr txBox="1"/>
          <p:nvPr/>
        </p:nvSpPr>
        <p:spPr>
          <a:xfrm>
            <a:off x="781050" y="264795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Check which of your configurations are affected (panels, sample types, roles).</a:t>
            </a:r>
            <a:endParaRPr lang="en-US" sz="1150" dirty="0"/>
          </a:p>
        </p:txBody>
      </p:sp>
      <p:sp>
        <p:nvSpPr>
          <p:cNvPr id="16" name="Shape 14"/>
          <p:cNvSpPr/>
          <p:nvPr/>
        </p:nvSpPr>
        <p:spPr>
          <a:xfrm>
            <a:off x="457200" y="2990850"/>
            <a:ext cx="209550" cy="209550"/>
          </a:xfrm>
          <a:prstGeom prst="rect">
            <a:avLst/>
          </a:prstGeom>
          <a:solidFill>
            <a:srgbClr val="006838"/>
          </a:solidFill>
          <a:ln w="12700">
            <a:solidFill>
              <a:srgbClr val="006838"/>
            </a:solidFill>
            <a:prstDash val="solid"/>
          </a:ln>
        </p:spPr>
      </p:sp>
      <p:sp>
        <p:nvSpPr>
          <p:cNvPr id="17" name="Text 15"/>
          <p:cNvSpPr txBox="1"/>
          <p:nvPr/>
        </p:nvSpPr>
        <p:spPr>
          <a:xfrm>
            <a:off x="457200" y="299085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4</a:t>
            </a:r>
            <a:endParaRPr lang="en-US" sz="1000" dirty="0"/>
          </a:p>
        </p:txBody>
      </p:sp>
      <p:sp>
        <p:nvSpPr>
          <p:cNvPr id="18" name="Text 16"/>
          <p:cNvSpPr txBox="1"/>
          <p:nvPr/>
        </p:nvSpPr>
        <p:spPr>
          <a:xfrm>
            <a:off x="781050" y="297180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Back up the database.</a:t>
            </a:r>
            <a:endParaRPr lang="en-US" sz="1150" dirty="0"/>
          </a:p>
        </p:txBody>
      </p:sp>
      <p:sp>
        <p:nvSpPr>
          <p:cNvPr id="19" name="Shape 17"/>
          <p:cNvSpPr/>
          <p:nvPr/>
        </p:nvSpPr>
        <p:spPr>
          <a:xfrm>
            <a:off x="457200" y="3314700"/>
            <a:ext cx="209550" cy="209550"/>
          </a:xfrm>
          <a:prstGeom prst="rect">
            <a:avLst/>
          </a:prstGeom>
          <a:solidFill>
            <a:srgbClr val="006838"/>
          </a:solidFill>
          <a:ln w="12700">
            <a:solidFill>
              <a:srgbClr val="006838"/>
            </a:solidFill>
            <a:prstDash val="solid"/>
          </a:ln>
        </p:spPr>
      </p:sp>
      <p:sp>
        <p:nvSpPr>
          <p:cNvPr id="20" name="Text 18"/>
          <p:cNvSpPr txBox="1"/>
          <p:nvPr/>
        </p:nvSpPr>
        <p:spPr>
          <a:xfrm>
            <a:off x="457200" y="331470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5</a:t>
            </a:r>
            <a:endParaRPr lang="en-US" sz="1000" dirty="0"/>
          </a:p>
        </p:txBody>
      </p:sp>
      <p:sp>
        <p:nvSpPr>
          <p:cNvPr id="21" name="Text 19"/>
          <p:cNvSpPr txBox="1"/>
          <p:nvPr/>
        </p:nvSpPr>
        <p:spPr>
          <a:xfrm>
            <a:off x="781050" y="329565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Upgrade a test server first. Database migrations cannot be undone.</a:t>
            </a:r>
            <a:endParaRPr lang="en-US" sz="1150" dirty="0"/>
          </a:p>
        </p:txBody>
      </p:sp>
      <p:sp>
        <p:nvSpPr>
          <p:cNvPr id="22" name="Shape 20"/>
          <p:cNvSpPr/>
          <p:nvPr/>
        </p:nvSpPr>
        <p:spPr>
          <a:xfrm>
            <a:off x="457200" y="3638550"/>
            <a:ext cx="209550" cy="209550"/>
          </a:xfrm>
          <a:prstGeom prst="rect">
            <a:avLst/>
          </a:prstGeom>
          <a:solidFill>
            <a:srgbClr val="006838"/>
          </a:solidFill>
          <a:ln w="12700">
            <a:solidFill>
              <a:srgbClr val="006838"/>
            </a:solidFill>
            <a:prstDash val="solid"/>
          </a:ln>
        </p:spPr>
      </p:sp>
      <p:sp>
        <p:nvSpPr>
          <p:cNvPr id="23" name="Text 21"/>
          <p:cNvSpPr txBox="1"/>
          <p:nvPr/>
        </p:nvSpPr>
        <p:spPr>
          <a:xfrm>
            <a:off x="457200" y="363855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6</a:t>
            </a:r>
            <a:endParaRPr lang="en-US" sz="1000" dirty="0"/>
          </a:p>
        </p:txBody>
      </p:sp>
      <p:sp>
        <p:nvSpPr>
          <p:cNvPr id="24" name="Text 22"/>
          <p:cNvSpPr txBox="1"/>
          <p:nvPr/>
        </p:nvSpPr>
        <p:spPr>
          <a:xfrm>
            <a:off x="781050" y="361950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Test the main workflows on the test server: order, result, validate, print.</a:t>
            </a:r>
            <a:endParaRPr lang="en-US" sz="1150" dirty="0"/>
          </a:p>
        </p:txBody>
      </p:sp>
      <p:sp>
        <p:nvSpPr>
          <p:cNvPr id="25" name="Shape 23"/>
          <p:cNvSpPr/>
          <p:nvPr/>
        </p:nvSpPr>
        <p:spPr>
          <a:xfrm>
            <a:off x="457200" y="3962400"/>
            <a:ext cx="209550" cy="209550"/>
          </a:xfrm>
          <a:prstGeom prst="rect">
            <a:avLst/>
          </a:prstGeom>
          <a:solidFill>
            <a:srgbClr val="006838"/>
          </a:solidFill>
          <a:ln w="12700">
            <a:solidFill>
              <a:srgbClr val="006838"/>
            </a:solidFill>
            <a:prstDash val="solid"/>
          </a:ln>
        </p:spPr>
      </p:sp>
      <p:sp>
        <p:nvSpPr>
          <p:cNvPr id="26" name="Text 24"/>
          <p:cNvSpPr txBox="1"/>
          <p:nvPr/>
        </p:nvSpPr>
        <p:spPr>
          <a:xfrm>
            <a:off x="457200" y="396240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7</a:t>
            </a:r>
            <a:endParaRPr lang="en-US" sz="1000" dirty="0"/>
          </a:p>
        </p:txBody>
      </p:sp>
      <p:sp>
        <p:nvSpPr>
          <p:cNvPr id="27" name="Text 25"/>
          <p:cNvSpPr txBox="1"/>
          <p:nvPr/>
        </p:nvSpPr>
        <p:spPr>
          <a:xfrm>
            <a:off x="781050" y="394335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Upgrade production. Migrations run automatically on first start.</a:t>
            </a:r>
            <a:endParaRPr lang="en-US" sz="1150" dirty="0"/>
          </a:p>
        </p:txBody>
      </p:sp>
      <p:sp>
        <p:nvSpPr>
          <p:cNvPr id="28" name="Shape 26"/>
          <p:cNvSpPr/>
          <p:nvPr/>
        </p:nvSpPr>
        <p:spPr>
          <a:xfrm>
            <a:off x="457200" y="4286250"/>
            <a:ext cx="209550" cy="209550"/>
          </a:xfrm>
          <a:prstGeom prst="rect">
            <a:avLst/>
          </a:prstGeom>
          <a:solidFill>
            <a:srgbClr val="006838"/>
          </a:solidFill>
          <a:ln w="12700">
            <a:solidFill>
              <a:srgbClr val="006838"/>
            </a:solidFill>
            <a:prstDash val="solid"/>
          </a:ln>
        </p:spPr>
      </p:sp>
      <p:sp>
        <p:nvSpPr>
          <p:cNvPr id="29" name="Text 27"/>
          <p:cNvSpPr txBox="1"/>
          <p:nvPr/>
        </p:nvSpPr>
        <p:spPr>
          <a:xfrm>
            <a:off x="457200" y="4286250"/>
            <a:ext cx="209550" cy="209550"/>
          </a:xfrm>
          <a:prstGeom prst="rect">
            <a:avLst/>
          </a:prstGeom>
          <a:noFill/>
          <a:ln/>
        </p:spPr>
        <p:txBody>
          <a:bodyPr wrap="square" lIns="0" tIns="0" rIns="0" bIns="0" rtlCol="0" anchor="ctr"/>
          <a:lstStyle/>
          <a:p>
            <a:pPr algn="ctr" indent="0" marL="0">
              <a:buNone/>
            </a:pPr>
            <a:r>
              <a:rPr lang="en-US" sz="1000" b="1" dirty="0">
                <a:solidFill>
                  <a:srgbClr val="FFFFFF"/>
                </a:solidFill>
                <a:latin typeface="Source Sans 3" pitchFamily="34" charset="0"/>
                <a:ea typeface="Source Sans 3" pitchFamily="34" charset="-122"/>
                <a:cs typeface="Source Sans 3" pitchFamily="34" charset="-120"/>
              </a:rPr>
              <a:t>8</a:t>
            </a:r>
            <a:endParaRPr lang="en-US" sz="1000" dirty="0"/>
          </a:p>
        </p:txBody>
      </p:sp>
      <p:sp>
        <p:nvSpPr>
          <p:cNvPr id="30" name="Text 28"/>
          <p:cNvSpPr txBox="1"/>
          <p:nvPr/>
        </p:nvSpPr>
        <p:spPr>
          <a:xfrm>
            <a:off x="781050" y="4267200"/>
            <a:ext cx="5200650" cy="285750"/>
          </a:xfrm>
          <a:prstGeom prst="rect">
            <a:avLst/>
          </a:prstGeom>
          <a:noFill/>
          <a:ln/>
        </p:spPr>
        <p:txBody>
          <a:bodyPr wrap="square" lIns="0" tIns="0" rIns="0" bIns="0" rtlCol="0" anchor="t">
            <a:normAutofit/>
          </a:bodyPr>
          <a:lstStyle/>
          <a:p>
            <a:pPr indent="0" marL="0">
              <a:buNone/>
            </a:pPr>
            <a:r>
              <a:rPr lang="en-US" sz="1150" dirty="0">
                <a:solidFill>
                  <a:srgbClr val="434343"/>
                </a:solidFill>
                <a:latin typeface="Source Sans 3" pitchFamily="34" charset="0"/>
                <a:ea typeface="Source Sans 3" pitchFamily="34" charset="-122"/>
                <a:cs typeface="Source Sans 3" pitchFamily="34" charset="-120"/>
              </a:rPr>
              <a:t>Tell users what changed.</a:t>
            </a:r>
            <a:endParaRPr lang="en-US" sz="1150" dirty="0"/>
          </a:p>
        </p:txBody>
      </p:sp>
      <p:sp>
        <p:nvSpPr>
          <p:cNvPr id="31" name="Shape 29"/>
          <p:cNvSpPr/>
          <p:nvPr/>
        </p:nvSpPr>
        <p:spPr>
          <a:xfrm>
            <a:off x="6210300" y="1524000"/>
            <a:ext cx="2476500" cy="3048000"/>
          </a:xfrm>
          <a:prstGeom prst="rect">
            <a:avLst/>
          </a:prstGeom>
          <a:solidFill>
            <a:srgbClr val="F0F0FF"/>
          </a:solidFill>
          <a:ln w="12700">
            <a:solidFill>
              <a:srgbClr val="F0F0FF"/>
            </a:solidFill>
            <a:prstDash val="solid"/>
          </a:ln>
        </p:spPr>
      </p:sp>
      <p:sp>
        <p:nvSpPr>
          <p:cNvPr id="32" name="Shape 30"/>
          <p:cNvSpPr/>
          <p:nvPr/>
        </p:nvSpPr>
        <p:spPr>
          <a:xfrm>
            <a:off x="6210300" y="1524000"/>
            <a:ext cx="2476500" cy="38100"/>
          </a:xfrm>
          <a:prstGeom prst="rect">
            <a:avLst/>
          </a:prstGeom>
          <a:solidFill>
            <a:srgbClr val="006838"/>
          </a:solidFill>
          <a:ln w="12700">
            <a:solidFill>
              <a:srgbClr val="006838"/>
            </a:solidFill>
            <a:prstDash val="solid"/>
          </a:ln>
        </p:spPr>
      </p:sp>
      <p:sp>
        <p:nvSpPr>
          <p:cNvPr id="33" name="Text 31"/>
          <p:cNvSpPr txBox="1"/>
          <p:nvPr/>
        </p:nvSpPr>
        <p:spPr>
          <a:xfrm>
            <a:off x="6400800" y="1676400"/>
            <a:ext cx="2095500" cy="266700"/>
          </a:xfrm>
          <a:prstGeom prst="rect">
            <a:avLst/>
          </a:prstGeom>
          <a:noFill/>
          <a:ln/>
        </p:spPr>
        <p:txBody>
          <a:bodyPr wrap="square" lIns="0" tIns="0" rIns="0" bIns="0" rtlCol="0" anchor="t"/>
          <a:lstStyle/>
          <a:p>
            <a:pPr indent="0" marL="0">
              <a:buNone/>
            </a:pPr>
            <a:r>
              <a:rPr lang="en-US" sz="1600" b="1" dirty="0">
                <a:solidFill>
                  <a:srgbClr val="33006F"/>
                </a:solidFill>
                <a:latin typeface="Source Sans 3" pitchFamily="34" charset="0"/>
                <a:ea typeface="Source Sans 3" pitchFamily="34" charset="-122"/>
                <a:cs typeface="Source Sans 3" pitchFamily="34" charset="-120"/>
              </a:rPr>
              <a:t>Good to know</a:t>
            </a:r>
            <a:endParaRPr lang="en-US" sz="1600" dirty="0"/>
          </a:p>
        </p:txBody>
      </p:sp>
      <p:sp>
        <p:nvSpPr>
          <p:cNvPr id="34" name="Text 32"/>
          <p:cNvSpPr txBox="1"/>
          <p:nvPr/>
        </p:nvSpPr>
        <p:spPr>
          <a:xfrm>
            <a:off x="6400800" y="2019300"/>
            <a:ext cx="2095500" cy="2381250"/>
          </a:xfrm>
          <a:prstGeom prst="rect">
            <a:avLst/>
          </a:prstGeom>
          <a:noFill/>
          <a:ln/>
        </p:spPr>
        <p:txBody>
          <a:bodyPr wrap="square" lIns="0" tIns="0" rIns="0" bIns="0" rtlCol="0" anchor="t">
            <a:normAutofit/>
          </a:bodyPr>
          <a:lstStyle/>
          <a:p>
            <a:pPr marL="127000" indent="-127000">
              <a:spcAft>
                <a:spcPts val="1000"/>
              </a:spcAft>
              <a:buSzPct val="100000"/>
              <a:buChar char="•"/>
            </a:pPr>
            <a:r>
              <a:rPr lang="en-US" sz="1200" dirty="0">
                <a:solidFill>
                  <a:srgbClr val="434343"/>
                </a:solidFill>
                <a:latin typeface="Source Sans 3" pitchFamily="34" charset="0"/>
                <a:ea typeface="Source Sans 3" pitchFamily="34" charset="-122"/>
                <a:cs typeface="Source Sans 3" pitchFamily="34" charset="-120"/>
              </a:rPr>
              <a:t>Database changes run automatically. No manual SQL for normal upgrades.</a:t>
            </a:r>
            <a:endParaRPr lang="en-US" sz="1200" dirty="0"/>
          </a:p>
          <a:p>
            <a:pPr marL="127000" indent="-127000">
              <a:spcAft>
                <a:spcPts val="1000"/>
              </a:spcAft>
              <a:buSzPct val="100000"/>
              <a:buChar char="•"/>
            </a:pPr>
            <a:r>
              <a:rPr lang="en-US" sz="1200" dirty="0">
                <a:solidFill>
                  <a:srgbClr val="434343"/>
                </a:solidFill>
                <a:latin typeface="Source Sans 3" pitchFamily="34" charset="0"/>
                <a:ea typeface="Source Sans 3" pitchFamily="34" charset="-122"/>
                <a:cs typeface="Source Sans 3" pitchFamily="34" charset="-120"/>
              </a:rPr>
              <a:t>Existing data is kept and migrated, not deleted.</a:t>
            </a:r>
            <a:endParaRPr lang="en-US" sz="1200" dirty="0"/>
          </a:p>
          <a:p>
            <a:pPr marL="127000" indent="-127000">
              <a:spcAft>
                <a:spcPts val="1000"/>
              </a:spcAft>
              <a:buSzPct val="100000"/>
              <a:buChar char="•"/>
            </a:pPr>
            <a:r>
              <a:rPr lang="en-US" sz="1200" dirty="0">
                <a:solidFill>
                  <a:srgbClr val="434343"/>
                </a:solidFill>
                <a:latin typeface="Source Sans 3" pitchFamily="34" charset="0"/>
                <a:ea typeface="Source Sans 3" pitchFamily="34" charset="-122"/>
                <a:cs typeface="Source Sans 3" pitchFamily="34" charset="-120"/>
              </a:rPr>
              <a:t>Old and new screens can exist side by side. Adopt new tools at your own pace.</a:t>
            </a:r>
            <a:endParaRPr lang="en-US" sz="1200" dirty="0"/>
          </a:p>
        </p:txBody>
      </p:sp>
      <p:sp>
        <p:nvSpPr>
          <p:cNvPr id="35" name="Text 33"/>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35</a:t>
            </a:r>
            <a:endParaRPr lang="en-US" sz="1100" dirty="0"/>
          </a:p>
        </p:txBody>
      </p:sp>
      <p:sp>
        <p:nvSpPr>
          <p:cNvPr id="36" name="Text 34"/>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47650"/>
            <a:ext cx="8229600" cy="209550"/>
          </a:xfrm>
          <a:prstGeom prst="rect">
            <a:avLst/>
          </a:prstGeom>
          <a:noFill/>
          <a:ln/>
        </p:spPr>
        <p:txBody>
          <a:bodyPr wrap="square" lIns="0" tIns="0" rIns="0" bIns="0" rtlCol="0" anchor="t"/>
          <a:lstStyle/>
          <a:p>
            <a:pPr indent="0" marL="0">
              <a:buNone/>
            </a:pPr>
            <a:r>
              <a:rPr lang="en-US" sz="1200" b="1" spc="150" kern="0" dirty="0">
                <a:solidFill>
                  <a:srgbClr val="01458E"/>
                </a:solidFill>
                <a:latin typeface="Source Sans 3" pitchFamily="34" charset="0"/>
                <a:ea typeface="Source Sans 3" pitchFamily="34" charset="-122"/>
                <a:cs typeface="Source Sans 3" pitchFamily="34" charset="-120"/>
              </a:rPr>
              <a:t>DECISIONS</a:t>
            </a:r>
            <a:pPr indent="0" marL="0">
              <a:buNone/>
            </a:pPr>
            <a:r>
              <a:rPr lang="en-US" sz="1200" dirty="0">
                <a:solidFill>
                  <a:srgbClr val="888888"/>
                </a:solidFill>
                <a:latin typeface="Source Sans 3" pitchFamily="34" charset="0"/>
                <a:ea typeface="Source Sans 3" pitchFamily="34" charset="-122"/>
                <a:cs typeface="Source Sans 3" pitchFamily="34" charset="-120"/>
              </a:rPr>
              <a:t>    Section 7 of 7</a:t>
            </a:r>
            <a:endParaRPr lang="en-US" sz="1200" dirty="0"/>
          </a:p>
        </p:txBody>
      </p:sp>
      <p:sp>
        <p:nvSpPr>
          <p:cNvPr id="3" name="Shape 1"/>
          <p:cNvSpPr/>
          <p:nvPr/>
        </p:nvSpPr>
        <p:spPr>
          <a:xfrm>
            <a:off x="457200" y="533400"/>
            <a:ext cx="685800" cy="57150"/>
          </a:xfrm>
          <a:prstGeom prst="rect">
            <a:avLst/>
          </a:prstGeom>
          <a:solidFill>
            <a:srgbClr val="01458E"/>
          </a:solidFill>
          <a:ln w="12700">
            <a:solidFill>
              <a:srgbClr val="01458E"/>
            </a:solidFill>
            <a:prstDash val="solid"/>
          </a:ln>
        </p:spPr>
      </p:sp>
      <p:sp>
        <p:nvSpPr>
          <p:cNvPr id="4" name="Text 2"/>
          <p:cNvSpPr txBox="1"/>
          <p:nvPr/>
        </p:nvSpPr>
        <p:spPr>
          <a:xfrm>
            <a:off x="457200" y="704850"/>
            <a:ext cx="8229600" cy="800100"/>
          </a:xfrm>
          <a:prstGeom prst="rect">
            <a:avLst/>
          </a:prstGeom>
          <a:noFill/>
          <a:ln/>
        </p:spPr>
        <p:txBody>
          <a:bodyPr wrap="square" lIns="0" tIns="0" rIns="0" bIns="0" rtlCol="0" anchor="t">
            <a:normAutofit/>
          </a:bodyPr>
          <a:lstStyle/>
          <a:p>
            <a:pPr indent="0" marL="0">
              <a:buNone/>
            </a:pPr>
            <a:r>
              <a:rPr lang="en-US" sz="2500" b="1" dirty="0">
                <a:solidFill>
                  <a:srgbClr val="33006F"/>
                </a:solidFill>
                <a:latin typeface="Source Sans 3" pitchFamily="34" charset="0"/>
                <a:ea typeface="Source Sans 3" pitchFamily="34" charset="-122"/>
                <a:cs typeface="Source Sans 3" pitchFamily="34" charset="-120"/>
              </a:rPr>
              <a:t>Things for the Ministry to decide</a:t>
            </a:r>
            <a:endParaRPr lang="en-US" sz="2500" dirty="0"/>
          </a:p>
        </p:txBody>
      </p:sp>
      <p:sp>
        <p:nvSpPr>
          <p:cNvPr id="5" name="Text 3"/>
          <p:cNvSpPr txBox="1"/>
          <p:nvPr/>
        </p:nvSpPr>
        <p:spPr>
          <a:xfrm>
            <a:off x="457200" y="1504950"/>
            <a:ext cx="8229600" cy="247650"/>
          </a:xfrm>
          <a:prstGeom prst="rect">
            <a:avLst/>
          </a:prstGeom>
          <a:noFill/>
          <a:ln/>
        </p:spPr>
        <p:txBody>
          <a:bodyPr wrap="square" lIns="0" tIns="0" rIns="0" bIns="0" rtlCol="0" anchor="t"/>
          <a:lstStyle/>
          <a:p>
            <a:pPr indent="0" marL="0">
              <a:buNone/>
            </a:pPr>
            <a:r>
              <a:rPr lang="en-US" sz="1300" dirty="0">
                <a:solidFill>
                  <a:srgbClr val="5B5670"/>
                </a:solidFill>
                <a:latin typeface="Source Sans 3" pitchFamily="34" charset="0"/>
                <a:ea typeface="Source Sans 3" pitchFamily="34" charset="-122"/>
                <a:cs typeface="Source Sans 3" pitchFamily="34" charset="-120"/>
              </a:rPr>
              <a:t>Questions to answer within your team. There is no single right answer. Each one needs an owner.</a:t>
            </a:r>
            <a:endParaRPr lang="en-US" sz="1300" dirty="0"/>
          </a:p>
        </p:txBody>
      </p:sp>
      <p:sp>
        <p:nvSpPr>
          <p:cNvPr id="6" name="Shape 4"/>
          <p:cNvSpPr/>
          <p:nvPr/>
        </p:nvSpPr>
        <p:spPr>
          <a:xfrm>
            <a:off x="457200" y="1809750"/>
            <a:ext cx="2590800" cy="2171700"/>
          </a:xfrm>
          <a:prstGeom prst="rect">
            <a:avLst/>
          </a:prstGeom>
          <a:solidFill>
            <a:srgbClr val="F0F0FF"/>
          </a:solidFill>
          <a:ln w="12700">
            <a:solidFill>
              <a:srgbClr val="F0F0FF"/>
            </a:solidFill>
            <a:prstDash val="solid"/>
          </a:ln>
        </p:spPr>
      </p:sp>
      <p:sp>
        <p:nvSpPr>
          <p:cNvPr id="7" name="Shape 5"/>
          <p:cNvSpPr/>
          <p:nvPr/>
        </p:nvSpPr>
        <p:spPr>
          <a:xfrm>
            <a:off x="457200" y="1809750"/>
            <a:ext cx="2590800" cy="38100"/>
          </a:xfrm>
          <a:prstGeom prst="rect">
            <a:avLst/>
          </a:prstGeom>
          <a:solidFill>
            <a:srgbClr val="01458E"/>
          </a:solidFill>
          <a:ln w="12700">
            <a:solidFill>
              <a:srgbClr val="01458E"/>
            </a:solidFill>
            <a:prstDash val="solid"/>
          </a:ln>
        </p:spPr>
      </p:sp>
      <p:sp>
        <p:nvSpPr>
          <p:cNvPr id="8" name="Text 6"/>
          <p:cNvSpPr txBox="1"/>
          <p:nvPr/>
        </p:nvSpPr>
        <p:spPr>
          <a:xfrm>
            <a:off x="609600" y="1943100"/>
            <a:ext cx="2286000" cy="247650"/>
          </a:xfrm>
          <a:prstGeom prst="rect">
            <a:avLst/>
          </a:prstGeom>
          <a:noFill/>
          <a:ln/>
        </p:spPr>
        <p:txBody>
          <a:bodyPr wrap="square" lIns="0" tIns="0" rIns="0" bIns="0" rtlCol="0" anchor="t"/>
          <a:lstStyle/>
          <a:p>
            <a:pPr indent="0" marL="0">
              <a:buNone/>
            </a:pPr>
            <a:r>
              <a:rPr lang="en-US" sz="1500" b="1" dirty="0">
                <a:solidFill>
                  <a:srgbClr val="33006F"/>
                </a:solidFill>
                <a:latin typeface="Source Sans 3" pitchFamily="34" charset="0"/>
                <a:ea typeface="Source Sans 3" pitchFamily="34" charset="-122"/>
                <a:cs typeface="Source Sans 3" pitchFamily="34" charset="-120"/>
              </a:rPr>
              <a:t>People and roles</a:t>
            </a:r>
            <a:endParaRPr lang="en-US" sz="1500" dirty="0"/>
          </a:p>
        </p:txBody>
      </p:sp>
      <p:sp>
        <p:nvSpPr>
          <p:cNvPr id="9" name="Text 7"/>
          <p:cNvSpPr txBox="1"/>
          <p:nvPr/>
        </p:nvSpPr>
        <p:spPr>
          <a:xfrm>
            <a:off x="609600" y="2247900"/>
            <a:ext cx="2286000" cy="163830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is the eSIL focal point for the community? Forum account, Slack, speaks for Madagascar.</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attends the Thursday call, and how often?</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owns the French and Malagasy translations in Transifex?</a:t>
            </a:r>
            <a:endParaRPr lang="en-US" sz="1100" dirty="0"/>
          </a:p>
        </p:txBody>
      </p:sp>
      <p:sp>
        <p:nvSpPr>
          <p:cNvPr id="10" name="Shape 8"/>
          <p:cNvSpPr/>
          <p:nvPr/>
        </p:nvSpPr>
        <p:spPr>
          <a:xfrm>
            <a:off x="3276600" y="1809750"/>
            <a:ext cx="2590800" cy="2171700"/>
          </a:xfrm>
          <a:prstGeom prst="rect">
            <a:avLst/>
          </a:prstGeom>
          <a:solidFill>
            <a:srgbClr val="F0F0FF"/>
          </a:solidFill>
          <a:ln w="12700">
            <a:solidFill>
              <a:srgbClr val="F0F0FF"/>
            </a:solidFill>
            <a:prstDash val="solid"/>
          </a:ln>
        </p:spPr>
      </p:sp>
      <p:sp>
        <p:nvSpPr>
          <p:cNvPr id="11" name="Shape 9"/>
          <p:cNvSpPr/>
          <p:nvPr/>
        </p:nvSpPr>
        <p:spPr>
          <a:xfrm>
            <a:off x="3276600" y="1809750"/>
            <a:ext cx="2590800" cy="38100"/>
          </a:xfrm>
          <a:prstGeom prst="rect">
            <a:avLst/>
          </a:prstGeom>
          <a:solidFill>
            <a:srgbClr val="01458E"/>
          </a:solidFill>
          <a:ln w="12700">
            <a:solidFill>
              <a:srgbClr val="01458E"/>
            </a:solidFill>
            <a:prstDash val="solid"/>
          </a:ln>
        </p:spPr>
      </p:sp>
      <p:sp>
        <p:nvSpPr>
          <p:cNvPr id="12" name="Text 10"/>
          <p:cNvSpPr txBox="1"/>
          <p:nvPr/>
        </p:nvSpPr>
        <p:spPr>
          <a:xfrm>
            <a:off x="3429000" y="1943100"/>
            <a:ext cx="2286000" cy="247650"/>
          </a:xfrm>
          <a:prstGeom prst="rect">
            <a:avLst/>
          </a:prstGeom>
          <a:noFill/>
          <a:ln/>
        </p:spPr>
        <p:txBody>
          <a:bodyPr wrap="square" lIns="0" tIns="0" rIns="0" bIns="0" rtlCol="0" anchor="t"/>
          <a:lstStyle/>
          <a:p>
            <a:pPr indent="0" marL="0">
              <a:buNone/>
            </a:pPr>
            <a:r>
              <a:rPr lang="en-US" sz="1500" b="1" dirty="0">
                <a:solidFill>
                  <a:srgbClr val="33006F"/>
                </a:solidFill>
                <a:latin typeface="Source Sans 3" pitchFamily="34" charset="0"/>
                <a:ea typeface="Source Sans 3" pitchFamily="34" charset="-122"/>
                <a:cs typeface="Source Sans 3" pitchFamily="34" charset="-120"/>
              </a:rPr>
              <a:t>Technical operations</a:t>
            </a:r>
            <a:endParaRPr lang="en-US" sz="1500" dirty="0"/>
          </a:p>
        </p:txBody>
      </p:sp>
      <p:sp>
        <p:nvSpPr>
          <p:cNvPr id="13" name="Text 11"/>
          <p:cNvSpPr txBox="1"/>
          <p:nvPr/>
        </p:nvSpPr>
        <p:spPr>
          <a:xfrm>
            <a:off x="3429000" y="2247900"/>
            <a:ext cx="2286000" cy="163830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runs upgrades: Ministry staff, a hired developer, or a company?</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Where is the test server, and who maintains it?</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keeps the backups, and how often are they tested?</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watches release notes each month?</a:t>
            </a:r>
            <a:endParaRPr lang="en-US" sz="1100" dirty="0"/>
          </a:p>
        </p:txBody>
      </p:sp>
      <p:sp>
        <p:nvSpPr>
          <p:cNvPr id="14" name="Shape 12"/>
          <p:cNvSpPr/>
          <p:nvPr/>
        </p:nvSpPr>
        <p:spPr>
          <a:xfrm>
            <a:off x="6096000" y="1809750"/>
            <a:ext cx="2590800" cy="2171700"/>
          </a:xfrm>
          <a:prstGeom prst="rect">
            <a:avLst/>
          </a:prstGeom>
          <a:solidFill>
            <a:srgbClr val="F0F0FF"/>
          </a:solidFill>
          <a:ln w="12700">
            <a:solidFill>
              <a:srgbClr val="F0F0FF"/>
            </a:solidFill>
            <a:prstDash val="solid"/>
          </a:ln>
        </p:spPr>
      </p:sp>
      <p:sp>
        <p:nvSpPr>
          <p:cNvPr id="15" name="Shape 13"/>
          <p:cNvSpPr/>
          <p:nvPr/>
        </p:nvSpPr>
        <p:spPr>
          <a:xfrm>
            <a:off x="6096000" y="1809750"/>
            <a:ext cx="2590800" cy="38100"/>
          </a:xfrm>
          <a:prstGeom prst="rect">
            <a:avLst/>
          </a:prstGeom>
          <a:solidFill>
            <a:srgbClr val="01458E"/>
          </a:solidFill>
          <a:ln w="12700">
            <a:solidFill>
              <a:srgbClr val="01458E"/>
            </a:solidFill>
            <a:prstDash val="solid"/>
          </a:ln>
        </p:spPr>
      </p:sp>
      <p:sp>
        <p:nvSpPr>
          <p:cNvPr id="16" name="Text 14"/>
          <p:cNvSpPr txBox="1"/>
          <p:nvPr/>
        </p:nvSpPr>
        <p:spPr>
          <a:xfrm>
            <a:off x="6248400" y="1943100"/>
            <a:ext cx="2286000" cy="247650"/>
          </a:xfrm>
          <a:prstGeom prst="rect">
            <a:avLst/>
          </a:prstGeom>
          <a:noFill/>
          <a:ln/>
        </p:spPr>
        <p:txBody>
          <a:bodyPr wrap="square" lIns="0" tIns="0" rIns="0" bIns="0" rtlCol="0" anchor="t"/>
          <a:lstStyle/>
          <a:p>
            <a:pPr indent="0" marL="0">
              <a:buNone/>
            </a:pPr>
            <a:r>
              <a:rPr lang="en-US" sz="1500" b="1" dirty="0">
                <a:solidFill>
                  <a:srgbClr val="33006F"/>
                </a:solidFill>
                <a:latin typeface="Source Sans 3" pitchFamily="34" charset="0"/>
                <a:ea typeface="Source Sans 3" pitchFamily="34" charset="-122"/>
                <a:cs typeface="Source Sans 3" pitchFamily="34" charset="-120"/>
              </a:rPr>
              <a:t>New needs</a:t>
            </a:r>
            <a:endParaRPr lang="en-US" sz="1500" dirty="0"/>
          </a:p>
        </p:txBody>
      </p:sp>
      <p:sp>
        <p:nvSpPr>
          <p:cNvPr id="17" name="Text 15"/>
          <p:cNvSpPr txBox="1"/>
          <p:nvPr/>
        </p:nvSpPr>
        <p:spPr>
          <a:xfrm>
            <a:off x="6248400" y="2247900"/>
            <a:ext cx="2286000" cy="1638300"/>
          </a:xfrm>
          <a:prstGeom prst="rect">
            <a:avLst/>
          </a:prstGeom>
          <a:noFill/>
          <a:ln/>
        </p:spPr>
        <p:txBody>
          <a:bodyPr wrap="square" lIns="0" tIns="0" rIns="0" bIns="0" rtlCol="0" anchor="t">
            <a:normAutofit/>
          </a:bodyPr>
          <a:lstStyle/>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How do the 9 laboratories report bugs and requests to the Ministry?</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Who decides which requests go to the community as proposals?</a:t>
            </a:r>
            <a:endParaRPr lang="en-US" sz="1100" dirty="0"/>
          </a:p>
          <a:p>
            <a:pPr marL="127000" indent="-127000">
              <a:spcAft>
                <a:spcPts val="600"/>
              </a:spcAft>
              <a:buSzPct val="100000"/>
              <a:buChar char="•"/>
            </a:pPr>
            <a:r>
              <a:rPr lang="en-US" sz="1100" dirty="0">
                <a:solidFill>
                  <a:srgbClr val="434343"/>
                </a:solidFill>
                <a:latin typeface="Source Sans 3" pitchFamily="34" charset="0"/>
                <a:ea typeface="Source Sans 3" pitchFamily="34" charset="-122"/>
                <a:cs typeface="Source Sans 3" pitchFamily="34" charset="-120"/>
              </a:rPr>
              <a:t>If you hire a developer, will they contribute to the shared product?</a:t>
            </a:r>
            <a:endParaRPr lang="en-US" sz="1100" dirty="0"/>
          </a:p>
        </p:txBody>
      </p:sp>
      <p:sp>
        <p:nvSpPr>
          <p:cNvPr id="18" name="Shape 16"/>
          <p:cNvSpPr/>
          <p:nvPr/>
        </p:nvSpPr>
        <p:spPr>
          <a:xfrm>
            <a:off x="457200" y="4076700"/>
            <a:ext cx="8229600" cy="533400"/>
          </a:xfrm>
          <a:prstGeom prst="rect">
            <a:avLst/>
          </a:prstGeom>
          <a:solidFill>
            <a:srgbClr val="33006F"/>
          </a:solidFill>
          <a:ln w="12700">
            <a:solidFill>
              <a:srgbClr val="33006F"/>
            </a:solidFill>
            <a:prstDash val="solid"/>
          </a:ln>
        </p:spPr>
      </p:sp>
      <p:sp>
        <p:nvSpPr>
          <p:cNvPr id="19" name="Text 17"/>
          <p:cNvSpPr txBox="1"/>
          <p:nvPr/>
        </p:nvSpPr>
        <p:spPr>
          <a:xfrm>
            <a:off x="685800" y="4076700"/>
            <a:ext cx="7772400" cy="533400"/>
          </a:xfrm>
          <a:prstGeom prst="rect">
            <a:avLst/>
          </a:prstGeom>
          <a:noFill/>
          <a:ln/>
        </p:spPr>
        <p:txBody>
          <a:bodyPr wrap="square" lIns="0" tIns="0" rIns="0" bIns="0" rtlCol="0" anchor="ctr"/>
          <a:lstStyle/>
          <a:p>
            <a:pPr indent="0" marL="0">
              <a:buNone/>
            </a:pPr>
            <a:r>
              <a:rPr lang="en-US" sz="1300" b="1" dirty="0">
                <a:solidFill>
                  <a:srgbClr val="FFC000"/>
                </a:solidFill>
                <a:latin typeface="Source Sans 3" pitchFamily="34" charset="0"/>
                <a:ea typeface="Source Sans 3" pitchFamily="34" charset="-122"/>
                <a:cs typeface="Source Sans 3" pitchFamily="34" charset="-120"/>
              </a:rPr>
              <a:t>From DIGI before closeout: </a:t>
            </a:r>
            <a:pPr indent="0" marL="0">
              <a:buNone/>
            </a:pPr>
            <a:r>
              <a:rPr lang="en-US" sz="1300" dirty="0">
                <a:solidFill>
                  <a:srgbClr val="FFFFFF"/>
                </a:solidFill>
                <a:latin typeface="Source Sans 3" pitchFamily="34" charset="0"/>
                <a:ea typeface="Source Sans 3" pitchFamily="34" charset="-122"/>
                <a:cs typeface="Source Sans 3" pitchFamily="34" charset="-120"/>
              </a:rPr>
              <a:t>version 3.2.2.1 and final release notes (about 20 September); the upgrade procedure on the wiki, in French; the complete eSIL Management Folder.</a:t>
            </a:r>
            <a:endParaRPr lang="en-US" sz="1300" dirty="0"/>
          </a:p>
        </p:txBody>
      </p:sp>
      <p:sp>
        <p:nvSpPr>
          <p:cNvPr id="20" name="Text 18"/>
          <p:cNvSpPr txBox="1"/>
          <p:nvPr/>
        </p:nvSpPr>
        <p:spPr>
          <a:xfrm>
            <a:off x="7953375" y="4743450"/>
            <a:ext cx="952500" cy="228600"/>
          </a:xfrm>
          <a:prstGeom prst="rect">
            <a:avLst/>
          </a:prstGeom>
          <a:noFill/>
          <a:ln/>
        </p:spPr>
        <p:txBody>
          <a:bodyPr wrap="square" lIns="0" tIns="0" rIns="0" bIns="0" rtlCol="0" anchor="t"/>
          <a:lstStyle/>
          <a:p>
            <a:pPr algn="r" indent="0" marL="0">
              <a:buNone/>
            </a:pPr>
            <a:r>
              <a:rPr lang="en-US" sz="1100" dirty="0">
                <a:solidFill>
                  <a:srgbClr val="888888"/>
                </a:solidFill>
                <a:latin typeface="Source Sans 3" pitchFamily="34" charset="0"/>
                <a:ea typeface="Source Sans 3" pitchFamily="34" charset="-122"/>
                <a:cs typeface="Source Sans 3" pitchFamily="34" charset="-120"/>
              </a:rPr>
              <a:t>36</a:t>
            </a:r>
            <a:endParaRPr lang="en-US" sz="1100" dirty="0"/>
          </a:p>
        </p:txBody>
      </p:sp>
      <p:sp>
        <p:nvSpPr>
          <p:cNvPr id="21" name="Text 19"/>
          <p:cNvSpPr txBox="1"/>
          <p:nvPr/>
        </p:nvSpPr>
        <p:spPr>
          <a:xfrm>
            <a:off x="457200" y="4743450"/>
            <a:ext cx="3810000" cy="228600"/>
          </a:xfrm>
          <a:prstGeom prst="rect">
            <a:avLst/>
          </a:prstGeom>
          <a:noFill/>
          <a:ln/>
        </p:spPr>
        <p:txBody>
          <a:bodyPr wrap="square" lIns="0" tIns="0" rIns="0" bIns="0" rtlCol="0" anchor="t"/>
          <a:lstStyle/>
          <a:p>
            <a:pPr algn="l" indent="0" marL="0">
              <a:buNone/>
            </a:pPr>
            <a:r>
              <a:rPr lang="en-US" sz="1100" dirty="0">
                <a:solidFill>
                  <a:srgbClr val="888888"/>
                </a:solidFill>
                <a:latin typeface="Source Sans 3" pitchFamily="34" charset="0"/>
                <a:ea typeface="Source Sans 3" pitchFamily="34" charset="-122"/>
                <a:cs typeface="Source Sans 3" pitchFamily="34" charset="-120"/>
              </a:rPr>
              <a:t>Madagascar eSIL Handover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Madagascar eSIL Handover</dc:title>
  <dc:subject>PptxGenJS Presentation</dc:subject>
  <dc:creator>DIGI, University of Washington</dc:creator>
  <cp:lastModifiedBy>DIGI, University of Washington</cp:lastModifiedBy>
  <cp:revision>1</cp:revision>
  <dcterms:created xsi:type="dcterms:W3CDTF">2026-09-16T08:03:58Z</dcterms:created>
  <dcterms:modified xsi:type="dcterms:W3CDTF">2026-09-16T08:03:58Z</dcterms:modified>
</cp:coreProperties>
</file>